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4"/>
  </p:notesMasterIdLst>
  <p:sldIdLst>
    <p:sldId id="256" r:id="rId2"/>
    <p:sldId id="286" r:id="rId3"/>
    <p:sldId id="287" r:id="rId4"/>
    <p:sldId id="288" r:id="rId5"/>
    <p:sldId id="260" r:id="rId6"/>
    <p:sldId id="261" r:id="rId7"/>
    <p:sldId id="276" r:id="rId8"/>
    <p:sldId id="280" r:id="rId9"/>
    <p:sldId id="275" r:id="rId10"/>
    <p:sldId id="266" r:id="rId11"/>
    <p:sldId id="267" r:id="rId12"/>
    <p:sldId id="269" r:id="rId13"/>
    <p:sldId id="293" r:id="rId14"/>
    <p:sldId id="271" r:id="rId15"/>
    <p:sldId id="295" r:id="rId16"/>
    <p:sldId id="272" r:id="rId17"/>
    <p:sldId id="282" r:id="rId18"/>
    <p:sldId id="289" r:id="rId19"/>
    <p:sldId id="290" r:id="rId20"/>
    <p:sldId id="291" r:id="rId21"/>
    <p:sldId id="273" r:id="rId22"/>
    <p:sldId id="264" r:id="rId23"/>
    <p:sldId id="274" r:id="rId24"/>
    <p:sldId id="268" r:id="rId25"/>
    <p:sldId id="263" r:id="rId26"/>
    <p:sldId id="270" r:id="rId27"/>
    <p:sldId id="279" r:id="rId28"/>
    <p:sldId id="278" r:id="rId29"/>
    <p:sldId id="281" r:id="rId30"/>
    <p:sldId id="262" r:id="rId31"/>
    <p:sldId id="292" r:id="rId32"/>
    <p:sldId id="294" r:id="rId33"/>
  </p:sldIdLst>
  <p:sldSz cx="12192000" cy="6858000"/>
  <p:notesSz cx="6858000" cy="13716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35" roundtripDataSignature="AMtx7mjPlpudTmCd2jIT6Jg/4UVUPM8/I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B0F0"/>
    <a:srgbClr val="8ECEF3"/>
    <a:srgbClr val="CA2A2A"/>
    <a:srgbClr val="FA0301"/>
    <a:srgbClr val="98CCFF"/>
    <a:srgbClr val="00B04F"/>
    <a:srgbClr val="AAB529"/>
    <a:srgbClr val="E8EBF6"/>
    <a:srgbClr val="CED5EA"/>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AD8C4F5-C8AC-4095-881C-C65DC6E5D567}">
  <a:tblStyle styleId="{8AD8C4F5-C8AC-4095-881C-C65DC6E5D56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000"/>
    <p:restoredTop sz="64593"/>
  </p:normalViewPr>
  <p:slideViewPr>
    <p:cSldViewPr snapToGrid="0" snapToObjects="1">
      <p:cViewPr varScale="1">
        <p:scale>
          <a:sx n="66" d="100"/>
          <a:sy n="66" d="100"/>
        </p:scale>
        <p:origin x="896" y="192"/>
      </p:cViewPr>
      <p:guideLst/>
    </p:cSldViewPr>
  </p:slideViewPr>
  <p:notesTextViewPr>
    <p:cViewPr>
      <p:scale>
        <a:sx n="140" d="100"/>
        <a:sy n="14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defRPr/>
            </a:pPr>
            <a:r>
              <a:rPr lang="en-US" dirty="0"/>
              <a:t>Hello everyone, I am Li Tsz On from The University of Hong Kong. Today I present UPA, a differential privacy system for big data queries (such as apache spark’s queries). Given a query and an input dataset consisting of many data records, UPA automatically enforces differential privacy to any individual data record in the input dataset. </a:t>
            </a:r>
            <a:endParaRPr lang="en-HK"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Differential Privacy (DP) is a powerful technique to preserve the privacy of any individual data record in a dataset by adding noise to a query's output value. </a:t>
            </a:r>
            <a:r>
              <a:rPr lang="en-US" dirty="0"/>
              <a:t>Let’s take a look of the following example. Suppose Bob is a medical researcher in a hospital, and he can query the hospital’s patents’ medical dataset. Here we assume that patients' medical records are anonymized and Bob cannot directly access the information of any individual medical data record. He can only obtain the aggregated information of the medical dataset. One day Bob knew that Alice entered ICU in that hospital, and he knew Alice was the only person that entered ICU on 1</a:t>
            </a:r>
            <a:r>
              <a:rPr lang="en-US" baseline="30000" dirty="0"/>
              <a:t>st</a:t>
            </a:r>
            <a:r>
              <a:rPr lang="en-US" dirty="0"/>
              <a:t> Jan 2019. Bob can leverage this auxiliary information to count the total number of patients that entered ICU on 1</a:t>
            </a:r>
            <a:r>
              <a:rPr lang="en-US" baseline="30000" dirty="0"/>
              <a:t>st</a:t>
            </a:r>
            <a:r>
              <a:rPr lang="en-US" dirty="0"/>
              <a:t> Jan 2019 while having  certain symptoms, in order to find out Alice’s symptom. DP aims to address this issue by (!) adding noise to the output value of bob’s query, that is, the count number of patients, to prevents privacy leak through the query's output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(~1 min)</a:t>
            </a: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7013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DP adds noise to a query’s output value according to a </a:t>
            </a:r>
            <a:r>
              <a:rPr lang="en-US" dirty="0" err="1"/>
              <a:t>curcial</a:t>
            </a:r>
            <a:r>
              <a:rPr lang="en-US" dirty="0"/>
              <a:t> parameter called sensitivity. Sensitivity is the </a:t>
            </a:r>
            <a:r>
              <a:rPr lang="en-US" sz="1100" dirty="0"/>
              <a:t>greatest  change on </a:t>
            </a:r>
            <a:r>
              <a:rPr lang="en-US" dirty="0"/>
              <a:t>an output</a:t>
            </a:r>
            <a:r>
              <a:rPr lang="en-US" sz="1100" dirty="0"/>
              <a:t> value </a:t>
            </a:r>
            <a:r>
              <a:rPr lang="en-US" dirty="0"/>
              <a:t>of a query</a:t>
            </a:r>
            <a:r>
              <a:rPr lang="en-US" sz="1100" dirty="0"/>
              <a:t> when a data record is added to or removed from the input dataset. Given the input dataset and sum query in this slide, the sensitivity is apparently four because removing (!) the data record of value four changes the output values the most, which is four. </a:t>
            </a:r>
          </a:p>
          <a:p>
            <a:pPr marL="0" indent="0">
              <a:buNone/>
            </a:pPr>
            <a:endParaRPr lang="en-US" sz="1100" dirty="0"/>
          </a:p>
          <a:p>
            <a:pPr marL="0" indent="0">
              <a:buNone/>
            </a:pPr>
            <a:r>
              <a:rPr lang="en-US" sz="1100" dirty="0"/>
              <a:t>However, identifying the data record that changes the output value the most for large dataset is fundamentally difficult and requires </a:t>
            </a:r>
            <a:r>
              <a:rPr lang="en-US" sz="1100" dirty="0" err="1"/>
              <a:t>bruteforce</a:t>
            </a:r>
            <a:r>
              <a:rPr lang="en-US" sz="1100" dirty="0"/>
              <a:t> approach, which </a:t>
            </a:r>
            <a:r>
              <a:rPr lang="en-US" dirty="0"/>
              <a:t>runs the same query on the same input dataset repeatedly, each time removes only one input data record from the input dataset, which</a:t>
            </a:r>
            <a:r>
              <a:rPr lang="en-US" sz="1100" dirty="0"/>
              <a:t> is extremely inefficient and impractical .</a:t>
            </a:r>
            <a:r>
              <a:rPr lang="en-US" dirty="0"/>
              <a:t>(43s)</a:t>
            </a: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436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881a038175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881a03817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err="1"/>
              <a:t>Exisiting</a:t>
            </a:r>
            <a:r>
              <a:rPr lang="en-US" dirty="0"/>
              <a:t> approaches make other tradeoffs to infer a sensitivity value more efficiently. Existing approaches are divided into manual approach and static approach. Manual approach requires a sensitivity to be inferred and given by human. It is general but it is in accurate and not automatic. Static approach statically analyzes a query’s syntax to infer a sensitivity value. It is automatic but not general, and it is also inaccurate. Currently the only static approach is FLEX</a:t>
            </a:r>
          </a:p>
          <a:p>
            <a:pPr marL="0" indent="0">
              <a:buNone/>
            </a:pPr>
            <a:endParaRPr lang="en-US" dirty="0"/>
          </a:p>
          <a:p>
            <a:pPr marL="0" indent="0">
              <a:buNone/>
            </a:pPr>
            <a:r>
              <a:rPr lang="en-US" dirty="0"/>
              <a:t>(24s)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895583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881a038175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881a038175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We argue we don’t want to tradeoff automaticity, accuracy and generality for efficiency, and only brute force approach has all these features except efficiency (!). Hence, we starts from brute-force approach to build UPA, while solving its inefficiency problem. Our main observation is that brute force approach computes on mostly overlapped dataset (I will give you the definition of overlapped dataset in the next slide), and big-data operators' </a:t>
            </a:r>
            <a:r>
              <a:rPr lang="en-US" dirty="0" err="1"/>
              <a:t>communtativity</a:t>
            </a:r>
            <a:r>
              <a:rPr lang="en-US" dirty="0"/>
              <a:t> and associativity properties, and sampling theories can substantially reduce the computation on the overlapped dataset, and hence tremendously enhance the efficiency of </a:t>
            </a:r>
            <a:r>
              <a:rPr lang="en-US" dirty="0" err="1"/>
              <a:t>bruteforce</a:t>
            </a:r>
            <a:r>
              <a:rPr lang="en-US" dirty="0"/>
              <a:t>-based approach</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(34s)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881a038175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881a038175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found that brute-force approach computes on mostly overlapped dataset. Take this figure as an example. Suppose we want to identify the influence of each of the first three individual data records in this input dataset on the sum query’s output, </a:t>
            </a:r>
            <a:r>
              <a:rPr lang="en-US" dirty="0" err="1"/>
              <a:t>bruteforce</a:t>
            </a:r>
            <a:r>
              <a:rPr lang="en-US" dirty="0"/>
              <a:t> approach removes these three data records individually each time(!),As we can see, the remaining five data records are repeatedly computed (!). Hence, our goal is to reduce such redundant computation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30s</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881a03817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81a03817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To achieve this goal, our first observation is that big-data operators are commutative and associative. Commutativity </a:t>
            </a:r>
            <a:r>
              <a:rPr lang="en-US" dirty="0">
                <a:solidFill>
                  <a:schemeClr val="tx1"/>
                </a:solidFill>
              </a:rPr>
              <a:t>means an input dataset can be computed in any order. </a:t>
            </a:r>
            <a:r>
              <a:rPr lang="en-US" dirty="0"/>
              <a:t>Associativity means an input dataset can be partitioned into subsets, independently computed and then aggregated</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Take this figure as an example, similar to the previous slide, suppose that we want to infer each of the first three data record’s influence on the sum query’s output , by using traditional brute-</a:t>
            </a:r>
            <a:r>
              <a:rPr lang="en-US" dirty="0" err="1"/>
              <a:t>fource</a:t>
            </a:r>
            <a:r>
              <a:rPr lang="en-US" dirty="0"/>
              <a:t> approach, the remaining five data records will be repeatedly computed(!). To reduce such redundant computation, by leveraging the commutativity and associativity properties of big-data operators, we can first compute the output value of the five records, which is 10 (!). And then reuses such computation result to compute the influence of each of the first three data records on the sum query’s output (!). Hence, the redundant computation on the five data records is greatly reduced. Note that in addition to the sum operator in this example, big-data operators, such as min max join filter, are all commutative and associative because these properties are essential for a big-data processing system to provide good parallelism and fault-tolerance mechanism</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1m 20s</a:t>
            </a:r>
            <a:endParaRPr dirty="0"/>
          </a:p>
        </p:txBody>
      </p:sp>
    </p:spTree>
    <p:extLst>
      <p:ext uri="{BB962C8B-B14F-4D97-AF65-F5344CB8AC3E}">
        <p14:creationId xmlns:p14="http://schemas.microsoft.com/office/powerpoint/2010/main" val="3062510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However, even leveraging the associativity and commutativity properties of big-data operators, if we have to compute the influence of every individual data record in an input dataset, the efficiency is still very low. Our second observation is that for any size of big dataset, UPA only needs to sample 1000 data records and compute each of their influence on a query’s output, in order to accurately infer a sensitivity value. It is because existing work shows that the influence of a data record on an output value usually follows normal distribution, and statistical </a:t>
            </a:r>
            <a:r>
              <a:rPr lang="en-US" dirty="0" err="1"/>
              <a:t>theoreies</a:t>
            </a:r>
            <a:r>
              <a:rPr lang="en-US" dirty="0"/>
              <a:t> show that 1000 samples are sufficient to accurately identify these sample’s underlying normal distribution.</a:t>
            </a:r>
          </a:p>
          <a:p>
            <a:pPr marL="158750" indent="0">
              <a:buNone/>
            </a:pPr>
            <a:endParaRPr lang="en-US" dirty="0"/>
          </a:p>
          <a:p>
            <a:pPr marL="158750" indent="0">
              <a:buNone/>
            </a:pPr>
            <a:r>
              <a:rPr lang="en-US" dirty="0"/>
              <a:t>Hence, given a big-dataset of any size, UPA always samples 1000 data records (!) and treats the remaining data records as the overlapped data records (!), UPA then computes a query’s output on the overlapped data records, and reuses such output value to compute each sampled data records’ influence on the query’s final output value, as well as the corresponding sensitivity value</a:t>
            </a:r>
          </a:p>
          <a:p>
            <a:pPr marL="158750" indent="0">
              <a:buNone/>
            </a:pPr>
            <a:endParaRPr lang="en-US" dirty="0"/>
          </a:p>
          <a:p>
            <a:pPr marL="158750" indent="0">
              <a:buNone/>
            </a:pPr>
            <a:r>
              <a:rPr lang="en-US" dirty="0"/>
              <a:t>1m</a:t>
            </a:r>
          </a:p>
        </p:txBody>
      </p:sp>
    </p:spTree>
    <p:extLst>
      <p:ext uri="{BB962C8B-B14F-4D97-AF65-F5344CB8AC3E}">
        <p14:creationId xmlns:p14="http://schemas.microsoft.com/office/powerpoint/2010/main" val="1241486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UPA is an end-to-end DP system that is fully integrated with Spark. The table below shows a set of  DP-enabled, Spark-compatible MapReduce operators API (!), such as map and reduce. UPA can be also integrated with other big-data systems, such as Hadoop and  </a:t>
            </a:r>
            <a:r>
              <a:rPr lang="en-US" dirty="0" err="1"/>
              <a:t>DryadLINQ</a:t>
            </a:r>
            <a:r>
              <a:rPr lang="en-US" dirty="0"/>
              <a:t>, because these systems’ operators are also commutative and associative.</a:t>
            </a:r>
          </a:p>
        </p:txBody>
      </p:sp>
    </p:spTree>
    <p:extLst>
      <p:ext uri="{BB962C8B-B14F-4D97-AF65-F5344CB8AC3E}">
        <p14:creationId xmlns:p14="http://schemas.microsoft.com/office/powerpoint/2010/main" val="161414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For the evaluation, we use a cluster of 5 computers. We compared UPA with FLEX, the only the related work that automatically infers sensitivity. Our first evaluation metrics are </a:t>
            </a:r>
            <a:r>
              <a:rPr lang="en-US" b="1" dirty="0"/>
              <a:t>Accuracy</a:t>
            </a:r>
            <a:r>
              <a:rPr lang="en-US" dirty="0"/>
              <a:t>: the Root Mean Square Error (RMSE) of the sensitivity values computed by UPA or FLEX compared to the ground truth. The second evaluation metric is </a:t>
            </a:r>
            <a:r>
              <a:rPr lang="en-US" b="1" dirty="0"/>
              <a:t>Performance overhead</a:t>
            </a:r>
            <a:r>
              <a:rPr lang="en-US" dirty="0"/>
              <a:t>: the additional execution time of UPA compared to vanilla Spark</a:t>
            </a:r>
          </a:p>
          <a:p>
            <a:pPr marL="158750" indent="0">
              <a:buNone/>
            </a:pPr>
            <a:endParaRPr lang="en-US" dirty="0"/>
          </a:p>
        </p:txBody>
      </p:sp>
    </p:spTree>
    <p:extLst>
      <p:ext uri="{BB962C8B-B14F-4D97-AF65-F5344CB8AC3E}">
        <p14:creationId xmlns:p14="http://schemas.microsoft.com/office/powerpoint/2010/main" val="8913844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The evaluated workload consists of nine real-world queries that are often evaluated by related work, which include count, machine learning, </a:t>
            </a:r>
            <a:r>
              <a:rPr lang="en-US" dirty="0" err="1"/>
              <a:t>arithematic</a:t>
            </a:r>
            <a:r>
              <a:rPr lang="en-US" dirty="0"/>
              <a:t> queries. Note that the evaluated workload includes all the five open-source benchmark queries that were evaluated by FLEX. (!) UPA supports all the nine queries while FLEX only supports the five count queries, because UPA is a brute-force based approach, so UPA can infer a sensitivity value for any type of big-data queries. FLEX is a static approach which is only applicable to count query.</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p:txBody>
      </p:sp>
    </p:spTree>
    <p:extLst>
      <p:ext uri="{BB962C8B-B14F-4D97-AF65-F5344CB8AC3E}">
        <p14:creationId xmlns:p14="http://schemas.microsoft.com/office/powerpoint/2010/main" val="2286353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This figure shows UPA and FLEX’s RMSE on the nine queries. The y-axis is RMSE in log scale (!), and the x-axis is the queries’ name.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The figure shows that the average RMSE of UPA is 3.81%, five order of magnitudes lower than FLEX (!). It is because UPA is a brute-force based approach, which infers a sensitivity value based on a query’s control flow and dataflow, while FLEX is a static approach which infers a sensitivity value only from queries’ syntax, which ignore the queries’ control flow and dataflow. Because the sensitivity inferred by UPA is close to the ground truth, UPA can enforce end-to-end DP.</a:t>
            </a:r>
          </a:p>
          <a:p>
            <a:pPr marL="158750" indent="0">
              <a:buNone/>
            </a:pPr>
            <a:endParaRPr lang="en-US" dirty="0"/>
          </a:p>
        </p:txBody>
      </p:sp>
    </p:spTree>
    <p:extLst>
      <p:ext uri="{BB962C8B-B14F-4D97-AF65-F5344CB8AC3E}">
        <p14:creationId xmlns:p14="http://schemas.microsoft.com/office/powerpoint/2010/main" val="27896536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Now we look into UPA’s performance on large dataset size. The figure shows UPA’s performance overhead on 120 GB dataset size. UPA on average incurs 77.8% performance overhead, because </a:t>
            </a:r>
            <a:r>
              <a:rPr lang="en-US" sz="1100" dirty="0"/>
              <a:t>UPA only needs to compute the influence of each 1000 sampled records on a query’s output</a:t>
            </a:r>
            <a:r>
              <a:rPr lang="en-US" dirty="0"/>
              <a:t>. Although this performance overhead is non-trivial, it is worthwhile because UPA already greatly enhances the efficiency of brute-</a:t>
            </a:r>
            <a:r>
              <a:rPr lang="en-US" dirty="0" err="1"/>
              <a:t>fource</a:t>
            </a:r>
            <a:r>
              <a:rPr lang="en-US" dirty="0"/>
              <a:t> based approach, while being as automatic, accurate and general as </a:t>
            </a:r>
            <a:r>
              <a:rPr lang="en-US" dirty="0" err="1"/>
              <a:t>brutefource</a:t>
            </a:r>
            <a:r>
              <a:rPr lang="en-US" dirty="0"/>
              <a:t> approach </a:t>
            </a:r>
            <a:r>
              <a:rPr lang="en-US"/>
              <a:t>in enforcing DP. </a:t>
            </a:r>
            <a:endParaRPr lang="en-US" dirty="0"/>
          </a:p>
        </p:txBody>
      </p:sp>
    </p:spTree>
    <p:extLst>
      <p:ext uri="{BB962C8B-B14F-4D97-AF65-F5344CB8AC3E}">
        <p14:creationId xmlns:p14="http://schemas.microsoft.com/office/powerpoint/2010/main" val="1012202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So, here comes our conclusion, UPA enforces end-to-end DP automatically, accurately and efficiently by leveraging big-data operators commutativity and associativity properties, as well as sampling theories. UPA has the potential to greatly promote the adoption of DP in real- world big-data analytics, such as medical analysis, recommendation systems, FinTech, effectively protecting the privacy of user data. All UPA’s source code and evaluation results are available on https://</a:t>
            </a:r>
            <a:r>
              <a:rPr lang="en-US" dirty="0" err="1"/>
              <a:t>github.com</a:t>
            </a:r>
            <a:r>
              <a:rPr lang="en-US" dirty="0"/>
              <a:t>/</a:t>
            </a:r>
            <a:r>
              <a:rPr lang="en-US" dirty="0" err="1"/>
              <a:t>hku</a:t>
            </a:r>
            <a:r>
              <a:rPr lang="en-US" dirty="0"/>
              <a:t>-systems/UPA.</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p:txBody>
      </p:sp>
    </p:spTree>
    <p:extLst>
      <p:ext uri="{BB962C8B-B14F-4D97-AF65-F5344CB8AC3E}">
        <p14:creationId xmlns:p14="http://schemas.microsoft.com/office/powerpoint/2010/main" val="38788058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Here is another interesting application of differential privacy, which servers as a robustness guarantee of adversarial learning. Let me first introduce adversarial learning. It is a phenomenon that a machine learning mode’s inference result changes significantly after small noise is added to an input. Take a look of this figure as an example. The input image is panda and the neural network successful classifies it as a panda. However, after some noise is added to the input, </a:t>
            </a:r>
            <a:r>
              <a:rPr lang="en-US" dirty="0" err="1"/>
              <a:t>eventhough</a:t>
            </a:r>
            <a:r>
              <a:rPr lang="en-US" dirty="0"/>
              <a:t> the noise is </a:t>
            </a:r>
            <a:r>
              <a:rPr lang="en-US" dirty="0" err="1"/>
              <a:t>inpercetible</a:t>
            </a:r>
            <a:r>
              <a:rPr lang="en-US" dirty="0"/>
              <a:t> to human, it can changes the neural network’s inference result significantly.</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This is a well-known and persistent attacks in the community of machine learning. People keep proposing </a:t>
            </a:r>
            <a:r>
              <a:rPr lang="en-US" dirty="0" err="1"/>
              <a:t>technqiues</a:t>
            </a:r>
            <a:r>
              <a:rPr lang="en-US" dirty="0"/>
              <a:t> to defend this attack, but their techniques are usually best effort, which means the effectiveness of the defend is only empirically evaluated, without a mathematical guarantee. Moreover, most of these techniques are being broken not long after it is proposed. </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To address these issues, Certified robustness of adversarial learning becomes a new research direction. Robustness means a machine learning model always output the same result even the input data is noisy, and certified means there is a statistical properties along with the result. A state of the art work uses differential privacy to compute the certified robustness of adversary learning, because differential privacy is inherently dealing with noise. If you are interested in this topics, you may talk a look of related papers.</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p:txBody>
      </p:sp>
    </p:spTree>
    <p:extLst>
      <p:ext uri="{BB962C8B-B14F-4D97-AF65-F5344CB8AC3E}">
        <p14:creationId xmlns:p14="http://schemas.microsoft.com/office/powerpoint/2010/main" val="696712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r>
              <a:rPr lang="en-US" sz="1100" dirty="0"/>
              <a:t>Differential Privacy is a powerful technique to preserve privacy. Given a query and an input dataset consists of many data records, DP adds noise to the query’s output to prevent the output from leaking sensitive information. Suppose a powerful attacker Bob can learn Alice’s sensitive medical information by just counting the total number of patients that have certain characteristics. DP tackles such an attack (!) by adding noise to the count number. </a:t>
            </a: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2127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The noise of DP is calibrated upon a crucial parameter called sensitivity, </a:t>
            </a:r>
            <a:r>
              <a:rPr lang="en-US" sz="1100" dirty="0"/>
              <a:t>the greatest change on a query’s output value when a data record is added to or removed from the input dataset. Given a sum query and the input dataset in this slide, the sensitivity is apparently four. However, inferring this record in a large dataset is fundamentally difficult</a:t>
            </a:r>
            <a:r>
              <a:rPr lang="en-US" dirty="0"/>
              <a:t> and requires an extremely inefficient </a:t>
            </a:r>
            <a:r>
              <a:rPr lang="en-US" dirty="0" err="1"/>
              <a:t>bruteforce</a:t>
            </a:r>
            <a:r>
              <a:rPr lang="en-US" dirty="0"/>
              <a:t> approach</a:t>
            </a: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36383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881a038175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881a03817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Existing approaches make other tradeoffs to infer a sensitivity more efficiently. UPA gets rid of all these tradeoffs while being much more efficient than brute-force approach. Welcome to watch to our conference video to learn more.</a:t>
            </a:r>
            <a:endParaRPr dirty="0"/>
          </a:p>
        </p:txBody>
      </p:sp>
    </p:spTree>
    <p:extLst>
      <p:ext uri="{BB962C8B-B14F-4D97-AF65-F5344CB8AC3E}">
        <p14:creationId xmlns:p14="http://schemas.microsoft.com/office/powerpoint/2010/main" val="34758324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881a038175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881a038175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84166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including all the five open-source benchmark queries that were evaluated by FLEX</a:t>
            </a:r>
          </a:p>
          <a:p>
            <a:endParaRPr lang="en-US" dirty="0"/>
          </a:p>
        </p:txBody>
      </p:sp>
    </p:spTree>
    <p:extLst>
      <p:ext uri="{BB962C8B-B14F-4D97-AF65-F5344CB8AC3E}">
        <p14:creationId xmlns:p14="http://schemas.microsoft.com/office/powerpoint/2010/main" val="40901866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881a038175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881a038175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further leverages sampling theory</a:t>
            </a:r>
            <a:endParaRPr dirty="0"/>
          </a:p>
        </p:txBody>
      </p:sp>
    </p:spTree>
    <p:extLst>
      <p:ext uri="{BB962C8B-B14F-4D97-AF65-F5344CB8AC3E}">
        <p14:creationId xmlns:p14="http://schemas.microsoft.com/office/powerpoint/2010/main" val="1818771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Why the performance </a:t>
            </a:r>
            <a:r>
              <a:rPr lang="en-US" dirty="0" err="1"/>
              <a:t>overehead</a:t>
            </a:r>
            <a:r>
              <a:rPr lang="en-US" dirty="0"/>
              <a:t> is decreasing</a:t>
            </a:r>
          </a:p>
        </p:txBody>
      </p:sp>
    </p:spTree>
    <p:extLst>
      <p:ext uri="{BB962C8B-B14F-4D97-AF65-F5344CB8AC3E}">
        <p14:creationId xmlns:p14="http://schemas.microsoft.com/office/powerpoint/2010/main" val="2434670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881a038175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881a038175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We argue that automatic, accuracy and generality are all important in inferring a sensitivity value, and these features can only be realized by brute force approach. Hence, we starts from brute-force approach to build UPA, and the challenge that UPA needs to address is the inefficiency of brute-force approach. We address this challenge based on two observations: big-data operators are commutative and associative and a sensitivity value can be inferred from a small set of data records.</a:t>
            </a:r>
            <a:endParaRPr/>
          </a:p>
        </p:txBody>
      </p:sp>
    </p:spTree>
    <p:extLst>
      <p:ext uri="{BB962C8B-B14F-4D97-AF65-F5344CB8AC3E}">
        <p14:creationId xmlns:p14="http://schemas.microsoft.com/office/powerpoint/2010/main" val="9503014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881a038175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881a038175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We further leverage</a:t>
            </a:r>
            <a:endParaRPr lang="en-HK"/>
          </a:p>
        </p:txBody>
      </p:sp>
    </p:spTree>
    <p:extLst>
      <p:ext uri="{BB962C8B-B14F-4D97-AF65-F5344CB8AC3E}">
        <p14:creationId xmlns:p14="http://schemas.microsoft.com/office/powerpoint/2010/main" val="1647088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Differential privacy (DP) is a popular privacy preserving technique. Recently, it is regarded as the gold standard of privacy guarantee by many literature. Basically DP prevents the privacy of an individual data record in a dataset from being leaked through a query output. Let’s talk a look of the following example (!). Suppose Bob is a medical researcher in a hospital, and he can query the patients' medical record to obtain an aggregated information of some patient’s medical records. Here we assume that patients' medical records are anonymized and Bob cannot directly obtain the value of any individual medical data record. One day Bob knew that Alice entered ICU in that hospital, and he knew Alice was the only person that entered ICU on that day. Bob can leverage this auxiliary information to query the patients' medical dataset, and find out reason why Alice entered ICU based on the aggregated information of the dataset. This example shows that even patients' medical records are anonymized and cannot be accessed individually, Bob can still retrieve Alice's medical information through an aggregated information of the entire medical dataset. Hence, DP aims to address this issue by adding noise to the aggregation information (!), that is, a query’s output value, to mitigate the privacy leakage through a query’s output</a:t>
            </a: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62585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881a03817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81a03817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reduce such redundant computation, our insight is that big data operators are commutative and associative. Commutative means an operator always outputs the same value regardless of the order of input data records, Take a look of the following example, regardless how the order of the input dataset changes, the output value of a big-data operator is always the same, which is 17</a:t>
            </a:r>
            <a:endParaRPr dirty="0"/>
          </a:p>
        </p:txBody>
      </p:sp>
    </p:spTree>
    <p:extLst>
      <p:ext uri="{BB962C8B-B14F-4D97-AF65-F5344CB8AC3E}">
        <p14:creationId xmlns:p14="http://schemas.microsoft.com/office/powerpoint/2010/main" val="4671734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881a03817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81a03817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Associativity means an operator can first compute the output values of the subsets of an input dataset, and then aggregates these output values to obtain the output value of the entire input dataset. Take a look of the following example, we can first partition the input dataset into two halves (!), and then computes their sum value respectively, which are 10 and 7 respectively (!). After that, the operator can take 10 and 7 as an input (!), and compute their sum to obtain the sum value of the entire input dataset, which is 17. Commutative and Associative properties are essential to big-data operators because these properties provides good parallelism and fault-tolerance mechanism for big-data processing systems. Hence, with these two properties, UPA can reduce the redundant </a:t>
            </a:r>
            <a:r>
              <a:rPr lang="en-US" dirty="0" err="1"/>
              <a:t>compution</a:t>
            </a:r>
            <a:r>
              <a:rPr lang="en-US" dirty="0"/>
              <a:t> in inferring sensitivity, by computing the overlapped data first, and then reuses the computation result of the overlapped data to compute the influence of individual data record to a query’s output value.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336746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881a038175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881a03817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Since brute-force is extremely inefficient and impractical, existing methods are proposed to enhance the practicality of inferring sensitivity by making different tradeoffs. Existing approaches are divided into manual approach and static approach. Manual approach requires a sensitivity to be inferred and given by human. It is general but it is not automatic and it is inaccurate. Static approach statically analyzes a query’s syntax to infer a sensitivity value. It is automatic but not general, and it is also inaccurate. Currently the only static approach is FLEX</a:t>
            </a:r>
          </a:p>
          <a:p>
            <a:pPr marL="0" indent="0">
              <a:buNone/>
            </a:pPr>
            <a:endParaRPr lang="en-US" dirty="0"/>
          </a:p>
          <a:p>
            <a:pPr marL="0" indent="0">
              <a:buNone/>
            </a:pPr>
            <a:r>
              <a:rPr lang="en-US" dirty="0"/>
              <a:t>(40s)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084377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3"/>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2.sv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5400"/>
              <a:buFont typeface="Calibri"/>
              <a:buNone/>
            </a:pPr>
            <a:r>
              <a:rPr lang="en-US" sz="5400" dirty="0"/>
              <a:t>UPA: An Automated, Accurate and Efficient Differentially Private Big-data Mining System</a:t>
            </a:r>
            <a:endParaRPr dirty="0"/>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t>Tsz On Li, </a:t>
            </a:r>
            <a:r>
              <a:rPr lang="en-US" dirty="0" err="1"/>
              <a:t>Jianyu</a:t>
            </a:r>
            <a:r>
              <a:rPr lang="en-US" dirty="0"/>
              <a:t> Jiang, Ji Qi, Chi Chiu So, </a:t>
            </a:r>
            <a:r>
              <a:rPr lang="en-US" dirty="0" err="1"/>
              <a:t>Jiacheng</a:t>
            </a:r>
            <a:r>
              <a:rPr lang="en-US" dirty="0"/>
              <a:t> Ma, </a:t>
            </a:r>
            <a:r>
              <a:rPr lang="en-US" dirty="0" err="1"/>
              <a:t>Xusheng</a:t>
            </a:r>
            <a:r>
              <a:rPr lang="en-US" dirty="0"/>
              <a:t> Chen, </a:t>
            </a:r>
            <a:r>
              <a:rPr lang="en-US" dirty="0" err="1"/>
              <a:t>Tianxiang</a:t>
            </a:r>
            <a:r>
              <a:rPr lang="en-US" dirty="0"/>
              <a:t> Shen, Heming Cui, </a:t>
            </a:r>
            <a:r>
              <a:rPr lang="en-US" dirty="0" err="1">
                <a:solidFill>
                  <a:schemeClr val="accent1"/>
                </a:solidFill>
              </a:rPr>
              <a:t>Yuexuan</a:t>
            </a:r>
            <a:r>
              <a:rPr lang="en-US" dirty="0">
                <a:solidFill>
                  <a:schemeClr val="accent1"/>
                </a:solidFill>
              </a:rPr>
              <a:t> Wang</a:t>
            </a:r>
            <a:r>
              <a:rPr lang="en-US" dirty="0"/>
              <a:t>, and </a:t>
            </a:r>
            <a:r>
              <a:rPr lang="en-US" dirty="0">
                <a:solidFill>
                  <a:schemeClr val="accent6"/>
                </a:solidFill>
              </a:rPr>
              <a:t>Peng Wang</a:t>
            </a:r>
            <a:endParaRPr dirty="0">
              <a:solidFill>
                <a:schemeClr val="accent6"/>
              </a:solidFill>
            </a:endParaRPr>
          </a:p>
          <a:p>
            <a:pPr marL="0" lvl="0" indent="0" algn="ctr" rtl="0">
              <a:lnSpc>
                <a:spcPct val="90000"/>
              </a:lnSpc>
              <a:spcBef>
                <a:spcPts val="1000"/>
              </a:spcBef>
              <a:spcAft>
                <a:spcPts val="0"/>
              </a:spcAft>
              <a:buClr>
                <a:schemeClr val="dk1"/>
              </a:buClr>
              <a:buSzPts val="2400"/>
              <a:buNone/>
            </a:pPr>
            <a:r>
              <a:rPr lang="en-US" dirty="0"/>
              <a:t>The University of Hong Kong, </a:t>
            </a:r>
            <a:r>
              <a:rPr lang="en-US" dirty="0">
                <a:solidFill>
                  <a:schemeClr val="accent1"/>
                </a:solidFill>
              </a:rPr>
              <a:t>Zhejiang University</a:t>
            </a:r>
            <a:r>
              <a:rPr lang="en-US" dirty="0"/>
              <a:t>, </a:t>
            </a:r>
            <a:r>
              <a:rPr lang="en-US" dirty="0">
                <a:solidFill>
                  <a:schemeClr val="accent6"/>
                </a:solidFill>
              </a:rPr>
              <a:t>Huawei</a:t>
            </a:r>
            <a:endParaRPr dirty="0">
              <a:solidFill>
                <a:schemeClr val="accent6"/>
              </a:solidFill>
            </a:endParaRPr>
          </a:p>
        </p:txBody>
      </p:sp>
      <p:sp>
        <p:nvSpPr>
          <p:cNvPr id="2" name="Slide Number Placeholder 1">
            <a:extLst>
              <a:ext uri="{FF2B5EF4-FFF2-40B4-BE49-F238E27FC236}">
                <a16:creationId xmlns:a16="http://schemas.microsoft.com/office/drawing/2014/main" id="{99B317F0-E86F-E949-A9FE-855E7A64A6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Differential Privacy</a:t>
            </a:r>
            <a:endParaRPr dirty="0"/>
          </a:p>
        </p:txBody>
      </p:sp>
      <p:sp>
        <p:nvSpPr>
          <p:cNvPr id="91" name="Google Shape;91;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indent="-228600">
              <a:spcBef>
                <a:spcPts val="0"/>
              </a:spcBef>
              <a:buSzPts val="2800"/>
            </a:pPr>
            <a:r>
              <a:rPr lang="en-US" sz="2400" dirty="0"/>
              <a:t>Differential Privacy (DP) is a gold standard of preserving the privacy of any individual records in an input dataset</a:t>
            </a:r>
          </a:p>
          <a:p>
            <a:pPr marL="228600" indent="-228600">
              <a:spcBef>
                <a:spcPts val="0"/>
              </a:spcBef>
              <a:buSzPts val="2800"/>
            </a:pPr>
            <a:r>
              <a:rPr lang="en-US" sz="2400" dirty="0"/>
              <a:t>Given a query and an input dataset, DP adds noise to the query’s output to avoid the output leaks sensitive information of any individual record</a:t>
            </a:r>
          </a:p>
          <a:p>
            <a:pPr marL="0" lvl="0" indent="0" algn="l" rtl="0">
              <a:lnSpc>
                <a:spcPct val="90000"/>
              </a:lnSpc>
              <a:spcBef>
                <a:spcPts val="0"/>
              </a:spcBef>
              <a:spcAft>
                <a:spcPts val="0"/>
              </a:spcAft>
              <a:buClr>
                <a:schemeClr val="dk1"/>
              </a:buClr>
              <a:buSzPts val="2800"/>
              <a:buNone/>
            </a:pPr>
            <a:endParaRPr lang="en-US" dirty="0"/>
          </a:p>
        </p:txBody>
      </p:sp>
      <p:pic>
        <p:nvPicPr>
          <p:cNvPr id="17" name="Graphic 16" descr="Devil face with solid fill">
            <a:extLst>
              <a:ext uri="{FF2B5EF4-FFF2-40B4-BE49-F238E27FC236}">
                <a16:creationId xmlns:a16="http://schemas.microsoft.com/office/drawing/2014/main" id="{CCE3281C-6C0A-BE40-92C7-C677EC6652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1503" y="4194361"/>
            <a:ext cx="1625865" cy="1608262"/>
          </a:xfrm>
          <a:prstGeom prst="rect">
            <a:avLst/>
          </a:prstGeom>
        </p:spPr>
      </p:pic>
      <p:cxnSp>
        <p:nvCxnSpPr>
          <p:cNvPr id="19" name="Straight Arrow Connector 18">
            <a:extLst>
              <a:ext uri="{FF2B5EF4-FFF2-40B4-BE49-F238E27FC236}">
                <a16:creationId xmlns:a16="http://schemas.microsoft.com/office/drawing/2014/main" id="{10588AF3-FF45-1048-87EF-BB293C97DC4C}"/>
              </a:ext>
            </a:extLst>
          </p:cNvPr>
          <p:cNvCxnSpPr/>
          <p:nvPr/>
        </p:nvCxnSpPr>
        <p:spPr bwMode="auto">
          <a:xfrm>
            <a:off x="2320894" y="4865878"/>
            <a:ext cx="2743200" cy="0"/>
          </a:xfrm>
          <a:prstGeom prst="straightConnector1">
            <a:avLst/>
          </a:prstGeom>
          <a:noFill/>
          <a:ln w="19050" cap="flat" cmpd="sng" algn="ctr">
            <a:solidFill>
              <a:schemeClr val="tx1"/>
            </a:solidFill>
            <a:prstDash val="solid"/>
            <a:round/>
            <a:headEnd type="none" w="med" len="med"/>
            <a:tailEnd type="triangle"/>
          </a:ln>
          <a:effectLst/>
        </p:spPr>
      </p:cxnSp>
      <p:sp>
        <p:nvSpPr>
          <p:cNvPr id="20" name="TextBox 19">
            <a:extLst>
              <a:ext uri="{FF2B5EF4-FFF2-40B4-BE49-F238E27FC236}">
                <a16:creationId xmlns:a16="http://schemas.microsoft.com/office/drawing/2014/main" id="{49389575-0312-144F-9E2E-D3A8A882F26E}"/>
              </a:ext>
            </a:extLst>
          </p:cNvPr>
          <p:cNvSpPr txBox="1"/>
          <p:nvPr/>
        </p:nvSpPr>
        <p:spPr>
          <a:xfrm>
            <a:off x="2300870" y="3508942"/>
            <a:ext cx="2783247" cy="1323439"/>
          </a:xfrm>
          <a:prstGeom prst="rect">
            <a:avLst/>
          </a:prstGeom>
          <a:noFill/>
        </p:spPr>
        <p:txBody>
          <a:bodyPr wrap="square" rtlCol="0" anchor="t">
            <a:spAutoFit/>
          </a:bodyPr>
          <a:lstStyle/>
          <a:p>
            <a:pPr algn="just"/>
            <a:r>
              <a:rPr lang="en-US" altLang="zh-TW" sz="2000" b="0" dirty="0">
                <a:latin typeface="+mn-lt"/>
                <a:ea typeface="新細明體"/>
              </a:rPr>
              <a:t>Count the number of patients </a:t>
            </a:r>
            <a:r>
              <a:rPr lang="en-US" altLang="zh-TW" sz="2000" dirty="0">
                <a:latin typeface="+mn-lt"/>
                <a:ea typeface="新細明體"/>
              </a:rPr>
              <a:t>who entered</a:t>
            </a:r>
            <a:r>
              <a:rPr lang="en-US" altLang="zh-TW" sz="2000" b="0" dirty="0">
                <a:latin typeface="+mn-lt"/>
                <a:ea typeface="新細明體"/>
              </a:rPr>
              <a:t> ICU on 1</a:t>
            </a:r>
            <a:r>
              <a:rPr lang="en-US" altLang="zh-TW" sz="2000" b="0" baseline="30000" dirty="0">
                <a:latin typeface="+mn-lt"/>
                <a:ea typeface="新細明體"/>
              </a:rPr>
              <a:t>st</a:t>
            </a:r>
            <a:r>
              <a:rPr lang="en-US" altLang="zh-TW" sz="2000" b="0" dirty="0">
                <a:latin typeface="+mn-lt"/>
                <a:ea typeface="新細明體"/>
              </a:rPr>
              <a:t> Jan 2019 and had a heart attack</a:t>
            </a:r>
            <a:endParaRPr lang="en-US" sz="2000" b="0" dirty="0">
              <a:latin typeface="+mn-lt"/>
              <a:ea typeface="新細明體"/>
            </a:endParaRPr>
          </a:p>
        </p:txBody>
      </p:sp>
      <p:cxnSp>
        <p:nvCxnSpPr>
          <p:cNvPr id="21" name="Straight Arrow Connector 20">
            <a:extLst>
              <a:ext uri="{FF2B5EF4-FFF2-40B4-BE49-F238E27FC236}">
                <a16:creationId xmlns:a16="http://schemas.microsoft.com/office/drawing/2014/main" id="{4F7F1202-AEEF-8F4F-BDA3-400B356C7A5C}"/>
              </a:ext>
            </a:extLst>
          </p:cNvPr>
          <p:cNvCxnSpPr>
            <a:cxnSpLocks/>
          </p:cNvCxnSpPr>
          <p:nvPr/>
        </p:nvCxnSpPr>
        <p:spPr bwMode="auto">
          <a:xfrm flipH="1">
            <a:off x="2320894" y="5265988"/>
            <a:ext cx="2743200" cy="0"/>
          </a:xfrm>
          <a:prstGeom prst="straightConnector1">
            <a:avLst/>
          </a:prstGeom>
          <a:noFill/>
          <a:ln w="19050" cap="flat" cmpd="sng" algn="ctr">
            <a:solidFill>
              <a:schemeClr val="tx1"/>
            </a:solidFill>
            <a:prstDash val="solid"/>
            <a:round/>
            <a:headEnd type="none" w="med" len="med"/>
            <a:tailEnd type="triangle"/>
          </a:ln>
          <a:effectLst/>
        </p:spPr>
      </p:cxnSp>
      <p:sp>
        <p:nvSpPr>
          <p:cNvPr id="22" name="TextBox 21">
            <a:extLst>
              <a:ext uri="{FF2B5EF4-FFF2-40B4-BE49-F238E27FC236}">
                <a16:creationId xmlns:a16="http://schemas.microsoft.com/office/drawing/2014/main" id="{5FADA6B9-EB43-F544-831A-4A9D11EC8079}"/>
              </a:ext>
            </a:extLst>
          </p:cNvPr>
          <p:cNvSpPr txBox="1"/>
          <p:nvPr/>
        </p:nvSpPr>
        <p:spPr>
          <a:xfrm>
            <a:off x="2417156" y="5411686"/>
            <a:ext cx="1739820" cy="400110"/>
          </a:xfrm>
          <a:prstGeom prst="rect">
            <a:avLst/>
          </a:prstGeom>
          <a:noFill/>
        </p:spPr>
        <p:txBody>
          <a:bodyPr wrap="square" rtlCol="0">
            <a:spAutoFit/>
          </a:bodyPr>
          <a:lstStyle/>
          <a:p>
            <a:r>
              <a:rPr lang="en-US" altLang="zh-TW" sz="2000" b="0" dirty="0">
                <a:latin typeface="+mn-lt"/>
                <a:ea typeface="+mn-ea"/>
              </a:rPr>
              <a:t>Output: 1</a:t>
            </a:r>
            <a:endParaRPr lang="en-US" sz="2000" dirty="0">
              <a:latin typeface="+mn-lt"/>
              <a:ea typeface="+mn-ea"/>
            </a:endParaRPr>
          </a:p>
        </p:txBody>
      </p:sp>
      <p:sp>
        <p:nvSpPr>
          <p:cNvPr id="26" name="TextBox 25">
            <a:extLst>
              <a:ext uri="{FF2B5EF4-FFF2-40B4-BE49-F238E27FC236}">
                <a16:creationId xmlns:a16="http://schemas.microsoft.com/office/drawing/2014/main" id="{3366EECD-6707-BE44-842D-496630CF846C}"/>
              </a:ext>
            </a:extLst>
          </p:cNvPr>
          <p:cNvSpPr txBox="1"/>
          <p:nvPr/>
        </p:nvSpPr>
        <p:spPr>
          <a:xfrm>
            <a:off x="6282045" y="6049893"/>
            <a:ext cx="3599062" cy="461665"/>
          </a:xfrm>
          <a:prstGeom prst="rect">
            <a:avLst/>
          </a:prstGeom>
          <a:noFill/>
        </p:spPr>
        <p:txBody>
          <a:bodyPr wrap="none" rtlCol="0" anchor="t">
            <a:spAutoFit/>
          </a:bodyPr>
          <a:lstStyle/>
          <a:p>
            <a:r>
              <a:rPr lang="en-US" altLang="zh-TW" sz="2400" dirty="0">
                <a:latin typeface="+mn-lt"/>
                <a:ea typeface="新細明體"/>
              </a:rPr>
              <a:t>Patients' medical dataset</a:t>
            </a:r>
            <a:endParaRPr lang="en-US" sz="2400" dirty="0">
              <a:ea typeface="+mn-ea"/>
            </a:endParaRPr>
          </a:p>
        </p:txBody>
      </p:sp>
      <p:sp>
        <p:nvSpPr>
          <p:cNvPr id="29" name="TextBox 28">
            <a:extLst>
              <a:ext uri="{FF2B5EF4-FFF2-40B4-BE49-F238E27FC236}">
                <a16:creationId xmlns:a16="http://schemas.microsoft.com/office/drawing/2014/main" id="{BDB95ABC-9002-344A-8761-189104F5CB8D}"/>
              </a:ext>
            </a:extLst>
          </p:cNvPr>
          <p:cNvSpPr txBox="1"/>
          <p:nvPr/>
        </p:nvSpPr>
        <p:spPr>
          <a:xfrm>
            <a:off x="3560288" y="5331835"/>
            <a:ext cx="1354858" cy="523220"/>
          </a:xfrm>
          <a:prstGeom prst="rect">
            <a:avLst/>
          </a:prstGeom>
          <a:noFill/>
        </p:spPr>
        <p:txBody>
          <a:bodyPr wrap="none" rtlCol="0">
            <a:spAutoFit/>
          </a:bodyPr>
          <a:lstStyle/>
          <a:p>
            <a:r>
              <a:rPr lang="en-US" sz="2800" dirty="0">
                <a:solidFill>
                  <a:srgbClr val="C00000"/>
                </a:solidFill>
              </a:rPr>
              <a:t>+ noise</a:t>
            </a:r>
          </a:p>
        </p:txBody>
      </p:sp>
      <p:sp>
        <p:nvSpPr>
          <p:cNvPr id="30" name="Slide Number Placeholder 29">
            <a:extLst>
              <a:ext uri="{FF2B5EF4-FFF2-40B4-BE49-F238E27FC236}">
                <a16:creationId xmlns:a16="http://schemas.microsoft.com/office/drawing/2014/main" id="{982C4197-DCE7-9546-A218-D4CFB09697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
        <p:nvSpPr>
          <p:cNvPr id="2" name="TextBox 1">
            <a:extLst>
              <a:ext uri="{FF2B5EF4-FFF2-40B4-BE49-F238E27FC236}">
                <a16:creationId xmlns:a16="http://schemas.microsoft.com/office/drawing/2014/main" id="{24EC4893-19C9-394A-9461-C002A0EBC169}"/>
              </a:ext>
            </a:extLst>
          </p:cNvPr>
          <p:cNvSpPr txBox="1"/>
          <p:nvPr/>
        </p:nvSpPr>
        <p:spPr>
          <a:xfrm>
            <a:off x="1037988" y="5624223"/>
            <a:ext cx="732893" cy="461665"/>
          </a:xfrm>
          <a:prstGeom prst="rect">
            <a:avLst/>
          </a:prstGeom>
          <a:noFill/>
        </p:spPr>
        <p:txBody>
          <a:bodyPr wrap="none" rtlCol="0">
            <a:spAutoFit/>
          </a:bodyPr>
          <a:lstStyle/>
          <a:p>
            <a:r>
              <a:rPr lang="en-US" sz="2400" dirty="0"/>
              <a:t>Bob</a:t>
            </a:r>
          </a:p>
        </p:txBody>
      </p:sp>
      <p:graphicFrame>
        <p:nvGraphicFramePr>
          <p:cNvPr id="4" name="Table 3">
            <a:extLst>
              <a:ext uri="{FF2B5EF4-FFF2-40B4-BE49-F238E27FC236}">
                <a16:creationId xmlns:a16="http://schemas.microsoft.com/office/drawing/2014/main" id="{BE17B31E-6074-1D46-87D5-532EFD3662B7}"/>
              </a:ext>
            </a:extLst>
          </p:cNvPr>
          <p:cNvGraphicFramePr>
            <a:graphicFrameLocks noGrp="1"/>
          </p:cNvGraphicFramePr>
          <p:nvPr>
            <p:extLst>
              <p:ext uri="{D42A27DB-BD31-4B8C-83A1-F6EECF244321}">
                <p14:modId xmlns:p14="http://schemas.microsoft.com/office/powerpoint/2010/main" val="4171545881"/>
              </p:ext>
            </p:extLst>
          </p:nvPr>
        </p:nvGraphicFramePr>
        <p:xfrm>
          <a:off x="5418124" y="3491864"/>
          <a:ext cx="5727918" cy="2529892"/>
        </p:xfrm>
        <a:graphic>
          <a:graphicData uri="http://schemas.openxmlformats.org/drawingml/2006/table">
            <a:tbl>
              <a:tblPr firstRow="1" bandRow="1">
                <a:tableStyleId>{35758FB7-9AC5-4552-8A53-C91805E547FA}</a:tableStyleId>
              </a:tblPr>
              <a:tblGrid>
                <a:gridCol w="2123393">
                  <a:extLst>
                    <a:ext uri="{9D8B030D-6E8A-4147-A177-3AD203B41FA5}">
                      <a16:colId xmlns:a16="http://schemas.microsoft.com/office/drawing/2014/main" val="1243730644"/>
                    </a:ext>
                  </a:extLst>
                </a:gridCol>
                <a:gridCol w="1810871">
                  <a:extLst>
                    <a:ext uri="{9D8B030D-6E8A-4147-A177-3AD203B41FA5}">
                      <a16:colId xmlns:a16="http://schemas.microsoft.com/office/drawing/2014/main" val="3419260626"/>
                    </a:ext>
                  </a:extLst>
                </a:gridCol>
                <a:gridCol w="1793654">
                  <a:extLst>
                    <a:ext uri="{9D8B030D-6E8A-4147-A177-3AD203B41FA5}">
                      <a16:colId xmlns:a16="http://schemas.microsoft.com/office/drawing/2014/main" val="4089942710"/>
                    </a:ext>
                  </a:extLst>
                </a:gridCol>
              </a:tblGrid>
              <a:tr h="472453">
                <a:tc>
                  <a:txBody>
                    <a:bodyPr/>
                    <a:lstStyle/>
                    <a:p>
                      <a:r>
                        <a:rPr lang="en-US" sz="1800" dirty="0"/>
                        <a:t>Patient Name</a:t>
                      </a:r>
                    </a:p>
                    <a:p>
                      <a:r>
                        <a:rPr lang="en-US" sz="1800" dirty="0"/>
                        <a:t>(non-accessible)</a:t>
                      </a:r>
                    </a:p>
                  </a:txBody>
                  <a:tcPr/>
                </a:tc>
                <a:tc>
                  <a:txBody>
                    <a:bodyPr/>
                    <a:lstStyle/>
                    <a:p>
                      <a:r>
                        <a:rPr lang="en-US" sz="1800" dirty="0"/>
                        <a:t>Entered ICU Date</a:t>
                      </a:r>
                    </a:p>
                  </a:txBody>
                  <a:tcPr/>
                </a:tc>
                <a:tc>
                  <a:txBody>
                    <a:bodyPr/>
                    <a:lstStyle/>
                    <a:p>
                      <a:r>
                        <a:rPr lang="en-US" sz="1800" dirty="0"/>
                        <a:t>Symptoms</a:t>
                      </a:r>
                    </a:p>
                  </a:txBody>
                  <a:tcPr/>
                </a:tc>
                <a:extLst>
                  <a:ext uri="{0D108BD9-81ED-4DB2-BD59-A6C34878D82A}">
                    <a16:rowId xmlns:a16="http://schemas.microsoft.com/office/drawing/2014/main" val="2842646465"/>
                  </a:ext>
                </a:extLst>
              </a:tr>
              <a:tr h="472453">
                <a:tc>
                  <a:txBody>
                    <a:bodyPr/>
                    <a:lstStyle/>
                    <a:p>
                      <a:r>
                        <a:rPr lang="en-US" sz="1800" dirty="0"/>
                        <a:t>Tom</a:t>
                      </a:r>
                    </a:p>
                  </a:txBody>
                  <a:tcPr/>
                </a:tc>
                <a:tc>
                  <a:txBody>
                    <a:bodyPr/>
                    <a:lstStyle/>
                    <a:p>
                      <a:r>
                        <a:rPr lang="en-US" sz="1800" dirty="0"/>
                        <a:t>2</a:t>
                      </a:r>
                      <a:r>
                        <a:rPr lang="en-US" sz="1800" baseline="30000" dirty="0"/>
                        <a:t>nd</a:t>
                      </a:r>
                      <a:r>
                        <a:rPr lang="en-US" sz="1800" dirty="0"/>
                        <a:t> Jan 2019</a:t>
                      </a:r>
                    </a:p>
                  </a:txBody>
                  <a:tcPr/>
                </a:tc>
                <a:tc>
                  <a:txBody>
                    <a:bodyPr/>
                    <a:lstStyle/>
                    <a:p>
                      <a:r>
                        <a:rPr lang="en-US" sz="1800" dirty="0"/>
                        <a:t>Stroke</a:t>
                      </a:r>
                    </a:p>
                  </a:txBody>
                  <a:tcPr/>
                </a:tc>
                <a:extLst>
                  <a:ext uri="{0D108BD9-81ED-4DB2-BD59-A6C34878D82A}">
                    <a16:rowId xmlns:a16="http://schemas.microsoft.com/office/drawing/2014/main" val="976098795"/>
                  </a:ext>
                </a:extLst>
              </a:tr>
              <a:tr h="472453">
                <a:tc>
                  <a:txBody>
                    <a:bodyPr/>
                    <a:lstStyle/>
                    <a:p>
                      <a:r>
                        <a:rPr lang="en-US" sz="1800" dirty="0"/>
                        <a:t>Alice</a:t>
                      </a:r>
                    </a:p>
                  </a:txBody>
                  <a:tcPr/>
                </a:tc>
                <a:tc>
                  <a:txBody>
                    <a:bodyPr/>
                    <a:lstStyle/>
                    <a:p>
                      <a:r>
                        <a:rPr lang="en-US" sz="1800" dirty="0"/>
                        <a:t>1</a:t>
                      </a:r>
                      <a:r>
                        <a:rPr lang="en-US" sz="1800" baseline="30000" dirty="0"/>
                        <a:t>st</a:t>
                      </a:r>
                      <a:r>
                        <a:rPr lang="en-US" sz="1800" dirty="0"/>
                        <a:t> Jan 2019</a:t>
                      </a:r>
                    </a:p>
                  </a:txBody>
                  <a:tcPr/>
                </a:tc>
                <a:tc>
                  <a:txBody>
                    <a:bodyPr/>
                    <a:lstStyle/>
                    <a:p>
                      <a:r>
                        <a:rPr lang="en-US" sz="1800" dirty="0"/>
                        <a:t>Heart attack</a:t>
                      </a:r>
                    </a:p>
                  </a:txBody>
                  <a:tcPr/>
                </a:tc>
                <a:extLst>
                  <a:ext uri="{0D108BD9-81ED-4DB2-BD59-A6C34878D82A}">
                    <a16:rowId xmlns:a16="http://schemas.microsoft.com/office/drawing/2014/main" val="2077925622"/>
                  </a:ext>
                </a:extLst>
              </a:tr>
              <a:tr h="472453">
                <a:tc>
                  <a:txBody>
                    <a:bodyPr/>
                    <a:lstStyle/>
                    <a:p>
                      <a:r>
                        <a:rPr lang="en-US" sz="1800" dirty="0"/>
                        <a:t>Mary</a:t>
                      </a:r>
                    </a:p>
                  </a:txBody>
                  <a:tcPr/>
                </a:tc>
                <a:tc>
                  <a:txBody>
                    <a:bodyPr/>
                    <a:lstStyle/>
                    <a:p>
                      <a:r>
                        <a:rPr lang="en-US" sz="1800" dirty="0"/>
                        <a:t>3</a:t>
                      </a:r>
                      <a:r>
                        <a:rPr lang="en-US" sz="1800" baseline="30000" dirty="0"/>
                        <a:t>rd</a:t>
                      </a:r>
                      <a:r>
                        <a:rPr lang="en-US" sz="1800" dirty="0"/>
                        <a:t> Jan 2019</a:t>
                      </a:r>
                    </a:p>
                  </a:txBody>
                  <a:tcPr/>
                </a:tc>
                <a:tc>
                  <a:txBody>
                    <a:bodyPr/>
                    <a:lstStyle/>
                    <a:p>
                      <a:r>
                        <a:rPr lang="en-HK" sz="1800" u="none" strike="noStrike" cap="none" dirty="0">
                          <a:effectLst/>
                          <a:sym typeface="Arial"/>
                        </a:rPr>
                        <a:t>Pneumonia</a:t>
                      </a:r>
                      <a:endParaRPr lang="en-US" sz="1800" b="0" dirty="0"/>
                    </a:p>
                  </a:txBody>
                  <a:tcPr/>
                </a:tc>
                <a:extLst>
                  <a:ext uri="{0D108BD9-81ED-4DB2-BD59-A6C34878D82A}">
                    <a16:rowId xmlns:a16="http://schemas.microsoft.com/office/drawing/2014/main" val="3541591628"/>
                  </a:ext>
                </a:extLst>
              </a:tr>
              <a:tr h="472453">
                <a:tc gridSpan="3">
                  <a:txBody>
                    <a:bodyPr/>
                    <a:lstStyle/>
                    <a:p>
                      <a:pPr algn="ctr"/>
                      <a:r>
                        <a:rPr lang="en-US" sz="1800" dirty="0"/>
                        <a:t>…</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736295955"/>
                  </a:ext>
                </a:extLst>
              </a:tr>
            </a:tbl>
          </a:graphicData>
        </a:graphic>
      </p:graphicFrame>
      <p:sp>
        <p:nvSpPr>
          <p:cNvPr id="3" name="Rectangle 2">
            <a:extLst>
              <a:ext uri="{FF2B5EF4-FFF2-40B4-BE49-F238E27FC236}">
                <a16:creationId xmlns:a16="http://schemas.microsoft.com/office/drawing/2014/main" id="{7E0B0512-C3B9-3C4B-84C8-D5632CBD5A8D}"/>
              </a:ext>
            </a:extLst>
          </p:cNvPr>
          <p:cNvSpPr/>
          <p:nvPr/>
        </p:nvSpPr>
        <p:spPr>
          <a:xfrm>
            <a:off x="5347176" y="4616654"/>
            <a:ext cx="5798865" cy="50831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9567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Enforcing an end-to-end DP is challenging</a:t>
            </a:r>
            <a:endParaRPr dirty="0"/>
          </a:p>
        </p:txBody>
      </p:sp>
      <p:sp>
        <p:nvSpPr>
          <p:cNvPr id="99" name="Google Shape;9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14350" indent="-514350">
              <a:spcBef>
                <a:spcPts val="0"/>
              </a:spcBef>
              <a:buSzPts val="2800"/>
            </a:pPr>
            <a:r>
              <a:rPr lang="en-US" sz="2300" dirty="0"/>
              <a:t>The noise is calibrated according to “sensitivity”, the greatest change on a query’s output value when a data record is added to or removed from the input dataset</a:t>
            </a:r>
          </a:p>
          <a:p>
            <a:pPr marL="514350" indent="-514350">
              <a:spcBef>
                <a:spcPts val="0"/>
              </a:spcBef>
              <a:buSzPts val="2800"/>
            </a:pPr>
            <a:r>
              <a:rPr lang="en-US" sz="2300" dirty="0"/>
              <a:t>A sensitivity value of a query is usually unknown</a:t>
            </a:r>
          </a:p>
          <a:p>
            <a:pPr marL="514350" indent="-514350">
              <a:spcBef>
                <a:spcPts val="0"/>
              </a:spcBef>
              <a:buSzPts val="2800"/>
            </a:pPr>
            <a:r>
              <a:rPr lang="en-US" sz="2300" dirty="0"/>
              <a:t>Only brute force approach can identify the sensitivity value of an arbitrary query, but it is extremely inefficient</a:t>
            </a:r>
            <a:endParaRPr sz="2300" dirty="0"/>
          </a:p>
        </p:txBody>
      </p:sp>
      <p:sp>
        <p:nvSpPr>
          <p:cNvPr id="2" name="Slide Number Placeholder 1">
            <a:extLst>
              <a:ext uri="{FF2B5EF4-FFF2-40B4-BE49-F238E27FC236}">
                <a16:creationId xmlns:a16="http://schemas.microsoft.com/office/drawing/2014/main" id="{6FFA3A6D-7D58-3541-9EE6-4662D06B0B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3" name="Rectangle 2">
            <a:extLst>
              <a:ext uri="{FF2B5EF4-FFF2-40B4-BE49-F238E27FC236}">
                <a16:creationId xmlns:a16="http://schemas.microsoft.com/office/drawing/2014/main" id="{7A98501C-6A0A-9C4B-A93E-F834A826B8CC}"/>
              </a:ext>
            </a:extLst>
          </p:cNvPr>
          <p:cNvSpPr/>
          <p:nvPr/>
        </p:nvSpPr>
        <p:spPr>
          <a:xfrm>
            <a:off x="2821021" y="4001294"/>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a:extLst>
              <a:ext uri="{FF2B5EF4-FFF2-40B4-BE49-F238E27FC236}">
                <a16:creationId xmlns:a16="http://schemas.microsoft.com/office/drawing/2014/main" id="{99FC8E6E-37D1-A24E-A0BA-3B6E2D6A6981}"/>
              </a:ext>
            </a:extLst>
          </p:cNvPr>
          <p:cNvSpPr/>
          <p:nvPr/>
        </p:nvSpPr>
        <p:spPr>
          <a:xfrm>
            <a:off x="2821021" y="4353835"/>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5" name="Rectangle 14">
            <a:extLst>
              <a:ext uri="{FF2B5EF4-FFF2-40B4-BE49-F238E27FC236}">
                <a16:creationId xmlns:a16="http://schemas.microsoft.com/office/drawing/2014/main" id="{22DA982E-954E-BD45-9AB2-2D3A35454397}"/>
              </a:ext>
            </a:extLst>
          </p:cNvPr>
          <p:cNvSpPr/>
          <p:nvPr/>
        </p:nvSpPr>
        <p:spPr>
          <a:xfrm>
            <a:off x="2821021" y="4706376"/>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 name="Rectangle 15">
            <a:extLst>
              <a:ext uri="{FF2B5EF4-FFF2-40B4-BE49-F238E27FC236}">
                <a16:creationId xmlns:a16="http://schemas.microsoft.com/office/drawing/2014/main" id="{D11C9240-9A8C-604F-98EF-46BBEBE92AAD}"/>
              </a:ext>
            </a:extLst>
          </p:cNvPr>
          <p:cNvSpPr/>
          <p:nvPr/>
        </p:nvSpPr>
        <p:spPr>
          <a:xfrm>
            <a:off x="2821020" y="5052616"/>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7" name="Rectangle 16">
            <a:extLst>
              <a:ext uri="{FF2B5EF4-FFF2-40B4-BE49-F238E27FC236}">
                <a16:creationId xmlns:a16="http://schemas.microsoft.com/office/drawing/2014/main" id="{31ACA68A-F3DE-5744-844C-0874593A3FB0}"/>
              </a:ext>
            </a:extLst>
          </p:cNvPr>
          <p:cNvSpPr/>
          <p:nvPr/>
        </p:nvSpPr>
        <p:spPr>
          <a:xfrm>
            <a:off x="2821020" y="5405157"/>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 name="Rectangle 17">
            <a:extLst>
              <a:ext uri="{FF2B5EF4-FFF2-40B4-BE49-F238E27FC236}">
                <a16:creationId xmlns:a16="http://schemas.microsoft.com/office/drawing/2014/main" id="{CF16DFC3-AD59-B448-9F95-5384D9BF3A44}"/>
              </a:ext>
            </a:extLst>
          </p:cNvPr>
          <p:cNvSpPr/>
          <p:nvPr/>
        </p:nvSpPr>
        <p:spPr>
          <a:xfrm>
            <a:off x="2821020" y="5751397"/>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9" name="Rectangle 18">
            <a:extLst>
              <a:ext uri="{FF2B5EF4-FFF2-40B4-BE49-F238E27FC236}">
                <a16:creationId xmlns:a16="http://schemas.microsoft.com/office/drawing/2014/main" id="{D249CFCC-927B-6343-947E-E307C6A2C85A}"/>
              </a:ext>
            </a:extLst>
          </p:cNvPr>
          <p:cNvSpPr/>
          <p:nvPr/>
        </p:nvSpPr>
        <p:spPr>
          <a:xfrm>
            <a:off x="2821019" y="6103938"/>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 name="Right Arrow 3">
            <a:extLst>
              <a:ext uri="{FF2B5EF4-FFF2-40B4-BE49-F238E27FC236}">
                <a16:creationId xmlns:a16="http://schemas.microsoft.com/office/drawing/2014/main" id="{96AA2E89-797F-2443-96D4-3175DD3E54E9}"/>
              </a:ext>
            </a:extLst>
          </p:cNvPr>
          <p:cNvSpPr/>
          <p:nvPr/>
        </p:nvSpPr>
        <p:spPr>
          <a:xfrm>
            <a:off x="3522435" y="5350210"/>
            <a:ext cx="504496"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1F4FBCB-2233-234D-9DA1-80EB7F70F304}"/>
              </a:ext>
            </a:extLst>
          </p:cNvPr>
          <p:cNvSpPr txBox="1"/>
          <p:nvPr/>
        </p:nvSpPr>
        <p:spPr>
          <a:xfrm>
            <a:off x="3365000" y="4931851"/>
            <a:ext cx="753732" cy="400110"/>
          </a:xfrm>
          <a:prstGeom prst="rect">
            <a:avLst/>
          </a:prstGeom>
          <a:noFill/>
        </p:spPr>
        <p:txBody>
          <a:bodyPr wrap="none" rtlCol="0">
            <a:spAutoFit/>
          </a:bodyPr>
          <a:lstStyle/>
          <a:p>
            <a:r>
              <a:rPr lang="en-US" sz="2000" dirty="0"/>
              <a:t>Input</a:t>
            </a:r>
          </a:p>
        </p:txBody>
      </p:sp>
      <p:sp>
        <p:nvSpPr>
          <p:cNvPr id="22" name="Rectangle 21">
            <a:extLst>
              <a:ext uri="{FF2B5EF4-FFF2-40B4-BE49-F238E27FC236}">
                <a16:creationId xmlns:a16="http://schemas.microsoft.com/office/drawing/2014/main" id="{E7728544-E0C7-D34F-B423-D4943DD8425D}"/>
              </a:ext>
            </a:extLst>
          </p:cNvPr>
          <p:cNvSpPr/>
          <p:nvPr/>
        </p:nvSpPr>
        <p:spPr>
          <a:xfrm>
            <a:off x="4178517" y="4742360"/>
            <a:ext cx="1489388" cy="13975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pic>
        <p:nvPicPr>
          <p:cNvPr id="23" name="Graphic 13" descr="Gears">
            <a:extLst>
              <a:ext uri="{FF2B5EF4-FFF2-40B4-BE49-F238E27FC236}">
                <a16:creationId xmlns:a16="http://schemas.microsoft.com/office/drawing/2014/main" id="{FF3AC2B0-4CBF-CB40-B70C-A1DC08992C3F}"/>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73052" y="5324711"/>
            <a:ext cx="802046" cy="731688"/>
          </a:xfrm>
          <a:prstGeom prst="rect">
            <a:avLst/>
          </a:prstGeom>
        </p:spPr>
      </p:pic>
      <p:sp>
        <p:nvSpPr>
          <p:cNvPr id="24" name="TextBox 23">
            <a:extLst>
              <a:ext uri="{FF2B5EF4-FFF2-40B4-BE49-F238E27FC236}">
                <a16:creationId xmlns:a16="http://schemas.microsoft.com/office/drawing/2014/main" id="{91486628-503B-CA47-9EDB-D2E6AB55560C}"/>
              </a:ext>
            </a:extLst>
          </p:cNvPr>
          <p:cNvSpPr txBox="1"/>
          <p:nvPr/>
        </p:nvSpPr>
        <p:spPr>
          <a:xfrm>
            <a:off x="4518143" y="4858382"/>
            <a:ext cx="902811" cy="461665"/>
          </a:xfrm>
          <a:prstGeom prst="rect">
            <a:avLst/>
          </a:prstGeom>
          <a:noFill/>
        </p:spPr>
        <p:txBody>
          <a:bodyPr wrap="square" rtlCol="0">
            <a:spAutoFit/>
          </a:bodyPr>
          <a:lstStyle/>
          <a:p>
            <a:r>
              <a:rPr lang="en-US" altLang="zh-TW" sz="2400" dirty="0"/>
              <a:t>Sum</a:t>
            </a:r>
            <a:endParaRPr lang="en-US" sz="2400" dirty="0"/>
          </a:p>
        </p:txBody>
      </p:sp>
      <p:sp>
        <p:nvSpPr>
          <p:cNvPr id="25" name="Right Arrow 24">
            <a:extLst>
              <a:ext uri="{FF2B5EF4-FFF2-40B4-BE49-F238E27FC236}">
                <a16:creationId xmlns:a16="http://schemas.microsoft.com/office/drawing/2014/main" id="{C1AB48A6-ECD2-E043-B656-6FF83ECE05C9}"/>
              </a:ext>
            </a:extLst>
          </p:cNvPr>
          <p:cNvSpPr/>
          <p:nvPr/>
        </p:nvSpPr>
        <p:spPr>
          <a:xfrm>
            <a:off x="5918536" y="5350209"/>
            <a:ext cx="504496"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C75B386-F0B3-044C-89C6-EE2076643A0A}"/>
              </a:ext>
            </a:extLst>
          </p:cNvPr>
          <p:cNvSpPr txBox="1"/>
          <p:nvPr/>
        </p:nvSpPr>
        <p:spPr>
          <a:xfrm>
            <a:off x="5679632" y="4950099"/>
            <a:ext cx="952505" cy="400110"/>
          </a:xfrm>
          <a:prstGeom prst="rect">
            <a:avLst/>
          </a:prstGeom>
          <a:noFill/>
        </p:spPr>
        <p:txBody>
          <a:bodyPr wrap="none" rtlCol="0">
            <a:spAutoFit/>
          </a:bodyPr>
          <a:lstStyle/>
          <a:p>
            <a:r>
              <a:rPr lang="en-US" sz="2000" dirty="0"/>
              <a:t>Output</a:t>
            </a:r>
          </a:p>
        </p:txBody>
      </p:sp>
      <p:sp>
        <p:nvSpPr>
          <p:cNvPr id="6" name="TextBox 5">
            <a:extLst>
              <a:ext uri="{FF2B5EF4-FFF2-40B4-BE49-F238E27FC236}">
                <a16:creationId xmlns:a16="http://schemas.microsoft.com/office/drawing/2014/main" id="{3AC2A18E-8AFD-B342-B12A-9AC19FB230E4}"/>
              </a:ext>
            </a:extLst>
          </p:cNvPr>
          <p:cNvSpPr txBox="1"/>
          <p:nvPr/>
        </p:nvSpPr>
        <p:spPr>
          <a:xfrm>
            <a:off x="6578332" y="5220003"/>
            <a:ext cx="585417" cy="523220"/>
          </a:xfrm>
          <a:prstGeom prst="rect">
            <a:avLst/>
          </a:prstGeom>
          <a:noFill/>
        </p:spPr>
        <p:txBody>
          <a:bodyPr wrap="none" rtlCol="0">
            <a:spAutoFit/>
          </a:bodyPr>
          <a:lstStyle/>
          <a:p>
            <a:r>
              <a:rPr lang="en-US" sz="2800" dirty="0"/>
              <a:t>17</a:t>
            </a:r>
          </a:p>
        </p:txBody>
      </p:sp>
      <p:sp>
        <p:nvSpPr>
          <p:cNvPr id="27" name="TextBox 26">
            <a:extLst>
              <a:ext uri="{FF2B5EF4-FFF2-40B4-BE49-F238E27FC236}">
                <a16:creationId xmlns:a16="http://schemas.microsoft.com/office/drawing/2014/main" id="{BF42C5F4-4BDD-724B-BEEF-A0A224EDDA0E}"/>
              </a:ext>
            </a:extLst>
          </p:cNvPr>
          <p:cNvSpPr txBox="1"/>
          <p:nvPr/>
        </p:nvSpPr>
        <p:spPr>
          <a:xfrm>
            <a:off x="6379676" y="5828461"/>
            <a:ext cx="1614545" cy="369332"/>
          </a:xfrm>
          <a:prstGeom prst="rect">
            <a:avLst/>
          </a:prstGeom>
          <a:noFill/>
        </p:spPr>
        <p:txBody>
          <a:bodyPr wrap="none" rtlCol="0">
            <a:spAutoFit/>
          </a:bodyPr>
          <a:lstStyle/>
          <a:p>
            <a:r>
              <a:rPr lang="en-US" sz="1800" dirty="0"/>
              <a:t>Sensitivity = 4</a:t>
            </a:r>
          </a:p>
        </p:txBody>
      </p:sp>
      <p:sp>
        <p:nvSpPr>
          <p:cNvPr id="28" name="TextBox 27">
            <a:extLst>
              <a:ext uri="{FF2B5EF4-FFF2-40B4-BE49-F238E27FC236}">
                <a16:creationId xmlns:a16="http://schemas.microsoft.com/office/drawing/2014/main" id="{C7DF862A-6077-7448-A353-CE423934E455}"/>
              </a:ext>
            </a:extLst>
          </p:cNvPr>
          <p:cNvSpPr txBox="1"/>
          <p:nvPr/>
        </p:nvSpPr>
        <p:spPr>
          <a:xfrm>
            <a:off x="7066723" y="5237773"/>
            <a:ext cx="1854995" cy="523220"/>
          </a:xfrm>
          <a:prstGeom prst="rect">
            <a:avLst/>
          </a:prstGeom>
          <a:noFill/>
        </p:spPr>
        <p:txBody>
          <a:bodyPr wrap="none" rtlCol="0">
            <a:spAutoFit/>
          </a:bodyPr>
          <a:lstStyle/>
          <a:p>
            <a:r>
              <a:rPr lang="en-US" sz="2800" dirty="0"/>
              <a:t>+ Noise(4)</a:t>
            </a:r>
          </a:p>
        </p:txBody>
      </p:sp>
      <p:sp>
        <p:nvSpPr>
          <p:cNvPr id="34" name="Rectangle 33">
            <a:extLst>
              <a:ext uri="{FF2B5EF4-FFF2-40B4-BE49-F238E27FC236}">
                <a16:creationId xmlns:a16="http://schemas.microsoft.com/office/drawing/2014/main" id="{4F975AF5-7057-374E-B015-D28FC42F8942}"/>
              </a:ext>
            </a:extLst>
          </p:cNvPr>
          <p:cNvSpPr/>
          <p:nvPr/>
        </p:nvSpPr>
        <p:spPr>
          <a:xfrm>
            <a:off x="2821019" y="6444149"/>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29" name="Straight Connector 28">
            <a:extLst>
              <a:ext uri="{FF2B5EF4-FFF2-40B4-BE49-F238E27FC236}">
                <a16:creationId xmlns:a16="http://schemas.microsoft.com/office/drawing/2014/main" id="{4EF06ED5-C948-DC44-882E-E8605D70B7B7}"/>
              </a:ext>
            </a:extLst>
          </p:cNvPr>
          <p:cNvCxnSpPr/>
          <p:nvPr/>
        </p:nvCxnSpPr>
        <p:spPr>
          <a:xfrm flipV="1">
            <a:off x="2705795" y="4347670"/>
            <a:ext cx="582150" cy="35254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7D43C92-0A0F-C04B-847B-573357C62CDA}"/>
              </a:ext>
            </a:extLst>
          </p:cNvPr>
          <p:cNvCxnSpPr>
            <a:cxnSpLocks/>
          </p:cNvCxnSpPr>
          <p:nvPr/>
        </p:nvCxnSpPr>
        <p:spPr>
          <a:xfrm>
            <a:off x="2737440" y="4350816"/>
            <a:ext cx="518860" cy="3463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94C5B29-FCB7-844A-B8A8-19DDB74418D3}"/>
              </a:ext>
            </a:extLst>
          </p:cNvPr>
          <p:cNvSpPr txBox="1"/>
          <p:nvPr/>
        </p:nvSpPr>
        <p:spPr>
          <a:xfrm>
            <a:off x="2164751" y="3629823"/>
            <a:ext cx="1664238" cy="400110"/>
          </a:xfrm>
          <a:prstGeom prst="rect">
            <a:avLst/>
          </a:prstGeom>
          <a:noFill/>
        </p:spPr>
        <p:txBody>
          <a:bodyPr wrap="none" rtlCol="0">
            <a:spAutoFit/>
          </a:bodyPr>
          <a:lstStyle/>
          <a:p>
            <a:r>
              <a:rPr lang="en-US" sz="2000" dirty="0"/>
              <a:t>Input dataset</a:t>
            </a:r>
          </a:p>
        </p:txBody>
      </p:sp>
    </p:spTree>
    <p:extLst>
      <p:ext uri="{BB962C8B-B14F-4D97-AF65-F5344CB8AC3E}">
        <p14:creationId xmlns:p14="http://schemas.microsoft.com/office/powerpoint/2010/main" val="752835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881a038175_0_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Existing approaches</a:t>
            </a:r>
            <a:endParaRPr/>
          </a:p>
        </p:txBody>
      </p:sp>
      <p:sp>
        <p:nvSpPr>
          <p:cNvPr id="106" name="Google Shape;106;g881a038175_0_5"/>
          <p:cNvSpPr txBox="1">
            <a:spLocks noGrp="1"/>
          </p:cNvSpPr>
          <p:nvPr>
            <p:ph type="body" idx="1"/>
          </p:nvPr>
        </p:nvSpPr>
        <p:spPr>
          <a:xfrm>
            <a:off x="838200" y="1825625"/>
            <a:ext cx="11049000" cy="4351200"/>
          </a:xfrm>
          <a:prstGeom prst="rect">
            <a:avLst/>
          </a:prstGeom>
        </p:spPr>
        <p:txBody>
          <a:bodyPr spcFirstLastPara="1" wrap="square" lIns="91425" tIns="45700" rIns="91425" bIns="45700" anchor="t" anchorCtr="0">
            <a:noAutofit/>
          </a:bodyPr>
          <a:lstStyle/>
          <a:p>
            <a:pPr marL="457200" lvl="0" indent="-342900" algn="l" rtl="0">
              <a:spcBef>
                <a:spcPts val="1000"/>
              </a:spcBef>
              <a:spcAft>
                <a:spcPts val="0"/>
              </a:spcAft>
              <a:buSzPts val="1800"/>
              <a:buChar char="•"/>
            </a:pPr>
            <a:r>
              <a:rPr lang="en-US" dirty="0"/>
              <a:t>Manual approach </a:t>
            </a:r>
            <a:endParaRPr dirty="0"/>
          </a:p>
          <a:p>
            <a:pPr marL="914400" lvl="1" indent="-342900" algn="l" rtl="0">
              <a:spcBef>
                <a:spcPts val="0"/>
              </a:spcBef>
              <a:spcAft>
                <a:spcPts val="0"/>
              </a:spcAft>
              <a:buSzPts val="1800"/>
              <a:buChar char="•"/>
            </a:pPr>
            <a:r>
              <a:rPr lang="en-US" dirty="0"/>
              <a:t>A sensitivity value is inferred and given by human</a:t>
            </a:r>
            <a:endParaRPr dirty="0"/>
          </a:p>
          <a:p>
            <a:pPr lvl="1">
              <a:spcBef>
                <a:spcPts val="0"/>
              </a:spcBef>
            </a:pPr>
            <a:r>
              <a:rPr lang="en-US" dirty="0"/>
              <a:t>Advantage: general (applicable to an arbitrary query and input dataset)</a:t>
            </a:r>
            <a:endParaRPr lang="en-HK" dirty="0"/>
          </a:p>
          <a:p>
            <a:pPr marL="914400" lvl="1" indent="-342900" algn="l" rtl="0">
              <a:spcBef>
                <a:spcPts val="0"/>
              </a:spcBef>
              <a:spcAft>
                <a:spcPts val="0"/>
              </a:spcAft>
              <a:buSzPts val="1800"/>
              <a:buChar char="•"/>
            </a:pPr>
            <a:r>
              <a:rPr lang="en-US" dirty="0"/>
              <a:t>Limitations: non-automatic and error-prone (adding too much noise to output)</a:t>
            </a:r>
            <a:endParaRPr dirty="0"/>
          </a:p>
          <a:p>
            <a:pPr marL="914400" lvl="1" indent="-342900" algn="l" rtl="0">
              <a:spcBef>
                <a:spcPts val="0"/>
              </a:spcBef>
              <a:spcAft>
                <a:spcPts val="0"/>
              </a:spcAft>
              <a:buSzPts val="1800"/>
              <a:buChar char="•"/>
            </a:pPr>
            <a:r>
              <a:rPr lang="en-US" dirty="0"/>
              <a:t>Related work: PINQ [SIGMOD’09], </a:t>
            </a:r>
            <a:r>
              <a:rPr lang="en-US" dirty="0" err="1"/>
              <a:t>Airavat</a:t>
            </a:r>
            <a:r>
              <a:rPr lang="en-US" dirty="0"/>
              <a:t> [NSDI’10], FUZZ [SIGACT’13], GUPT [SIGMOD’12], </a:t>
            </a:r>
            <a:r>
              <a:rPr lang="en-US" dirty="0" err="1"/>
              <a:t>SensitivitySampler</a:t>
            </a:r>
            <a:r>
              <a:rPr lang="en-US" dirty="0"/>
              <a:t> [JMLR’17], Duet [OOPSLA’19]</a:t>
            </a:r>
            <a:endParaRPr dirty="0"/>
          </a:p>
          <a:p>
            <a:pPr marL="457200" lvl="0" indent="-342900" algn="l" rtl="0">
              <a:spcAft>
                <a:spcPts val="0"/>
              </a:spcAft>
              <a:buSzPts val="1800"/>
              <a:buChar char="•"/>
            </a:pPr>
            <a:r>
              <a:rPr lang="en-US" dirty="0"/>
              <a:t>Static approach</a:t>
            </a:r>
            <a:endParaRPr dirty="0"/>
          </a:p>
          <a:p>
            <a:pPr marL="914400" lvl="1" indent="-342900" algn="l" rtl="0">
              <a:spcBef>
                <a:spcPts val="0"/>
              </a:spcBef>
              <a:spcAft>
                <a:spcPts val="0"/>
              </a:spcAft>
              <a:buSzPts val="1800"/>
              <a:buChar char="•"/>
            </a:pPr>
            <a:r>
              <a:rPr lang="en-US" dirty="0"/>
              <a:t>A sensitivity value is identified by analyzing the syntax of a query</a:t>
            </a:r>
            <a:endParaRPr dirty="0"/>
          </a:p>
          <a:p>
            <a:pPr lvl="1">
              <a:spcBef>
                <a:spcPts val="0"/>
              </a:spcBef>
            </a:pPr>
            <a:r>
              <a:rPr lang="en-US" dirty="0"/>
              <a:t>Advantages: automatic and efficient (has near-zero overhead)</a:t>
            </a:r>
          </a:p>
          <a:p>
            <a:pPr lvl="1">
              <a:spcBef>
                <a:spcPts val="0"/>
              </a:spcBef>
            </a:pPr>
            <a:r>
              <a:rPr lang="en-US" dirty="0"/>
              <a:t>Limitations: not generate (applicable to only count query) and inaccurate</a:t>
            </a:r>
            <a:endParaRPr dirty="0"/>
          </a:p>
          <a:p>
            <a:pPr lvl="1">
              <a:spcBef>
                <a:spcPts val="0"/>
              </a:spcBef>
            </a:pPr>
            <a:r>
              <a:rPr lang="en-US" dirty="0"/>
              <a:t>Related work: FLEX [VLDB’18]</a:t>
            </a:r>
            <a:endParaRPr dirty="0"/>
          </a:p>
        </p:txBody>
      </p:sp>
      <p:sp>
        <p:nvSpPr>
          <p:cNvPr id="2" name="Slide Number Placeholder 1">
            <a:extLst>
              <a:ext uri="{FF2B5EF4-FFF2-40B4-BE49-F238E27FC236}">
                <a16:creationId xmlns:a16="http://schemas.microsoft.com/office/drawing/2014/main" id="{897B10D9-E2CD-2D4E-91E9-6E787F9F4C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303809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g881a038175_0_1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Our system UPA</a:t>
            </a:r>
            <a:endParaRPr dirty="0"/>
          </a:p>
        </p:txBody>
      </p:sp>
      <p:sp>
        <p:nvSpPr>
          <p:cNvPr id="112" name="Google Shape;112;g881a038175_0_13"/>
          <p:cNvSpPr txBox="1">
            <a:spLocks noGrp="1"/>
          </p:cNvSpPr>
          <p:nvPr>
            <p:ph type="body" idx="1"/>
          </p:nvPr>
        </p:nvSpPr>
        <p:spPr>
          <a:xfrm>
            <a:off x="838200" y="1690825"/>
            <a:ext cx="10515600" cy="4351200"/>
          </a:xfrm>
          <a:prstGeom prst="rect">
            <a:avLst/>
          </a:prstGeom>
        </p:spPr>
        <p:txBody>
          <a:bodyPr spcFirstLastPara="1" wrap="square" lIns="91425" tIns="45700" rIns="91425" bIns="45700" anchor="t" anchorCtr="0">
            <a:noAutofit/>
          </a:bodyPr>
          <a:lstStyle/>
          <a:p>
            <a:r>
              <a:rPr lang="en-US" dirty="0"/>
              <a:t>UPA starts from a brute force approach, but greatly enhances the efficiency of inferring a sensitivity value</a:t>
            </a:r>
          </a:p>
          <a:p>
            <a:r>
              <a:rPr lang="en-US" dirty="0"/>
              <a:t>Our main observation is that </a:t>
            </a:r>
          </a:p>
          <a:p>
            <a:pPr lvl="1"/>
            <a:r>
              <a:rPr lang="en-US" dirty="0"/>
              <a:t>brute force approach computes on mostly overlapped dataset</a:t>
            </a:r>
          </a:p>
          <a:p>
            <a:pPr lvl="1"/>
            <a:r>
              <a:rPr lang="en-US" dirty="0"/>
              <a:t>big-data operators' commutative and associative properties, and sampling theories can substantially reduce the computation on the overlapped dataset</a:t>
            </a:r>
          </a:p>
        </p:txBody>
      </p:sp>
      <p:graphicFrame>
        <p:nvGraphicFramePr>
          <p:cNvPr id="113" name="Google Shape;113;g881a038175_0_13"/>
          <p:cNvGraphicFramePr/>
          <p:nvPr>
            <p:extLst>
              <p:ext uri="{D42A27DB-BD31-4B8C-83A1-F6EECF244321}">
                <p14:modId xmlns:p14="http://schemas.microsoft.com/office/powerpoint/2010/main" val="334848766"/>
              </p:ext>
            </p:extLst>
          </p:nvPr>
        </p:nvGraphicFramePr>
        <p:xfrm>
          <a:off x="1024218" y="4572150"/>
          <a:ext cx="10515598" cy="2209650"/>
        </p:xfrm>
        <a:graphic>
          <a:graphicData uri="http://schemas.openxmlformats.org/drawingml/2006/table">
            <a:tbl>
              <a:tblPr>
                <a:noFill/>
                <a:tableStyleId>{8AD8C4F5-C8AC-4095-881C-C65DC6E5D567}</a:tableStyleId>
              </a:tblPr>
              <a:tblGrid>
                <a:gridCol w="2117490">
                  <a:extLst>
                    <a:ext uri="{9D8B030D-6E8A-4147-A177-3AD203B41FA5}">
                      <a16:colId xmlns:a16="http://schemas.microsoft.com/office/drawing/2014/main" val="20000"/>
                    </a:ext>
                  </a:extLst>
                </a:gridCol>
                <a:gridCol w="2099527">
                  <a:extLst>
                    <a:ext uri="{9D8B030D-6E8A-4147-A177-3AD203B41FA5}">
                      <a16:colId xmlns:a16="http://schemas.microsoft.com/office/drawing/2014/main" val="20001"/>
                    </a:ext>
                  </a:extLst>
                </a:gridCol>
                <a:gridCol w="2099527">
                  <a:extLst>
                    <a:ext uri="{9D8B030D-6E8A-4147-A177-3AD203B41FA5}">
                      <a16:colId xmlns:a16="http://schemas.microsoft.com/office/drawing/2014/main" val="20002"/>
                    </a:ext>
                  </a:extLst>
                </a:gridCol>
                <a:gridCol w="2099527">
                  <a:extLst>
                    <a:ext uri="{9D8B030D-6E8A-4147-A177-3AD203B41FA5}">
                      <a16:colId xmlns:a16="http://schemas.microsoft.com/office/drawing/2014/main" val="20004"/>
                    </a:ext>
                  </a:extLst>
                </a:gridCol>
                <a:gridCol w="2099527">
                  <a:extLst>
                    <a:ext uri="{9D8B030D-6E8A-4147-A177-3AD203B41FA5}">
                      <a16:colId xmlns:a16="http://schemas.microsoft.com/office/drawing/2014/main" val="2068910731"/>
                    </a:ext>
                  </a:extLst>
                </a:gridCol>
              </a:tblGrid>
              <a:tr h="432183">
                <a:tc>
                  <a:txBody>
                    <a:bodyPr/>
                    <a:lstStyle/>
                    <a:p>
                      <a:pPr marL="0" lvl="0" indent="0" algn="l" rtl="0">
                        <a:spcBef>
                          <a:spcPts val="0"/>
                        </a:spcBef>
                        <a:spcAft>
                          <a:spcPts val="0"/>
                        </a:spcAft>
                        <a:buNone/>
                      </a:pPr>
                      <a:r>
                        <a:rPr lang="en-US" sz="1700" dirty="0">
                          <a:solidFill>
                            <a:schemeClr val="bg1"/>
                          </a:solidFill>
                        </a:rPr>
                        <a:t>Approach/Feature</a:t>
                      </a:r>
                      <a:endParaRPr sz="1700" dirty="0">
                        <a:solidFill>
                          <a:schemeClr val="bg1"/>
                        </a:solidFill>
                      </a:endParaRPr>
                    </a:p>
                  </a:txBody>
                  <a:tcPr marL="91425" marR="91425" marT="91425" marB="91425">
                    <a:solidFill>
                      <a:srgbClr val="4472C4"/>
                    </a:solidFill>
                  </a:tcPr>
                </a:tc>
                <a:tc>
                  <a:txBody>
                    <a:bodyPr/>
                    <a:lstStyle/>
                    <a:p>
                      <a:pPr marL="0" lvl="0" indent="0" algn="l" rtl="0">
                        <a:spcBef>
                          <a:spcPts val="0"/>
                        </a:spcBef>
                        <a:spcAft>
                          <a:spcPts val="0"/>
                        </a:spcAft>
                        <a:buNone/>
                      </a:pPr>
                      <a:r>
                        <a:rPr lang="en-US" sz="1700" dirty="0">
                          <a:solidFill>
                            <a:schemeClr val="bg1"/>
                          </a:solidFill>
                        </a:rPr>
                        <a:t>Automatic</a:t>
                      </a:r>
                      <a:endParaRPr sz="1700" dirty="0">
                        <a:solidFill>
                          <a:schemeClr val="bg1"/>
                        </a:solidFill>
                      </a:endParaRPr>
                    </a:p>
                  </a:txBody>
                  <a:tcPr marL="91425" marR="91425" marT="91425" marB="91425">
                    <a:solidFill>
                      <a:srgbClr val="4472C4"/>
                    </a:solidFill>
                  </a:tcPr>
                </a:tc>
                <a:tc>
                  <a:txBody>
                    <a:bodyPr/>
                    <a:lstStyle/>
                    <a:p>
                      <a:pPr marL="0" lvl="0" indent="0" algn="l" rtl="0">
                        <a:spcBef>
                          <a:spcPts val="0"/>
                        </a:spcBef>
                        <a:spcAft>
                          <a:spcPts val="0"/>
                        </a:spcAft>
                        <a:buNone/>
                      </a:pPr>
                      <a:r>
                        <a:rPr lang="en-US" sz="1700" dirty="0">
                          <a:solidFill>
                            <a:schemeClr val="bg1"/>
                          </a:solidFill>
                        </a:rPr>
                        <a:t>Accurate</a:t>
                      </a:r>
                      <a:endParaRPr sz="1700" dirty="0">
                        <a:solidFill>
                          <a:schemeClr val="bg1"/>
                        </a:solidFill>
                      </a:endParaRPr>
                    </a:p>
                  </a:txBody>
                  <a:tcPr marL="91425" marR="91425" marT="91425" marB="91425">
                    <a:solidFill>
                      <a:srgbClr val="4472C4"/>
                    </a:solidFill>
                  </a:tcPr>
                </a:tc>
                <a:tc>
                  <a:txBody>
                    <a:bodyPr/>
                    <a:lstStyle/>
                    <a:p>
                      <a:pPr marL="0" lvl="0" indent="0" algn="l" rtl="0">
                        <a:spcBef>
                          <a:spcPts val="0"/>
                        </a:spcBef>
                        <a:spcAft>
                          <a:spcPts val="0"/>
                        </a:spcAft>
                        <a:buNone/>
                      </a:pPr>
                      <a:r>
                        <a:rPr lang="en-US" sz="1700" dirty="0">
                          <a:solidFill>
                            <a:schemeClr val="bg1"/>
                          </a:solidFill>
                        </a:rPr>
                        <a:t>General</a:t>
                      </a:r>
                      <a:endParaRPr sz="1700" dirty="0">
                        <a:solidFill>
                          <a:schemeClr val="bg1"/>
                        </a:solidFill>
                      </a:endParaRPr>
                    </a:p>
                  </a:txBody>
                  <a:tcPr marL="91425" marR="91425" marT="91425" marB="91425">
                    <a:solidFill>
                      <a:srgbClr val="4472C4"/>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700" dirty="0">
                          <a:solidFill>
                            <a:schemeClr val="bg1"/>
                          </a:solidFill>
                        </a:rPr>
                        <a:t>Efficient</a:t>
                      </a:r>
                    </a:p>
                  </a:txBody>
                  <a:tcPr marL="91425" marR="91425" marT="91425" marB="91425">
                    <a:solidFill>
                      <a:srgbClr val="4472C4"/>
                    </a:solidFill>
                  </a:tcPr>
                </a:tc>
                <a:extLst>
                  <a:ext uri="{0D108BD9-81ED-4DB2-BD59-A6C34878D82A}">
                    <a16:rowId xmlns:a16="http://schemas.microsoft.com/office/drawing/2014/main" val="10000"/>
                  </a:ext>
                </a:extLst>
              </a:tr>
              <a:tr h="432183">
                <a:tc>
                  <a:txBody>
                    <a:bodyPr/>
                    <a:lstStyle/>
                    <a:p>
                      <a:pPr marL="0" lvl="0" indent="0" algn="l" rtl="0">
                        <a:spcBef>
                          <a:spcPts val="0"/>
                        </a:spcBef>
                        <a:spcAft>
                          <a:spcPts val="0"/>
                        </a:spcAft>
                        <a:buNone/>
                      </a:pPr>
                      <a:r>
                        <a:rPr lang="en-US" sz="1700" dirty="0"/>
                        <a:t>Manual</a:t>
                      </a:r>
                      <a:endParaRPr sz="1700" dirty="0"/>
                    </a:p>
                  </a:txBody>
                  <a:tcPr marL="91425" marR="91425" marT="91425" marB="91425">
                    <a:solidFill>
                      <a:srgbClr val="CED5EA"/>
                    </a:solidFill>
                  </a:tcPr>
                </a:tc>
                <a:tc>
                  <a:txBody>
                    <a:bodyPr/>
                    <a:lstStyle/>
                    <a:p>
                      <a:pPr marL="0" lvl="0" indent="0" algn="l" rtl="0">
                        <a:spcBef>
                          <a:spcPts val="0"/>
                        </a:spcBef>
                        <a:spcAft>
                          <a:spcPts val="0"/>
                        </a:spcAft>
                        <a:buNone/>
                      </a:pPr>
                      <a:r>
                        <a:rPr lang="en-US" sz="1700" dirty="0"/>
                        <a:t>☓</a:t>
                      </a:r>
                      <a:endParaRPr sz="1700" dirty="0"/>
                    </a:p>
                  </a:txBody>
                  <a:tcPr marL="91425" marR="91425" marT="91425" marB="91425">
                    <a:solidFill>
                      <a:srgbClr val="CED5EA"/>
                    </a:solidFill>
                  </a:tcPr>
                </a:tc>
                <a:tc>
                  <a:txBody>
                    <a:bodyPr/>
                    <a:lstStyle/>
                    <a:p>
                      <a:pPr marL="0" lvl="0" indent="0" algn="l" rtl="0">
                        <a:spcBef>
                          <a:spcPts val="0"/>
                        </a:spcBef>
                        <a:spcAft>
                          <a:spcPts val="0"/>
                        </a:spcAft>
                        <a:buClr>
                          <a:schemeClr val="dk1"/>
                        </a:buClr>
                        <a:buSzPts val="1100"/>
                        <a:buFont typeface="Arial"/>
                        <a:buNone/>
                      </a:pPr>
                      <a:r>
                        <a:rPr lang="en-US" sz="1700" dirty="0">
                          <a:solidFill>
                            <a:schemeClr val="dk1"/>
                          </a:solidFill>
                        </a:rPr>
                        <a:t>☓</a:t>
                      </a:r>
                      <a:endParaRPr sz="1700" dirty="0"/>
                    </a:p>
                  </a:txBody>
                  <a:tcPr marL="91425" marR="91425" marT="91425" marB="91425">
                    <a:solidFill>
                      <a:srgbClr val="CED5EA"/>
                    </a:solidFill>
                  </a:tcPr>
                </a:tc>
                <a:tc>
                  <a:txBody>
                    <a:bodyPr/>
                    <a:lstStyle/>
                    <a:p>
                      <a:pPr marL="0" lvl="0" indent="0" algn="l" rtl="0">
                        <a:spcBef>
                          <a:spcPts val="0"/>
                        </a:spcBef>
                        <a:spcAft>
                          <a:spcPts val="0"/>
                        </a:spcAft>
                        <a:buClr>
                          <a:schemeClr val="dk1"/>
                        </a:buClr>
                        <a:buSzPts val="1100"/>
                        <a:buFont typeface="Arial"/>
                        <a:buNone/>
                      </a:pPr>
                      <a:r>
                        <a:rPr lang="en-US" sz="1700" dirty="0">
                          <a:solidFill>
                            <a:schemeClr val="dk1"/>
                          </a:solidFill>
                        </a:rPr>
                        <a:t>✔</a:t>
                      </a:r>
                      <a:endParaRPr sz="1700" dirty="0"/>
                    </a:p>
                  </a:txBody>
                  <a:tcPr marL="91425" marR="91425" marT="91425" marB="91425">
                    <a:solidFill>
                      <a:srgbClr val="CED5EA"/>
                    </a:solidFill>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1700" dirty="0"/>
                        <a:t>N/A</a:t>
                      </a:r>
                    </a:p>
                  </a:txBody>
                  <a:tcPr marL="91425" marR="91425" marT="91425" marB="91425">
                    <a:solidFill>
                      <a:srgbClr val="CED5EA"/>
                    </a:solidFill>
                  </a:tcPr>
                </a:tc>
                <a:extLst>
                  <a:ext uri="{0D108BD9-81ED-4DB2-BD59-A6C34878D82A}">
                    <a16:rowId xmlns:a16="http://schemas.microsoft.com/office/drawing/2014/main" val="10001"/>
                  </a:ext>
                </a:extLst>
              </a:tr>
              <a:tr h="432183">
                <a:tc>
                  <a:txBody>
                    <a:bodyPr/>
                    <a:lstStyle/>
                    <a:p>
                      <a:pPr marL="0" lvl="0" indent="0" algn="l" rtl="0">
                        <a:spcBef>
                          <a:spcPts val="0"/>
                        </a:spcBef>
                        <a:spcAft>
                          <a:spcPts val="0"/>
                        </a:spcAft>
                        <a:buNone/>
                      </a:pPr>
                      <a:r>
                        <a:rPr lang="en-US" sz="1700" dirty="0"/>
                        <a:t>Static</a:t>
                      </a:r>
                      <a:endParaRPr sz="1700" dirty="0"/>
                    </a:p>
                  </a:txBody>
                  <a:tcPr marL="91425" marR="91425" marT="91425" marB="91425">
                    <a:solidFill>
                      <a:srgbClr val="E9EBF5"/>
                    </a:solidFill>
                  </a:tcPr>
                </a:tc>
                <a:tc>
                  <a:txBody>
                    <a:bodyPr/>
                    <a:lstStyle/>
                    <a:p>
                      <a:pPr marL="0" lvl="0" indent="0" algn="l" rtl="0">
                        <a:spcBef>
                          <a:spcPts val="0"/>
                        </a:spcBef>
                        <a:spcAft>
                          <a:spcPts val="0"/>
                        </a:spcAft>
                        <a:buNone/>
                      </a:pPr>
                      <a:r>
                        <a:rPr lang="en-US" sz="1700" dirty="0"/>
                        <a:t>✔</a:t>
                      </a:r>
                      <a:endParaRPr sz="1700" dirty="0"/>
                    </a:p>
                  </a:txBody>
                  <a:tcPr marL="91425" marR="91425" marT="91425" marB="91425">
                    <a:solidFill>
                      <a:srgbClr val="E9EBF5"/>
                    </a:solidFill>
                  </a:tcPr>
                </a:tc>
                <a:tc>
                  <a:txBody>
                    <a:bodyPr/>
                    <a:lstStyle/>
                    <a:p>
                      <a:pPr marL="0" lvl="0" indent="0" algn="l" rtl="0">
                        <a:spcBef>
                          <a:spcPts val="0"/>
                        </a:spcBef>
                        <a:spcAft>
                          <a:spcPts val="0"/>
                        </a:spcAft>
                        <a:buClr>
                          <a:schemeClr val="dk1"/>
                        </a:buClr>
                        <a:buSzPts val="1100"/>
                        <a:buFont typeface="Arial"/>
                        <a:buNone/>
                      </a:pPr>
                      <a:r>
                        <a:rPr lang="en-US" sz="1700">
                          <a:solidFill>
                            <a:schemeClr val="dk1"/>
                          </a:solidFill>
                        </a:rPr>
                        <a:t>☓</a:t>
                      </a:r>
                      <a:endParaRPr sz="1700"/>
                    </a:p>
                  </a:txBody>
                  <a:tcPr marL="91425" marR="91425" marT="91425" marB="91425">
                    <a:solidFill>
                      <a:srgbClr val="E9EBF5"/>
                    </a:solidFill>
                  </a:tcPr>
                </a:tc>
                <a:tc>
                  <a:txBody>
                    <a:bodyPr/>
                    <a:lstStyle/>
                    <a:p>
                      <a:pPr marL="0" lvl="0" indent="0" algn="l" rtl="0">
                        <a:spcBef>
                          <a:spcPts val="0"/>
                        </a:spcBef>
                        <a:spcAft>
                          <a:spcPts val="0"/>
                        </a:spcAft>
                        <a:buClr>
                          <a:schemeClr val="dk1"/>
                        </a:buClr>
                        <a:buSzPts val="1100"/>
                        <a:buFont typeface="Arial"/>
                        <a:buNone/>
                      </a:pPr>
                      <a:r>
                        <a:rPr lang="en-US" sz="1700" dirty="0">
                          <a:solidFill>
                            <a:schemeClr val="dk1"/>
                          </a:solidFill>
                        </a:rPr>
                        <a:t>☓</a:t>
                      </a:r>
                      <a:endParaRPr sz="1700" dirty="0"/>
                    </a:p>
                  </a:txBody>
                  <a:tcPr marL="91425" marR="91425" marT="91425" marB="91425">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1700" dirty="0">
                          <a:solidFill>
                            <a:schemeClr val="dk1"/>
                          </a:solidFill>
                        </a:rPr>
                        <a:t>✔</a:t>
                      </a:r>
                      <a:endParaRPr lang="en-US" sz="1700" dirty="0"/>
                    </a:p>
                  </a:txBody>
                  <a:tcPr marL="91425" marR="91425" marT="91425" marB="91425">
                    <a:solidFill>
                      <a:srgbClr val="E9EBF5"/>
                    </a:solidFill>
                  </a:tcPr>
                </a:tc>
                <a:extLst>
                  <a:ext uri="{0D108BD9-81ED-4DB2-BD59-A6C34878D82A}">
                    <a16:rowId xmlns:a16="http://schemas.microsoft.com/office/drawing/2014/main" val="10002"/>
                  </a:ext>
                </a:extLst>
              </a:tr>
              <a:tr h="432183">
                <a:tc>
                  <a:txBody>
                    <a:bodyPr/>
                    <a:lstStyle/>
                    <a:p>
                      <a:pPr marL="0" lvl="0" indent="0" algn="l" rtl="0">
                        <a:spcBef>
                          <a:spcPts val="0"/>
                        </a:spcBef>
                        <a:spcAft>
                          <a:spcPts val="0"/>
                        </a:spcAft>
                        <a:buNone/>
                      </a:pPr>
                      <a:r>
                        <a:rPr lang="en-US" sz="1700" dirty="0"/>
                        <a:t>Brute-force</a:t>
                      </a:r>
                      <a:endParaRPr sz="1700" dirty="0"/>
                    </a:p>
                  </a:txBody>
                  <a:tcPr marL="91425" marR="91425" marT="91425" marB="91425">
                    <a:solidFill>
                      <a:srgbClr val="CED5EA"/>
                    </a:solidFill>
                  </a:tcPr>
                </a:tc>
                <a:tc>
                  <a:txBody>
                    <a:bodyPr/>
                    <a:lstStyle/>
                    <a:p>
                      <a:pPr marL="0" lvl="0" indent="0" algn="l" rtl="0">
                        <a:spcBef>
                          <a:spcPts val="0"/>
                        </a:spcBef>
                        <a:spcAft>
                          <a:spcPts val="0"/>
                        </a:spcAft>
                        <a:buNone/>
                      </a:pPr>
                      <a:r>
                        <a:rPr lang="en-US" sz="1700"/>
                        <a:t>✔</a:t>
                      </a:r>
                      <a:endParaRPr sz="1700"/>
                    </a:p>
                  </a:txBody>
                  <a:tcPr marL="91425" marR="91425" marT="91425" marB="91425">
                    <a:solidFill>
                      <a:srgbClr val="CED5EA"/>
                    </a:solidFill>
                  </a:tcPr>
                </a:tc>
                <a:tc>
                  <a:txBody>
                    <a:bodyPr/>
                    <a:lstStyle/>
                    <a:p>
                      <a:pPr marL="0" lvl="0" indent="0" algn="l" rtl="0">
                        <a:spcBef>
                          <a:spcPts val="0"/>
                        </a:spcBef>
                        <a:spcAft>
                          <a:spcPts val="0"/>
                        </a:spcAft>
                        <a:buClr>
                          <a:schemeClr val="dk1"/>
                        </a:buClr>
                        <a:buSzPts val="1100"/>
                        <a:buFont typeface="Arial"/>
                        <a:buNone/>
                      </a:pPr>
                      <a:r>
                        <a:rPr lang="en-US" sz="1700">
                          <a:solidFill>
                            <a:schemeClr val="dk1"/>
                          </a:solidFill>
                        </a:rPr>
                        <a:t>✔</a:t>
                      </a:r>
                      <a:endParaRPr sz="1700"/>
                    </a:p>
                  </a:txBody>
                  <a:tcPr marL="91425" marR="91425" marT="91425" marB="91425">
                    <a:solidFill>
                      <a:srgbClr val="CED5EA"/>
                    </a:solidFill>
                  </a:tcPr>
                </a:tc>
                <a:tc>
                  <a:txBody>
                    <a:bodyPr/>
                    <a:lstStyle/>
                    <a:p>
                      <a:pPr marL="0" lvl="0" indent="0" algn="l" rtl="0">
                        <a:spcBef>
                          <a:spcPts val="0"/>
                        </a:spcBef>
                        <a:spcAft>
                          <a:spcPts val="0"/>
                        </a:spcAft>
                        <a:buClr>
                          <a:schemeClr val="dk1"/>
                        </a:buClr>
                        <a:buSzPts val="1100"/>
                        <a:buFont typeface="Arial"/>
                        <a:buNone/>
                      </a:pPr>
                      <a:r>
                        <a:rPr lang="en-US" sz="1700" dirty="0">
                          <a:solidFill>
                            <a:schemeClr val="dk1"/>
                          </a:solidFill>
                        </a:rPr>
                        <a:t>✔</a:t>
                      </a:r>
                      <a:endParaRPr sz="1700" dirty="0"/>
                    </a:p>
                  </a:txBody>
                  <a:tcPr marL="91425" marR="91425" marT="91425" marB="91425">
                    <a:solidFill>
                      <a:srgbClr val="CED5EA"/>
                    </a:solidFill>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1700" dirty="0">
                          <a:solidFill>
                            <a:schemeClr val="dk1"/>
                          </a:solidFill>
                        </a:rPr>
                        <a:t>☓</a:t>
                      </a:r>
                      <a:endParaRPr lang="en-US" sz="1700" dirty="0"/>
                    </a:p>
                  </a:txBody>
                  <a:tcPr marL="91425" marR="91425" marT="91425" marB="91425">
                    <a:solidFill>
                      <a:srgbClr val="CED5EA"/>
                    </a:solidFill>
                  </a:tcPr>
                </a:tc>
                <a:extLst>
                  <a:ext uri="{0D108BD9-81ED-4DB2-BD59-A6C34878D82A}">
                    <a16:rowId xmlns:a16="http://schemas.microsoft.com/office/drawing/2014/main" val="10003"/>
                  </a:ext>
                </a:extLst>
              </a:tr>
              <a:tr h="432183">
                <a:tc>
                  <a:txBody>
                    <a:bodyPr/>
                    <a:lstStyle/>
                    <a:p>
                      <a:pPr marL="0" lvl="0" indent="0" algn="l" rtl="0">
                        <a:spcBef>
                          <a:spcPts val="0"/>
                        </a:spcBef>
                        <a:spcAft>
                          <a:spcPts val="0"/>
                        </a:spcAft>
                        <a:buNone/>
                      </a:pPr>
                      <a:r>
                        <a:rPr lang="en-US" sz="1700" dirty="0"/>
                        <a:t>UPA</a:t>
                      </a:r>
                      <a:endParaRPr sz="1700" dirty="0"/>
                    </a:p>
                  </a:txBody>
                  <a:tcPr marL="91425" marR="91425" marT="91425" marB="91425">
                    <a:solidFill>
                      <a:srgbClr val="E8EBF6"/>
                    </a:solidFill>
                  </a:tcPr>
                </a:tc>
                <a:tc>
                  <a:txBody>
                    <a:bodyPr/>
                    <a:lstStyle/>
                    <a:p>
                      <a:pPr marL="0" lvl="0" indent="0" algn="l" rtl="0">
                        <a:spcBef>
                          <a:spcPts val="0"/>
                        </a:spcBef>
                        <a:spcAft>
                          <a:spcPts val="0"/>
                        </a:spcAft>
                        <a:buNone/>
                      </a:pPr>
                      <a:r>
                        <a:rPr lang="en-US" sz="1700" dirty="0"/>
                        <a:t>✔</a:t>
                      </a:r>
                      <a:endParaRPr sz="1700" dirty="0"/>
                    </a:p>
                  </a:txBody>
                  <a:tcPr marL="91425" marR="91425" marT="91425" marB="91425">
                    <a:solidFill>
                      <a:srgbClr val="E8EBF6"/>
                    </a:solidFill>
                  </a:tcPr>
                </a:tc>
                <a:tc>
                  <a:txBody>
                    <a:bodyPr/>
                    <a:lstStyle/>
                    <a:p>
                      <a:pPr marL="0" lvl="0" indent="0" algn="l" rtl="0">
                        <a:spcBef>
                          <a:spcPts val="0"/>
                        </a:spcBef>
                        <a:spcAft>
                          <a:spcPts val="0"/>
                        </a:spcAft>
                        <a:buClr>
                          <a:schemeClr val="dk1"/>
                        </a:buClr>
                        <a:buSzPts val="1100"/>
                        <a:buFont typeface="Arial"/>
                        <a:buNone/>
                      </a:pPr>
                      <a:r>
                        <a:rPr lang="en-US" sz="1700" dirty="0">
                          <a:solidFill>
                            <a:schemeClr val="dk1"/>
                          </a:solidFill>
                        </a:rPr>
                        <a:t>✔</a:t>
                      </a:r>
                      <a:endParaRPr sz="1700" dirty="0"/>
                    </a:p>
                  </a:txBody>
                  <a:tcPr marL="91425" marR="91425" marT="91425" marB="91425">
                    <a:solidFill>
                      <a:srgbClr val="E8EBF6"/>
                    </a:solidFill>
                  </a:tcPr>
                </a:tc>
                <a:tc>
                  <a:txBody>
                    <a:bodyPr/>
                    <a:lstStyle/>
                    <a:p>
                      <a:pPr marL="0" lvl="0" indent="0" algn="l" rtl="0">
                        <a:spcBef>
                          <a:spcPts val="0"/>
                        </a:spcBef>
                        <a:spcAft>
                          <a:spcPts val="0"/>
                        </a:spcAft>
                        <a:buClr>
                          <a:schemeClr val="dk1"/>
                        </a:buClr>
                        <a:buSzPts val="1100"/>
                        <a:buFont typeface="Arial"/>
                        <a:buNone/>
                      </a:pPr>
                      <a:r>
                        <a:rPr lang="en-US" sz="1700" dirty="0">
                          <a:solidFill>
                            <a:schemeClr val="dk1"/>
                          </a:solidFill>
                        </a:rPr>
                        <a:t>✔</a:t>
                      </a:r>
                      <a:endParaRPr sz="1700" dirty="0"/>
                    </a:p>
                  </a:txBody>
                  <a:tcPr marL="91425" marR="91425" marT="91425" marB="91425">
                    <a:solidFill>
                      <a:srgbClr val="E8EBF6"/>
                    </a:solidFill>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1700" dirty="0">
                          <a:solidFill>
                            <a:schemeClr val="dk1"/>
                          </a:solidFill>
                        </a:rPr>
                        <a:t>✔</a:t>
                      </a:r>
                      <a:endParaRPr lang="en-US" sz="1700" dirty="0"/>
                    </a:p>
                  </a:txBody>
                  <a:tcPr marL="91425" marR="91425" marT="91425" marB="91425">
                    <a:solidFill>
                      <a:srgbClr val="E8EBF6"/>
                    </a:solidFill>
                  </a:tcPr>
                </a:tc>
                <a:extLst>
                  <a:ext uri="{0D108BD9-81ED-4DB2-BD59-A6C34878D82A}">
                    <a16:rowId xmlns:a16="http://schemas.microsoft.com/office/drawing/2014/main" val="10004"/>
                  </a:ext>
                </a:extLst>
              </a:tr>
            </a:tbl>
          </a:graphicData>
        </a:graphic>
      </p:graphicFrame>
      <p:sp>
        <p:nvSpPr>
          <p:cNvPr id="2" name="Rectangle 1">
            <a:extLst>
              <a:ext uri="{FF2B5EF4-FFF2-40B4-BE49-F238E27FC236}">
                <a16:creationId xmlns:a16="http://schemas.microsoft.com/office/drawing/2014/main" id="{F1AF45D9-F423-B74D-9CE9-5FCB2F6AEEEB}"/>
              </a:ext>
            </a:extLst>
          </p:cNvPr>
          <p:cNvSpPr/>
          <p:nvPr/>
        </p:nvSpPr>
        <p:spPr>
          <a:xfrm>
            <a:off x="931209" y="5796951"/>
            <a:ext cx="10701616" cy="1063384"/>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AC5ED229-19C6-614D-944A-1C98647BCEAD}"/>
              </a:ext>
            </a:extLst>
          </p:cNvPr>
          <p:cNvSpPr>
            <a:spLocks noGrp="1"/>
          </p:cNvSpPr>
          <p:nvPr>
            <p:ph type="sldNum" idx="12"/>
          </p:nvPr>
        </p:nvSpPr>
        <p:spPr>
          <a:xfrm>
            <a:off x="8610600" y="6492875"/>
            <a:ext cx="2743200" cy="365125"/>
          </a:xfrm>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881a038175_0_2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lvl="0"/>
            <a:r>
              <a:rPr lang="en-US" sz="4200" dirty="0"/>
              <a:t>Brute-force approach computes on mostly overlapped dataset</a:t>
            </a:r>
            <a:endParaRPr sz="4200" dirty="0"/>
          </a:p>
        </p:txBody>
      </p:sp>
      <p:sp>
        <p:nvSpPr>
          <p:cNvPr id="119" name="Google Shape;119;g881a038175_0_2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Autofit/>
          </a:bodyPr>
          <a:lstStyle/>
          <a:p>
            <a:pPr marL="457200" lvl="0" indent="-342900" algn="l" rtl="0">
              <a:spcBef>
                <a:spcPts val="1000"/>
              </a:spcBef>
              <a:spcAft>
                <a:spcPts val="0"/>
              </a:spcAft>
              <a:buSzPts val="1800"/>
              <a:buChar char="•"/>
            </a:pPr>
            <a:r>
              <a:rPr lang="en-US" dirty="0"/>
              <a:t>Brute force approach repeatedly running the same query on the same dataset, each time removing just one record from the input dataset</a:t>
            </a:r>
            <a:endParaRPr dirty="0"/>
          </a:p>
        </p:txBody>
      </p:sp>
      <p:sp>
        <p:nvSpPr>
          <p:cNvPr id="2" name="Slide Number Placeholder 1">
            <a:extLst>
              <a:ext uri="{FF2B5EF4-FFF2-40B4-BE49-F238E27FC236}">
                <a16:creationId xmlns:a16="http://schemas.microsoft.com/office/drawing/2014/main" id="{A012BDBF-4934-604A-AF3B-B0BE8B1EAF5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
        <p:nvSpPr>
          <p:cNvPr id="13" name="Right Arrow 12">
            <a:extLst>
              <a:ext uri="{FF2B5EF4-FFF2-40B4-BE49-F238E27FC236}">
                <a16:creationId xmlns:a16="http://schemas.microsoft.com/office/drawing/2014/main" id="{317A1EE9-F95E-1A4A-8650-FDBBFB05D37C}"/>
              </a:ext>
            </a:extLst>
          </p:cNvPr>
          <p:cNvSpPr/>
          <p:nvPr/>
        </p:nvSpPr>
        <p:spPr>
          <a:xfrm>
            <a:off x="5403989" y="4832991"/>
            <a:ext cx="504496"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896C619-5E0F-2C48-9E63-879C64423435}"/>
              </a:ext>
            </a:extLst>
          </p:cNvPr>
          <p:cNvSpPr txBox="1"/>
          <p:nvPr/>
        </p:nvSpPr>
        <p:spPr>
          <a:xfrm>
            <a:off x="5246554" y="4414632"/>
            <a:ext cx="753732" cy="400110"/>
          </a:xfrm>
          <a:prstGeom prst="rect">
            <a:avLst/>
          </a:prstGeom>
          <a:noFill/>
        </p:spPr>
        <p:txBody>
          <a:bodyPr wrap="none" rtlCol="0">
            <a:spAutoFit/>
          </a:bodyPr>
          <a:lstStyle/>
          <a:p>
            <a:r>
              <a:rPr lang="en-US" sz="2000" dirty="0"/>
              <a:t>Input</a:t>
            </a:r>
          </a:p>
        </p:txBody>
      </p:sp>
      <p:sp>
        <p:nvSpPr>
          <p:cNvPr id="15" name="Rectangle 14">
            <a:extLst>
              <a:ext uri="{FF2B5EF4-FFF2-40B4-BE49-F238E27FC236}">
                <a16:creationId xmlns:a16="http://schemas.microsoft.com/office/drawing/2014/main" id="{D18BD662-ABDC-8F47-AC6F-39370BDEF747}"/>
              </a:ext>
            </a:extLst>
          </p:cNvPr>
          <p:cNvSpPr/>
          <p:nvPr/>
        </p:nvSpPr>
        <p:spPr>
          <a:xfrm>
            <a:off x="6060071" y="4225141"/>
            <a:ext cx="1489388" cy="13975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pic>
        <p:nvPicPr>
          <p:cNvPr id="16" name="Graphic 13" descr="Gears">
            <a:extLst>
              <a:ext uri="{FF2B5EF4-FFF2-40B4-BE49-F238E27FC236}">
                <a16:creationId xmlns:a16="http://schemas.microsoft.com/office/drawing/2014/main" id="{ED8217E5-1125-1842-91E9-C9A6C2EE8B81}"/>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4606" y="4807492"/>
            <a:ext cx="802046" cy="731688"/>
          </a:xfrm>
          <a:prstGeom prst="rect">
            <a:avLst/>
          </a:prstGeom>
        </p:spPr>
      </p:pic>
      <p:sp>
        <p:nvSpPr>
          <p:cNvPr id="17" name="TextBox 16">
            <a:extLst>
              <a:ext uri="{FF2B5EF4-FFF2-40B4-BE49-F238E27FC236}">
                <a16:creationId xmlns:a16="http://schemas.microsoft.com/office/drawing/2014/main" id="{36AA8A95-C078-3940-9F82-254B0C3A6406}"/>
              </a:ext>
            </a:extLst>
          </p:cNvPr>
          <p:cNvSpPr txBox="1"/>
          <p:nvPr/>
        </p:nvSpPr>
        <p:spPr>
          <a:xfrm>
            <a:off x="6399697" y="4341163"/>
            <a:ext cx="902811" cy="461665"/>
          </a:xfrm>
          <a:prstGeom prst="rect">
            <a:avLst/>
          </a:prstGeom>
          <a:noFill/>
        </p:spPr>
        <p:txBody>
          <a:bodyPr wrap="square" rtlCol="0">
            <a:spAutoFit/>
          </a:bodyPr>
          <a:lstStyle/>
          <a:p>
            <a:r>
              <a:rPr lang="en-US" altLang="zh-TW" sz="2400" dirty="0"/>
              <a:t>Sum</a:t>
            </a:r>
            <a:endParaRPr lang="en-US" sz="2400" dirty="0"/>
          </a:p>
        </p:txBody>
      </p:sp>
      <p:sp>
        <p:nvSpPr>
          <p:cNvPr id="18" name="Right Arrow 17">
            <a:extLst>
              <a:ext uri="{FF2B5EF4-FFF2-40B4-BE49-F238E27FC236}">
                <a16:creationId xmlns:a16="http://schemas.microsoft.com/office/drawing/2014/main" id="{099A649E-9789-0643-B19F-6D2F19C8F543}"/>
              </a:ext>
            </a:extLst>
          </p:cNvPr>
          <p:cNvSpPr/>
          <p:nvPr/>
        </p:nvSpPr>
        <p:spPr>
          <a:xfrm>
            <a:off x="7800090" y="4832990"/>
            <a:ext cx="504496"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2FEFF75-4EE2-3549-882C-375ED2C8975D}"/>
              </a:ext>
            </a:extLst>
          </p:cNvPr>
          <p:cNvSpPr txBox="1"/>
          <p:nvPr/>
        </p:nvSpPr>
        <p:spPr>
          <a:xfrm>
            <a:off x="7561186" y="4432880"/>
            <a:ext cx="952505" cy="400110"/>
          </a:xfrm>
          <a:prstGeom prst="rect">
            <a:avLst/>
          </a:prstGeom>
          <a:noFill/>
        </p:spPr>
        <p:txBody>
          <a:bodyPr wrap="none" rtlCol="0">
            <a:spAutoFit/>
          </a:bodyPr>
          <a:lstStyle/>
          <a:p>
            <a:r>
              <a:rPr lang="en-US" sz="2000" dirty="0"/>
              <a:t>Output</a:t>
            </a:r>
          </a:p>
        </p:txBody>
      </p:sp>
      <p:sp>
        <p:nvSpPr>
          <p:cNvPr id="54" name="Rectangle 53">
            <a:extLst>
              <a:ext uri="{FF2B5EF4-FFF2-40B4-BE49-F238E27FC236}">
                <a16:creationId xmlns:a16="http://schemas.microsoft.com/office/drawing/2014/main" id="{D661F9CD-3C27-084C-B3C6-610FE6F2E378}"/>
              </a:ext>
            </a:extLst>
          </p:cNvPr>
          <p:cNvSpPr/>
          <p:nvPr/>
        </p:nvSpPr>
        <p:spPr>
          <a:xfrm>
            <a:off x="2942789" y="3690578"/>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5" name="Rectangle 54">
            <a:extLst>
              <a:ext uri="{FF2B5EF4-FFF2-40B4-BE49-F238E27FC236}">
                <a16:creationId xmlns:a16="http://schemas.microsoft.com/office/drawing/2014/main" id="{B575F886-4E2C-F34B-84CE-ADB50A2E91FE}"/>
              </a:ext>
            </a:extLst>
          </p:cNvPr>
          <p:cNvSpPr/>
          <p:nvPr/>
        </p:nvSpPr>
        <p:spPr>
          <a:xfrm>
            <a:off x="2942789" y="4043119"/>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6" name="Rectangle 55">
            <a:extLst>
              <a:ext uri="{FF2B5EF4-FFF2-40B4-BE49-F238E27FC236}">
                <a16:creationId xmlns:a16="http://schemas.microsoft.com/office/drawing/2014/main" id="{52877275-FF2A-0541-AB81-BC1FA08B7D3E}"/>
              </a:ext>
            </a:extLst>
          </p:cNvPr>
          <p:cNvSpPr/>
          <p:nvPr/>
        </p:nvSpPr>
        <p:spPr>
          <a:xfrm>
            <a:off x="2942789" y="4395660"/>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7" name="Rectangle 56">
            <a:extLst>
              <a:ext uri="{FF2B5EF4-FFF2-40B4-BE49-F238E27FC236}">
                <a16:creationId xmlns:a16="http://schemas.microsoft.com/office/drawing/2014/main" id="{83E7D8CB-301E-EE41-A13A-2817808865F8}"/>
              </a:ext>
            </a:extLst>
          </p:cNvPr>
          <p:cNvSpPr/>
          <p:nvPr/>
        </p:nvSpPr>
        <p:spPr>
          <a:xfrm>
            <a:off x="2942788" y="4741900"/>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8" name="Rectangle 57">
            <a:extLst>
              <a:ext uri="{FF2B5EF4-FFF2-40B4-BE49-F238E27FC236}">
                <a16:creationId xmlns:a16="http://schemas.microsoft.com/office/drawing/2014/main" id="{868518C7-C416-F646-AC9D-F12C1C80DAA5}"/>
              </a:ext>
            </a:extLst>
          </p:cNvPr>
          <p:cNvSpPr/>
          <p:nvPr/>
        </p:nvSpPr>
        <p:spPr>
          <a:xfrm>
            <a:off x="2942788" y="5094441"/>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9" name="Rectangle 58">
            <a:extLst>
              <a:ext uri="{FF2B5EF4-FFF2-40B4-BE49-F238E27FC236}">
                <a16:creationId xmlns:a16="http://schemas.microsoft.com/office/drawing/2014/main" id="{ED9F353A-24A9-7745-B52E-454D1ABC9347}"/>
              </a:ext>
            </a:extLst>
          </p:cNvPr>
          <p:cNvSpPr/>
          <p:nvPr/>
        </p:nvSpPr>
        <p:spPr>
          <a:xfrm>
            <a:off x="2942788" y="5440681"/>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Rectangle 59">
            <a:extLst>
              <a:ext uri="{FF2B5EF4-FFF2-40B4-BE49-F238E27FC236}">
                <a16:creationId xmlns:a16="http://schemas.microsoft.com/office/drawing/2014/main" id="{82FF5ABB-65D7-E845-9119-2FB7C13B4800}"/>
              </a:ext>
            </a:extLst>
          </p:cNvPr>
          <p:cNvSpPr/>
          <p:nvPr/>
        </p:nvSpPr>
        <p:spPr>
          <a:xfrm>
            <a:off x="2942787" y="5793222"/>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1" name="TextBox 60">
            <a:extLst>
              <a:ext uri="{FF2B5EF4-FFF2-40B4-BE49-F238E27FC236}">
                <a16:creationId xmlns:a16="http://schemas.microsoft.com/office/drawing/2014/main" id="{C25F8AAE-CDBF-354D-AC58-0E7DBD4E5433}"/>
              </a:ext>
            </a:extLst>
          </p:cNvPr>
          <p:cNvSpPr txBox="1"/>
          <p:nvPr/>
        </p:nvSpPr>
        <p:spPr>
          <a:xfrm>
            <a:off x="3366919" y="4476589"/>
            <a:ext cx="312906" cy="707886"/>
          </a:xfrm>
          <a:prstGeom prst="rect">
            <a:avLst/>
          </a:prstGeom>
          <a:noFill/>
        </p:spPr>
        <p:txBody>
          <a:bodyPr wrap="none" rtlCol="0">
            <a:spAutoFit/>
          </a:bodyPr>
          <a:lstStyle/>
          <a:p>
            <a:r>
              <a:rPr lang="en-US" sz="4000" dirty="0"/>
              <a:t>,</a:t>
            </a:r>
          </a:p>
        </p:txBody>
      </p:sp>
      <p:sp>
        <p:nvSpPr>
          <p:cNvPr id="62" name="Rectangle 61">
            <a:extLst>
              <a:ext uri="{FF2B5EF4-FFF2-40B4-BE49-F238E27FC236}">
                <a16:creationId xmlns:a16="http://schemas.microsoft.com/office/drawing/2014/main" id="{1D81D308-979F-D44E-BE13-845FBA3921B2}"/>
              </a:ext>
            </a:extLst>
          </p:cNvPr>
          <p:cNvSpPr/>
          <p:nvPr/>
        </p:nvSpPr>
        <p:spPr>
          <a:xfrm>
            <a:off x="2942786" y="6139462"/>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3" name="Rectangle 62">
            <a:extLst>
              <a:ext uri="{FF2B5EF4-FFF2-40B4-BE49-F238E27FC236}">
                <a16:creationId xmlns:a16="http://schemas.microsoft.com/office/drawing/2014/main" id="{D1FCDB77-D601-694B-9591-BACEB9BDC806}"/>
              </a:ext>
            </a:extLst>
          </p:cNvPr>
          <p:cNvSpPr/>
          <p:nvPr/>
        </p:nvSpPr>
        <p:spPr>
          <a:xfrm>
            <a:off x="3695987" y="3679066"/>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4" name="Rectangle 63">
            <a:extLst>
              <a:ext uri="{FF2B5EF4-FFF2-40B4-BE49-F238E27FC236}">
                <a16:creationId xmlns:a16="http://schemas.microsoft.com/office/drawing/2014/main" id="{DC4468D1-310F-1A4A-9904-86667C28E953}"/>
              </a:ext>
            </a:extLst>
          </p:cNvPr>
          <p:cNvSpPr/>
          <p:nvPr/>
        </p:nvSpPr>
        <p:spPr>
          <a:xfrm>
            <a:off x="3695987" y="4031607"/>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5" name="Rectangle 64">
            <a:extLst>
              <a:ext uri="{FF2B5EF4-FFF2-40B4-BE49-F238E27FC236}">
                <a16:creationId xmlns:a16="http://schemas.microsoft.com/office/drawing/2014/main" id="{D3107142-12E7-5949-BD27-3F82AEF80521}"/>
              </a:ext>
            </a:extLst>
          </p:cNvPr>
          <p:cNvSpPr/>
          <p:nvPr/>
        </p:nvSpPr>
        <p:spPr>
          <a:xfrm>
            <a:off x="3695987" y="4384148"/>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6" name="Rectangle 65">
            <a:extLst>
              <a:ext uri="{FF2B5EF4-FFF2-40B4-BE49-F238E27FC236}">
                <a16:creationId xmlns:a16="http://schemas.microsoft.com/office/drawing/2014/main" id="{329F1646-BD35-E04E-9350-286AA915256F}"/>
              </a:ext>
            </a:extLst>
          </p:cNvPr>
          <p:cNvSpPr/>
          <p:nvPr/>
        </p:nvSpPr>
        <p:spPr>
          <a:xfrm>
            <a:off x="3695986" y="4730388"/>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7" name="Rectangle 66">
            <a:extLst>
              <a:ext uri="{FF2B5EF4-FFF2-40B4-BE49-F238E27FC236}">
                <a16:creationId xmlns:a16="http://schemas.microsoft.com/office/drawing/2014/main" id="{AAA509D4-882F-C141-B770-CC4BA8965EBC}"/>
              </a:ext>
            </a:extLst>
          </p:cNvPr>
          <p:cNvSpPr/>
          <p:nvPr/>
        </p:nvSpPr>
        <p:spPr>
          <a:xfrm>
            <a:off x="3695986" y="5082929"/>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8" name="Rectangle 67">
            <a:extLst>
              <a:ext uri="{FF2B5EF4-FFF2-40B4-BE49-F238E27FC236}">
                <a16:creationId xmlns:a16="http://schemas.microsoft.com/office/drawing/2014/main" id="{FF4E622B-14DF-B149-82EC-9C6019B6072E}"/>
              </a:ext>
            </a:extLst>
          </p:cNvPr>
          <p:cNvSpPr/>
          <p:nvPr/>
        </p:nvSpPr>
        <p:spPr>
          <a:xfrm>
            <a:off x="3695986" y="5429169"/>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9" name="Rectangle 68">
            <a:extLst>
              <a:ext uri="{FF2B5EF4-FFF2-40B4-BE49-F238E27FC236}">
                <a16:creationId xmlns:a16="http://schemas.microsoft.com/office/drawing/2014/main" id="{73F262ED-7BF5-C244-B81E-B0E6ED956B50}"/>
              </a:ext>
            </a:extLst>
          </p:cNvPr>
          <p:cNvSpPr/>
          <p:nvPr/>
        </p:nvSpPr>
        <p:spPr>
          <a:xfrm>
            <a:off x="3695985" y="5781710"/>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0" name="TextBox 69">
            <a:extLst>
              <a:ext uri="{FF2B5EF4-FFF2-40B4-BE49-F238E27FC236}">
                <a16:creationId xmlns:a16="http://schemas.microsoft.com/office/drawing/2014/main" id="{3CE271CB-98FE-F74F-B910-67964C4C8B37}"/>
              </a:ext>
            </a:extLst>
          </p:cNvPr>
          <p:cNvSpPr txBox="1"/>
          <p:nvPr/>
        </p:nvSpPr>
        <p:spPr>
          <a:xfrm>
            <a:off x="4120117" y="4465077"/>
            <a:ext cx="312906" cy="707886"/>
          </a:xfrm>
          <a:prstGeom prst="rect">
            <a:avLst/>
          </a:prstGeom>
          <a:noFill/>
        </p:spPr>
        <p:txBody>
          <a:bodyPr wrap="none" rtlCol="0">
            <a:spAutoFit/>
          </a:bodyPr>
          <a:lstStyle/>
          <a:p>
            <a:r>
              <a:rPr lang="en-US" sz="4000" dirty="0"/>
              <a:t>,</a:t>
            </a:r>
          </a:p>
        </p:txBody>
      </p:sp>
      <p:sp>
        <p:nvSpPr>
          <p:cNvPr id="71" name="Rectangle 70">
            <a:extLst>
              <a:ext uri="{FF2B5EF4-FFF2-40B4-BE49-F238E27FC236}">
                <a16:creationId xmlns:a16="http://schemas.microsoft.com/office/drawing/2014/main" id="{CDDC4981-D33D-EB45-B238-0A66259FFE05}"/>
              </a:ext>
            </a:extLst>
          </p:cNvPr>
          <p:cNvSpPr/>
          <p:nvPr/>
        </p:nvSpPr>
        <p:spPr>
          <a:xfrm>
            <a:off x="3695984" y="6127950"/>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2" name="Rectangle 71">
            <a:extLst>
              <a:ext uri="{FF2B5EF4-FFF2-40B4-BE49-F238E27FC236}">
                <a16:creationId xmlns:a16="http://schemas.microsoft.com/office/drawing/2014/main" id="{58E3BA04-6BDF-E44D-943B-1B20DB688399}"/>
              </a:ext>
            </a:extLst>
          </p:cNvPr>
          <p:cNvSpPr/>
          <p:nvPr/>
        </p:nvSpPr>
        <p:spPr>
          <a:xfrm>
            <a:off x="4458504" y="3684277"/>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3" name="Rectangle 72">
            <a:extLst>
              <a:ext uri="{FF2B5EF4-FFF2-40B4-BE49-F238E27FC236}">
                <a16:creationId xmlns:a16="http://schemas.microsoft.com/office/drawing/2014/main" id="{90C00A2E-74BF-B14C-89C8-A3203E7C308E}"/>
              </a:ext>
            </a:extLst>
          </p:cNvPr>
          <p:cNvSpPr/>
          <p:nvPr/>
        </p:nvSpPr>
        <p:spPr>
          <a:xfrm>
            <a:off x="4458504" y="4036818"/>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4" name="Rectangle 73">
            <a:extLst>
              <a:ext uri="{FF2B5EF4-FFF2-40B4-BE49-F238E27FC236}">
                <a16:creationId xmlns:a16="http://schemas.microsoft.com/office/drawing/2014/main" id="{32087203-C9FC-7C4C-80B6-504295619BD2}"/>
              </a:ext>
            </a:extLst>
          </p:cNvPr>
          <p:cNvSpPr/>
          <p:nvPr/>
        </p:nvSpPr>
        <p:spPr>
          <a:xfrm>
            <a:off x="4458504" y="4389359"/>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a:extLst>
              <a:ext uri="{FF2B5EF4-FFF2-40B4-BE49-F238E27FC236}">
                <a16:creationId xmlns:a16="http://schemas.microsoft.com/office/drawing/2014/main" id="{377ED90D-5040-5241-8A55-B1099AE4BBE9}"/>
              </a:ext>
            </a:extLst>
          </p:cNvPr>
          <p:cNvSpPr/>
          <p:nvPr/>
        </p:nvSpPr>
        <p:spPr>
          <a:xfrm>
            <a:off x="4458503" y="4735599"/>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6" name="Rectangle 75">
            <a:extLst>
              <a:ext uri="{FF2B5EF4-FFF2-40B4-BE49-F238E27FC236}">
                <a16:creationId xmlns:a16="http://schemas.microsoft.com/office/drawing/2014/main" id="{FBE00D7E-D852-554E-A552-283566592B70}"/>
              </a:ext>
            </a:extLst>
          </p:cNvPr>
          <p:cNvSpPr/>
          <p:nvPr/>
        </p:nvSpPr>
        <p:spPr>
          <a:xfrm>
            <a:off x="4458503" y="5088140"/>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7" name="Rectangle 76">
            <a:extLst>
              <a:ext uri="{FF2B5EF4-FFF2-40B4-BE49-F238E27FC236}">
                <a16:creationId xmlns:a16="http://schemas.microsoft.com/office/drawing/2014/main" id="{569F81A9-CEC2-614F-AC6C-F9600180936E}"/>
              </a:ext>
            </a:extLst>
          </p:cNvPr>
          <p:cNvSpPr/>
          <p:nvPr/>
        </p:nvSpPr>
        <p:spPr>
          <a:xfrm>
            <a:off x="4458503" y="5434380"/>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8" name="Rectangle 77">
            <a:extLst>
              <a:ext uri="{FF2B5EF4-FFF2-40B4-BE49-F238E27FC236}">
                <a16:creationId xmlns:a16="http://schemas.microsoft.com/office/drawing/2014/main" id="{241BB161-96A1-B247-A276-FED82BBF2E94}"/>
              </a:ext>
            </a:extLst>
          </p:cNvPr>
          <p:cNvSpPr/>
          <p:nvPr/>
        </p:nvSpPr>
        <p:spPr>
          <a:xfrm>
            <a:off x="4458502" y="5786921"/>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9" name="Rectangle 78">
            <a:extLst>
              <a:ext uri="{FF2B5EF4-FFF2-40B4-BE49-F238E27FC236}">
                <a16:creationId xmlns:a16="http://schemas.microsoft.com/office/drawing/2014/main" id="{7C030B6C-47AE-944B-B8CA-727E77A8F791}"/>
              </a:ext>
            </a:extLst>
          </p:cNvPr>
          <p:cNvSpPr/>
          <p:nvPr/>
        </p:nvSpPr>
        <p:spPr>
          <a:xfrm>
            <a:off x="4458501" y="6133161"/>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0" name="Rectangle 49">
            <a:extLst>
              <a:ext uri="{FF2B5EF4-FFF2-40B4-BE49-F238E27FC236}">
                <a16:creationId xmlns:a16="http://schemas.microsoft.com/office/drawing/2014/main" id="{114A9A38-D48C-5642-8737-8096CEBAE068}"/>
              </a:ext>
            </a:extLst>
          </p:cNvPr>
          <p:cNvSpPr/>
          <p:nvPr/>
        </p:nvSpPr>
        <p:spPr>
          <a:xfrm>
            <a:off x="2646408" y="4742478"/>
            <a:ext cx="2379830" cy="184369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70BD953-6487-DB4F-9FBF-3956F7D3CAE3}"/>
              </a:ext>
            </a:extLst>
          </p:cNvPr>
          <p:cNvSpPr txBox="1"/>
          <p:nvPr/>
        </p:nvSpPr>
        <p:spPr>
          <a:xfrm>
            <a:off x="8425891" y="4742351"/>
            <a:ext cx="585417" cy="523220"/>
          </a:xfrm>
          <a:prstGeom prst="rect">
            <a:avLst/>
          </a:prstGeom>
          <a:noFill/>
        </p:spPr>
        <p:txBody>
          <a:bodyPr wrap="none" rtlCol="0">
            <a:spAutoFit/>
          </a:bodyPr>
          <a:lstStyle/>
          <a:p>
            <a:r>
              <a:rPr lang="en-US" sz="2800" dirty="0"/>
              <a:t>16</a:t>
            </a:r>
          </a:p>
        </p:txBody>
      </p:sp>
      <p:sp>
        <p:nvSpPr>
          <p:cNvPr id="47" name="TextBox 46">
            <a:extLst>
              <a:ext uri="{FF2B5EF4-FFF2-40B4-BE49-F238E27FC236}">
                <a16:creationId xmlns:a16="http://schemas.microsoft.com/office/drawing/2014/main" id="{A5D6A91F-C86E-1348-B534-A009D1A62313}"/>
              </a:ext>
            </a:extLst>
          </p:cNvPr>
          <p:cNvSpPr txBox="1"/>
          <p:nvPr/>
        </p:nvSpPr>
        <p:spPr>
          <a:xfrm>
            <a:off x="8857687" y="4742351"/>
            <a:ext cx="684803" cy="523220"/>
          </a:xfrm>
          <a:prstGeom prst="rect">
            <a:avLst/>
          </a:prstGeom>
          <a:noFill/>
        </p:spPr>
        <p:txBody>
          <a:bodyPr wrap="none" rtlCol="0">
            <a:spAutoFit/>
          </a:bodyPr>
          <a:lstStyle/>
          <a:p>
            <a:r>
              <a:rPr lang="en-US" sz="2800" dirty="0"/>
              <a:t>,13</a:t>
            </a:r>
          </a:p>
        </p:txBody>
      </p:sp>
      <p:sp>
        <p:nvSpPr>
          <p:cNvPr id="48" name="TextBox 47">
            <a:extLst>
              <a:ext uri="{FF2B5EF4-FFF2-40B4-BE49-F238E27FC236}">
                <a16:creationId xmlns:a16="http://schemas.microsoft.com/office/drawing/2014/main" id="{20D00086-76A9-714C-8C15-6822F1E4D821}"/>
              </a:ext>
            </a:extLst>
          </p:cNvPr>
          <p:cNvSpPr txBox="1"/>
          <p:nvPr/>
        </p:nvSpPr>
        <p:spPr>
          <a:xfrm>
            <a:off x="9378396" y="4750969"/>
            <a:ext cx="684803" cy="523220"/>
          </a:xfrm>
          <a:prstGeom prst="rect">
            <a:avLst/>
          </a:prstGeom>
          <a:noFill/>
        </p:spPr>
        <p:txBody>
          <a:bodyPr wrap="none" rtlCol="0">
            <a:spAutoFit/>
          </a:bodyPr>
          <a:lstStyle/>
          <a:p>
            <a:r>
              <a:rPr lang="en-US" sz="2800" dirty="0"/>
              <a:t>,15</a:t>
            </a:r>
          </a:p>
        </p:txBody>
      </p:sp>
      <p:cxnSp>
        <p:nvCxnSpPr>
          <p:cNvPr id="46" name="Straight Connector 45">
            <a:extLst>
              <a:ext uri="{FF2B5EF4-FFF2-40B4-BE49-F238E27FC236}">
                <a16:creationId xmlns:a16="http://schemas.microsoft.com/office/drawing/2014/main" id="{63D1A2BB-41D7-634F-A0CB-2E8CDBF3CE01}"/>
              </a:ext>
            </a:extLst>
          </p:cNvPr>
          <p:cNvCxnSpPr/>
          <p:nvPr/>
        </p:nvCxnSpPr>
        <p:spPr>
          <a:xfrm flipV="1">
            <a:off x="2816414" y="3672978"/>
            <a:ext cx="582150" cy="35254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D005E68-E80B-FC43-963B-651578EDBA07}"/>
              </a:ext>
            </a:extLst>
          </p:cNvPr>
          <p:cNvCxnSpPr>
            <a:cxnSpLocks/>
          </p:cNvCxnSpPr>
          <p:nvPr/>
        </p:nvCxnSpPr>
        <p:spPr>
          <a:xfrm>
            <a:off x="2848059" y="3676124"/>
            <a:ext cx="518860" cy="3463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DF2B341-FB07-234C-9A51-A688E5DA5E56}"/>
              </a:ext>
            </a:extLst>
          </p:cNvPr>
          <p:cNvCxnSpPr/>
          <p:nvPr/>
        </p:nvCxnSpPr>
        <p:spPr>
          <a:xfrm flipV="1">
            <a:off x="3604184" y="4034605"/>
            <a:ext cx="582150" cy="35254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1C0A608-0266-4144-871A-F0F5A298A2D0}"/>
              </a:ext>
            </a:extLst>
          </p:cNvPr>
          <p:cNvCxnSpPr>
            <a:cxnSpLocks/>
          </p:cNvCxnSpPr>
          <p:nvPr/>
        </p:nvCxnSpPr>
        <p:spPr>
          <a:xfrm>
            <a:off x="3635829" y="4037751"/>
            <a:ext cx="518860" cy="3463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CC61271C-3A5A-124A-BA40-B499FB7D70CB}"/>
              </a:ext>
            </a:extLst>
          </p:cNvPr>
          <p:cNvCxnSpPr/>
          <p:nvPr/>
        </p:nvCxnSpPr>
        <p:spPr>
          <a:xfrm flipV="1">
            <a:off x="4371031" y="4382868"/>
            <a:ext cx="582150" cy="35254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85BE9786-96F6-BE42-8136-3D062EE1F86A}"/>
              </a:ext>
            </a:extLst>
          </p:cNvPr>
          <p:cNvCxnSpPr>
            <a:cxnSpLocks/>
          </p:cNvCxnSpPr>
          <p:nvPr/>
        </p:nvCxnSpPr>
        <p:spPr>
          <a:xfrm>
            <a:off x="4402676" y="4386014"/>
            <a:ext cx="518860" cy="3463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205D043-B0F8-FF4D-9D56-FBC5019CC58A}"/>
              </a:ext>
            </a:extLst>
          </p:cNvPr>
          <p:cNvSpPr txBox="1"/>
          <p:nvPr/>
        </p:nvSpPr>
        <p:spPr>
          <a:xfrm>
            <a:off x="997814" y="5539180"/>
            <a:ext cx="1580882" cy="400110"/>
          </a:xfrm>
          <a:prstGeom prst="rect">
            <a:avLst/>
          </a:prstGeom>
          <a:noFill/>
        </p:spPr>
        <p:txBody>
          <a:bodyPr wrap="none" rtlCol="0">
            <a:spAutoFit/>
          </a:bodyPr>
          <a:lstStyle/>
          <a:p>
            <a:r>
              <a:rPr lang="en-US" sz="2000" dirty="0">
                <a:solidFill>
                  <a:srgbClr val="FF0000"/>
                </a:solidFill>
              </a:rPr>
              <a:t>Overlapped!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par>
                                <p:cTn id="8" presetID="10" presetClass="entr" presetSubtype="0" fill="hold"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fade">
                                      <p:cBhvr>
                                        <p:cTn id="18" dur="500"/>
                                        <p:tgtEl>
                                          <p:spTgt spid="6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3"/>
                                        </p:tgtEl>
                                        <p:attrNameLst>
                                          <p:attrName>style.visibility</p:attrName>
                                        </p:attrNameLst>
                                      </p:cBhvr>
                                      <p:to>
                                        <p:strVal val="visible"/>
                                      </p:to>
                                    </p:set>
                                    <p:animEffect transition="in" filter="fade">
                                      <p:cBhvr>
                                        <p:cTn id="21" dur="500"/>
                                        <p:tgtEl>
                                          <p:spTgt spid="63"/>
                                        </p:tgtEl>
                                      </p:cBhvr>
                                    </p:animEffect>
                                  </p:childTnLst>
                                </p:cTn>
                              </p:par>
                              <p:par>
                                <p:cTn id="22" presetID="10" presetClass="entr" presetSubtype="0" fill="hold" nodeType="with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fade">
                                      <p:cBhvr>
                                        <p:cTn id="24" dur="500"/>
                                        <p:tgtEl>
                                          <p:spTgt spid="52"/>
                                        </p:tgtEl>
                                      </p:cBhvr>
                                    </p:animEffect>
                                  </p:childTnLst>
                                </p:cTn>
                              </p:par>
                              <p:par>
                                <p:cTn id="25" presetID="10" presetClass="entr" presetSubtype="0" fill="hold" nodeType="with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500"/>
                                        <p:tgtEl>
                                          <p:spTgt spid="5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4"/>
                                        </p:tgtEl>
                                        <p:attrNameLst>
                                          <p:attrName>style.visibility</p:attrName>
                                        </p:attrNameLst>
                                      </p:cBhvr>
                                      <p:to>
                                        <p:strVal val="visible"/>
                                      </p:to>
                                    </p:set>
                                    <p:animEffect transition="in" filter="fade">
                                      <p:cBhvr>
                                        <p:cTn id="30" dur="500"/>
                                        <p:tgtEl>
                                          <p:spTgt spid="6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5"/>
                                        </p:tgtEl>
                                        <p:attrNameLst>
                                          <p:attrName>style.visibility</p:attrName>
                                        </p:attrNameLst>
                                      </p:cBhvr>
                                      <p:to>
                                        <p:strVal val="visible"/>
                                      </p:to>
                                    </p:set>
                                    <p:animEffect transition="in" filter="fade">
                                      <p:cBhvr>
                                        <p:cTn id="33" dur="500"/>
                                        <p:tgtEl>
                                          <p:spTgt spid="6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6"/>
                                        </p:tgtEl>
                                        <p:attrNameLst>
                                          <p:attrName>style.visibility</p:attrName>
                                        </p:attrNameLst>
                                      </p:cBhvr>
                                      <p:to>
                                        <p:strVal val="visible"/>
                                      </p:to>
                                    </p:set>
                                    <p:animEffect transition="in" filter="fade">
                                      <p:cBhvr>
                                        <p:cTn id="36" dur="500"/>
                                        <p:tgtEl>
                                          <p:spTgt spid="6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7"/>
                                        </p:tgtEl>
                                        <p:attrNameLst>
                                          <p:attrName>style.visibility</p:attrName>
                                        </p:attrNameLst>
                                      </p:cBhvr>
                                      <p:to>
                                        <p:strVal val="visible"/>
                                      </p:to>
                                    </p:set>
                                    <p:animEffect transition="in" filter="fade">
                                      <p:cBhvr>
                                        <p:cTn id="39" dur="500"/>
                                        <p:tgtEl>
                                          <p:spTgt spid="6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8"/>
                                        </p:tgtEl>
                                        <p:attrNameLst>
                                          <p:attrName>style.visibility</p:attrName>
                                        </p:attrNameLst>
                                      </p:cBhvr>
                                      <p:to>
                                        <p:strVal val="visible"/>
                                      </p:to>
                                    </p:set>
                                    <p:animEffect transition="in" filter="fade">
                                      <p:cBhvr>
                                        <p:cTn id="42" dur="500"/>
                                        <p:tgtEl>
                                          <p:spTgt spid="6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9"/>
                                        </p:tgtEl>
                                        <p:attrNameLst>
                                          <p:attrName>style.visibility</p:attrName>
                                        </p:attrNameLst>
                                      </p:cBhvr>
                                      <p:to>
                                        <p:strVal val="visible"/>
                                      </p:to>
                                    </p:set>
                                    <p:animEffect transition="in" filter="fade">
                                      <p:cBhvr>
                                        <p:cTn id="45" dur="500"/>
                                        <p:tgtEl>
                                          <p:spTgt spid="6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71"/>
                                        </p:tgtEl>
                                        <p:attrNameLst>
                                          <p:attrName>style.visibility</p:attrName>
                                        </p:attrNameLst>
                                      </p:cBhvr>
                                      <p:to>
                                        <p:strVal val="visible"/>
                                      </p:to>
                                    </p:set>
                                    <p:animEffect transition="in" filter="fade">
                                      <p:cBhvr>
                                        <p:cTn id="48" dur="500"/>
                                        <p:tgtEl>
                                          <p:spTgt spid="71"/>
                                        </p:tgtEl>
                                      </p:cBhvr>
                                    </p:animEffect>
                                  </p:childTnLst>
                                </p:cTn>
                              </p:par>
                            </p:childTnLst>
                          </p:cTn>
                        </p:par>
                        <p:par>
                          <p:cTn id="49" fill="hold">
                            <p:stCondLst>
                              <p:cond delay="1500"/>
                            </p:stCondLst>
                            <p:childTnLst>
                              <p:par>
                                <p:cTn id="50" presetID="10" presetClass="entr" presetSubtype="0" fill="hold" grpId="0" nodeType="after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fade">
                                      <p:cBhvr>
                                        <p:cTn id="52" dur="500"/>
                                        <p:tgtEl>
                                          <p:spTgt spid="47"/>
                                        </p:tgtEl>
                                      </p:cBhvr>
                                    </p:animEffect>
                                  </p:childTnLst>
                                </p:cTn>
                              </p:par>
                            </p:childTnLst>
                          </p:cTn>
                        </p:par>
                        <p:par>
                          <p:cTn id="53" fill="hold">
                            <p:stCondLst>
                              <p:cond delay="2000"/>
                            </p:stCondLst>
                            <p:childTnLst>
                              <p:par>
                                <p:cTn id="54" presetID="10" presetClass="entr" presetSubtype="0" fill="hold" grpId="0" nodeType="afterEffect">
                                  <p:stCondLst>
                                    <p:cond delay="0"/>
                                  </p:stCondLst>
                                  <p:childTnLst>
                                    <p:set>
                                      <p:cBhvr>
                                        <p:cTn id="55" dur="1" fill="hold">
                                          <p:stCondLst>
                                            <p:cond delay="0"/>
                                          </p:stCondLst>
                                        </p:cTn>
                                        <p:tgtEl>
                                          <p:spTgt spid="70"/>
                                        </p:tgtEl>
                                        <p:attrNameLst>
                                          <p:attrName>style.visibility</p:attrName>
                                        </p:attrNameLst>
                                      </p:cBhvr>
                                      <p:to>
                                        <p:strVal val="visible"/>
                                      </p:to>
                                    </p:set>
                                    <p:animEffect transition="in" filter="fade">
                                      <p:cBhvr>
                                        <p:cTn id="56" dur="500"/>
                                        <p:tgtEl>
                                          <p:spTgt spid="7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72"/>
                                        </p:tgtEl>
                                        <p:attrNameLst>
                                          <p:attrName>style.visibility</p:attrName>
                                        </p:attrNameLst>
                                      </p:cBhvr>
                                      <p:to>
                                        <p:strVal val="visible"/>
                                      </p:to>
                                    </p:set>
                                    <p:animEffect transition="in" filter="fade">
                                      <p:cBhvr>
                                        <p:cTn id="59" dur="500"/>
                                        <p:tgtEl>
                                          <p:spTgt spid="7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73"/>
                                        </p:tgtEl>
                                        <p:attrNameLst>
                                          <p:attrName>style.visibility</p:attrName>
                                        </p:attrNameLst>
                                      </p:cBhvr>
                                      <p:to>
                                        <p:strVal val="visible"/>
                                      </p:to>
                                    </p:set>
                                    <p:animEffect transition="in" filter="fade">
                                      <p:cBhvr>
                                        <p:cTn id="62" dur="500"/>
                                        <p:tgtEl>
                                          <p:spTgt spid="7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4"/>
                                        </p:tgtEl>
                                        <p:attrNameLst>
                                          <p:attrName>style.visibility</p:attrName>
                                        </p:attrNameLst>
                                      </p:cBhvr>
                                      <p:to>
                                        <p:strVal val="visible"/>
                                      </p:to>
                                    </p:set>
                                    <p:animEffect transition="in" filter="fade">
                                      <p:cBhvr>
                                        <p:cTn id="65" dur="500"/>
                                        <p:tgtEl>
                                          <p:spTgt spid="74"/>
                                        </p:tgtEl>
                                      </p:cBhvr>
                                    </p:animEffect>
                                  </p:childTnLst>
                                </p:cTn>
                              </p:par>
                              <p:par>
                                <p:cTn id="66" presetID="10" presetClass="entr" presetSubtype="0" fill="hold" nodeType="withEffect">
                                  <p:stCondLst>
                                    <p:cond delay="0"/>
                                  </p:stCondLst>
                                  <p:childTnLst>
                                    <p:set>
                                      <p:cBhvr>
                                        <p:cTn id="67" dur="1" fill="hold">
                                          <p:stCondLst>
                                            <p:cond delay="0"/>
                                          </p:stCondLst>
                                        </p:cTn>
                                        <p:tgtEl>
                                          <p:spTgt spid="80"/>
                                        </p:tgtEl>
                                        <p:attrNameLst>
                                          <p:attrName>style.visibility</p:attrName>
                                        </p:attrNameLst>
                                      </p:cBhvr>
                                      <p:to>
                                        <p:strVal val="visible"/>
                                      </p:to>
                                    </p:set>
                                    <p:animEffect transition="in" filter="fade">
                                      <p:cBhvr>
                                        <p:cTn id="68" dur="500"/>
                                        <p:tgtEl>
                                          <p:spTgt spid="80"/>
                                        </p:tgtEl>
                                      </p:cBhvr>
                                    </p:animEffect>
                                  </p:childTnLst>
                                </p:cTn>
                              </p:par>
                              <p:par>
                                <p:cTn id="69" presetID="10" presetClass="entr" presetSubtype="0" fill="hold" nodeType="withEffect">
                                  <p:stCondLst>
                                    <p:cond delay="0"/>
                                  </p:stCondLst>
                                  <p:childTnLst>
                                    <p:set>
                                      <p:cBhvr>
                                        <p:cTn id="70" dur="1" fill="hold">
                                          <p:stCondLst>
                                            <p:cond delay="0"/>
                                          </p:stCondLst>
                                        </p:cTn>
                                        <p:tgtEl>
                                          <p:spTgt spid="81"/>
                                        </p:tgtEl>
                                        <p:attrNameLst>
                                          <p:attrName>style.visibility</p:attrName>
                                        </p:attrNameLst>
                                      </p:cBhvr>
                                      <p:to>
                                        <p:strVal val="visible"/>
                                      </p:to>
                                    </p:set>
                                    <p:animEffect transition="in" filter="fade">
                                      <p:cBhvr>
                                        <p:cTn id="71" dur="500"/>
                                        <p:tgtEl>
                                          <p:spTgt spid="8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75"/>
                                        </p:tgtEl>
                                        <p:attrNameLst>
                                          <p:attrName>style.visibility</p:attrName>
                                        </p:attrNameLst>
                                      </p:cBhvr>
                                      <p:to>
                                        <p:strVal val="visible"/>
                                      </p:to>
                                    </p:set>
                                    <p:animEffect transition="in" filter="fade">
                                      <p:cBhvr>
                                        <p:cTn id="74" dur="500"/>
                                        <p:tgtEl>
                                          <p:spTgt spid="7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76"/>
                                        </p:tgtEl>
                                        <p:attrNameLst>
                                          <p:attrName>style.visibility</p:attrName>
                                        </p:attrNameLst>
                                      </p:cBhvr>
                                      <p:to>
                                        <p:strVal val="visible"/>
                                      </p:to>
                                    </p:set>
                                    <p:animEffect transition="in" filter="fade">
                                      <p:cBhvr>
                                        <p:cTn id="77" dur="500"/>
                                        <p:tgtEl>
                                          <p:spTgt spid="7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77"/>
                                        </p:tgtEl>
                                        <p:attrNameLst>
                                          <p:attrName>style.visibility</p:attrName>
                                        </p:attrNameLst>
                                      </p:cBhvr>
                                      <p:to>
                                        <p:strVal val="visible"/>
                                      </p:to>
                                    </p:set>
                                    <p:animEffect transition="in" filter="fade">
                                      <p:cBhvr>
                                        <p:cTn id="80" dur="500"/>
                                        <p:tgtEl>
                                          <p:spTgt spid="7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78"/>
                                        </p:tgtEl>
                                        <p:attrNameLst>
                                          <p:attrName>style.visibility</p:attrName>
                                        </p:attrNameLst>
                                      </p:cBhvr>
                                      <p:to>
                                        <p:strVal val="visible"/>
                                      </p:to>
                                    </p:set>
                                    <p:animEffect transition="in" filter="fade">
                                      <p:cBhvr>
                                        <p:cTn id="83" dur="500"/>
                                        <p:tgtEl>
                                          <p:spTgt spid="7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79"/>
                                        </p:tgtEl>
                                        <p:attrNameLst>
                                          <p:attrName>style.visibility</p:attrName>
                                        </p:attrNameLst>
                                      </p:cBhvr>
                                      <p:to>
                                        <p:strVal val="visible"/>
                                      </p:to>
                                    </p:set>
                                    <p:animEffect transition="in" filter="fade">
                                      <p:cBhvr>
                                        <p:cTn id="86" dur="500"/>
                                        <p:tgtEl>
                                          <p:spTgt spid="79"/>
                                        </p:tgtEl>
                                      </p:cBhvr>
                                    </p:animEffect>
                                  </p:childTnLst>
                                </p:cTn>
                              </p:par>
                            </p:childTnLst>
                          </p:cTn>
                        </p:par>
                        <p:par>
                          <p:cTn id="87" fill="hold">
                            <p:stCondLst>
                              <p:cond delay="2500"/>
                            </p:stCondLst>
                            <p:childTnLst>
                              <p:par>
                                <p:cTn id="88" presetID="10" presetClass="entr" presetSubtype="0" fill="hold" grpId="0" nodeType="afterEffect">
                                  <p:stCondLst>
                                    <p:cond delay="0"/>
                                  </p:stCondLst>
                                  <p:childTnLst>
                                    <p:set>
                                      <p:cBhvr>
                                        <p:cTn id="89" dur="1" fill="hold">
                                          <p:stCondLst>
                                            <p:cond delay="0"/>
                                          </p:stCondLst>
                                        </p:cTn>
                                        <p:tgtEl>
                                          <p:spTgt spid="48"/>
                                        </p:tgtEl>
                                        <p:attrNameLst>
                                          <p:attrName>style.visibility</p:attrName>
                                        </p:attrNameLst>
                                      </p:cBhvr>
                                      <p:to>
                                        <p:strVal val="visible"/>
                                      </p:to>
                                    </p:set>
                                    <p:animEffect transition="in" filter="fade">
                                      <p:cBhvr>
                                        <p:cTn id="90" dur="500"/>
                                        <p:tgtEl>
                                          <p:spTgt spid="48"/>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50"/>
                                        </p:tgtEl>
                                        <p:attrNameLst>
                                          <p:attrName>style.visibility</p:attrName>
                                        </p:attrNameLst>
                                      </p:cBhvr>
                                      <p:to>
                                        <p:strVal val="visible"/>
                                      </p:to>
                                    </p:set>
                                    <p:animEffect transition="in" filter="fade">
                                      <p:cBhvr>
                                        <p:cTn id="95" dur="500"/>
                                        <p:tgtEl>
                                          <p:spTgt spid="5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
                                        </p:tgtEl>
                                        <p:attrNameLst>
                                          <p:attrName>style.visibility</p:attrName>
                                        </p:attrNameLst>
                                      </p:cBhvr>
                                      <p:to>
                                        <p:strVal val="visible"/>
                                      </p:to>
                                    </p:set>
                                    <p:animEffect transition="in" filter="fade">
                                      <p:cBhvr>
                                        <p:cTn id="9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3" grpId="0" animBg="1"/>
      <p:bldP spid="64" grpId="0" animBg="1"/>
      <p:bldP spid="65" grpId="0" animBg="1"/>
      <p:bldP spid="66" grpId="0" animBg="1"/>
      <p:bldP spid="67" grpId="0" animBg="1"/>
      <p:bldP spid="68" grpId="0" animBg="1"/>
      <p:bldP spid="69" grpId="0" animBg="1"/>
      <p:bldP spid="70" grpId="0"/>
      <p:bldP spid="71" grpId="0" animBg="1"/>
      <p:bldP spid="72" grpId="0" animBg="1"/>
      <p:bldP spid="73" grpId="0" animBg="1"/>
      <p:bldP spid="74" grpId="0" animBg="1"/>
      <p:bldP spid="75" grpId="0" animBg="1"/>
      <p:bldP spid="76" grpId="0" animBg="1"/>
      <p:bldP spid="77" grpId="0" animBg="1"/>
      <p:bldP spid="78" grpId="0" animBg="1"/>
      <p:bldP spid="79" grpId="0" animBg="1"/>
      <p:bldP spid="50" grpId="0" animBg="1"/>
      <p:bldP spid="4" grpId="0"/>
      <p:bldP spid="47" grpId="0"/>
      <p:bldP spid="48"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881a038175_0_3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lvl="0"/>
            <a:r>
              <a:rPr lang="en-US" dirty="0"/>
              <a:t>Observation1: big-data operators are commutative and associative</a:t>
            </a:r>
            <a:endParaRPr dirty="0"/>
          </a:p>
        </p:txBody>
      </p:sp>
      <p:sp>
        <p:nvSpPr>
          <p:cNvPr id="126" name="Google Shape;126;g881a038175_0_3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Autofit/>
          </a:bodyPr>
          <a:lstStyle/>
          <a:p>
            <a:pPr marL="457200" lvl="0" indent="-342900" algn="l" rtl="0">
              <a:spcBef>
                <a:spcPts val="1000"/>
              </a:spcBef>
              <a:spcAft>
                <a:spcPts val="0"/>
              </a:spcAft>
              <a:buSzPts val="1800"/>
              <a:buChar char="•"/>
            </a:pPr>
            <a:r>
              <a:rPr lang="en-US" dirty="0">
                <a:solidFill>
                  <a:schemeClr val="tx1"/>
                </a:solidFill>
              </a:rPr>
              <a:t>Commutative: an operator always outputs the same value regardless of the order of input data records</a:t>
            </a:r>
            <a:endParaRPr dirty="0">
              <a:solidFill>
                <a:schemeClr val="tx1"/>
              </a:solidFill>
            </a:endParaRPr>
          </a:p>
          <a:p>
            <a:pPr marL="457200" lvl="0" indent="-342900" algn="l" rtl="0">
              <a:spcAft>
                <a:spcPts val="0"/>
              </a:spcAft>
              <a:buSzPts val="1800"/>
              <a:buChar char="•"/>
            </a:pPr>
            <a:r>
              <a:rPr lang="en-US" dirty="0"/>
              <a:t>Associative: an operator can first compute the output values of the subsets of an input dataset, and then aggregates these output values to obtain the output value of the entire input dataset </a:t>
            </a:r>
            <a:endParaRPr dirty="0"/>
          </a:p>
        </p:txBody>
      </p:sp>
      <p:sp>
        <p:nvSpPr>
          <p:cNvPr id="2" name="Slide Number Placeholder 1">
            <a:extLst>
              <a:ext uri="{FF2B5EF4-FFF2-40B4-BE49-F238E27FC236}">
                <a16:creationId xmlns:a16="http://schemas.microsoft.com/office/drawing/2014/main" id="{9DC27C4B-78EB-C645-A704-A0F6B7E3D61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27" name="Right Arrow 26">
            <a:extLst>
              <a:ext uri="{FF2B5EF4-FFF2-40B4-BE49-F238E27FC236}">
                <a16:creationId xmlns:a16="http://schemas.microsoft.com/office/drawing/2014/main" id="{F7F4C3FE-EF1C-9649-8C3B-8B27B95C903A}"/>
              </a:ext>
            </a:extLst>
          </p:cNvPr>
          <p:cNvSpPr/>
          <p:nvPr/>
        </p:nvSpPr>
        <p:spPr>
          <a:xfrm>
            <a:off x="5585844" y="5189220"/>
            <a:ext cx="462322" cy="2718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F78E0B44-163B-0C48-BA4A-6B74278AD83E}"/>
              </a:ext>
            </a:extLst>
          </p:cNvPr>
          <p:cNvSpPr txBox="1"/>
          <p:nvPr/>
        </p:nvSpPr>
        <p:spPr>
          <a:xfrm>
            <a:off x="5441570" y="4819734"/>
            <a:ext cx="690723" cy="353369"/>
          </a:xfrm>
          <a:prstGeom prst="rect">
            <a:avLst/>
          </a:prstGeom>
          <a:noFill/>
        </p:spPr>
        <p:txBody>
          <a:bodyPr wrap="none" rtlCol="0">
            <a:spAutoFit/>
          </a:bodyPr>
          <a:lstStyle/>
          <a:p>
            <a:r>
              <a:rPr lang="en-US" sz="2000" dirty="0"/>
              <a:t>Input</a:t>
            </a:r>
          </a:p>
        </p:txBody>
      </p:sp>
      <p:sp>
        <p:nvSpPr>
          <p:cNvPr id="29" name="Rectangle 28">
            <a:extLst>
              <a:ext uri="{FF2B5EF4-FFF2-40B4-BE49-F238E27FC236}">
                <a16:creationId xmlns:a16="http://schemas.microsoft.com/office/drawing/2014/main" id="{DE879ADB-D4F0-954B-BC8E-17C130AEB79A}"/>
              </a:ext>
            </a:extLst>
          </p:cNvPr>
          <p:cNvSpPr/>
          <p:nvPr/>
        </p:nvSpPr>
        <p:spPr>
          <a:xfrm>
            <a:off x="6313719" y="4636263"/>
            <a:ext cx="1364880" cy="12342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pic>
        <p:nvPicPr>
          <p:cNvPr id="30" name="Graphic 13" descr="Gears">
            <a:extLst>
              <a:ext uri="{FF2B5EF4-FFF2-40B4-BE49-F238E27FC236}">
                <a16:creationId xmlns:a16="http://schemas.microsoft.com/office/drawing/2014/main" id="{0E0E7DB0-692C-2C45-9775-E7D2BBC22353}"/>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83632" y="5150583"/>
            <a:ext cx="734998" cy="646212"/>
          </a:xfrm>
          <a:prstGeom prst="rect">
            <a:avLst/>
          </a:prstGeom>
        </p:spPr>
      </p:pic>
      <p:sp>
        <p:nvSpPr>
          <p:cNvPr id="31" name="TextBox 30">
            <a:extLst>
              <a:ext uri="{FF2B5EF4-FFF2-40B4-BE49-F238E27FC236}">
                <a16:creationId xmlns:a16="http://schemas.microsoft.com/office/drawing/2014/main" id="{2DDF1DD7-E5B2-6C47-ABFF-551200DA1DEC}"/>
              </a:ext>
            </a:extLst>
          </p:cNvPr>
          <p:cNvSpPr txBox="1"/>
          <p:nvPr/>
        </p:nvSpPr>
        <p:spPr>
          <a:xfrm>
            <a:off x="6624954" y="4738731"/>
            <a:ext cx="827339" cy="407733"/>
          </a:xfrm>
          <a:prstGeom prst="rect">
            <a:avLst/>
          </a:prstGeom>
          <a:noFill/>
        </p:spPr>
        <p:txBody>
          <a:bodyPr wrap="square" rtlCol="0">
            <a:spAutoFit/>
          </a:bodyPr>
          <a:lstStyle/>
          <a:p>
            <a:r>
              <a:rPr lang="en-US" altLang="zh-TW" sz="2000" dirty="0"/>
              <a:t>Sum</a:t>
            </a:r>
            <a:endParaRPr lang="en-US" sz="2000" dirty="0"/>
          </a:p>
        </p:txBody>
      </p:sp>
      <p:sp>
        <p:nvSpPr>
          <p:cNvPr id="32" name="Right Arrow 31">
            <a:extLst>
              <a:ext uri="{FF2B5EF4-FFF2-40B4-BE49-F238E27FC236}">
                <a16:creationId xmlns:a16="http://schemas.microsoft.com/office/drawing/2014/main" id="{EAAE1F34-5453-F641-98B0-3C5D79840701}"/>
              </a:ext>
            </a:extLst>
          </p:cNvPr>
          <p:cNvSpPr/>
          <p:nvPr/>
        </p:nvSpPr>
        <p:spPr>
          <a:xfrm>
            <a:off x="7908279" y="5173102"/>
            <a:ext cx="462322" cy="2718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5E4462FF-E817-1043-BA8B-97C58703DC68}"/>
              </a:ext>
            </a:extLst>
          </p:cNvPr>
          <p:cNvSpPr txBox="1"/>
          <p:nvPr/>
        </p:nvSpPr>
        <p:spPr>
          <a:xfrm>
            <a:off x="7689346" y="4819734"/>
            <a:ext cx="872879" cy="353369"/>
          </a:xfrm>
          <a:prstGeom prst="rect">
            <a:avLst/>
          </a:prstGeom>
          <a:noFill/>
        </p:spPr>
        <p:txBody>
          <a:bodyPr wrap="none" rtlCol="0">
            <a:spAutoFit/>
          </a:bodyPr>
          <a:lstStyle/>
          <a:p>
            <a:r>
              <a:rPr lang="en-US" sz="2000" dirty="0"/>
              <a:t>Output</a:t>
            </a:r>
          </a:p>
        </p:txBody>
      </p:sp>
      <p:sp>
        <p:nvSpPr>
          <p:cNvPr id="34" name="Rectangle 33">
            <a:extLst>
              <a:ext uri="{FF2B5EF4-FFF2-40B4-BE49-F238E27FC236}">
                <a16:creationId xmlns:a16="http://schemas.microsoft.com/office/drawing/2014/main" id="{87621993-8F54-6743-BA01-77AB6738F9A7}"/>
              </a:ext>
            </a:extLst>
          </p:cNvPr>
          <p:cNvSpPr/>
          <p:nvPr/>
        </p:nvSpPr>
        <p:spPr>
          <a:xfrm>
            <a:off x="3457031" y="4164148"/>
            <a:ext cx="356579" cy="311357"/>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Rectangle 34">
            <a:extLst>
              <a:ext uri="{FF2B5EF4-FFF2-40B4-BE49-F238E27FC236}">
                <a16:creationId xmlns:a16="http://schemas.microsoft.com/office/drawing/2014/main" id="{4FA80B21-2E2E-7E4A-BE3A-67706DD353C4}"/>
              </a:ext>
            </a:extLst>
          </p:cNvPr>
          <p:cNvSpPr/>
          <p:nvPr/>
        </p:nvSpPr>
        <p:spPr>
          <a:xfrm>
            <a:off x="3457031" y="4475505"/>
            <a:ext cx="356579" cy="311357"/>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6" name="Rectangle 35">
            <a:extLst>
              <a:ext uri="{FF2B5EF4-FFF2-40B4-BE49-F238E27FC236}">
                <a16:creationId xmlns:a16="http://schemas.microsoft.com/office/drawing/2014/main" id="{680D4CB8-2D60-5247-A800-E01484C9BE8C}"/>
              </a:ext>
            </a:extLst>
          </p:cNvPr>
          <p:cNvSpPr/>
          <p:nvPr/>
        </p:nvSpPr>
        <p:spPr>
          <a:xfrm>
            <a:off x="3457031" y="4786862"/>
            <a:ext cx="356579" cy="311357"/>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8" name="Rectangle 37">
            <a:extLst>
              <a:ext uri="{FF2B5EF4-FFF2-40B4-BE49-F238E27FC236}">
                <a16:creationId xmlns:a16="http://schemas.microsoft.com/office/drawing/2014/main" id="{5FD444EB-E490-2F4E-BB19-709AD941323E}"/>
              </a:ext>
            </a:extLst>
          </p:cNvPr>
          <p:cNvSpPr/>
          <p:nvPr/>
        </p:nvSpPr>
        <p:spPr>
          <a:xfrm>
            <a:off x="3457030" y="5092654"/>
            <a:ext cx="356579" cy="311357"/>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9" name="Rectangle 38">
            <a:extLst>
              <a:ext uri="{FF2B5EF4-FFF2-40B4-BE49-F238E27FC236}">
                <a16:creationId xmlns:a16="http://schemas.microsoft.com/office/drawing/2014/main" id="{4D462470-B16B-7448-AE64-2EAAC2BECE31}"/>
              </a:ext>
            </a:extLst>
          </p:cNvPr>
          <p:cNvSpPr/>
          <p:nvPr/>
        </p:nvSpPr>
        <p:spPr>
          <a:xfrm>
            <a:off x="3457030" y="5404010"/>
            <a:ext cx="356579" cy="311357"/>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0" name="Rectangle 39">
            <a:extLst>
              <a:ext uri="{FF2B5EF4-FFF2-40B4-BE49-F238E27FC236}">
                <a16:creationId xmlns:a16="http://schemas.microsoft.com/office/drawing/2014/main" id="{FC3699B3-899B-4844-9021-4BCAE8D047C2}"/>
              </a:ext>
            </a:extLst>
          </p:cNvPr>
          <p:cNvSpPr/>
          <p:nvPr/>
        </p:nvSpPr>
        <p:spPr>
          <a:xfrm>
            <a:off x="3457030" y="5709802"/>
            <a:ext cx="356579" cy="311357"/>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1" name="Rectangle 40">
            <a:extLst>
              <a:ext uri="{FF2B5EF4-FFF2-40B4-BE49-F238E27FC236}">
                <a16:creationId xmlns:a16="http://schemas.microsoft.com/office/drawing/2014/main" id="{0D1911D3-ABC1-D541-992A-3867033E8657}"/>
              </a:ext>
            </a:extLst>
          </p:cNvPr>
          <p:cNvSpPr/>
          <p:nvPr/>
        </p:nvSpPr>
        <p:spPr>
          <a:xfrm>
            <a:off x="3457029" y="6021159"/>
            <a:ext cx="356579" cy="311357"/>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2" name="TextBox 41">
            <a:extLst>
              <a:ext uri="{FF2B5EF4-FFF2-40B4-BE49-F238E27FC236}">
                <a16:creationId xmlns:a16="http://schemas.microsoft.com/office/drawing/2014/main" id="{12837003-4E2B-D846-80FA-293209376A8B}"/>
              </a:ext>
            </a:extLst>
          </p:cNvPr>
          <p:cNvSpPr txBox="1"/>
          <p:nvPr/>
        </p:nvSpPr>
        <p:spPr>
          <a:xfrm>
            <a:off x="3845705" y="4858336"/>
            <a:ext cx="286748" cy="625190"/>
          </a:xfrm>
          <a:prstGeom prst="rect">
            <a:avLst/>
          </a:prstGeom>
          <a:noFill/>
        </p:spPr>
        <p:txBody>
          <a:bodyPr wrap="none" rtlCol="0">
            <a:spAutoFit/>
          </a:bodyPr>
          <a:lstStyle/>
          <a:p>
            <a:r>
              <a:rPr lang="en-US" sz="4000" dirty="0"/>
              <a:t>,</a:t>
            </a:r>
          </a:p>
        </p:txBody>
      </p:sp>
      <p:sp>
        <p:nvSpPr>
          <p:cNvPr id="43" name="Rectangle 42">
            <a:extLst>
              <a:ext uri="{FF2B5EF4-FFF2-40B4-BE49-F238E27FC236}">
                <a16:creationId xmlns:a16="http://schemas.microsoft.com/office/drawing/2014/main" id="{E04D21A5-BE3E-3641-BCF2-D8B41013F740}"/>
              </a:ext>
            </a:extLst>
          </p:cNvPr>
          <p:cNvSpPr/>
          <p:nvPr/>
        </p:nvSpPr>
        <p:spPr>
          <a:xfrm>
            <a:off x="3457028" y="6326951"/>
            <a:ext cx="356579" cy="311357"/>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4" name="TextBox 53">
            <a:extLst>
              <a:ext uri="{FF2B5EF4-FFF2-40B4-BE49-F238E27FC236}">
                <a16:creationId xmlns:a16="http://schemas.microsoft.com/office/drawing/2014/main" id="{68A3CC9A-D6BC-534E-A103-35A082E51A7C}"/>
              </a:ext>
            </a:extLst>
          </p:cNvPr>
          <p:cNvSpPr txBox="1"/>
          <p:nvPr/>
        </p:nvSpPr>
        <p:spPr>
          <a:xfrm>
            <a:off x="4535939" y="4848169"/>
            <a:ext cx="286748" cy="625190"/>
          </a:xfrm>
          <a:prstGeom prst="rect">
            <a:avLst/>
          </a:prstGeom>
          <a:noFill/>
        </p:spPr>
        <p:txBody>
          <a:bodyPr wrap="none" rtlCol="0">
            <a:spAutoFit/>
          </a:bodyPr>
          <a:lstStyle/>
          <a:p>
            <a:r>
              <a:rPr lang="en-US" sz="4000" dirty="0"/>
              <a:t>,</a:t>
            </a:r>
          </a:p>
        </p:txBody>
      </p:sp>
      <p:sp>
        <p:nvSpPr>
          <p:cNvPr id="56" name="Rectangle 55">
            <a:extLst>
              <a:ext uri="{FF2B5EF4-FFF2-40B4-BE49-F238E27FC236}">
                <a16:creationId xmlns:a16="http://schemas.microsoft.com/office/drawing/2014/main" id="{9322DF1D-DFFF-654A-945A-B2214C9BA780}"/>
              </a:ext>
            </a:extLst>
          </p:cNvPr>
          <p:cNvSpPr/>
          <p:nvPr/>
        </p:nvSpPr>
        <p:spPr>
          <a:xfrm>
            <a:off x="4846038" y="4158583"/>
            <a:ext cx="356579" cy="311357"/>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7" name="Rectangle 56">
            <a:extLst>
              <a:ext uri="{FF2B5EF4-FFF2-40B4-BE49-F238E27FC236}">
                <a16:creationId xmlns:a16="http://schemas.microsoft.com/office/drawing/2014/main" id="{D07E0D9A-B93B-9448-A5F4-2098D8382F02}"/>
              </a:ext>
            </a:extLst>
          </p:cNvPr>
          <p:cNvSpPr/>
          <p:nvPr/>
        </p:nvSpPr>
        <p:spPr>
          <a:xfrm>
            <a:off x="4846038" y="4469940"/>
            <a:ext cx="356579" cy="311357"/>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8" name="Rectangle 57">
            <a:extLst>
              <a:ext uri="{FF2B5EF4-FFF2-40B4-BE49-F238E27FC236}">
                <a16:creationId xmlns:a16="http://schemas.microsoft.com/office/drawing/2014/main" id="{C3BBE0F0-83BE-8742-A09F-2801F13A14D1}"/>
              </a:ext>
            </a:extLst>
          </p:cNvPr>
          <p:cNvSpPr/>
          <p:nvPr/>
        </p:nvSpPr>
        <p:spPr>
          <a:xfrm>
            <a:off x="4846038" y="4781297"/>
            <a:ext cx="356579" cy="311357"/>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2" name="Rectangle 81">
            <a:extLst>
              <a:ext uri="{FF2B5EF4-FFF2-40B4-BE49-F238E27FC236}">
                <a16:creationId xmlns:a16="http://schemas.microsoft.com/office/drawing/2014/main" id="{BB59D931-61B4-9E41-91A7-B9EE2DC5FF51}"/>
              </a:ext>
            </a:extLst>
          </p:cNvPr>
          <p:cNvSpPr/>
          <p:nvPr/>
        </p:nvSpPr>
        <p:spPr>
          <a:xfrm>
            <a:off x="3337073" y="5052156"/>
            <a:ext cx="587732" cy="16283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A2448D7F-196C-BB4C-B1C0-2199D5A8E168}"/>
              </a:ext>
            </a:extLst>
          </p:cNvPr>
          <p:cNvSpPr txBox="1"/>
          <p:nvPr/>
        </p:nvSpPr>
        <p:spPr>
          <a:xfrm>
            <a:off x="8481765" y="5093052"/>
            <a:ext cx="536478" cy="462097"/>
          </a:xfrm>
          <a:prstGeom prst="rect">
            <a:avLst/>
          </a:prstGeom>
          <a:noFill/>
        </p:spPr>
        <p:txBody>
          <a:bodyPr wrap="none" rtlCol="0">
            <a:spAutoFit/>
          </a:bodyPr>
          <a:lstStyle/>
          <a:p>
            <a:r>
              <a:rPr lang="en-US" sz="2400" dirty="0"/>
              <a:t>16</a:t>
            </a:r>
          </a:p>
        </p:txBody>
      </p:sp>
      <p:sp>
        <p:nvSpPr>
          <p:cNvPr id="84" name="TextBox 83">
            <a:extLst>
              <a:ext uri="{FF2B5EF4-FFF2-40B4-BE49-F238E27FC236}">
                <a16:creationId xmlns:a16="http://schemas.microsoft.com/office/drawing/2014/main" id="{0C29363C-B1E7-D445-94C9-08875265CFBD}"/>
              </a:ext>
            </a:extLst>
          </p:cNvPr>
          <p:cNvSpPr txBox="1"/>
          <p:nvPr/>
        </p:nvSpPr>
        <p:spPr>
          <a:xfrm>
            <a:off x="8877465" y="5093052"/>
            <a:ext cx="627556" cy="462097"/>
          </a:xfrm>
          <a:prstGeom prst="rect">
            <a:avLst/>
          </a:prstGeom>
          <a:noFill/>
        </p:spPr>
        <p:txBody>
          <a:bodyPr wrap="none" rtlCol="0">
            <a:spAutoFit/>
          </a:bodyPr>
          <a:lstStyle/>
          <a:p>
            <a:r>
              <a:rPr lang="en-US" sz="2400" dirty="0"/>
              <a:t>,13</a:t>
            </a:r>
          </a:p>
        </p:txBody>
      </p:sp>
      <p:sp>
        <p:nvSpPr>
          <p:cNvPr id="85" name="TextBox 84">
            <a:extLst>
              <a:ext uri="{FF2B5EF4-FFF2-40B4-BE49-F238E27FC236}">
                <a16:creationId xmlns:a16="http://schemas.microsoft.com/office/drawing/2014/main" id="{44E69B70-FE82-E148-891E-B3A3BEDA35F9}"/>
              </a:ext>
            </a:extLst>
          </p:cNvPr>
          <p:cNvSpPr txBox="1"/>
          <p:nvPr/>
        </p:nvSpPr>
        <p:spPr>
          <a:xfrm>
            <a:off x="9354644" y="5100663"/>
            <a:ext cx="627556" cy="462097"/>
          </a:xfrm>
          <a:prstGeom prst="rect">
            <a:avLst/>
          </a:prstGeom>
          <a:noFill/>
        </p:spPr>
        <p:txBody>
          <a:bodyPr wrap="none" rtlCol="0">
            <a:spAutoFit/>
          </a:bodyPr>
          <a:lstStyle/>
          <a:p>
            <a:r>
              <a:rPr lang="en-US" sz="2400" dirty="0"/>
              <a:t>,15</a:t>
            </a:r>
          </a:p>
        </p:txBody>
      </p:sp>
      <p:cxnSp>
        <p:nvCxnSpPr>
          <p:cNvPr id="86" name="Straight Connector 85">
            <a:extLst>
              <a:ext uri="{FF2B5EF4-FFF2-40B4-BE49-F238E27FC236}">
                <a16:creationId xmlns:a16="http://schemas.microsoft.com/office/drawing/2014/main" id="{72B1270C-8BCF-624B-AB97-1AAA5356E2BF}"/>
              </a:ext>
            </a:extLst>
          </p:cNvPr>
          <p:cNvCxnSpPr/>
          <p:nvPr/>
        </p:nvCxnSpPr>
        <p:spPr>
          <a:xfrm flipV="1">
            <a:off x="3372200" y="4153577"/>
            <a:ext cx="533484" cy="31135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06DF862-DBE7-3D4D-A0AF-F6BBACE172BB}"/>
              </a:ext>
            </a:extLst>
          </p:cNvPr>
          <p:cNvCxnSpPr>
            <a:cxnSpLocks/>
          </p:cNvCxnSpPr>
          <p:nvPr/>
        </p:nvCxnSpPr>
        <p:spPr>
          <a:xfrm>
            <a:off x="3401200" y="4156355"/>
            <a:ext cx="475485" cy="3058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19CA05F-A079-D543-B485-ADA92D9F99F7}"/>
              </a:ext>
            </a:extLst>
          </p:cNvPr>
          <p:cNvCxnSpPr/>
          <p:nvPr/>
        </p:nvCxnSpPr>
        <p:spPr>
          <a:xfrm flipV="1">
            <a:off x="4765877" y="4775564"/>
            <a:ext cx="533484" cy="31135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D54A0A0-A3AE-B947-8A1E-4BC5B932F4AE}"/>
              </a:ext>
            </a:extLst>
          </p:cNvPr>
          <p:cNvCxnSpPr>
            <a:cxnSpLocks/>
          </p:cNvCxnSpPr>
          <p:nvPr/>
        </p:nvCxnSpPr>
        <p:spPr>
          <a:xfrm>
            <a:off x="4794877" y="4778342"/>
            <a:ext cx="475485" cy="3058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64E0568C-59A5-D840-93E3-A3C2F2CA8E2E}"/>
              </a:ext>
            </a:extLst>
          </p:cNvPr>
          <p:cNvSpPr txBox="1"/>
          <p:nvPr/>
        </p:nvSpPr>
        <p:spPr>
          <a:xfrm>
            <a:off x="1777150" y="5667790"/>
            <a:ext cx="1448726" cy="353369"/>
          </a:xfrm>
          <a:prstGeom prst="rect">
            <a:avLst/>
          </a:prstGeom>
          <a:noFill/>
        </p:spPr>
        <p:txBody>
          <a:bodyPr wrap="none" rtlCol="0">
            <a:spAutoFit/>
          </a:bodyPr>
          <a:lstStyle/>
          <a:p>
            <a:r>
              <a:rPr lang="en-US" sz="2000" dirty="0">
                <a:solidFill>
                  <a:srgbClr val="FF0000"/>
                </a:solidFill>
              </a:rPr>
              <a:t>Overlapped!</a:t>
            </a:r>
          </a:p>
        </p:txBody>
      </p:sp>
      <p:sp>
        <p:nvSpPr>
          <p:cNvPr id="94" name="Rectangle 93">
            <a:extLst>
              <a:ext uri="{FF2B5EF4-FFF2-40B4-BE49-F238E27FC236}">
                <a16:creationId xmlns:a16="http://schemas.microsoft.com/office/drawing/2014/main" id="{9E218F7B-C7C9-FC4E-870B-3E5E63204459}"/>
              </a:ext>
            </a:extLst>
          </p:cNvPr>
          <p:cNvSpPr/>
          <p:nvPr/>
        </p:nvSpPr>
        <p:spPr>
          <a:xfrm>
            <a:off x="4846038" y="5092654"/>
            <a:ext cx="356579" cy="31135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10</a:t>
            </a:r>
          </a:p>
        </p:txBody>
      </p:sp>
      <p:sp>
        <p:nvSpPr>
          <p:cNvPr id="100" name="Rectangle 99">
            <a:extLst>
              <a:ext uri="{FF2B5EF4-FFF2-40B4-BE49-F238E27FC236}">
                <a16:creationId xmlns:a16="http://schemas.microsoft.com/office/drawing/2014/main" id="{7505956A-64A1-F24D-AAF0-092DB7AB7D55}"/>
              </a:ext>
            </a:extLst>
          </p:cNvPr>
          <p:cNvSpPr/>
          <p:nvPr/>
        </p:nvSpPr>
        <p:spPr>
          <a:xfrm>
            <a:off x="4168613" y="4150146"/>
            <a:ext cx="356579" cy="311357"/>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1" name="Rectangle 100">
            <a:extLst>
              <a:ext uri="{FF2B5EF4-FFF2-40B4-BE49-F238E27FC236}">
                <a16:creationId xmlns:a16="http://schemas.microsoft.com/office/drawing/2014/main" id="{BA4D476B-278E-9149-A9DE-F035C0D0EF10}"/>
              </a:ext>
            </a:extLst>
          </p:cNvPr>
          <p:cNvSpPr/>
          <p:nvPr/>
        </p:nvSpPr>
        <p:spPr>
          <a:xfrm>
            <a:off x="4168613" y="4461503"/>
            <a:ext cx="356579" cy="311357"/>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Rectangle 101">
            <a:extLst>
              <a:ext uri="{FF2B5EF4-FFF2-40B4-BE49-F238E27FC236}">
                <a16:creationId xmlns:a16="http://schemas.microsoft.com/office/drawing/2014/main" id="{8014BFF4-D50B-834C-AA60-A6973257BEF7}"/>
              </a:ext>
            </a:extLst>
          </p:cNvPr>
          <p:cNvSpPr/>
          <p:nvPr/>
        </p:nvSpPr>
        <p:spPr>
          <a:xfrm>
            <a:off x="4168613" y="4772860"/>
            <a:ext cx="356579" cy="311357"/>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3" name="Rectangle 102">
            <a:extLst>
              <a:ext uri="{FF2B5EF4-FFF2-40B4-BE49-F238E27FC236}">
                <a16:creationId xmlns:a16="http://schemas.microsoft.com/office/drawing/2014/main" id="{E67B4B7D-F1A8-BC40-9E01-AE0EBDB88958}"/>
              </a:ext>
            </a:extLst>
          </p:cNvPr>
          <p:cNvSpPr/>
          <p:nvPr/>
        </p:nvSpPr>
        <p:spPr>
          <a:xfrm>
            <a:off x="4168613" y="5084217"/>
            <a:ext cx="356579" cy="31135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10</a:t>
            </a:r>
          </a:p>
        </p:txBody>
      </p:sp>
      <p:cxnSp>
        <p:nvCxnSpPr>
          <p:cNvPr id="104" name="Straight Connector 103">
            <a:extLst>
              <a:ext uri="{FF2B5EF4-FFF2-40B4-BE49-F238E27FC236}">
                <a16:creationId xmlns:a16="http://schemas.microsoft.com/office/drawing/2014/main" id="{9814341F-91B3-CB40-BB04-AD2B37F33B74}"/>
              </a:ext>
            </a:extLst>
          </p:cNvPr>
          <p:cNvCxnSpPr/>
          <p:nvPr/>
        </p:nvCxnSpPr>
        <p:spPr>
          <a:xfrm flipV="1">
            <a:off x="4083185" y="4461453"/>
            <a:ext cx="533484" cy="31135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82314192-9DDD-044D-8C2F-FEA062655D1B}"/>
              </a:ext>
            </a:extLst>
          </p:cNvPr>
          <p:cNvCxnSpPr>
            <a:cxnSpLocks/>
          </p:cNvCxnSpPr>
          <p:nvPr/>
        </p:nvCxnSpPr>
        <p:spPr>
          <a:xfrm>
            <a:off x="4112185" y="4464231"/>
            <a:ext cx="475485" cy="3058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38B75C17-14B2-7443-A545-AAADBB7C9C48}"/>
              </a:ext>
            </a:extLst>
          </p:cNvPr>
          <p:cNvSpPr/>
          <p:nvPr/>
        </p:nvSpPr>
        <p:spPr>
          <a:xfrm>
            <a:off x="3456995" y="5092640"/>
            <a:ext cx="356579" cy="311357"/>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10</a:t>
            </a:r>
          </a:p>
        </p:txBody>
      </p:sp>
      <p:sp>
        <p:nvSpPr>
          <p:cNvPr id="3" name="Rectangle 2">
            <a:extLst>
              <a:ext uri="{FF2B5EF4-FFF2-40B4-BE49-F238E27FC236}">
                <a16:creationId xmlns:a16="http://schemas.microsoft.com/office/drawing/2014/main" id="{F91926B6-2785-5B4E-AF92-2328991DFD41}"/>
              </a:ext>
            </a:extLst>
          </p:cNvPr>
          <p:cNvSpPr/>
          <p:nvPr/>
        </p:nvSpPr>
        <p:spPr>
          <a:xfrm>
            <a:off x="3225876" y="5052156"/>
            <a:ext cx="2215694" cy="343418"/>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AF6B50B-2ECE-9B40-AB1D-1823BC585F3A}"/>
              </a:ext>
            </a:extLst>
          </p:cNvPr>
          <p:cNvSpPr txBox="1"/>
          <p:nvPr/>
        </p:nvSpPr>
        <p:spPr>
          <a:xfrm>
            <a:off x="2026864" y="4994668"/>
            <a:ext cx="1069524" cy="400110"/>
          </a:xfrm>
          <a:prstGeom prst="rect">
            <a:avLst/>
          </a:prstGeom>
          <a:noFill/>
        </p:spPr>
        <p:txBody>
          <a:bodyPr wrap="none" rtlCol="0">
            <a:spAutoFit/>
          </a:bodyPr>
          <a:lstStyle/>
          <a:p>
            <a:r>
              <a:rPr lang="en-US" sz="2000" dirty="0">
                <a:solidFill>
                  <a:srgbClr val="00B04F"/>
                </a:solidFill>
              </a:rPr>
              <a:t>Reused</a:t>
            </a:r>
          </a:p>
        </p:txBody>
      </p:sp>
    </p:spTree>
    <p:extLst>
      <p:ext uri="{BB962C8B-B14F-4D97-AF65-F5344CB8AC3E}">
        <p14:creationId xmlns:p14="http://schemas.microsoft.com/office/powerpoint/2010/main" val="2085295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500"/>
                                        <p:tgtEl>
                                          <p:spTgt spid="9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2"/>
                                        </p:tgtEl>
                                        <p:attrNameLst>
                                          <p:attrName>style.visibility</p:attrName>
                                        </p:attrNameLst>
                                      </p:cBhvr>
                                      <p:to>
                                        <p:strVal val="visible"/>
                                      </p:to>
                                    </p:set>
                                    <p:animEffect transition="in" filter="fade">
                                      <p:cBhvr>
                                        <p:cTn id="10" dur="500"/>
                                        <p:tgtEl>
                                          <p:spTgt spid="8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0"/>
                                  </p:stCondLst>
                                  <p:childTnLst>
                                    <p:animEffect transition="out" filter="fade">
                                      <p:cBhvr>
                                        <p:cTn id="14" dur="500"/>
                                        <p:tgtEl>
                                          <p:spTgt spid="43"/>
                                        </p:tgtEl>
                                      </p:cBhvr>
                                    </p:animEffect>
                                    <p:set>
                                      <p:cBhvr>
                                        <p:cTn id="15" dur="1" fill="hold">
                                          <p:stCondLst>
                                            <p:cond delay="499"/>
                                          </p:stCondLst>
                                        </p:cTn>
                                        <p:tgtEl>
                                          <p:spTgt spid="43"/>
                                        </p:tgtEl>
                                        <p:attrNameLst>
                                          <p:attrName>style.visibility</p:attrName>
                                        </p:attrNameLst>
                                      </p:cBhvr>
                                      <p:to>
                                        <p:strVal val="hidden"/>
                                      </p:to>
                                    </p:set>
                                  </p:childTnLst>
                                </p:cTn>
                              </p:par>
                              <p:par>
                                <p:cTn id="16" presetID="10" presetClass="exit" presetSubtype="0" fill="hold" grpId="0" nodeType="withEffect">
                                  <p:stCondLst>
                                    <p:cond delay="0"/>
                                  </p:stCondLst>
                                  <p:childTnLst>
                                    <p:animEffect transition="out" filter="fade">
                                      <p:cBhvr>
                                        <p:cTn id="17" dur="500"/>
                                        <p:tgtEl>
                                          <p:spTgt spid="41"/>
                                        </p:tgtEl>
                                      </p:cBhvr>
                                    </p:animEffect>
                                    <p:set>
                                      <p:cBhvr>
                                        <p:cTn id="18" dur="1" fill="hold">
                                          <p:stCondLst>
                                            <p:cond delay="499"/>
                                          </p:stCondLst>
                                        </p:cTn>
                                        <p:tgtEl>
                                          <p:spTgt spid="41"/>
                                        </p:tgtEl>
                                        <p:attrNameLst>
                                          <p:attrName>style.visibility</p:attrName>
                                        </p:attrNameLst>
                                      </p:cBhvr>
                                      <p:to>
                                        <p:strVal val="hidden"/>
                                      </p:to>
                                    </p:set>
                                  </p:childTnLst>
                                </p:cTn>
                              </p:par>
                              <p:par>
                                <p:cTn id="19" presetID="10" presetClass="exit" presetSubtype="0" fill="hold" grpId="0" nodeType="withEffect">
                                  <p:stCondLst>
                                    <p:cond delay="0"/>
                                  </p:stCondLst>
                                  <p:childTnLst>
                                    <p:animEffect transition="out" filter="fade">
                                      <p:cBhvr>
                                        <p:cTn id="20" dur="500"/>
                                        <p:tgtEl>
                                          <p:spTgt spid="38"/>
                                        </p:tgtEl>
                                      </p:cBhvr>
                                    </p:animEffect>
                                    <p:set>
                                      <p:cBhvr>
                                        <p:cTn id="21" dur="1" fill="hold">
                                          <p:stCondLst>
                                            <p:cond delay="499"/>
                                          </p:stCondLst>
                                        </p:cTn>
                                        <p:tgtEl>
                                          <p:spTgt spid="38"/>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500"/>
                                        <p:tgtEl>
                                          <p:spTgt spid="82"/>
                                        </p:tgtEl>
                                      </p:cBhvr>
                                    </p:animEffect>
                                    <p:set>
                                      <p:cBhvr>
                                        <p:cTn id="24" dur="1" fill="hold">
                                          <p:stCondLst>
                                            <p:cond delay="499"/>
                                          </p:stCondLst>
                                        </p:cTn>
                                        <p:tgtEl>
                                          <p:spTgt spid="82"/>
                                        </p:tgtEl>
                                        <p:attrNameLst>
                                          <p:attrName>style.visibility</p:attrName>
                                        </p:attrNameLst>
                                      </p:cBhvr>
                                      <p:to>
                                        <p:strVal val="hidden"/>
                                      </p:to>
                                    </p:set>
                                  </p:childTnLst>
                                </p:cTn>
                              </p:par>
                              <p:par>
                                <p:cTn id="25" presetID="10" presetClass="exit" presetSubtype="0" fill="hold" grpId="1" nodeType="withEffect">
                                  <p:stCondLst>
                                    <p:cond delay="0"/>
                                  </p:stCondLst>
                                  <p:childTnLst>
                                    <p:animEffect transition="out" filter="fade">
                                      <p:cBhvr>
                                        <p:cTn id="26" dur="500"/>
                                        <p:tgtEl>
                                          <p:spTgt spid="92"/>
                                        </p:tgtEl>
                                      </p:cBhvr>
                                    </p:animEffect>
                                    <p:set>
                                      <p:cBhvr>
                                        <p:cTn id="27" dur="1" fill="hold">
                                          <p:stCondLst>
                                            <p:cond delay="499"/>
                                          </p:stCondLst>
                                        </p:cTn>
                                        <p:tgtEl>
                                          <p:spTgt spid="92"/>
                                        </p:tgtEl>
                                        <p:attrNameLst>
                                          <p:attrName>style.visibility</p:attrName>
                                        </p:attrNameLst>
                                      </p:cBhvr>
                                      <p:to>
                                        <p:strVal val="hidden"/>
                                      </p:to>
                                    </p:set>
                                  </p:childTnLst>
                                </p:cTn>
                              </p:par>
                              <p:par>
                                <p:cTn id="28" presetID="10" presetClass="exit" presetSubtype="0" fill="hold" grpId="0" nodeType="withEffect">
                                  <p:stCondLst>
                                    <p:cond delay="0"/>
                                  </p:stCondLst>
                                  <p:childTnLst>
                                    <p:animEffect transition="out" filter="fade">
                                      <p:cBhvr>
                                        <p:cTn id="29" dur="500"/>
                                        <p:tgtEl>
                                          <p:spTgt spid="39"/>
                                        </p:tgtEl>
                                      </p:cBhvr>
                                    </p:animEffect>
                                    <p:set>
                                      <p:cBhvr>
                                        <p:cTn id="30" dur="1" fill="hold">
                                          <p:stCondLst>
                                            <p:cond delay="499"/>
                                          </p:stCondLst>
                                        </p:cTn>
                                        <p:tgtEl>
                                          <p:spTgt spid="39"/>
                                        </p:tgtEl>
                                        <p:attrNameLst>
                                          <p:attrName>style.visibility</p:attrName>
                                        </p:attrNameLst>
                                      </p:cBhvr>
                                      <p:to>
                                        <p:strVal val="hidden"/>
                                      </p:to>
                                    </p:set>
                                  </p:childTnLst>
                                </p:cTn>
                              </p:par>
                              <p:par>
                                <p:cTn id="31" presetID="10" presetClass="exit" presetSubtype="0" fill="hold" grpId="0" nodeType="withEffect">
                                  <p:stCondLst>
                                    <p:cond delay="0"/>
                                  </p:stCondLst>
                                  <p:childTnLst>
                                    <p:animEffect transition="out" filter="fade">
                                      <p:cBhvr>
                                        <p:cTn id="32" dur="500"/>
                                        <p:tgtEl>
                                          <p:spTgt spid="40"/>
                                        </p:tgtEl>
                                      </p:cBhvr>
                                    </p:animEffect>
                                    <p:set>
                                      <p:cBhvr>
                                        <p:cTn id="33" dur="1" fill="hold">
                                          <p:stCondLst>
                                            <p:cond delay="499"/>
                                          </p:stCondLst>
                                        </p:cTn>
                                        <p:tgtEl>
                                          <p:spTgt spid="40"/>
                                        </p:tgtEl>
                                        <p:attrNameLst>
                                          <p:attrName>style.visibility</p:attrName>
                                        </p:attrNameLst>
                                      </p:cBhvr>
                                      <p:to>
                                        <p:strVal val="hidden"/>
                                      </p:to>
                                    </p:se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106"/>
                                        </p:tgtEl>
                                        <p:attrNameLst>
                                          <p:attrName>style.visibility</p:attrName>
                                        </p:attrNameLst>
                                      </p:cBhvr>
                                      <p:to>
                                        <p:strVal val="visible"/>
                                      </p:to>
                                    </p:set>
                                    <p:animEffect transition="in" filter="fade">
                                      <p:cBhvr>
                                        <p:cTn id="37" dur="500"/>
                                        <p:tgtEl>
                                          <p:spTgt spid="10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7"/>
                                        </p:tgtEl>
                                        <p:attrNameLst>
                                          <p:attrName>style.visibility</p:attrName>
                                        </p:attrNameLst>
                                      </p:cBhvr>
                                      <p:to>
                                        <p:strVal val="visible"/>
                                      </p:to>
                                    </p:set>
                                    <p:animEffect transition="in" filter="fade">
                                      <p:cBhvr>
                                        <p:cTn id="42" dur="500"/>
                                        <p:tgtEl>
                                          <p:spTgt spid="87"/>
                                        </p:tgtEl>
                                      </p:cBhvr>
                                    </p:animEffect>
                                  </p:childTnLst>
                                </p:cTn>
                              </p:par>
                              <p:par>
                                <p:cTn id="43" presetID="10" presetClass="entr" presetSubtype="0" fill="hold" nodeType="withEffect">
                                  <p:stCondLst>
                                    <p:cond delay="0"/>
                                  </p:stCondLst>
                                  <p:childTnLst>
                                    <p:set>
                                      <p:cBhvr>
                                        <p:cTn id="44" dur="1" fill="hold">
                                          <p:stCondLst>
                                            <p:cond delay="0"/>
                                          </p:stCondLst>
                                        </p:cTn>
                                        <p:tgtEl>
                                          <p:spTgt spid="86"/>
                                        </p:tgtEl>
                                        <p:attrNameLst>
                                          <p:attrName>style.visibility</p:attrName>
                                        </p:attrNameLst>
                                      </p:cBhvr>
                                      <p:to>
                                        <p:strVal val="visible"/>
                                      </p:to>
                                    </p:set>
                                    <p:animEffect transition="in" filter="fade">
                                      <p:cBhvr>
                                        <p:cTn id="45" dur="500"/>
                                        <p:tgtEl>
                                          <p:spTgt spid="86"/>
                                        </p:tgtEl>
                                      </p:cBhvr>
                                    </p:animEffect>
                                  </p:childTnLst>
                                </p:cTn>
                              </p:par>
                            </p:childTnLst>
                          </p:cTn>
                        </p:par>
                        <p:par>
                          <p:cTn id="46" fill="hold">
                            <p:stCondLst>
                              <p:cond delay="500"/>
                            </p:stCondLst>
                            <p:childTnLst>
                              <p:par>
                                <p:cTn id="47" presetID="10" presetClass="entr" presetSubtype="0" fill="hold" grpId="0" nodeType="afterEffect">
                                  <p:stCondLst>
                                    <p:cond delay="0"/>
                                  </p:stCondLst>
                                  <p:childTnLst>
                                    <p:set>
                                      <p:cBhvr>
                                        <p:cTn id="48" dur="1" fill="hold">
                                          <p:stCondLst>
                                            <p:cond delay="0"/>
                                          </p:stCondLst>
                                        </p:cTn>
                                        <p:tgtEl>
                                          <p:spTgt spid="83"/>
                                        </p:tgtEl>
                                        <p:attrNameLst>
                                          <p:attrName>style.visibility</p:attrName>
                                        </p:attrNameLst>
                                      </p:cBhvr>
                                      <p:to>
                                        <p:strVal val="visible"/>
                                      </p:to>
                                    </p:set>
                                    <p:animEffect transition="in" filter="fade">
                                      <p:cBhvr>
                                        <p:cTn id="49" dur="500"/>
                                        <p:tgtEl>
                                          <p:spTgt spid="83"/>
                                        </p:tgtEl>
                                      </p:cBhvr>
                                    </p:animEffect>
                                  </p:childTnLst>
                                </p:cTn>
                              </p:par>
                            </p:childTnLst>
                          </p:cTn>
                        </p:par>
                        <p:par>
                          <p:cTn id="50" fill="hold">
                            <p:stCondLst>
                              <p:cond delay="1000"/>
                            </p:stCondLst>
                            <p:childTnLst>
                              <p:par>
                                <p:cTn id="51" presetID="10" presetClass="entr" presetSubtype="0" fill="hold" grpId="0" nodeType="afterEffect">
                                  <p:stCondLst>
                                    <p:cond delay="0"/>
                                  </p:stCondLst>
                                  <p:childTnLst>
                                    <p:set>
                                      <p:cBhvr>
                                        <p:cTn id="52" dur="1" fill="hold">
                                          <p:stCondLst>
                                            <p:cond delay="0"/>
                                          </p:stCondLst>
                                        </p:cTn>
                                        <p:tgtEl>
                                          <p:spTgt spid="100"/>
                                        </p:tgtEl>
                                        <p:attrNameLst>
                                          <p:attrName>style.visibility</p:attrName>
                                        </p:attrNameLst>
                                      </p:cBhvr>
                                      <p:to>
                                        <p:strVal val="visible"/>
                                      </p:to>
                                    </p:set>
                                    <p:animEffect transition="in" filter="fade">
                                      <p:cBhvr>
                                        <p:cTn id="53" dur="500"/>
                                        <p:tgtEl>
                                          <p:spTgt spid="10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01"/>
                                        </p:tgtEl>
                                        <p:attrNameLst>
                                          <p:attrName>style.visibility</p:attrName>
                                        </p:attrNameLst>
                                      </p:cBhvr>
                                      <p:to>
                                        <p:strVal val="visible"/>
                                      </p:to>
                                    </p:set>
                                    <p:animEffect transition="in" filter="fade">
                                      <p:cBhvr>
                                        <p:cTn id="56" dur="500"/>
                                        <p:tgtEl>
                                          <p:spTgt spid="10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02"/>
                                        </p:tgtEl>
                                        <p:attrNameLst>
                                          <p:attrName>style.visibility</p:attrName>
                                        </p:attrNameLst>
                                      </p:cBhvr>
                                      <p:to>
                                        <p:strVal val="visible"/>
                                      </p:to>
                                    </p:set>
                                    <p:animEffect transition="in" filter="fade">
                                      <p:cBhvr>
                                        <p:cTn id="59" dur="500"/>
                                        <p:tgtEl>
                                          <p:spTgt spid="10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03"/>
                                        </p:tgtEl>
                                        <p:attrNameLst>
                                          <p:attrName>style.visibility</p:attrName>
                                        </p:attrNameLst>
                                      </p:cBhvr>
                                      <p:to>
                                        <p:strVal val="visible"/>
                                      </p:to>
                                    </p:set>
                                    <p:animEffect transition="in" filter="fade">
                                      <p:cBhvr>
                                        <p:cTn id="62" dur="500"/>
                                        <p:tgtEl>
                                          <p:spTgt spid="103"/>
                                        </p:tgtEl>
                                      </p:cBhvr>
                                    </p:animEffect>
                                  </p:childTnLst>
                                </p:cTn>
                              </p:par>
                              <p:par>
                                <p:cTn id="63" presetID="10" presetClass="entr" presetSubtype="0" fill="hold" nodeType="withEffect">
                                  <p:stCondLst>
                                    <p:cond delay="0"/>
                                  </p:stCondLst>
                                  <p:childTnLst>
                                    <p:set>
                                      <p:cBhvr>
                                        <p:cTn id="64" dur="1" fill="hold">
                                          <p:stCondLst>
                                            <p:cond delay="0"/>
                                          </p:stCondLst>
                                        </p:cTn>
                                        <p:tgtEl>
                                          <p:spTgt spid="104"/>
                                        </p:tgtEl>
                                        <p:attrNameLst>
                                          <p:attrName>style.visibility</p:attrName>
                                        </p:attrNameLst>
                                      </p:cBhvr>
                                      <p:to>
                                        <p:strVal val="visible"/>
                                      </p:to>
                                    </p:set>
                                    <p:animEffect transition="in" filter="fade">
                                      <p:cBhvr>
                                        <p:cTn id="65" dur="500"/>
                                        <p:tgtEl>
                                          <p:spTgt spid="104"/>
                                        </p:tgtEl>
                                      </p:cBhvr>
                                    </p:animEffect>
                                  </p:childTnLst>
                                </p:cTn>
                              </p:par>
                              <p:par>
                                <p:cTn id="66" presetID="10" presetClass="entr" presetSubtype="0" fill="hold" nodeType="withEffect">
                                  <p:stCondLst>
                                    <p:cond delay="0"/>
                                  </p:stCondLst>
                                  <p:childTnLst>
                                    <p:set>
                                      <p:cBhvr>
                                        <p:cTn id="67" dur="1" fill="hold">
                                          <p:stCondLst>
                                            <p:cond delay="0"/>
                                          </p:stCondLst>
                                        </p:cTn>
                                        <p:tgtEl>
                                          <p:spTgt spid="105"/>
                                        </p:tgtEl>
                                        <p:attrNameLst>
                                          <p:attrName>style.visibility</p:attrName>
                                        </p:attrNameLst>
                                      </p:cBhvr>
                                      <p:to>
                                        <p:strVal val="visible"/>
                                      </p:to>
                                    </p:set>
                                    <p:animEffect transition="in" filter="fade">
                                      <p:cBhvr>
                                        <p:cTn id="68" dur="500"/>
                                        <p:tgtEl>
                                          <p:spTgt spid="10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500"/>
                                        <p:tgtEl>
                                          <p:spTgt spid="42"/>
                                        </p:tgtEl>
                                      </p:cBhvr>
                                    </p:animEffect>
                                  </p:childTnLst>
                                </p:cTn>
                              </p:par>
                            </p:childTnLst>
                          </p:cTn>
                        </p:par>
                        <p:par>
                          <p:cTn id="72" fill="hold">
                            <p:stCondLst>
                              <p:cond delay="1500"/>
                            </p:stCondLst>
                            <p:childTnLst>
                              <p:par>
                                <p:cTn id="73" presetID="10" presetClass="entr" presetSubtype="0" fill="hold" grpId="0" nodeType="afterEffect">
                                  <p:stCondLst>
                                    <p:cond delay="0"/>
                                  </p:stCondLst>
                                  <p:childTnLst>
                                    <p:set>
                                      <p:cBhvr>
                                        <p:cTn id="74" dur="1" fill="hold">
                                          <p:stCondLst>
                                            <p:cond delay="0"/>
                                          </p:stCondLst>
                                        </p:cTn>
                                        <p:tgtEl>
                                          <p:spTgt spid="84"/>
                                        </p:tgtEl>
                                        <p:attrNameLst>
                                          <p:attrName>style.visibility</p:attrName>
                                        </p:attrNameLst>
                                      </p:cBhvr>
                                      <p:to>
                                        <p:strVal val="visible"/>
                                      </p:to>
                                    </p:set>
                                    <p:animEffect transition="in" filter="fade">
                                      <p:cBhvr>
                                        <p:cTn id="75" dur="500"/>
                                        <p:tgtEl>
                                          <p:spTgt spid="84"/>
                                        </p:tgtEl>
                                      </p:cBhvr>
                                    </p:animEffect>
                                  </p:childTnLst>
                                </p:cTn>
                              </p:par>
                            </p:childTnLst>
                          </p:cTn>
                        </p:par>
                        <p:par>
                          <p:cTn id="76" fill="hold">
                            <p:stCondLst>
                              <p:cond delay="2000"/>
                            </p:stCondLst>
                            <p:childTnLst>
                              <p:par>
                                <p:cTn id="77" presetID="10" presetClass="entr" presetSubtype="0" fill="hold" grpId="0" nodeType="afterEffect">
                                  <p:stCondLst>
                                    <p:cond delay="0"/>
                                  </p:stCondLst>
                                  <p:childTnLst>
                                    <p:set>
                                      <p:cBhvr>
                                        <p:cTn id="78" dur="1" fill="hold">
                                          <p:stCondLst>
                                            <p:cond delay="0"/>
                                          </p:stCondLst>
                                        </p:cTn>
                                        <p:tgtEl>
                                          <p:spTgt spid="56"/>
                                        </p:tgtEl>
                                        <p:attrNameLst>
                                          <p:attrName>style.visibility</p:attrName>
                                        </p:attrNameLst>
                                      </p:cBhvr>
                                      <p:to>
                                        <p:strVal val="visible"/>
                                      </p:to>
                                    </p:set>
                                    <p:animEffect transition="in" filter="fade">
                                      <p:cBhvr>
                                        <p:cTn id="79" dur="500"/>
                                        <p:tgtEl>
                                          <p:spTgt spid="5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7"/>
                                        </p:tgtEl>
                                        <p:attrNameLst>
                                          <p:attrName>style.visibility</p:attrName>
                                        </p:attrNameLst>
                                      </p:cBhvr>
                                      <p:to>
                                        <p:strVal val="visible"/>
                                      </p:to>
                                    </p:set>
                                    <p:animEffect transition="in" filter="fade">
                                      <p:cBhvr>
                                        <p:cTn id="82" dur="500"/>
                                        <p:tgtEl>
                                          <p:spTgt spid="5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8"/>
                                        </p:tgtEl>
                                        <p:attrNameLst>
                                          <p:attrName>style.visibility</p:attrName>
                                        </p:attrNameLst>
                                      </p:cBhvr>
                                      <p:to>
                                        <p:strVal val="visible"/>
                                      </p:to>
                                    </p:set>
                                    <p:animEffect transition="in" filter="fade">
                                      <p:cBhvr>
                                        <p:cTn id="85" dur="500"/>
                                        <p:tgtEl>
                                          <p:spTgt spid="58"/>
                                        </p:tgtEl>
                                      </p:cBhvr>
                                    </p:animEffect>
                                  </p:childTnLst>
                                </p:cTn>
                              </p:par>
                              <p:par>
                                <p:cTn id="86" presetID="10" presetClass="entr" presetSubtype="0" fill="hold" nodeType="withEffect">
                                  <p:stCondLst>
                                    <p:cond delay="0"/>
                                  </p:stCondLst>
                                  <p:childTnLst>
                                    <p:set>
                                      <p:cBhvr>
                                        <p:cTn id="87" dur="1" fill="hold">
                                          <p:stCondLst>
                                            <p:cond delay="0"/>
                                          </p:stCondLst>
                                        </p:cTn>
                                        <p:tgtEl>
                                          <p:spTgt spid="90"/>
                                        </p:tgtEl>
                                        <p:attrNameLst>
                                          <p:attrName>style.visibility</p:attrName>
                                        </p:attrNameLst>
                                      </p:cBhvr>
                                      <p:to>
                                        <p:strVal val="visible"/>
                                      </p:to>
                                    </p:set>
                                    <p:animEffect transition="in" filter="fade">
                                      <p:cBhvr>
                                        <p:cTn id="88" dur="500"/>
                                        <p:tgtEl>
                                          <p:spTgt spid="90"/>
                                        </p:tgtEl>
                                      </p:cBhvr>
                                    </p:animEffect>
                                  </p:childTnLst>
                                </p:cTn>
                              </p:par>
                              <p:par>
                                <p:cTn id="89" presetID="10" presetClass="entr" presetSubtype="0" fill="hold" nodeType="withEffect">
                                  <p:stCondLst>
                                    <p:cond delay="0"/>
                                  </p:stCondLst>
                                  <p:childTnLst>
                                    <p:set>
                                      <p:cBhvr>
                                        <p:cTn id="90" dur="1" fill="hold">
                                          <p:stCondLst>
                                            <p:cond delay="0"/>
                                          </p:stCondLst>
                                        </p:cTn>
                                        <p:tgtEl>
                                          <p:spTgt spid="91"/>
                                        </p:tgtEl>
                                        <p:attrNameLst>
                                          <p:attrName>style.visibility</p:attrName>
                                        </p:attrNameLst>
                                      </p:cBhvr>
                                      <p:to>
                                        <p:strVal val="visible"/>
                                      </p:to>
                                    </p:set>
                                    <p:animEffect transition="in" filter="fade">
                                      <p:cBhvr>
                                        <p:cTn id="91" dur="500"/>
                                        <p:tgtEl>
                                          <p:spTgt spid="9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94"/>
                                        </p:tgtEl>
                                        <p:attrNameLst>
                                          <p:attrName>style.visibility</p:attrName>
                                        </p:attrNameLst>
                                      </p:cBhvr>
                                      <p:to>
                                        <p:strVal val="visible"/>
                                      </p:to>
                                    </p:set>
                                    <p:animEffect transition="in" filter="fade">
                                      <p:cBhvr>
                                        <p:cTn id="94" dur="500"/>
                                        <p:tgtEl>
                                          <p:spTgt spid="9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4"/>
                                        </p:tgtEl>
                                        <p:attrNameLst>
                                          <p:attrName>style.visibility</p:attrName>
                                        </p:attrNameLst>
                                      </p:cBhvr>
                                      <p:to>
                                        <p:strVal val="visible"/>
                                      </p:to>
                                    </p:set>
                                    <p:animEffect transition="in" filter="fade">
                                      <p:cBhvr>
                                        <p:cTn id="97" dur="500"/>
                                        <p:tgtEl>
                                          <p:spTgt spid="54"/>
                                        </p:tgtEl>
                                      </p:cBhvr>
                                    </p:animEffect>
                                  </p:childTnLst>
                                </p:cTn>
                              </p:par>
                            </p:childTnLst>
                          </p:cTn>
                        </p:par>
                        <p:par>
                          <p:cTn id="98" fill="hold">
                            <p:stCondLst>
                              <p:cond delay="2500"/>
                            </p:stCondLst>
                            <p:childTnLst>
                              <p:par>
                                <p:cTn id="99" presetID="10" presetClass="entr" presetSubtype="0" fill="hold" grpId="0" nodeType="afterEffect">
                                  <p:stCondLst>
                                    <p:cond delay="0"/>
                                  </p:stCondLst>
                                  <p:childTnLst>
                                    <p:set>
                                      <p:cBhvr>
                                        <p:cTn id="100" dur="1" fill="hold">
                                          <p:stCondLst>
                                            <p:cond delay="0"/>
                                          </p:stCondLst>
                                        </p:cTn>
                                        <p:tgtEl>
                                          <p:spTgt spid="85"/>
                                        </p:tgtEl>
                                        <p:attrNameLst>
                                          <p:attrName>style.visibility</p:attrName>
                                        </p:attrNameLst>
                                      </p:cBhvr>
                                      <p:to>
                                        <p:strVal val="visible"/>
                                      </p:to>
                                    </p:set>
                                    <p:animEffect transition="in" filter="fade">
                                      <p:cBhvr>
                                        <p:cTn id="101" dur="500"/>
                                        <p:tgtEl>
                                          <p:spTgt spid="85"/>
                                        </p:tgtEl>
                                      </p:cBhvr>
                                    </p:animEffect>
                                  </p:childTnLst>
                                </p:cTn>
                              </p:par>
                            </p:childTnLst>
                          </p:cTn>
                        </p:par>
                        <p:par>
                          <p:cTn id="102" fill="hold">
                            <p:stCondLst>
                              <p:cond delay="3000"/>
                            </p:stCondLst>
                            <p:childTnLst>
                              <p:par>
                                <p:cTn id="103" presetID="10" presetClass="entr" presetSubtype="0" fill="hold" grpId="0" nodeType="afterEffect">
                                  <p:stCondLst>
                                    <p:cond delay="0"/>
                                  </p:stCondLst>
                                  <p:childTnLst>
                                    <p:set>
                                      <p:cBhvr>
                                        <p:cTn id="104" dur="1" fill="hold">
                                          <p:stCondLst>
                                            <p:cond delay="0"/>
                                          </p:stCondLst>
                                        </p:cTn>
                                        <p:tgtEl>
                                          <p:spTgt spid="3"/>
                                        </p:tgtEl>
                                        <p:attrNameLst>
                                          <p:attrName>style.visibility</p:attrName>
                                        </p:attrNameLst>
                                      </p:cBhvr>
                                      <p:to>
                                        <p:strVal val="visible"/>
                                      </p:to>
                                    </p:set>
                                    <p:animEffect transition="in" filter="fade">
                                      <p:cBhvr>
                                        <p:cTn id="105" dur="500"/>
                                        <p:tgtEl>
                                          <p:spTgt spid="3"/>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
                                        </p:tgtEl>
                                        <p:attrNameLst>
                                          <p:attrName>style.visibility</p:attrName>
                                        </p:attrNameLst>
                                      </p:cBhvr>
                                      <p:to>
                                        <p:strVal val="visible"/>
                                      </p:to>
                                    </p:set>
                                    <p:animEffect transition="in" filter="fade">
                                      <p:cBhvr>
                                        <p:cTn id="10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2" grpId="0"/>
      <p:bldP spid="43" grpId="0" animBg="1"/>
      <p:bldP spid="54" grpId="0"/>
      <p:bldP spid="56" grpId="0" animBg="1"/>
      <p:bldP spid="57" grpId="0" animBg="1"/>
      <p:bldP spid="58" grpId="0" animBg="1"/>
      <p:bldP spid="82" grpId="0" animBg="1"/>
      <p:bldP spid="82" grpId="1" animBg="1"/>
      <p:bldP spid="83" grpId="0"/>
      <p:bldP spid="84" grpId="0"/>
      <p:bldP spid="85" grpId="0"/>
      <p:bldP spid="92" grpId="0"/>
      <p:bldP spid="92" grpId="1"/>
      <p:bldP spid="94" grpId="0" animBg="1"/>
      <p:bldP spid="100" grpId="0" animBg="1"/>
      <p:bldP spid="101" grpId="0" animBg="1"/>
      <p:bldP spid="102" grpId="0" animBg="1"/>
      <p:bldP spid="103" grpId="0" animBg="1"/>
      <p:bldP spid="106" grpId="0" animBg="1"/>
      <p:bldP spid="3" grpId="0" animBg="1"/>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D3BB5-C7DE-2545-8904-7E93AFF50AFC}"/>
              </a:ext>
            </a:extLst>
          </p:cNvPr>
          <p:cNvSpPr>
            <a:spLocks noGrp="1"/>
          </p:cNvSpPr>
          <p:nvPr>
            <p:ph type="title"/>
          </p:nvPr>
        </p:nvSpPr>
        <p:spPr/>
        <p:txBody>
          <a:bodyPr>
            <a:normAutofit/>
          </a:bodyPr>
          <a:lstStyle/>
          <a:p>
            <a:r>
              <a:rPr lang="en-US" dirty="0"/>
              <a:t>Observation 2: majority of data records have small influence on an output value    </a:t>
            </a:r>
          </a:p>
        </p:txBody>
      </p:sp>
      <p:sp>
        <p:nvSpPr>
          <p:cNvPr id="3" name="Text Placeholder 2">
            <a:extLst>
              <a:ext uri="{FF2B5EF4-FFF2-40B4-BE49-F238E27FC236}">
                <a16:creationId xmlns:a16="http://schemas.microsoft.com/office/drawing/2014/main" id="{7A45F3FD-4A3D-8C41-98AE-37111D031A4A}"/>
              </a:ext>
            </a:extLst>
          </p:cNvPr>
          <p:cNvSpPr>
            <a:spLocks noGrp="1"/>
          </p:cNvSpPr>
          <p:nvPr>
            <p:ph type="body" idx="1"/>
          </p:nvPr>
        </p:nvSpPr>
        <p:spPr/>
        <p:txBody>
          <a:bodyPr>
            <a:normAutofit/>
          </a:bodyPr>
          <a:lstStyle/>
          <a:p>
            <a:r>
              <a:rPr lang="en-US" sz="2500" dirty="0"/>
              <a:t>Existing work [STOC’09,JPC’11,JMLR’17] shows that the influence of an individual data record on an output value usually follows normal distribution </a:t>
            </a:r>
          </a:p>
          <a:p>
            <a:r>
              <a:rPr lang="en-US" sz="2500" dirty="0"/>
              <a:t>Statistical theories [Cochran et al. (1963)] show that 1000 samples are sufficient to accurately </a:t>
            </a:r>
            <a:r>
              <a:rPr lang="en-US" sz="2500"/>
              <a:t>identify their </a:t>
            </a:r>
            <a:r>
              <a:rPr lang="en-US" sz="2500" dirty="0"/>
              <a:t>underlying normal distribution</a:t>
            </a:r>
          </a:p>
        </p:txBody>
      </p:sp>
      <p:sp>
        <p:nvSpPr>
          <p:cNvPr id="4" name="Rectangle 3">
            <a:extLst>
              <a:ext uri="{FF2B5EF4-FFF2-40B4-BE49-F238E27FC236}">
                <a16:creationId xmlns:a16="http://schemas.microsoft.com/office/drawing/2014/main" id="{37CA445E-C663-9E47-839B-047DFCA328DA}"/>
              </a:ext>
            </a:extLst>
          </p:cNvPr>
          <p:cNvSpPr/>
          <p:nvPr/>
        </p:nvSpPr>
        <p:spPr>
          <a:xfrm>
            <a:off x="2093984" y="3747074"/>
            <a:ext cx="377248" cy="331340"/>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Rectangle 5">
            <a:extLst>
              <a:ext uri="{FF2B5EF4-FFF2-40B4-BE49-F238E27FC236}">
                <a16:creationId xmlns:a16="http://schemas.microsoft.com/office/drawing/2014/main" id="{3F69C922-F877-0748-B9D4-BA268F890027}"/>
              </a:ext>
            </a:extLst>
          </p:cNvPr>
          <p:cNvSpPr/>
          <p:nvPr/>
        </p:nvSpPr>
        <p:spPr>
          <a:xfrm>
            <a:off x="2093984" y="4067404"/>
            <a:ext cx="377248" cy="331340"/>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a:extLst>
              <a:ext uri="{FF2B5EF4-FFF2-40B4-BE49-F238E27FC236}">
                <a16:creationId xmlns:a16="http://schemas.microsoft.com/office/drawing/2014/main" id="{7B47C463-F6DC-BD4B-99E4-BE56EE4A544E}"/>
              </a:ext>
            </a:extLst>
          </p:cNvPr>
          <p:cNvSpPr/>
          <p:nvPr/>
        </p:nvSpPr>
        <p:spPr>
          <a:xfrm>
            <a:off x="2093984" y="4398398"/>
            <a:ext cx="377248" cy="331340"/>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 name="Rectangle 7">
            <a:extLst>
              <a:ext uri="{FF2B5EF4-FFF2-40B4-BE49-F238E27FC236}">
                <a16:creationId xmlns:a16="http://schemas.microsoft.com/office/drawing/2014/main" id="{BE2EB420-CB7D-044B-A579-5947AF64FE12}"/>
              </a:ext>
            </a:extLst>
          </p:cNvPr>
          <p:cNvSpPr/>
          <p:nvPr/>
        </p:nvSpPr>
        <p:spPr>
          <a:xfrm>
            <a:off x="2093984" y="4727495"/>
            <a:ext cx="377248" cy="331340"/>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8A46CB86-70BD-BA43-8CE3-2B1C8E5DE1C9}"/>
              </a:ext>
            </a:extLst>
          </p:cNvPr>
          <p:cNvSpPr/>
          <p:nvPr/>
        </p:nvSpPr>
        <p:spPr>
          <a:xfrm>
            <a:off x="2093984" y="5058489"/>
            <a:ext cx="377248" cy="331340"/>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 name="Rectangle 9">
            <a:extLst>
              <a:ext uri="{FF2B5EF4-FFF2-40B4-BE49-F238E27FC236}">
                <a16:creationId xmlns:a16="http://schemas.microsoft.com/office/drawing/2014/main" id="{1E425FDB-3A18-0C40-AE7A-B30A5F2F7184}"/>
              </a:ext>
            </a:extLst>
          </p:cNvPr>
          <p:cNvSpPr/>
          <p:nvPr/>
        </p:nvSpPr>
        <p:spPr>
          <a:xfrm>
            <a:off x="2093984" y="5385062"/>
            <a:ext cx="377248" cy="331340"/>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a:extLst>
              <a:ext uri="{FF2B5EF4-FFF2-40B4-BE49-F238E27FC236}">
                <a16:creationId xmlns:a16="http://schemas.microsoft.com/office/drawing/2014/main" id="{DA90AA04-7D4B-0244-9AA7-9E82DB4F4521}"/>
              </a:ext>
            </a:extLst>
          </p:cNvPr>
          <p:cNvSpPr/>
          <p:nvPr/>
        </p:nvSpPr>
        <p:spPr>
          <a:xfrm>
            <a:off x="2093984" y="5716402"/>
            <a:ext cx="377248" cy="331340"/>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2" name="TextBox 11">
            <a:extLst>
              <a:ext uri="{FF2B5EF4-FFF2-40B4-BE49-F238E27FC236}">
                <a16:creationId xmlns:a16="http://schemas.microsoft.com/office/drawing/2014/main" id="{1226EE73-59DA-474A-B143-161F46CE8B62}"/>
              </a:ext>
            </a:extLst>
          </p:cNvPr>
          <p:cNvSpPr txBox="1"/>
          <p:nvPr/>
        </p:nvSpPr>
        <p:spPr>
          <a:xfrm>
            <a:off x="2158215" y="5934670"/>
            <a:ext cx="248786" cy="923330"/>
          </a:xfrm>
          <a:prstGeom prst="rect">
            <a:avLst/>
          </a:prstGeom>
          <a:noFill/>
        </p:spPr>
        <p:txBody>
          <a:bodyPr wrap="none" rtlCol="0">
            <a:spAutoFit/>
          </a:bodyPr>
          <a:lstStyle/>
          <a:p>
            <a:r>
              <a:rPr lang="en-US" sz="1800" b="1" dirty="0"/>
              <a:t>.</a:t>
            </a:r>
          </a:p>
          <a:p>
            <a:r>
              <a:rPr lang="en-US" sz="1800" b="1" dirty="0"/>
              <a:t>.</a:t>
            </a:r>
          </a:p>
          <a:p>
            <a:r>
              <a:rPr lang="en-US" sz="1800" b="1" dirty="0"/>
              <a:t>.</a:t>
            </a:r>
          </a:p>
        </p:txBody>
      </p:sp>
      <p:sp>
        <p:nvSpPr>
          <p:cNvPr id="13" name="Rectangle 12">
            <a:extLst>
              <a:ext uri="{FF2B5EF4-FFF2-40B4-BE49-F238E27FC236}">
                <a16:creationId xmlns:a16="http://schemas.microsoft.com/office/drawing/2014/main" id="{24A532C9-F5B6-2C41-B508-ED94B5E51B69}"/>
              </a:ext>
            </a:extLst>
          </p:cNvPr>
          <p:cNvSpPr/>
          <p:nvPr/>
        </p:nvSpPr>
        <p:spPr>
          <a:xfrm>
            <a:off x="4967617" y="4017032"/>
            <a:ext cx="377248" cy="331340"/>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4" name="Rectangle 13">
            <a:extLst>
              <a:ext uri="{FF2B5EF4-FFF2-40B4-BE49-F238E27FC236}">
                <a16:creationId xmlns:a16="http://schemas.microsoft.com/office/drawing/2014/main" id="{0CD03321-2332-444F-AE83-E76D4F7BE276}"/>
              </a:ext>
            </a:extLst>
          </p:cNvPr>
          <p:cNvSpPr/>
          <p:nvPr/>
        </p:nvSpPr>
        <p:spPr>
          <a:xfrm>
            <a:off x="4967617" y="4325411"/>
            <a:ext cx="377248" cy="331340"/>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6" name="TextBox 15">
            <a:extLst>
              <a:ext uri="{FF2B5EF4-FFF2-40B4-BE49-F238E27FC236}">
                <a16:creationId xmlns:a16="http://schemas.microsoft.com/office/drawing/2014/main" id="{2C85B021-7CBF-E84B-A457-79FF0981BE82}"/>
              </a:ext>
            </a:extLst>
          </p:cNvPr>
          <p:cNvSpPr txBox="1"/>
          <p:nvPr/>
        </p:nvSpPr>
        <p:spPr>
          <a:xfrm>
            <a:off x="5015888" y="4773004"/>
            <a:ext cx="248786" cy="923330"/>
          </a:xfrm>
          <a:prstGeom prst="rect">
            <a:avLst/>
          </a:prstGeom>
          <a:noFill/>
        </p:spPr>
        <p:txBody>
          <a:bodyPr wrap="none" rtlCol="0">
            <a:spAutoFit/>
          </a:bodyPr>
          <a:lstStyle/>
          <a:p>
            <a:r>
              <a:rPr lang="en-US" sz="1800" b="1" dirty="0"/>
              <a:t>.</a:t>
            </a:r>
          </a:p>
          <a:p>
            <a:r>
              <a:rPr lang="en-US" sz="1800" b="1" dirty="0"/>
              <a:t>.</a:t>
            </a:r>
          </a:p>
          <a:p>
            <a:r>
              <a:rPr lang="en-US" sz="1800" b="1" dirty="0"/>
              <a:t>.</a:t>
            </a:r>
          </a:p>
        </p:txBody>
      </p:sp>
      <p:sp>
        <p:nvSpPr>
          <p:cNvPr id="17" name="Rectangle 16">
            <a:extLst>
              <a:ext uri="{FF2B5EF4-FFF2-40B4-BE49-F238E27FC236}">
                <a16:creationId xmlns:a16="http://schemas.microsoft.com/office/drawing/2014/main" id="{28E7E1A0-3E5F-AF40-BFDE-9D10DAE237F2}"/>
              </a:ext>
            </a:extLst>
          </p:cNvPr>
          <p:cNvSpPr/>
          <p:nvPr/>
        </p:nvSpPr>
        <p:spPr>
          <a:xfrm>
            <a:off x="4600527" y="3780301"/>
            <a:ext cx="1082900" cy="269376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FFFF"/>
              </a:highlight>
            </a:endParaRPr>
          </a:p>
        </p:txBody>
      </p:sp>
      <p:sp>
        <p:nvSpPr>
          <p:cNvPr id="18" name="TextBox 17">
            <a:extLst>
              <a:ext uri="{FF2B5EF4-FFF2-40B4-BE49-F238E27FC236}">
                <a16:creationId xmlns:a16="http://schemas.microsoft.com/office/drawing/2014/main" id="{EA05C00F-5E7F-6547-AF3F-8A1287551B9F}"/>
              </a:ext>
            </a:extLst>
          </p:cNvPr>
          <p:cNvSpPr txBox="1"/>
          <p:nvPr/>
        </p:nvSpPr>
        <p:spPr>
          <a:xfrm>
            <a:off x="3039682" y="4576810"/>
            <a:ext cx="1407758" cy="523220"/>
          </a:xfrm>
          <a:prstGeom prst="rect">
            <a:avLst/>
          </a:prstGeom>
          <a:noFill/>
        </p:spPr>
        <p:txBody>
          <a:bodyPr wrap="none" rtlCol="0">
            <a:spAutoFit/>
          </a:bodyPr>
          <a:lstStyle/>
          <a:p>
            <a:pPr algn="ctr"/>
            <a:r>
              <a:rPr lang="en-US" b="1" dirty="0">
                <a:solidFill>
                  <a:srgbClr val="02B0F0"/>
                </a:solidFill>
              </a:rPr>
              <a:t>Samples S</a:t>
            </a:r>
          </a:p>
          <a:p>
            <a:pPr algn="ctr"/>
            <a:r>
              <a:rPr lang="en-US" b="1" dirty="0">
                <a:solidFill>
                  <a:srgbClr val="02B0F0"/>
                </a:solidFill>
              </a:rPr>
              <a:t>(1000 records)</a:t>
            </a:r>
          </a:p>
        </p:txBody>
      </p:sp>
      <p:sp>
        <p:nvSpPr>
          <p:cNvPr id="19" name="Rectangle 18">
            <a:extLst>
              <a:ext uri="{FF2B5EF4-FFF2-40B4-BE49-F238E27FC236}">
                <a16:creationId xmlns:a16="http://schemas.microsoft.com/office/drawing/2014/main" id="{C6D78A65-D39F-5A44-AFF6-5D21C2E1E9B5}"/>
              </a:ext>
            </a:extLst>
          </p:cNvPr>
          <p:cNvSpPr/>
          <p:nvPr/>
        </p:nvSpPr>
        <p:spPr>
          <a:xfrm>
            <a:off x="8510313" y="4017032"/>
            <a:ext cx="377248" cy="331340"/>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 name="Rectangle 19">
            <a:extLst>
              <a:ext uri="{FF2B5EF4-FFF2-40B4-BE49-F238E27FC236}">
                <a16:creationId xmlns:a16="http://schemas.microsoft.com/office/drawing/2014/main" id="{BECBA923-1C8D-D141-890B-4AED5B89F4D3}"/>
              </a:ext>
            </a:extLst>
          </p:cNvPr>
          <p:cNvSpPr/>
          <p:nvPr/>
        </p:nvSpPr>
        <p:spPr>
          <a:xfrm>
            <a:off x="8510313" y="4325411"/>
            <a:ext cx="377248" cy="331340"/>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1" name="Rectangle 20">
            <a:extLst>
              <a:ext uri="{FF2B5EF4-FFF2-40B4-BE49-F238E27FC236}">
                <a16:creationId xmlns:a16="http://schemas.microsoft.com/office/drawing/2014/main" id="{59E774BD-4BD4-6D4C-B380-67E2300173C6}"/>
              </a:ext>
            </a:extLst>
          </p:cNvPr>
          <p:cNvSpPr/>
          <p:nvPr/>
        </p:nvSpPr>
        <p:spPr>
          <a:xfrm>
            <a:off x="8510313" y="4658895"/>
            <a:ext cx="377248" cy="331340"/>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2" name="TextBox 21">
            <a:extLst>
              <a:ext uri="{FF2B5EF4-FFF2-40B4-BE49-F238E27FC236}">
                <a16:creationId xmlns:a16="http://schemas.microsoft.com/office/drawing/2014/main" id="{BA15F6AB-F38C-E341-A2DB-9DB67DDEC43D}"/>
              </a:ext>
            </a:extLst>
          </p:cNvPr>
          <p:cNvSpPr txBox="1"/>
          <p:nvPr/>
        </p:nvSpPr>
        <p:spPr>
          <a:xfrm>
            <a:off x="8574544" y="5550732"/>
            <a:ext cx="248786" cy="923330"/>
          </a:xfrm>
          <a:prstGeom prst="rect">
            <a:avLst/>
          </a:prstGeom>
          <a:noFill/>
        </p:spPr>
        <p:txBody>
          <a:bodyPr wrap="none" rtlCol="0">
            <a:spAutoFit/>
          </a:bodyPr>
          <a:lstStyle/>
          <a:p>
            <a:r>
              <a:rPr lang="en-US" sz="1800" b="1" dirty="0"/>
              <a:t>.</a:t>
            </a:r>
          </a:p>
          <a:p>
            <a:r>
              <a:rPr lang="en-US" sz="1800" b="1" dirty="0"/>
              <a:t>.</a:t>
            </a:r>
          </a:p>
          <a:p>
            <a:r>
              <a:rPr lang="en-US" sz="1800" b="1" dirty="0"/>
              <a:t>.</a:t>
            </a:r>
          </a:p>
        </p:txBody>
      </p:sp>
      <p:sp>
        <p:nvSpPr>
          <p:cNvPr id="23" name="Rectangle 22">
            <a:extLst>
              <a:ext uri="{FF2B5EF4-FFF2-40B4-BE49-F238E27FC236}">
                <a16:creationId xmlns:a16="http://schemas.microsoft.com/office/drawing/2014/main" id="{F0FAFE76-B897-564D-B1A7-787841113A55}"/>
              </a:ext>
            </a:extLst>
          </p:cNvPr>
          <p:cNvSpPr/>
          <p:nvPr/>
        </p:nvSpPr>
        <p:spPr>
          <a:xfrm>
            <a:off x="8143223" y="3780300"/>
            <a:ext cx="1082900" cy="2693761"/>
          </a:xfrm>
          <a:prstGeom prst="rect">
            <a:avLst/>
          </a:prstGeom>
          <a:noFill/>
          <a:ln>
            <a:solidFill>
              <a:srgbClr val="FA03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FFFF"/>
              </a:highlight>
            </a:endParaRPr>
          </a:p>
        </p:txBody>
      </p:sp>
      <p:sp>
        <p:nvSpPr>
          <p:cNvPr id="24" name="TextBox 23">
            <a:extLst>
              <a:ext uri="{FF2B5EF4-FFF2-40B4-BE49-F238E27FC236}">
                <a16:creationId xmlns:a16="http://schemas.microsoft.com/office/drawing/2014/main" id="{69F6F0D3-5C4B-0045-9231-F554C542983B}"/>
              </a:ext>
            </a:extLst>
          </p:cNvPr>
          <p:cNvSpPr txBox="1"/>
          <p:nvPr/>
        </p:nvSpPr>
        <p:spPr>
          <a:xfrm>
            <a:off x="6015547" y="4656751"/>
            <a:ext cx="2089034" cy="523220"/>
          </a:xfrm>
          <a:prstGeom prst="rect">
            <a:avLst/>
          </a:prstGeom>
          <a:noFill/>
        </p:spPr>
        <p:txBody>
          <a:bodyPr wrap="none" rtlCol="0">
            <a:spAutoFit/>
          </a:bodyPr>
          <a:lstStyle/>
          <a:p>
            <a:pPr algn="ctr"/>
            <a:r>
              <a:rPr lang="en-US" b="1" dirty="0">
                <a:solidFill>
                  <a:srgbClr val="FF0000"/>
                </a:solidFill>
              </a:rPr>
              <a:t>Overlapped records S’</a:t>
            </a:r>
          </a:p>
          <a:p>
            <a:pPr algn="ctr"/>
            <a:r>
              <a:rPr lang="en-US" b="1" dirty="0">
                <a:solidFill>
                  <a:srgbClr val="FF0000"/>
                </a:solidFill>
              </a:rPr>
              <a:t>(remaining records)</a:t>
            </a:r>
          </a:p>
        </p:txBody>
      </p:sp>
      <p:sp>
        <p:nvSpPr>
          <p:cNvPr id="25" name="Slide Number Placeholder 1">
            <a:extLst>
              <a:ext uri="{FF2B5EF4-FFF2-40B4-BE49-F238E27FC236}">
                <a16:creationId xmlns:a16="http://schemas.microsoft.com/office/drawing/2014/main" id="{14882224-89CA-A04C-8195-5FA84C5C038B}"/>
              </a:ext>
            </a:extLst>
          </p:cNvPr>
          <p:cNvSpPr>
            <a:spLocks noGrp="1"/>
          </p:cNvSpPr>
          <p:nvPr>
            <p:ph type="sldNum" idx="12"/>
          </p:nvPr>
        </p:nvSpPr>
        <p:spPr>
          <a:xfrm>
            <a:off x="8610600" y="6356350"/>
            <a:ext cx="2743200" cy="365125"/>
          </a:xfrm>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26" name="Rectangle 25">
            <a:extLst>
              <a:ext uri="{FF2B5EF4-FFF2-40B4-BE49-F238E27FC236}">
                <a16:creationId xmlns:a16="http://schemas.microsoft.com/office/drawing/2014/main" id="{E0317A92-CE0B-BD4C-96B1-33E23A9B8465}"/>
              </a:ext>
            </a:extLst>
          </p:cNvPr>
          <p:cNvSpPr/>
          <p:nvPr/>
        </p:nvSpPr>
        <p:spPr>
          <a:xfrm>
            <a:off x="8510313" y="4986254"/>
            <a:ext cx="377248" cy="331340"/>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7" name="Rectangle 26">
            <a:extLst>
              <a:ext uri="{FF2B5EF4-FFF2-40B4-BE49-F238E27FC236}">
                <a16:creationId xmlns:a16="http://schemas.microsoft.com/office/drawing/2014/main" id="{D6571C56-5E13-FC4D-BF40-A291F3B57AF8}"/>
              </a:ext>
            </a:extLst>
          </p:cNvPr>
          <p:cNvSpPr/>
          <p:nvPr/>
        </p:nvSpPr>
        <p:spPr>
          <a:xfrm>
            <a:off x="8510313" y="5303319"/>
            <a:ext cx="377248" cy="331340"/>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Tree>
    <p:extLst>
      <p:ext uri="{BB962C8B-B14F-4D97-AF65-F5344CB8AC3E}">
        <p14:creationId xmlns:p14="http://schemas.microsoft.com/office/powerpoint/2010/main" val="1508823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0"/>
                                        </p:tgtEl>
                                      </p:cBhvr>
                                    </p:animEffect>
                                    <p:set>
                                      <p:cBhvr>
                                        <p:cTn id="10" dur="1" fill="hold">
                                          <p:stCondLst>
                                            <p:cond delay="499"/>
                                          </p:stCondLst>
                                        </p:cTn>
                                        <p:tgtEl>
                                          <p:spTgt spid="10"/>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0" nodeType="clickEffect">
                                  <p:stCondLst>
                                    <p:cond delay="0"/>
                                  </p:stCondLst>
                                  <p:childTnLst>
                                    <p:animEffect transition="out" filter="fade">
                                      <p:cBhvr>
                                        <p:cTn id="29" dur="500"/>
                                        <p:tgtEl>
                                          <p:spTgt spid="4"/>
                                        </p:tgtEl>
                                      </p:cBhvr>
                                    </p:animEffect>
                                    <p:set>
                                      <p:cBhvr>
                                        <p:cTn id="30" dur="1" fill="hold">
                                          <p:stCondLst>
                                            <p:cond delay="499"/>
                                          </p:stCondLst>
                                        </p:cTn>
                                        <p:tgtEl>
                                          <p:spTgt spid="4"/>
                                        </p:tgtEl>
                                        <p:attrNameLst>
                                          <p:attrName>style.visibility</p:attrName>
                                        </p:attrNameLst>
                                      </p:cBhvr>
                                      <p:to>
                                        <p:strVal val="hidden"/>
                                      </p:to>
                                    </p:set>
                                  </p:childTnLst>
                                </p:cTn>
                              </p:par>
                              <p:par>
                                <p:cTn id="31" presetID="10" presetClass="exit" presetSubtype="0" fill="hold" grpId="0" nodeType="withEffect">
                                  <p:stCondLst>
                                    <p:cond delay="0"/>
                                  </p:stCondLst>
                                  <p:childTnLst>
                                    <p:animEffect transition="out" filter="fade">
                                      <p:cBhvr>
                                        <p:cTn id="32" dur="500"/>
                                        <p:tgtEl>
                                          <p:spTgt spid="7"/>
                                        </p:tgtEl>
                                      </p:cBhvr>
                                    </p:animEffect>
                                    <p:set>
                                      <p:cBhvr>
                                        <p:cTn id="33" dur="1" fill="hold">
                                          <p:stCondLst>
                                            <p:cond delay="499"/>
                                          </p:stCondLst>
                                        </p:cTn>
                                        <p:tgtEl>
                                          <p:spTgt spid="7"/>
                                        </p:tgtEl>
                                        <p:attrNameLst>
                                          <p:attrName>style.visibility</p:attrName>
                                        </p:attrNameLst>
                                      </p:cBhvr>
                                      <p:to>
                                        <p:strVal val="hidden"/>
                                      </p:to>
                                    </p:set>
                                  </p:childTnLst>
                                </p:cTn>
                              </p:par>
                              <p:par>
                                <p:cTn id="34" presetID="10" presetClass="exit" presetSubtype="0" fill="hold" grpId="0" nodeType="withEffect">
                                  <p:stCondLst>
                                    <p:cond delay="0"/>
                                  </p:stCondLst>
                                  <p:childTnLst>
                                    <p:animEffect transition="out" filter="fade">
                                      <p:cBhvr>
                                        <p:cTn id="35" dur="500"/>
                                        <p:tgtEl>
                                          <p:spTgt spid="8"/>
                                        </p:tgtEl>
                                      </p:cBhvr>
                                    </p:animEffect>
                                    <p:set>
                                      <p:cBhvr>
                                        <p:cTn id="36" dur="1" fill="hold">
                                          <p:stCondLst>
                                            <p:cond delay="499"/>
                                          </p:stCondLst>
                                        </p:cTn>
                                        <p:tgtEl>
                                          <p:spTgt spid="8"/>
                                        </p:tgtEl>
                                        <p:attrNameLst>
                                          <p:attrName>style.visibility</p:attrName>
                                        </p:attrNameLst>
                                      </p:cBhvr>
                                      <p:to>
                                        <p:strVal val="hidden"/>
                                      </p:to>
                                    </p:set>
                                  </p:childTnLst>
                                </p:cTn>
                              </p:par>
                              <p:par>
                                <p:cTn id="37" presetID="10" presetClass="exit" presetSubtype="0" fill="hold" grpId="0" nodeType="withEffect">
                                  <p:stCondLst>
                                    <p:cond delay="0"/>
                                  </p:stCondLst>
                                  <p:childTnLst>
                                    <p:animEffect transition="out" filter="fade">
                                      <p:cBhvr>
                                        <p:cTn id="38" dur="500"/>
                                        <p:tgtEl>
                                          <p:spTgt spid="9"/>
                                        </p:tgtEl>
                                      </p:cBhvr>
                                    </p:animEffect>
                                    <p:set>
                                      <p:cBhvr>
                                        <p:cTn id="39" dur="1" fill="hold">
                                          <p:stCondLst>
                                            <p:cond delay="499"/>
                                          </p:stCondLst>
                                        </p:cTn>
                                        <p:tgtEl>
                                          <p:spTgt spid="9"/>
                                        </p:tgtEl>
                                        <p:attrNameLst>
                                          <p:attrName>style.visibility</p:attrName>
                                        </p:attrNameLst>
                                      </p:cBhvr>
                                      <p:to>
                                        <p:strVal val="hidden"/>
                                      </p:to>
                                    </p:set>
                                  </p:childTnLst>
                                </p:cTn>
                              </p:par>
                              <p:par>
                                <p:cTn id="40" presetID="10" presetClass="exit" presetSubtype="0" fill="hold" grpId="0" nodeType="withEffect">
                                  <p:stCondLst>
                                    <p:cond delay="0"/>
                                  </p:stCondLst>
                                  <p:childTnLst>
                                    <p:animEffect transition="out" filter="fade">
                                      <p:cBhvr>
                                        <p:cTn id="41" dur="500"/>
                                        <p:tgtEl>
                                          <p:spTgt spid="12"/>
                                        </p:tgtEl>
                                      </p:cBhvr>
                                    </p:animEffect>
                                    <p:set>
                                      <p:cBhvr>
                                        <p:cTn id="42" dur="1" fill="hold">
                                          <p:stCondLst>
                                            <p:cond delay="499"/>
                                          </p:stCondLst>
                                        </p:cTn>
                                        <p:tgtEl>
                                          <p:spTgt spid="12"/>
                                        </p:tgtEl>
                                        <p:attrNameLst>
                                          <p:attrName>style.visibility</p:attrName>
                                        </p:attrNameLst>
                                      </p:cBhvr>
                                      <p:to>
                                        <p:strVal val="hidden"/>
                                      </p:to>
                                    </p:set>
                                  </p:childTnLst>
                                </p:cTn>
                              </p:par>
                              <p:par>
                                <p:cTn id="43" presetID="10" presetClass="exit" presetSubtype="0" fill="hold" grpId="0" nodeType="withEffect">
                                  <p:stCondLst>
                                    <p:cond delay="0"/>
                                  </p:stCondLst>
                                  <p:childTnLst>
                                    <p:animEffect transition="out" filter="fade">
                                      <p:cBhvr>
                                        <p:cTn id="44" dur="500"/>
                                        <p:tgtEl>
                                          <p:spTgt spid="11"/>
                                        </p:tgtEl>
                                      </p:cBhvr>
                                    </p:animEffect>
                                    <p:set>
                                      <p:cBhvr>
                                        <p:cTn id="45" dur="1" fill="hold">
                                          <p:stCondLst>
                                            <p:cond delay="499"/>
                                          </p:stCondLst>
                                        </p:cTn>
                                        <p:tgtEl>
                                          <p:spTgt spid="11"/>
                                        </p:tgtEl>
                                        <p:attrNameLst>
                                          <p:attrName>style.visibility</p:attrName>
                                        </p:attrNameLst>
                                      </p:cBhvr>
                                      <p:to>
                                        <p:strVal val="hidden"/>
                                      </p:to>
                                    </p:se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p:bldP spid="13" grpId="0" animBg="1"/>
      <p:bldP spid="14" grpId="0" animBg="1"/>
      <p:bldP spid="16" grpId="0"/>
      <p:bldP spid="17" grpId="0" animBg="1"/>
      <p:bldP spid="18" grpId="0"/>
      <p:bldP spid="19" grpId="0" animBg="1"/>
      <p:bldP spid="20" grpId="0" animBg="1"/>
      <p:bldP spid="21" grpId="0" animBg="1"/>
      <p:bldP spid="22" grpId="0"/>
      <p:bldP spid="23" grpId="0" animBg="1"/>
      <p:bldP spid="24" grpId="0"/>
      <p:bldP spid="26" grpId="0" animBg="1"/>
      <p:bldP spid="2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465C-FAE2-9D44-9B51-F10E6BBC281B}"/>
              </a:ext>
            </a:extLst>
          </p:cNvPr>
          <p:cNvSpPr>
            <a:spLocks noGrp="1"/>
          </p:cNvSpPr>
          <p:nvPr>
            <p:ph type="title"/>
          </p:nvPr>
        </p:nvSpPr>
        <p:spPr/>
        <p:txBody>
          <a:bodyPr/>
          <a:lstStyle/>
          <a:p>
            <a:r>
              <a:rPr lang="en-US" dirty="0"/>
              <a:t>UPA is an end-to-end DP system</a:t>
            </a:r>
          </a:p>
        </p:txBody>
      </p:sp>
      <p:sp>
        <p:nvSpPr>
          <p:cNvPr id="3" name="Text Placeholder 2">
            <a:extLst>
              <a:ext uri="{FF2B5EF4-FFF2-40B4-BE49-F238E27FC236}">
                <a16:creationId xmlns:a16="http://schemas.microsoft.com/office/drawing/2014/main" id="{5507920C-C472-FF47-8C1D-0906197A8883}"/>
              </a:ext>
            </a:extLst>
          </p:cNvPr>
          <p:cNvSpPr>
            <a:spLocks noGrp="1"/>
          </p:cNvSpPr>
          <p:nvPr>
            <p:ph type="body" idx="1"/>
          </p:nvPr>
        </p:nvSpPr>
        <p:spPr>
          <a:xfrm>
            <a:off x="838200" y="1825625"/>
            <a:ext cx="10515600" cy="5032375"/>
          </a:xfrm>
        </p:spPr>
        <p:txBody>
          <a:bodyPr>
            <a:normAutofit lnSpcReduction="10000"/>
          </a:bodyPr>
          <a:lstStyle/>
          <a:p>
            <a:r>
              <a:rPr lang="en-US" dirty="0"/>
              <a:t>Fully integrated with Spark (added </a:t>
            </a:r>
            <a:r>
              <a:rPr lang="en-US" dirty="0">
                <a:solidFill>
                  <a:schemeClr val="tx1"/>
                </a:solidFill>
              </a:rPr>
              <a:t>~3k lines of code)</a:t>
            </a:r>
            <a:endParaRPr lang="en-US" dirty="0"/>
          </a:p>
          <a:p>
            <a:r>
              <a:rPr lang="en-US" dirty="0"/>
              <a:t>Provides a set of DP-enabled, Spark-compatible MapReduce operators API</a:t>
            </a:r>
          </a:p>
          <a:p>
            <a:endParaRPr lang="en-US" dirty="0"/>
          </a:p>
          <a:p>
            <a:endParaRPr lang="en-US" dirty="0"/>
          </a:p>
          <a:p>
            <a:endParaRPr lang="en-US" dirty="0"/>
          </a:p>
          <a:p>
            <a:endParaRPr lang="en-US" dirty="0"/>
          </a:p>
          <a:p>
            <a:endParaRPr lang="en-US" dirty="0"/>
          </a:p>
          <a:p>
            <a:r>
              <a:rPr lang="en-US" dirty="0"/>
              <a:t>UPA can be also integrated with other big-data systems (Hadoop [MSST’10], </a:t>
            </a:r>
            <a:r>
              <a:rPr lang="en-US" dirty="0" err="1"/>
              <a:t>Camdoop</a:t>
            </a:r>
            <a:r>
              <a:rPr lang="en-US" dirty="0"/>
              <a:t> [NSDI’12], </a:t>
            </a:r>
            <a:r>
              <a:rPr lang="en-US" dirty="0" err="1"/>
              <a:t>DryadLINQ</a:t>
            </a:r>
            <a:r>
              <a:rPr lang="en-US" dirty="0"/>
              <a:t> [</a:t>
            </a:r>
            <a:r>
              <a:rPr lang="en-HK" dirty="0"/>
              <a:t>LSDS-IR’09</a:t>
            </a:r>
            <a:r>
              <a:rPr lang="en-US" dirty="0"/>
              <a:t>], Pregel [SIGMOD’10] and Angel [NSR’18]) </a:t>
            </a:r>
          </a:p>
        </p:txBody>
      </p:sp>
      <p:sp>
        <p:nvSpPr>
          <p:cNvPr id="4" name="Slide Number Placeholder 3">
            <a:extLst>
              <a:ext uri="{FF2B5EF4-FFF2-40B4-BE49-F238E27FC236}">
                <a16:creationId xmlns:a16="http://schemas.microsoft.com/office/drawing/2014/main" id="{61435501-C600-FB4B-8E14-14CEE26655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5" name="Picture 4">
            <a:extLst>
              <a:ext uri="{FF2B5EF4-FFF2-40B4-BE49-F238E27FC236}">
                <a16:creationId xmlns:a16="http://schemas.microsoft.com/office/drawing/2014/main" id="{5C6131ED-5E77-464A-8527-53C3190B27E1}"/>
              </a:ext>
            </a:extLst>
          </p:cNvPr>
          <p:cNvPicPr>
            <a:picLocks noChangeAspect="1"/>
          </p:cNvPicPr>
          <p:nvPr/>
        </p:nvPicPr>
        <p:blipFill>
          <a:blip r:embed="rId3"/>
          <a:stretch>
            <a:fillRect/>
          </a:stretch>
        </p:blipFill>
        <p:spPr>
          <a:xfrm>
            <a:off x="3796069" y="2974413"/>
            <a:ext cx="3552313" cy="2424594"/>
          </a:xfrm>
          <a:prstGeom prst="rect">
            <a:avLst/>
          </a:prstGeom>
        </p:spPr>
      </p:pic>
      <p:sp>
        <p:nvSpPr>
          <p:cNvPr id="6" name="Rectangle 5">
            <a:extLst>
              <a:ext uri="{FF2B5EF4-FFF2-40B4-BE49-F238E27FC236}">
                <a16:creationId xmlns:a16="http://schemas.microsoft.com/office/drawing/2014/main" id="{C444FEC2-F2F9-FF47-958C-6B3C8EB6A506}"/>
              </a:ext>
            </a:extLst>
          </p:cNvPr>
          <p:cNvSpPr/>
          <p:nvPr/>
        </p:nvSpPr>
        <p:spPr>
          <a:xfrm>
            <a:off x="3541687" y="3714282"/>
            <a:ext cx="4061075" cy="681318"/>
          </a:xfrm>
          <a:prstGeom prst="rect">
            <a:avLst/>
          </a:prstGeom>
          <a:noFill/>
          <a:ln w="28575">
            <a:solidFill>
              <a:srgbClr val="CA2A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003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55D82-1C32-A547-A45E-F46C81BA0F65}"/>
              </a:ext>
            </a:extLst>
          </p:cNvPr>
          <p:cNvSpPr>
            <a:spLocks noGrp="1"/>
          </p:cNvSpPr>
          <p:nvPr>
            <p:ph type="title"/>
          </p:nvPr>
        </p:nvSpPr>
        <p:spPr/>
        <p:txBody>
          <a:bodyPr/>
          <a:lstStyle/>
          <a:p>
            <a:r>
              <a:rPr lang="en-US" dirty="0"/>
              <a:t>Evaluation setup (1)</a:t>
            </a:r>
          </a:p>
        </p:txBody>
      </p:sp>
      <p:sp>
        <p:nvSpPr>
          <p:cNvPr id="3" name="Text Placeholder 2">
            <a:extLst>
              <a:ext uri="{FF2B5EF4-FFF2-40B4-BE49-F238E27FC236}">
                <a16:creationId xmlns:a16="http://schemas.microsoft.com/office/drawing/2014/main" id="{AA32EA03-0EC0-2A46-A963-39F233CB3599}"/>
              </a:ext>
            </a:extLst>
          </p:cNvPr>
          <p:cNvSpPr>
            <a:spLocks noGrp="1"/>
          </p:cNvSpPr>
          <p:nvPr>
            <p:ph type="body" idx="1"/>
          </p:nvPr>
        </p:nvSpPr>
        <p:spPr/>
        <p:txBody>
          <a:bodyPr>
            <a:normAutofit fontScale="92500" lnSpcReduction="20000"/>
          </a:bodyPr>
          <a:lstStyle/>
          <a:p>
            <a:pPr lvl="0">
              <a:lnSpc>
                <a:spcPct val="115000"/>
              </a:lnSpc>
              <a:spcBef>
                <a:spcPts val="0"/>
              </a:spcBef>
              <a:buClr>
                <a:srgbClr val="585858"/>
              </a:buClr>
              <a:buFont typeface="Arial"/>
              <a:buChar char="●"/>
            </a:pPr>
            <a:r>
              <a:rPr lang="en-US" dirty="0"/>
              <a:t>A cluster of 5 computers</a:t>
            </a:r>
          </a:p>
          <a:p>
            <a:pPr lvl="1">
              <a:lnSpc>
                <a:spcPct val="115000"/>
              </a:lnSpc>
              <a:spcBef>
                <a:spcPts val="0"/>
              </a:spcBef>
              <a:buChar char="○"/>
            </a:pPr>
            <a:r>
              <a:rPr lang="en-US" dirty="0"/>
              <a:t>Intel Xeon E5-1280 v6 server, with 64GB DRAM on each server</a:t>
            </a:r>
          </a:p>
          <a:p>
            <a:pPr lvl="1">
              <a:lnSpc>
                <a:spcPct val="115000"/>
              </a:lnSpc>
              <a:spcBef>
                <a:spcPts val="0"/>
              </a:spcBef>
              <a:buChar char="○"/>
            </a:pPr>
            <a:r>
              <a:rPr lang="en-US" dirty="0"/>
              <a:t>Connected with 40Gbps NIC</a:t>
            </a:r>
          </a:p>
          <a:p>
            <a:pPr>
              <a:lnSpc>
                <a:spcPct val="115000"/>
              </a:lnSpc>
              <a:spcBef>
                <a:spcPts val="0"/>
              </a:spcBef>
              <a:buChar char="○"/>
            </a:pPr>
            <a:r>
              <a:rPr lang="en-US" dirty="0"/>
              <a:t>Compared UPA with FLEX [14], the only the related work that automatically infers sensitivity</a:t>
            </a:r>
          </a:p>
          <a:p>
            <a:pPr>
              <a:lnSpc>
                <a:spcPct val="115000"/>
              </a:lnSpc>
              <a:spcBef>
                <a:spcPts val="0"/>
              </a:spcBef>
              <a:buChar char="○"/>
            </a:pPr>
            <a:endParaRPr lang="en-US" dirty="0"/>
          </a:p>
          <a:p>
            <a:pPr lvl="0"/>
            <a:r>
              <a:rPr lang="en-US" dirty="0"/>
              <a:t>Metrics</a:t>
            </a:r>
          </a:p>
          <a:p>
            <a:pPr lvl="1"/>
            <a:r>
              <a:rPr lang="en-US" b="1" dirty="0"/>
              <a:t>Accuracy</a:t>
            </a:r>
            <a:r>
              <a:rPr lang="en-US" dirty="0"/>
              <a:t>: the Root Mean Square Error (RMSE) between the sensitivity values computed by UPA or FLEX, and the ground truth local sensitivity values computed by the brute-force approach</a:t>
            </a:r>
          </a:p>
          <a:p>
            <a:pPr lvl="1"/>
            <a:r>
              <a:rPr lang="en-US" b="1" dirty="0"/>
              <a:t>Performance overhead</a:t>
            </a:r>
            <a:r>
              <a:rPr lang="en-US" dirty="0"/>
              <a:t>: the additional execution time of UPA on a query and an input dataset compared to vanilla spark on the same query and the same dataset</a:t>
            </a:r>
          </a:p>
          <a:p>
            <a:pPr lvl="1"/>
            <a:endParaRPr lang="en-US" dirty="0"/>
          </a:p>
          <a:p>
            <a:pPr>
              <a:lnSpc>
                <a:spcPct val="115000"/>
              </a:lnSpc>
              <a:spcBef>
                <a:spcPts val="0"/>
              </a:spcBef>
              <a:buChar char="○"/>
            </a:pPr>
            <a:endParaRPr lang="en-US" dirty="0"/>
          </a:p>
        </p:txBody>
      </p:sp>
      <p:sp>
        <p:nvSpPr>
          <p:cNvPr id="4" name="Slide Number Placeholder 3">
            <a:extLst>
              <a:ext uri="{FF2B5EF4-FFF2-40B4-BE49-F238E27FC236}">
                <a16:creationId xmlns:a16="http://schemas.microsoft.com/office/drawing/2014/main" id="{363A5656-9846-634E-A84C-88973D6B8C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3110888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55D82-1C32-A547-A45E-F46C81BA0F65}"/>
              </a:ext>
            </a:extLst>
          </p:cNvPr>
          <p:cNvSpPr>
            <a:spLocks noGrp="1"/>
          </p:cNvSpPr>
          <p:nvPr>
            <p:ph type="title"/>
          </p:nvPr>
        </p:nvSpPr>
        <p:spPr/>
        <p:txBody>
          <a:bodyPr/>
          <a:lstStyle/>
          <a:p>
            <a:r>
              <a:rPr lang="en-US" dirty="0"/>
              <a:t>Evaluation setup (2)</a:t>
            </a:r>
          </a:p>
        </p:txBody>
      </p:sp>
      <p:sp>
        <p:nvSpPr>
          <p:cNvPr id="3" name="Text Placeholder 2">
            <a:extLst>
              <a:ext uri="{FF2B5EF4-FFF2-40B4-BE49-F238E27FC236}">
                <a16:creationId xmlns:a16="http://schemas.microsoft.com/office/drawing/2014/main" id="{AA32EA03-0EC0-2A46-A963-39F233CB3599}"/>
              </a:ext>
            </a:extLst>
          </p:cNvPr>
          <p:cNvSpPr>
            <a:spLocks noGrp="1"/>
          </p:cNvSpPr>
          <p:nvPr>
            <p:ph type="body" idx="1"/>
          </p:nvPr>
        </p:nvSpPr>
        <p:spPr/>
        <p:txBody>
          <a:bodyPr/>
          <a:lstStyle/>
          <a:p>
            <a:pPr lvl="0">
              <a:lnSpc>
                <a:spcPct val="100000"/>
              </a:lnSpc>
              <a:spcBef>
                <a:spcPts val="0"/>
              </a:spcBef>
              <a:buClr>
                <a:srgbClr val="585858"/>
              </a:buClr>
              <a:buFont typeface="Arial"/>
              <a:buChar char="●"/>
            </a:pPr>
            <a:r>
              <a:rPr lang="en-US" dirty="0"/>
              <a:t>UPA is evaluated on nine diverse mining queries that were evaluated by relevant systems, including all the five open-source benchmark queries that were evaluated by FLEX.</a:t>
            </a:r>
          </a:p>
        </p:txBody>
      </p:sp>
      <p:graphicFrame>
        <p:nvGraphicFramePr>
          <p:cNvPr id="6" name="Table 5">
            <a:extLst>
              <a:ext uri="{FF2B5EF4-FFF2-40B4-BE49-F238E27FC236}">
                <a16:creationId xmlns:a16="http://schemas.microsoft.com/office/drawing/2014/main" id="{B5C98F0D-642A-0746-9D6C-AC924376A663}"/>
              </a:ext>
            </a:extLst>
          </p:cNvPr>
          <p:cNvGraphicFramePr>
            <a:graphicFrameLocks noGrp="1"/>
          </p:cNvGraphicFramePr>
          <p:nvPr>
            <p:extLst>
              <p:ext uri="{D42A27DB-BD31-4B8C-83A1-F6EECF244321}">
                <p14:modId xmlns:p14="http://schemas.microsoft.com/office/powerpoint/2010/main" val="3026300119"/>
              </p:ext>
            </p:extLst>
          </p:nvPr>
        </p:nvGraphicFramePr>
        <p:xfrm>
          <a:off x="1352253" y="3242427"/>
          <a:ext cx="7358097" cy="3495673"/>
        </p:xfrm>
        <a:graphic>
          <a:graphicData uri="http://schemas.openxmlformats.org/drawingml/2006/table">
            <a:tbl>
              <a:tblPr firstRow="1" bandRow="1">
                <a:tableStyleId>{5C22544A-7EE6-4342-B048-85BDC9FD1C3A}</a:tableStyleId>
              </a:tblPr>
              <a:tblGrid>
                <a:gridCol w="2128923">
                  <a:extLst>
                    <a:ext uri="{9D8B030D-6E8A-4147-A177-3AD203B41FA5}">
                      <a16:colId xmlns:a16="http://schemas.microsoft.com/office/drawing/2014/main" val="1780647472"/>
                    </a:ext>
                  </a:extLst>
                </a:gridCol>
                <a:gridCol w="1277355">
                  <a:extLst>
                    <a:ext uri="{9D8B030D-6E8A-4147-A177-3AD203B41FA5}">
                      <a16:colId xmlns:a16="http://schemas.microsoft.com/office/drawing/2014/main" val="1984426164"/>
                    </a:ext>
                  </a:extLst>
                </a:gridCol>
                <a:gridCol w="1597225">
                  <a:extLst>
                    <a:ext uri="{9D8B030D-6E8A-4147-A177-3AD203B41FA5}">
                      <a16:colId xmlns:a16="http://schemas.microsoft.com/office/drawing/2014/main" val="3535347001"/>
                    </a:ext>
                  </a:extLst>
                </a:gridCol>
                <a:gridCol w="1177297">
                  <a:extLst>
                    <a:ext uri="{9D8B030D-6E8A-4147-A177-3AD203B41FA5}">
                      <a16:colId xmlns:a16="http://schemas.microsoft.com/office/drawing/2014/main" val="2245478822"/>
                    </a:ext>
                  </a:extLst>
                </a:gridCol>
                <a:gridCol w="1177297">
                  <a:extLst>
                    <a:ext uri="{9D8B030D-6E8A-4147-A177-3AD203B41FA5}">
                      <a16:colId xmlns:a16="http://schemas.microsoft.com/office/drawing/2014/main" val="410437224"/>
                    </a:ext>
                  </a:extLst>
                </a:gridCol>
              </a:tblGrid>
              <a:tr h="553491">
                <a:tc>
                  <a:txBody>
                    <a:bodyPr/>
                    <a:lstStyle/>
                    <a:p>
                      <a:r>
                        <a:rPr lang="en-HK" sz="1400" dirty="0"/>
                        <a:t>Query Name</a:t>
                      </a:r>
                      <a:endParaRPr lang="en-US" sz="1400" dirty="0"/>
                    </a:p>
                  </a:txBody>
                  <a:tcPr/>
                </a:tc>
                <a:tc>
                  <a:txBody>
                    <a:bodyPr/>
                    <a:lstStyle/>
                    <a:p>
                      <a:r>
                        <a:rPr lang="en-HK" sz="1400" dirty="0"/>
                        <a:t>Dataset Size (GB)</a:t>
                      </a:r>
                      <a:endParaRPr lang="en-US" sz="1400" dirty="0"/>
                    </a:p>
                  </a:txBody>
                  <a:tcPr/>
                </a:tc>
                <a:tc>
                  <a:txBody>
                    <a:bodyPr/>
                    <a:lstStyle/>
                    <a:p>
                      <a:r>
                        <a:rPr lang="en-HK" sz="1400" dirty="0"/>
                        <a:t>Query Type</a:t>
                      </a:r>
                      <a:endParaRPr lang="en-US" sz="1400" dirty="0"/>
                    </a:p>
                  </a:txBody>
                  <a:tcPr/>
                </a:tc>
                <a:tc>
                  <a:txBody>
                    <a:bodyPr/>
                    <a:lstStyle/>
                    <a:p>
                      <a:pPr algn="ctr"/>
                      <a:r>
                        <a:rPr lang="en-US" sz="1400" dirty="0"/>
                        <a:t>Support by UPA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Support by FLEX</a:t>
                      </a:r>
                    </a:p>
                  </a:txBody>
                  <a:tcPr/>
                </a:tc>
                <a:extLst>
                  <a:ext uri="{0D108BD9-81ED-4DB2-BD59-A6C34878D82A}">
                    <a16:rowId xmlns:a16="http://schemas.microsoft.com/office/drawing/2014/main" val="2275264417"/>
                  </a:ext>
                </a:extLst>
              </a:tr>
              <a:tr h="325583">
                <a:tc>
                  <a:txBody>
                    <a:bodyPr/>
                    <a:lstStyle/>
                    <a:p>
                      <a:r>
                        <a:rPr lang="en-US" sz="1400" dirty="0" err="1"/>
                        <a:t>TPCHQuery</a:t>
                      </a:r>
                      <a:r>
                        <a:rPr lang="en-US" sz="1400" dirty="0"/>
                        <a:t> 1</a:t>
                      </a:r>
                    </a:p>
                  </a:txBody>
                  <a:tcPr/>
                </a:tc>
                <a:tc>
                  <a:txBody>
                    <a:bodyPr/>
                    <a:lstStyle/>
                    <a:p>
                      <a:r>
                        <a:rPr lang="en-US" sz="1400" dirty="0"/>
                        <a:t>114</a:t>
                      </a:r>
                    </a:p>
                  </a:txBody>
                  <a:tcPr/>
                </a:tc>
                <a:tc rowSpan="5">
                  <a:txBody>
                    <a:bodyPr/>
                    <a:lstStyle/>
                    <a:p>
                      <a:pPr algn="ctr"/>
                      <a:r>
                        <a:rPr lang="en-US" sz="1400" dirty="0"/>
                        <a:t>Count</a:t>
                      </a:r>
                    </a:p>
                  </a:txBody>
                  <a:tcPr anchor="ctr"/>
                </a:tc>
                <a:tc>
                  <a:txBody>
                    <a:bodyPr/>
                    <a:lstStyle/>
                    <a:p>
                      <a:pPr algn="ctr"/>
                      <a:r>
                        <a:rPr lang="en-US" sz="1400" dirty="0"/>
                        <a:t>✔️</a:t>
                      </a:r>
                    </a:p>
                  </a:txBody>
                  <a:tcPr/>
                </a:tc>
                <a:tc>
                  <a:txBody>
                    <a:bodyPr/>
                    <a:lstStyle/>
                    <a:p>
                      <a:pPr algn="ctr"/>
                      <a:r>
                        <a:rPr lang="en-US" sz="1400" dirty="0"/>
                        <a:t>✔️</a:t>
                      </a:r>
                    </a:p>
                  </a:txBody>
                  <a:tcPr/>
                </a:tc>
                <a:extLst>
                  <a:ext uri="{0D108BD9-81ED-4DB2-BD59-A6C34878D82A}">
                    <a16:rowId xmlns:a16="http://schemas.microsoft.com/office/drawing/2014/main" val="3388274856"/>
                  </a:ext>
                </a:extLst>
              </a:tr>
              <a:tr h="325583">
                <a:tc>
                  <a:txBody>
                    <a:bodyPr/>
                    <a:lstStyle/>
                    <a:p>
                      <a:r>
                        <a:rPr lang="en-US" sz="1400" dirty="0" err="1"/>
                        <a:t>TPCHQuery</a:t>
                      </a:r>
                      <a:r>
                        <a:rPr lang="en-US" sz="1400" dirty="0"/>
                        <a:t> 4</a:t>
                      </a:r>
                    </a:p>
                  </a:txBody>
                  <a:tcPr/>
                </a:tc>
                <a:tc>
                  <a:txBody>
                    <a:bodyPr/>
                    <a:lstStyle/>
                    <a:p>
                      <a:r>
                        <a:rPr lang="en-US" sz="1400" dirty="0"/>
                        <a:t>121</a:t>
                      </a:r>
                    </a:p>
                  </a:txBody>
                  <a:tcPr/>
                </a:tc>
                <a:tc vMerge="1">
                  <a:txBody>
                    <a:bodyPr/>
                    <a:lstStyle/>
                    <a:p>
                      <a:endParaRPr lang="en-US" sz="1600" dirty="0"/>
                    </a:p>
                  </a:txBody>
                  <a:tcPr/>
                </a:tc>
                <a:tc>
                  <a:txBody>
                    <a:bodyPr/>
                    <a:lstStyle/>
                    <a:p>
                      <a:pPr algn="ctr"/>
                      <a:r>
                        <a:rPr lang="en-US" sz="1400" dirty="0"/>
                        <a:t>✔️</a:t>
                      </a:r>
                    </a:p>
                  </a:txBody>
                  <a:tcPr/>
                </a:tc>
                <a:tc>
                  <a:txBody>
                    <a:bodyPr/>
                    <a:lstStyle/>
                    <a:p>
                      <a:pPr algn="ctr"/>
                      <a:r>
                        <a:rPr lang="en-US" sz="1400" dirty="0"/>
                        <a:t>✔️</a:t>
                      </a:r>
                    </a:p>
                  </a:txBody>
                  <a:tcPr/>
                </a:tc>
                <a:extLst>
                  <a:ext uri="{0D108BD9-81ED-4DB2-BD59-A6C34878D82A}">
                    <a16:rowId xmlns:a16="http://schemas.microsoft.com/office/drawing/2014/main" val="3569804024"/>
                  </a:ext>
                </a:extLst>
              </a:tr>
              <a:tr h="337518">
                <a:tc>
                  <a:txBody>
                    <a:bodyPr/>
                    <a:lstStyle/>
                    <a:p>
                      <a:r>
                        <a:rPr lang="en-US" sz="1400" dirty="0" err="1"/>
                        <a:t>TPCHQuery</a:t>
                      </a:r>
                      <a:r>
                        <a:rPr lang="en-US" sz="1400" dirty="0"/>
                        <a:t> 13</a:t>
                      </a:r>
                    </a:p>
                  </a:txBody>
                  <a:tcPr/>
                </a:tc>
                <a:tc>
                  <a:txBody>
                    <a:bodyPr/>
                    <a:lstStyle/>
                    <a:p>
                      <a:r>
                        <a:rPr lang="en-US" sz="1400" dirty="0"/>
                        <a:t>121</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a:tc>
                <a:extLst>
                  <a:ext uri="{0D108BD9-81ED-4DB2-BD59-A6C34878D82A}">
                    <a16:rowId xmlns:a16="http://schemas.microsoft.com/office/drawing/2014/main" val="2783858644"/>
                  </a:ext>
                </a:extLst>
              </a:tr>
              <a:tr h="325583">
                <a:tc>
                  <a:txBody>
                    <a:bodyPr/>
                    <a:lstStyle/>
                    <a:p>
                      <a:r>
                        <a:rPr lang="en-US" sz="1400" dirty="0" err="1"/>
                        <a:t>TPCHQuery</a:t>
                      </a:r>
                      <a:r>
                        <a:rPr lang="en-US" sz="1400" dirty="0"/>
                        <a:t> 16</a:t>
                      </a:r>
                    </a:p>
                  </a:txBody>
                  <a:tcPr/>
                </a:tc>
                <a:tc>
                  <a:txBody>
                    <a:bodyPr/>
                    <a:lstStyle/>
                    <a:p>
                      <a:r>
                        <a:rPr lang="en-US" sz="1400" dirty="0"/>
                        <a:t>117</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a:tc>
                <a:extLst>
                  <a:ext uri="{0D108BD9-81ED-4DB2-BD59-A6C34878D82A}">
                    <a16:rowId xmlns:a16="http://schemas.microsoft.com/office/drawing/2014/main" val="3981847843"/>
                  </a:ext>
                </a:extLst>
              </a:tr>
              <a:tr h="325583">
                <a:tc>
                  <a:txBody>
                    <a:bodyPr/>
                    <a:lstStyle/>
                    <a:p>
                      <a:r>
                        <a:rPr lang="en-US" sz="1400" dirty="0" err="1"/>
                        <a:t>TPCHQuery</a:t>
                      </a:r>
                      <a:r>
                        <a:rPr lang="en-US" sz="1400" dirty="0"/>
                        <a:t> 21</a:t>
                      </a:r>
                    </a:p>
                  </a:txBody>
                  <a:tcPr/>
                </a:tc>
                <a:tc>
                  <a:txBody>
                    <a:bodyPr/>
                    <a:lstStyle/>
                    <a:p>
                      <a:r>
                        <a:rPr lang="en-US" sz="1400" dirty="0"/>
                        <a:t>133</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a:tc>
                <a:extLst>
                  <a:ext uri="{0D108BD9-81ED-4DB2-BD59-A6C34878D82A}">
                    <a16:rowId xmlns:a16="http://schemas.microsoft.com/office/drawing/2014/main" val="2948297583"/>
                  </a:ext>
                </a:extLst>
              </a:tr>
              <a:tr h="325583">
                <a:tc>
                  <a:txBody>
                    <a:bodyPr/>
                    <a:lstStyle/>
                    <a:p>
                      <a:r>
                        <a:rPr lang="en-US" sz="1400" dirty="0" err="1"/>
                        <a:t>KMeans</a:t>
                      </a:r>
                      <a:endParaRPr lang="en-US" sz="1400" dirty="0"/>
                    </a:p>
                  </a:txBody>
                  <a:tcPr/>
                </a:tc>
                <a:tc>
                  <a:txBody>
                    <a:bodyPr/>
                    <a:lstStyle/>
                    <a:p>
                      <a:r>
                        <a:rPr lang="en-US" sz="1400" dirty="0"/>
                        <a:t>121</a:t>
                      </a:r>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Machine Learning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a:tc>
                <a:extLst>
                  <a:ext uri="{0D108BD9-81ED-4DB2-BD59-A6C34878D82A}">
                    <a16:rowId xmlns:a16="http://schemas.microsoft.com/office/drawing/2014/main" val="1877305903"/>
                  </a:ext>
                </a:extLst>
              </a:tr>
              <a:tr h="3255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Linear Regression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121</a:t>
                      </a:r>
                    </a:p>
                  </a:txBody>
                  <a:tcPr/>
                </a:tc>
                <a:tc vMerge="1">
                  <a:txBody>
                    <a:bodyPr/>
                    <a:lstStyle/>
                    <a:p>
                      <a:endParaRPr lang="en-US" sz="1600" dirty="0"/>
                    </a:p>
                  </a:txBody>
                  <a:tcPr/>
                </a:tc>
                <a:tc>
                  <a:txBody>
                    <a:bodyPr/>
                    <a:lstStyle/>
                    <a:p>
                      <a:pPr algn="ctr"/>
                      <a:r>
                        <a:rPr lang="en-US" sz="1400" dirty="0"/>
                        <a:t>✔️</a:t>
                      </a:r>
                    </a:p>
                  </a:txBody>
                  <a:tcPr/>
                </a:tc>
                <a:tc>
                  <a:txBody>
                    <a:bodyPr/>
                    <a:lstStyle/>
                    <a:p>
                      <a:pPr algn="ctr"/>
                      <a:r>
                        <a:rPr lang="en-US" sz="1400" dirty="0"/>
                        <a:t>☓</a:t>
                      </a:r>
                    </a:p>
                  </a:txBody>
                  <a:tcPr/>
                </a:tc>
                <a:extLst>
                  <a:ext uri="{0D108BD9-81ED-4DB2-BD59-A6C34878D82A}">
                    <a16:rowId xmlns:a16="http://schemas.microsoft.com/office/drawing/2014/main" val="2926228306"/>
                  </a:ext>
                </a:extLst>
              </a:tr>
              <a:tr h="325583">
                <a:tc>
                  <a:txBody>
                    <a:bodyPr/>
                    <a:lstStyle/>
                    <a:p>
                      <a:r>
                        <a:rPr lang="en-US" sz="1400" dirty="0" err="1"/>
                        <a:t>TPCHQuery</a:t>
                      </a:r>
                      <a:r>
                        <a:rPr lang="en-US" sz="1400" dirty="0"/>
                        <a:t> 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114</a:t>
                      </a:r>
                    </a:p>
                  </a:txBody>
                  <a:tcPr/>
                </a:tc>
                <a:tc rowSpan="2">
                  <a:txBody>
                    <a:bodyPr/>
                    <a:lstStyle/>
                    <a:p>
                      <a:pPr algn="ctr"/>
                      <a:r>
                        <a:rPr lang="en-US" sz="1400" dirty="0"/>
                        <a:t>Arithmetic</a:t>
                      </a:r>
                    </a:p>
                  </a:txBody>
                  <a:tcPr anchor="ctr"/>
                </a:tc>
                <a:tc>
                  <a:txBody>
                    <a:bodyPr/>
                    <a:lstStyle/>
                    <a:p>
                      <a:pPr algn="ctr"/>
                      <a:r>
                        <a:rPr lang="en-US" sz="1400" dirty="0"/>
                        <a:t>✔️</a:t>
                      </a:r>
                    </a:p>
                  </a:txBody>
                  <a:tcPr/>
                </a:tc>
                <a:tc>
                  <a:txBody>
                    <a:bodyPr/>
                    <a:lstStyle/>
                    <a:p>
                      <a:pPr algn="ctr"/>
                      <a:r>
                        <a:rPr lang="en-US" sz="1400" dirty="0"/>
                        <a:t>☓</a:t>
                      </a:r>
                    </a:p>
                  </a:txBody>
                  <a:tcPr/>
                </a:tc>
                <a:extLst>
                  <a:ext uri="{0D108BD9-81ED-4DB2-BD59-A6C34878D82A}">
                    <a16:rowId xmlns:a16="http://schemas.microsoft.com/office/drawing/2014/main" val="3024076241"/>
                  </a:ext>
                </a:extLst>
              </a:tr>
              <a:tr h="325583">
                <a:tc>
                  <a:txBody>
                    <a:bodyPr/>
                    <a:lstStyle/>
                    <a:p>
                      <a:r>
                        <a:rPr lang="en-US" sz="1400" dirty="0" err="1"/>
                        <a:t>TPCHQuery</a:t>
                      </a:r>
                      <a:r>
                        <a:rPr lang="en-US" sz="1400" dirty="0"/>
                        <a:t> 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115</a:t>
                      </a:r>
                    </a:p>
                  </a:txBody>
                  <a:tcPr/>
                </a:tc>
                <a:tc vMerge="1">
                  <a:txBody>
                    <a:bodyPr/>
                    <a:lstStyle/>
                    <a:p>
                      <a:pPr algn="ctr"/>
                      <a:endParaRPr lang="en-US" sz="1600" dirty="0"/>
                    </a:p>
                  </a:txBody>
                  <a:tcPr/>
                </a:tc>
                <a:tc>
                  <a:txBody>
                    <a:bodyPr/>
                    <a:lstStyle/>
                    <a:p>
                      <a:pPr algn="ctr"/>
                      <a:r>
                        <a:rPr lang="en-US" sz="1400" dirty="0"/>
                        <a:t>✔️</a:t>
                      </a:r>
                    </a:p>
                  </a:txBody>
                  <a:tcPr/>
                </a:tc>
                <a:tc>
                  <a:txBody>
                    <a:bodyPr/>
                    <a:lstStyle/>
                    <a:p>
                      <a:pPr algn="ctr"/>
                      <a:r>
                        <a:rPr lang="en-US" sz="1400" dirty="0"/>
                        <a:t>☓</a:t>
                      </a:r>
                    </a:p>
                  </a:txBody>
                  <a:tcPr/>
                </a:tc>
                <a:extLst>
                  <a:ext uri="{0D108BD9-81ED-4DB2-BD59-A6C34878D82A}">
                    <a16:rowId xmlns:a16="http://schemas.microsoft.com/office/drawing/2014/main" val="2261945111"/>
                  </a:ext>
                </a:extLst>
              </a:tr>
            </a:tbl>
          </a:graphicData>
        </a:graphic>
      </p:graphicFrame>
      <p:sp>
        <p:nvSpPr>
          <p:cNvPr id="7" name="Rectangle 6">
            <a:extLst>
              <a:ext uri="{FF2B5EF4-FFF2-40B4-BE49-F238E27FC236}">
                <a16:creationId xmlns:a16="http://schemas.microsoft.com/office/drawing/2014/main" id="{D92B09E5-E18E-5F43-9E5B-0D31C4F88679}"/>
              </a:ext>
            </a:extLst>
          </p:cNvPr>
          <p:cNvSpPr/>
          <p:nvPr/>
        </p:nvSpPr>
        <p:spPr bwMode="auto">
          <a:xfrm>
            <a:off x="6350924" y="3175462"/>
            <a:ext cx="1218733" cy="3667467"/>
          </a:xfrm>
          <a:prstGeom prst="rect">
            <a:avLst/>
          </a:prstGeom>
          <a:noFill/>
          <a:ln w="25400" cap="flat" cmpd="sng" algn="ctr">
            <a:solidFill>
              <a:srgbClr val="C00000"/>
            </a:solidFill>
            <a:prstDash val="solid"/>
            <a:round/>
            <a:headEnd type="none" w="med" len="med"/>
            <a:tailEnd type="none" w="med" len="med"/>
          </a:ln>
          <a:effectLst/>
        </p:spPr>
        <p:txBody>
          <a:bodyPr vert="horz" wrap="square" lIns="79200" tIns="39600" rIns="79200" bIns="39600" numCol="1" rtlCol="0" anchor="ctr" anchorCtr="0" compatLnSpc="1">
            <a:prstTxWarp prst="textNoShape">
              <a:avLst/>
            </a:prstTxWarp>
            <a:noAutofit/>
          </a:bodyPr>
          <a:lstStyle/>
          <a:p>
            <a:pPr algn="ctr"/>
            <a:endParaRPr lang="en-US" b="0">
              <a:latin typeface="FrutigerNext LT Regular"/>
              <a:ea typeface="MS PGothic" pitchFamily="34" charset="-128"/>
            </a:endParaRPr>
          </a:p>
        </p:txBody>
      </p:sp>
      <p:sp>
        <p:nvSpPr>
          <p:cNvPr id="10" name="TextBox 9">
            <a:extLst>
              <a:ext uri="{FF2B5EF4-FFF2-40B4-BE49-F238E27FC236}">
                <a16:creationId xmlns:a16="http://schemas.microsoft.com/office/drawing/2014/main" id="{B46429E0-B66C-DC46-A75D-221DF117FD77}"/>
              </a:ext>
            </a:extLst>
          </p:cNvPr>
          <p:cNvSpPr txBox="1"/>
          <p:nvPr/>
        </p:nvSpPr>
        <p:spPr>
          <a:xfrm>
            <a:off x="9034497" y="3175462"/>
            <a:ext cx="3157503" cy="646331"/>
          </a:xfrm>
          <a:prstGeom prst="rect">
            <a:avLst/>
          </a:prstGeom>
          <a:noFill/>
        </p:spPr>
        <p:txBody>
          <a:bodyPr wrap="square" rtlCol="0">
            <a:spAutoFit/>
          </a:bodyPr>
          <a:lstStyle/>
          <a:p>
            <a:r>
              <a:rPr lang="en-US" sz="1800" dirty="0">
                <a:solidFill>
                  <a:srgbClr val="C00000"/>
                </a:solidFill>
              </a:rPr>
              <a:t>UPA supports all the nine queries</a:t>
            </a:r>
          </a:p>
        </p:txBody>
      </p:sp>
      <p:sp>
        <p:nvSpPr>
          <p:cNvPr id="4" name="Slide Number Placeholder 3">
            <a:extLst>
              <a:ext uri="{FF2B5EF4-FFF2-40B4-BE49-F238E27FC236}">
                <a16:creationId xmlns:a16="http://schemas.microsoft.com/office/drawing/2014/main" id="{2032641F-355E-1E4D-8791-7DA382C7009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8" name="Rectangle 7">
            <a:extLst>
              <a:ext uri="{FF2B5EF4-FFF2-40B4-BE49-F238E27FC236}">
                <a16:creationId xmlns:a16="http://schemas.microsoft.com/office/drawing/2014/main" id="{992C109F-C6DB-9A47-BB5F-713105664FCB}"/>
              </a:ext>
            </a:extLst>
          </p:cNvPr>
          <p:cNvSpPr/>
          <p:nvPr/>
        </p:nvSpPr>
        <p:spPr bwMode="auto">
          <a:xfrm>
            <a:off x="7586931" y="3175461"/>
            <a:ext cx="1123420" cy="2278855"/>
          </a:xfrm>
          <a:prstGeom prst="rect">
            <a:avLst/>
          </a:prstGeom>
          <a:noFill/>
          <a:ln w="25400" cap="flat" cmpd="sng" algn="ctr">
            <a:solidFill>
              <a:srgbClr val="02B0F0"/>
            </a:solidFill>
            <a:prstDash val="solid"/>
            <a:round/>
            <a:headEnd type="none" w="med" len="med"/>
            <a:tailEnd type="none" w="med" len="med"/>
          </a:ln>
          <a:effectLst/>
        </p:spPr>
        <p:txBody>
          <a:bodyPr vert="horz" wrap="square" lIns="79200" tIns="39600" rIns="79200" bIns="39600" numCol="1" rtlCol="0" anchor="ctr" anchorCtr="0" compatLnSpc="1">
            <a:prstTxWarp prst="textNoShape">
              <a:avLst/>
            </a:prstTxWarp>
            <a:noAutofit/>
          </a:bodyPr>
          <a:lstStyle/>
          <a:p>
            <a:pPr algn="ctr"/>
            <a:endParaRPr lang="en-US" b="0">
              <a:solidFill>
                <a:srgbClr val="02B0F0"/>
              </a:solidFill>
              <a:latin typeface="FrutigerNext LT Regular"/>
              <a:ea typeface="MS PGothic" pitchFamily="34" charset="-128"/>
            </a:endParaRPr>
          </a:p>
        </p:txBody>
      </p:sp>
      <p:sp>
        <p:nvSpPr>
          <p:cNvPr id="9" name="TextBox 8">
            <a:extLst>
              <a:ext uri="{FF2B5EF4-FFF2-40B4-BE49-F238E27FC236}">
                <a16:creationId xmlns:a16="http://schemas.microsoft.com/office/drawing/2014/main" id="{234127B6-1ECC-CD4B-9D6B-F633F4567CFC}"/>
              </a:ext>
            </a:extLst>
          </p:cNvPr>
          <p:cNvSpPr txBox="1"/>
          <p:nvPr/>
        </p:nvSpPr>
        <p:spPr>
          <a:xfrm>
            <a:off x="9034496" y="4115326"/>
            <a:ext cx="3157503" cy="646331"/>
          </a:xfrm>
          <a:prstGeom prst="rect">
            <a:avLst/>
          </a:prstGeom>
          <a:noFill/>
        </p:spPr>
        <p:txBody>
          <a:bodyPr wrap="square" rtlCol="0">
            <a:spAutoFit/>
          </a:bodyPr>
          <a:lstStyle/>
          <a:p>
            <a:r>
              <a:rPr lang="en-US" sz="1800" dirty="0">
                <a:solidFill>
                  <a:srgbClr val="02B0F0"/>
                </a:solidFill>
              </a:rPr>
              <a:t>FLEX supports only the five count queries</a:t>
            </a:r>
          </a:p>
        </p:txBody>
      </p:sp>
    </p:spTree>
    <p:extLst>
      <p:ext uri="{BB962C8B-B14F-4D97-AF65-F5344CB8AC3E}">
        <p14:creationId xmlns:p14="http://schemas.microsoft.com/office/powerpoint/2010/main" val="646279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P spid="8" grpId="0" animBg="1"/>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59AD5-E14E-1D40-8923-04DBE2E2730E}"/>
              </a:ext>
            </a:extLst>
          </p:cNvPr>
          <p:cNvSpPr>
            <a:spLocks noGrp="1"/>
          </p:cNvSpPr>
          <p:nvPr>
            <p:ph type="title"/>
          </p:nvPr>
        </p:nvSpPr>
        <p:spPr/>
        <p:txBody>
          <a:bodyPr/>
          <a:lstStyle/>
          <a:p>
            <a:r>
              <a:rPr lang="en-US" dirty="0"/>
              <a:t>UPA and FLEX’s RMSE</a:t>
            </a:r>
          </a:p>
        </p:txBody>
      </p:sp>
      <p:pic>
        <p:nvPicPr>
          <p:cNvPr id="4" name="Picture 3">
            <a:extLst>
              <a:ext uri="{FF2B5EF4-FFF2-40B4-BE49-F238E27FC236}">
                <a16:creationId xmlns:a16="http://schemas.microsoft.com/office/drawing/2014/main" id="{030EEC1A-C168-D941-9FD3-CEF297C1B50A}"/>
              </a:ext>
            </a:extLst>
          </p:cNvPr>
          <p:cNvPicPr>
            <a:picLocks noChangeAspect="1"/>
          </p:cNvPicPr>
          <p:nvPr/>
        </p:nvPicPr>
        <p:blipFill>
          <a:blip r:embed="rId3"/>
          <a:stretch>
            <a:fillRect/>
          </a:stretch>
        </p:blipFill>
        <p:spPr>
          <a:xfrm>
            <a:off x="3736933" y="3618527"/>
            <a:ext cx="4316176" cy="3239473"/>
          </a:xfrm>
          <a:prstGeom prst="rect">
            <a:avLst/>
          </a:prstGeom>
        </p:spPr>
      </p:pic>
      <p:sp>
        <p:nvSpPr>
          <p:cNvPr id="6" name="文本框 4">
            <a:extLst>
              <a:ext uri="{FF2B5EF4-FFF2-40B4-BE49-F238E27FC236}">
                <a16:creationId xmlns:a16="http://schemas.microsoft.com/office/drawing/2014/main" id="{35B8BFC6-24FA-9249-A7BF-3541EA7FDA0A}"/>
              </a:ext>
            </a:extLst>
          </p:cNvPr>
          <p:cNvSpPr txBox="1"/>
          <p:nvPr/>
        </p:nvSpPr>
        <p:spPr>
          <a:xfrm>
            <a:off x="3057581" y="4758618"/>
            <a:ext cx="679352" cy="523220"/>
          </a:xfrm>
          <a:prstGeom prst="rect">
            <a:avLst/>
          </a:prstGeom>
          <a:noFill/>
        </p:spPr>
        <p:txBody>
          <a:bodyPr wrap="square" rtlCol="0">
            <a:spAutoFit/>
          </a:bodyPr>
          <a:lstStyle/>
          <a:p>
            <a:r>
              <a:rPr lang="en-US" altLang="zh-TW" dirty="0">
                <a:solidFill>
                  <a:srgbClr val="9B3367"/>
                </a:solidFill>
                <a:latin typeface="Calibri" pitchFamily="34" charset="0"/>
              </a:rPr>
              <a:t>Log-scale</a:t>
            </a:r>
            <a:endParaRPr lang="en-US" dirty="0">
              <a:solidFill>
                <a:srgbClr val="9B3367"/>
              </a:solidFill>
              <a:latin typeface="Calibri" pitchFamily="34" charset="0"/>
            </a:endParaRPr>
          </a:p>
        </p:txBody>
      </p:sp>
      <p:sp>
        <p:nvSpPr>
          <p:cNvPr id="7" name="Oval 6">
            <a:extLst>
              <a:ext uri="{FF2B5EF4-FFF2-40B4-BE49-F238E27FC236}">
                <a16:creationId xmlns:a16="http://schemas.microsoft.com/office/drawing/2014/main" id="{A6C23817-8AE2-754B-A506-30F0B2CBE06C}"/>
              </a:ext>
            </a:extLst>
          </p:cNvPr>
          <p:cNvSpPr/>
          <p:nvPr/>
        </p:nvSpPr>
        <p:spPr>
          <a:xfrm>
            <a:off x="3666787" y="4001294"/>
            <a:ext cx="472106" cy="2037869"/>
          </a:xfrm>
          <a:prstGeom prst="ellipse">
            <a:avLst/>
          </a:prstGeom>
          <a:noFill/>
          <a:ln>
            <a:solidFill>
              <a:srgbClr val="9A33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3C8162BD-6073-FB44-A61F-CB92A86662A6}"/>
              </a:ext>
            </a:extLst>
          </p:cNvPr>
          <p:cNvSpPr>
            <a:spLocks noGrp="1"/>
          </p:cNvSpPr>
          <p:nvPr>
            <p:ph type="body" idx="1"/>
          </p:nvPr>
        </p:nvSpPr>
        <p:spPr>
          <a:xfrm>
            <a:off x="838200" y="1825625"/>
            <a:ext cx="10515600" cy="4351338"/>
          </a:xfrm>
        </p:spPr>
        <p:txBody>
          <a:bodyPr/>
          <a:lstStyle/>
          <a:p>
            <a:r>
              <a:rPr lang="en-US" dirty="0"/>
              <a:t>The average RMSE of UPA is 3.81%, five order of magnitudes lower than FLEX</a:t>
            </a:r>
          </a:p>
          <a:p>
            <a:r>
              <a:rPr lang="en-US" dirty="0"/>
              <a:t>It is because UPA is a brute-force based approach while FLEX is a static approach</a:t>
            </a:r>
          </a:p>
        </p:txBody>
      </p:sp>
      <p:sp>
        <p:nvSpPr>
          <p:cNvPr id="3" name="Slide Number Placeholder 2">
            <a:extLst>
              <a:ext uri="{FF2B5EF4-FFF2-40B4-BE49-F238E27FC236}">
                <a16:creationId xmlns:a16="http://schemas.microsoft.com/office/drawing/2014/main" id="{E3FC7469-A04A-F740-831D-49A32D5CE8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5" name="Oval 4">
            <a:extLst>
              <a:ext uri="{FF2B5EF4-FFF2-40B4-BE49-F238E27FC236}">
                <a16:creationId xmlns:a16="http://schemas.microsoft.com/office/drawing/2014/main" id="{032AE2DC-A69C-AA4F-9433-7F361EAFBFF2}"/>
              </a:ext>
            </a:extLst>
          </p:cNvPr>
          <p:cNvSpPr/>
          <p:nvPr/>
        </p:nvSpPr>
        <p:spPr>
          <a:xfrm>
            <a:off x="3902840" y="3239473"/>
            <a:ext cx="2781860" cy="34290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0738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21DC6-EB30-F342-9035-F48E7D84E59E}"/>
              </a:ext>
            </a:extLst>
          </p:cNvPr>
          <p:cNvSpPr>
            <a:spLocks noGrp="1"/>
          </p:cNvSpPr>
          <p:nvPr>
            <p:ph type="title"/>
          </p:nvPr>
        </p:nvSpPr>
        <p:spPr/>
        <p:txBody>
          <a:bodyPr/>
          <a:lstStyle/>
          <a:p>
            <a:r>
              <a:rPr lang="en-US" dirty="0"/>
              <a:t>UPA’s performance overhead</a:t>
            </a:r>
          </a:p>
        </p:txBody>
      </p:sp>
      <p:sp>
        <p:nvSpPr>
          <p:cNvPr id="3" name="Text Placeholder 2">
            <a:extLst>
              <a:ext uri="{FF2B5EF4-FFF2-40B4-BE49-F238E27FC236}">
                <a16:creationId xmlns:a16="http://schemas.microsoft.com/office/drawing/2014/main" id="{888DF02A-AE2E-0B4D-88A0-747885BFB27A}"/>
              </a:ext>
            </a:extLst>
          </p:cNvPr>
          <p:cNvSpPr>
            <a:spLocks noGrp="1"/>
          </p:cNvSpPr>
          <p:nvPr>
            <p:ph type="body" idx="1"/>
          </p:nvPr>
        </p:nvSpPr>
        <p:spPr/>
        <p:txBody>
          <a:bodyPr>
            <a:normAutofit/>
          </a:bodyPr>
          <a:lstStyle/>
          <a:p>
            <a:r>
              <a:rPr lang="en-US" sz="2400" dirty="0"/>
              <a:t>The figure shows UPA’s performance overhead on ~120GB input datasets</a:t>
            </a:r>
          </a:p>
          <a:p>
            <a:r>
              <a:rPr lang="en-US" sz="2400" dirty="0"/>
              <a:t>For ~120 GB input datasets, UPA’s performance overhead is merely 77.8% </a:t>
            </a:r>
          </a:p>
          <a:p>
            <a:pPr lvl="1"/>
            <a:r>
              <a:rPr lang="en-US" sz="2000" dirty="0"/>
              <a:t>UPA only needs to compute the influence of each 1000 sampled records on a query’s output value</a:t>
            </a:r>
          </a:p>
        </p:txBody>
      </p:sp>
      <p:pic>
        <p:nvPicPr>
          <p:cNvPr id="5" name="Picture 4">
            <a:extLst>
              <a:ext uri="{FF2B5EF4-FFF2-40B4-BE49-F238E27FC236}">
                <a16:creationId xmlns:a16="http://schemas.microsoft.com/office/drawing/2014/main" id="{D1FEDB41-5BDC-DC4B-AB36-D768B2EBDF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0114" y="3554293"/>
            <a:ext cx="4219857" cy="3167182"/>
          </a:xfrm>
          <a:prstGeom prst="rect">
            <a:avLst/>
          </a:prstGeom>
        </p:spPr>
      </p:pic>
      <p:sp>
        <p:nvSpPr>
          <p:cNvPr id="6" name="Slide Number Placeholder 5">
            <a:extLst>
              <a:ext uri="{FF2B5EF4-FFF2-40B4-BE49-F238E27FC236}">
                <a16:creationId xmlns:a16="http://schemas.microsoft.com/office/drawing/2014/main" id="{77930964-7BA8-B249-89AF-4C2AE0D369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4268614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F687F-D55F-A141-B632-A1A8FE95312F}"/>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8072A814-B124-F442-9B65-5E0BD7E37F0D}"/>
              </a:ext>
            </a:extLst>
          </p:cNvPr>
          <p:cNvSpPr>
            <a:spLocks noGrp="1"/>
          </p:cNvSpPr>
          <p:nvPr>
            <p:ph type="body" idx="1"/>
          </p:nvPr>
        </p:nvSpPr>
        <p:spPr>
          <a:xfrm>
            <a:off x="838199" y="1825625"/>
            <a:ext cx="10833847" cy="4351338"/>
          </a:xfrm>
        </p:spPr>
        <p:txBody>
          <a:bodyPr/>
          <a:lstStyle/>
          <a:p>
            <a:r>
              <a:rPr lang="en-US" dirty="0"/>
              <a:t>UPA enforces end-to-end DP automatically, accurately and efficiently by leveraging big-data operators commutativity and associativity properties, as well as sampling theories</a:t>
            </a:r>
          </a:p>
          <a:p>
            <a:r>
              <a:rPr lang="en-US" dirty="0"/>
              <a:t>UPA has the potential to greatly promote the adoption of DP in real- world big-data analytics, effectively protecting the privacy of user data</a:t>
            </a:r>
          </a:p>
          <a:p>
            <a:pPr lvl="1"/>
            <a:r>
              <a:rPr lang="en-US" dirty="0"/>
              <a:t>medical analysis, FinTech, social network, </a:t>
            </a:r>
            <a:r>
              <a:rPr lang="en-US" dirty="0" err="1"/>
              <a:t>WIoT</a:t>
            </a:r>
            <a:endParaRPr lang="en-US" dirty="0"/>
          </a:p>
          <a:p>
            <a:r>
              <a:rPr lang="en-US" dirty="0"/>
              <a:t>All UPA’s source code and evaluation results are available on https://</a:t>
            </a:r>
            <a:r>
              <a:rPr lang="en-US" dirty="0" err="1"/>
              <a:t>github.com</a:t>
            </a:r>
            <a:r>
              <a:rPr lang="en-US" dirty="0"/>
              <a:t>/</a:t>
            </a:r>
            <a:r>
              <a:rPr lang="en-US" dirty="0" err="1"/>
              <a:t>hku</a:t>
            </a:r>
            <a:r>
              <a:rPr lang="en-US" dirty="0"/>
              <a:t>-systems/UPA</a:t>
            </a:r>
          </a:p>
        </p:txBody>
      </p:sp>
      <p:sp>
        <p:nvSpPr>
          <p:cNvPr id="4" name="Slide Number Placeholder 3">
            <a:extLst>
              <a:ext uri="{FF2B5EF4-FFF2-40B4-BE49-F238E27FC236}">
                <a16:creationId xmlns:a16="http://schemas.microsoft.com/office/drawing/2014/main" id="{CE66A349-AE25-544A-AEE7-F3EFCF115C5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3386549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F687F-D55F-A141-B632-A1A8FE95312F}"/>
              </a:ext>
            </a:extLst>
          </p:cNvPr>
          <p:cNvSpPr>
            <a:spLocks noGrp="1"/>
          </p:cNvSpPr>
          <p:nvPr>
            <p:ph type="title"/>
          </p:nvPr>
        </p:nvSpPr>
        <p:spPr/>
        <p:txBody>
          <a:bodyPr/>
          <a:lstStyle/>
          <a:p>
            <a:r>
              <a:rPr lang="en-US" dirty="0"/>
              <a:t>Another interesting application of Differential Privacy</a:t>
            </a:r>
          </a:p>
        </p:txBody>
      </p:sp>
      <p:sp>
        <p:nvSpPr>
          <p:cNvPr id="3" name="Text Placeholder 2">
            <a:extLst>
              <a:ext uri="{FF2B5EF4-FFF2-40B4-BE49-F238E27FC236}">
                <a16:creationId xmlns:a16="http://schemas.microsoft.com/office/drawing/2014/main" id="{8072A814-B124-F442-9B65-5E0BD7E37F0D}"/>
              </a:ext>
            </a:extLst>
          </p:cNvPr>
          <p:cNvSpPr>
            <a:spLocks noGrp="1"/>
          </p:cNvSpPr>
          <p:nvPr>
            <p:ph type="body" idx="1"/>
          </p:nvPr>
        </p:nvSpPr>
        <p:spPr>
          <a:xfrm>
            <a:off x="838199" y="1825625"/>
            <a:ext cx="10833847" cy="4351338"/>
          </a:xfrm>
        </p:spPr>
        <p:txBody>
          <a:bodyPr/>
          <a:lstStyle/>
          <a:p>
            <a:r>
              <a:rPr lang="en-US" dirty="0"/>
              <a:t>Certified robustness of adversarial learning</a:t>
            </a:r>
          </a:p>
        </p:txBody>
      </p:sp>
      <p:sp>
        <p:nvSpPr>
          <p:cNvPr id="4" name="Slide Number Placeholder 3">
            <a:extLst>
              <a:ext uri="{FF2B5EF4-FFF2-40B4-BE49-F238E27FC236}">
                <a16:creationId xmlns:a16="http://schemas.microsoft.com/office/drawing/2014/main" id="{CE66A349-AE25-544A-AEE7-F3EFCF115C5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5" name="Picture 4">
            <a:extLst>
              <a:ext uri="{FF2B5EF4-FFF2-40B4-BE49-F238E27FC236}">
                <a16:creationId xmlns:a16="http://schemas.microsoft.com/office/drawing/2014/main" id="{3BED4E1C-9C9B-8642-B85C-FEEF82BEAC8D}"/>
              </a:ext>
            </a:extLst>
          </p:cNvPr>
          <p:cNvPicPr>
            <a:picLocks noChangeAspect="1"/>
          </p:cNvPicPr>
          <p:nvPr/>
        </p:nvPicPr>
        <p:blipFill>
          <a:blip r:embed="rId3"/>
          <a:stretch>
            <a:fillRect/>
          </a:stretch>
        </p:blipFill>
        <p:spPr>
          <a:xfrm>
            <a:off x="2075147" y="3132564"/>
            <a:ext cx="7559505" cy="2865966"/>
          </a:xfrm>
          <a:prstGeom prst="rect">
            <a:avLst/>
          </a:prstGeom>
        </p:spPr>
      </p:pic>
    </p:spTree>
    <p:extLst>
      <p:ext uri="{BB962C8B-B14F-4D97-AF65-F5344CB8AC3E}">
        <p14:creationId xmlns:p14="http://schemas.microsoft.com/office/powerpoint/2010/main" val="612023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0460C-224F-1542-8562-98E018D336EF}"/>
              </a:ext>
            </a:extLst>
          </p:cNvPr>
          <p:cNvSpPr>
            <a:spLocks noGrp="1"/>
          </p:cNvSpPr>
          <p:nvPr>
            <p:ph type="title"/>
          </p:nvPr>
        </p:nvSpPr>
        <p:spPr>
          <a:xfrm>
            <a:off x="838200" y="964150"/>
            <a:ext cx="10515600" cy="2852737"/>
          </a:xfrm>
        </p:spPr>
        <p:txBody>
          <a:bodyPr/>
          <a:lstStyle/>
          <a:p>
            <a:pPr algn="ctr"/>
            <a:r>
              <a:rPr lang="en-US" dirty="0"/>
              <a:t>Thank you!</a:t>
            </a:r>
          </a:p>
        </p:txBody>
      </p:sp>
      <p:sp>
        <p:nvSpPr>
          <p:cNvPr id="3" name="Slide Number Placeholder 2">
            <a:extLst>
              <a:ext uri="{FF2B5EF4-FFF2-40B4-BE49-F238E27FC236}">
                <a16:creationId xmlns:a16="http://schemas.microsoft.com/office/drawing/2014/main" id="{034DF113-C1E3-BF4E-AA26-0C798FBF01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3407775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4818F-7F60-BA49-A6F2-0ACC739F563E}"/>
              </a:ext>
            </a:extLst>
          </p:cNvPr>
          <p:cNvSpPr>
            <a:spLocks noGrp="1"/>
          </p:cNvSpPr>
          <p:nvPr>
            <p:ph type="title"/>
          </p:nvPr>
        </p:nvSpPr>
        <p:spPr/>
        <p:txBody>
          <a:bodyPr/>
          <a:lstStyle/>
          <a:p>
            <a:r>
              <a:rPr lang="en-US" dirty="0"/>
              <a:t>teaser</a:t>
            </a:r>
          </a:p>
        </p:txBody>
      </p:sp>
      <p:sp>
        <p:nvSpPr>
          <p:cNvPr id="3" name="Text Placeholder 2">
            <a:extLst>
              <a:ext uri="{FF2B5EF4-FFF2-40B4-BE49-F238E27FC236}">
                <a16:creationId xmlns:a16="http://schemas.microsoft.com/office/drawing/2014/main" id="{0358BEE0-2AE6-9B46-9FCD-4F8C047E2B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1C0238-7986-F24E-A2D0-0EEB1FB64E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extLst>
      <p:ext uri="{BB962C8B-B14F-4D97-AF65-F5344CB8AC3E}">
        <p14:creationId xmlns:p14="http://schemas.microsoft.com/office/powerpoint/2010/main" val="578925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7" name="Oval 26">
            <a:extLst>
              <a:ext uri="{FF2B5EF4-FFF2-40B4-BE49-F238E27FC236}">
                <a16:creationId xmlns:a16="http://schemas.microsoft.com/office/drawing/2014/main" id="{5EE5061F-9754-0142-BCF0-DF664F5C22C6}"/>
              </a:ext>
            </a:extLst>
          </p:cNvPr>
          <p:cNvSpPr/>
          <p:nvPr/>
        </p:nvSpPr>
        <p:spPr>
          <a:xfrm>
            <a:off x="2589778" y="5778972"/>
            <a:ext cx="230156" cy="250989"/>
          </a:xfrm>
          <a:prstGeom prst="ellipse">
            <a:avLst/>
          </a:prstGeom>
          <a:solidFill>
            <a:srgbClr val="98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8A8A378-D48D-4349-A6B2-E7F706470BAC}"/>
              </a:ext>
            </a:extLst>
          </p:cNvPr>
          <p:cNvSpPr/>
          <p:nvPr/>
        </p:nvSpPr>
        <p:spPr>
          <a:xfrm>
            <a:off x="2603567" y="5208375"/>
            <a:ext cx="230156" cy="250989"/>
          </a:xfrm>
          <a:prstGeom prst="ellipse">
            <a:avLst/>
          </a:prstGeom>
          <a:solidFill>
            <a:srgbClr val="98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Differential Privacy</a:t>
            </a:r>
            <a:endParaRPr dirty="0"/>
          </a:p>
        </p:txBody>
      </p:sp>
      <p:sp>
        <p:nvSpPr>
          <p:cNvPr id="91" name="Google Shape;91;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indent="-228600">
              <a:spcBef>
                <a:spcPts val="0"/>
              </a:spcBef>
              <a:buSzPts val="2800"/>
            </a:pPr>
            <a:r>
              <a:rPr lang="en-US" sz="2400" dirty="0"/>
              <a:t>Differential Privacy (DP) is a gold standard of preserving privacy of an individual data record in an input dataset</a:t>
            </a:r>
          </a:p>
          <a:p>
            <a:pPr marL="228600" indent="-228600">
              <a:spcBef>
                <a:spcPts val="0"/>
              </a:spcBef>
              <a:buSzPts val="2800"/>
            </a:pPr>
            <a:r>
              <a:rPr lang="en-US" sz="2400" dirty="0"/>
              <a:t>Given a query and an input dataset consists of many data records, DP adds noise to the query’s output to prevent the output from leaking sensitive information of any individual record</a:t>
            </a:r>
          </a:p>
          <a:p>
            <a:pPr marL="0" lvl="0" indent="0" algn="l" rtl="0">
              <a:lnSpc>
                <a:spcPct val="90000"/>
              </a:lnSpc>
              <a:spcBef>
                <a:spcPts val="0"/>
              </a:spcBef>
              <a:spcAft>
                <a:spcPts val="0"/>
              </a:spcAft>
              <a:buClr>
                <a:schemeClr val="dk1"/>
              </a:buClr>
              <a:buSzPts val="2800"/>
              <a:buNone/>
            </a:pPr>
            <a:endParaRPr lang="en-US" dirty="0"/>
          </a:p>
        </p:txBody>
      </p:sp>
      <p:pic>
        <p:nvPicPr>
          <p:cNvPr id="17" name="Graphic 16" descr="Devil face with solid fill">
            <a:extLst>
              <a:ext uri="{FF2B5EF4-FFF2-40B4-BE49-F238E27FC236}">
                <a16:creationId xmlns:a16="http://schemas.microsoft.com/office/drawing/2014/main" id="{CCE3281C-6C0A-BE40-92C7-C677EC6652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28658" y="5030117"/>
            <a:ext cx="1290512" cy="1276540"/>
          </a:xfrm>
          <a:prstGeom prst="rect">
            <a:avLst/>
          </a:prstGeom>
        </p:spPr>
      </p:pic>
      <p:cxnSp>
        <p:nvCxnSpPr>
          <p:cNvPr id="19" name="Straight Arrow Connector 18">
            <a:extLst>
              <a:ext uri="{FF2B5EF4-FFF2-40B4-BE49-F238E27FC236}">
                <a16:creationId xmlns:a16="http://schemas.microsoft.com/office/drawing/2014/main" id="{10588AF3-FF45-1048-87EF-BB293C97DC4C}"/>
              </a:ext>
            </a:extLst>
          </p:cNvPr>
          <p:cNvCxnSpPr/>
          <p:nvPr/>
        </p:nvCxnSpPr>
        <p:spPr bwMode="auto">
          <a:xfrm>
            <a:off x="3942117" y="5574938"/>
            <a:ext cx="2743200" cy="0"/>
          </a:xfrm>
          <a:prstGeom prst="straightConnector1">
            <a:avLst/>
          </a:prstGeom>
          <a:noFill/>
          <a:ln w="19050" cap="flat" cmpd="sng" algn="ctr">
            <a:solidFill>
              <a:schemeClr val="tx1"/>
            </a:solidFill>
            <a:prstDash val="solid"/>
            <a:round/>
            <a:headEnd type="none" w="med" len="med"/>
            <a:tailEnd type="triangle"/>
          </a:ln>
          <a:effectLst/>
        </p:spPr>
      </p:cxnSp>
      <p:sp>
        <p:nvSpPr>
          <p:cNvPr id="20" name="TextBox 19">
            <a:extLst>
              <a:ext uri="{FF2B5EF4-FFF2-40B4-BE49-F238E27FC236}">
                <a16:creationId xmlns:a16="http://schemas.microsoft.com/office/drawing/2014/main" id="{49389575-0312-144F-9E2E-D3A8A882F26E}"/>
              </a:ext>
            </a:extLst>
          </p:cNvPr>
          <p:cNvSpPr txBox="1"/>
          <p:nvPr/>
        </p:nvSpPr>
        <p:spPr>
          <a:xfrm>
            <a:off x="3922093" y="4218002"/>
            <a:ext cx="2783247" cy="1323439"/>
          </a:xfrm>
          <a:prstGeom prst="rect">
            <a:avLst/>
          </a:prstGeom>
          <a:noFill/>
        </p:spPr>
        <p:txBody>
          <a:bodyPr wrap="square" rtlCol="0" anchor="t">
            <a:spAutoFit/>
          </a:bodyPr>
          <a:lstStyle/>
          <a:p>
            <a:pPr algn="just"/>
            <a:r>
              <a:rPr lang="en-US" altLang="zh-TW" sz="2000" b="0" dirty="0">
                <a:latin typeface="+mn-lt"/>
                <a:ea typeface="新細明體"/>
              </a:rPr>
              <a:t>Count the number of patients </a:t>
            </a:r>
            <a:r>
              <a:rPr lang="en-US" altLang="zh-TW" sz="2000" dirty="0">
                <a:latin typeface="+mn-lt"/>
                <a:ea typeface="新細明體"/>
              </a:rPr>
              <a:t>who entered</a:t>
            </a:r>
            <a:r>
              <a:rPr lang="en-US" altLang="zh-TW" sz="2000" b="0" dirty="0">
                <a:latin typeface="+mn-lt"/>
                <a:ea typeface="新細明體"/>
              </a:rPr>
              <a:t> ICU on 1</a:t>
            </a:r>
            <a:r>
              <a:rPr lang="en-US" altLang="zh-TW" sz="2000" b="0" baseline="30000" dirty="0">
                <a:latin typeface="+mn-lt"/>
                <a:ea typeface="新細明體"/>
              </a:rPr>
              <a:t>st</a:t>
            </a:r>
            <a:r>
              <a:rPr lang="en-US" altLang="zh-TW" sz="2000" b="0" dirty="0">
                <a:latin typeface="+mn-lt"/>
                <a:ea typeface="新細明體"/>
              </a:rPr>
              <a:t> Jan 2019 and had a heart attack</a:t>
            </a:r>
            <a:endParaRPr lang="en-US" sz="2000" b="0" dirty="0">
              <a:latin typeface="+mn-lt"/>
              <a:ea typeface="新細明體"/>
            </a:endParaRPr>
          </a:p>
        </p:txBody>
      </p:sp>
      <p:cxnSp>
        <p:nvCxnSpPr>
          <p:cNvPr id="21" name="Straight Arrow Connector 20">
            <a:extLst>
              <a:ext uri="{FF2B5EF4-FFF2-40B4-BE49-F238E27FC236}">
                <a16:creationId xmlns:a16="http://schemas.microsoft.com/office/drawing/2014/main" id="{4F7F1202-AEEF-8F4F-BDA3-400B356C7A5C}"/>
              </a:ext>
            </a:extLst>
          </p:cNvPr>
          <p:cNvCxnSpPr>
            <a:cxnSpLocks/>
          </p:cNvCxnSpPr>
          <p:nvPr/>
        </p:nvCxnSpPr>
        <p:spPr bwMode="auto">
          <a:xfrm flipH="1">
            <a:off x="3942117" y="5975048"/>
            <a:ext cx="2743200" cy="0"/>
          </a:xfrm>
          <a:prstGeom prst="straightConnector1">
            <a:avLst/>
          </a:prstGeom>
          <a:noFill/>
          <a:ln w="19050" cap="flat" cmpd="sng" algn="ctr">
            <a:solidFill>
              <a:schemeClr val="tx1"/>
            </a:solidFill>
            <a:prstDash val="solid"/>
            <a:round/>
            <a:headEnd type="none" w="med" len="med"/>
            <a:tailEnd type="triangle"/>
          </a:ln>
          <a:effectLst/>
        </p:spPr>
      </p:cxnSp>
      <p:sp>
        <p:nvSpPr>
          <p:cNvPr id="22" name="TextBox 21">
            <a:extLst>
              <a:ext uri="{FF2B5EF4-FFF2-40B4-BE49-F238E27FC236}">
                <a16:creationId xmlns:a16="http://schemas.microsoft.com/office/drawing/2014/main" id="{5FADA6B9-EB43-F544-831A-4A9D11EC8079}"/>
              </a:ext>
            </a:extLst>
          </p:cNvPr>
          <p:cNvSpPr txBox="1"/>
          <p:nvPr/>
        </p:nvSpPr>
        <p:spPr>
          <a:xfrm>
            <a:off x="4061204" y="6137988"/>
            <a:ext cx="1739820" cy="400110"/>
          </a:xfrm>
          <a:prstGeom prst="rect">
            <a:avLst/>
          </a:prstGeom>
          <a:noFill/>
        </p:spPr>
        <p:txBody>
          <a:bodyPr wrap="square" rtlCol="0">
            <a:spAutoFit/>
          </a:bodyPr>
          <a:lstStyle/>
          <a:p>
            <a:r>
              <a:rPr lang="en-US" altLang="zh-TW" sz="2000" b="0" dirty="0">
                <a:latin typeface="+mn-lt"/>
                <a:ea typeface="+mn-ea"/>
              </a:rPr>
              <a:t>Output: 1</a:t>
            </a:r>
            <a:endParaRPr lang="en-US" sz="2000" dirty="0">
              <a:latin typeface="+mn-lt"/>
              <a:ea typeface="+mn-ea"/>
            </a:endParaRPr>
          </a:p>
        </p:txBody>
      </p:sp>
      <p:sp>
        <p:nvSpPr>
          <p:cNvPr id="29" name="TextBox 28">
            <a:extLst>
              <a:ext uri="{FF2B5EF4-FFF2-40B4-BE49-F238E27FC236}">
                <a16:creationId xmlns:a16="http://schemas.microsoft.com/office/drawing/2014/main" id="{BDB95ABC-9002-344A-8761-189104F5CB8D}"/>
              </a:ext>
            </a:extLst>
          </p:cNvPr>
          <p:cNvSpPr txBox="1"/>
          <p:nvPr/>
        </p:nvSpPr>
        <p:spPr>
          <a:xfrm>
            <a:off x="5194543" y="6063967"/>
            <a:ext cx="1354858" cy="523220"/>
          </a:xfrm>
          <a:prstGeom prst="rect">
            <a:avLst/>
          </a:prstGeom>
          <a:noFill/>
        </p:spPr>
        <p:txBody>
          <a:bodyPr wrap="none" rtlCol="0">
            <a:spAutoFit/>
          </a:bodyPr>
          <a:lstStyle/>
          <a:p>
            <a:r>
              <a:rPr lang="en-US" sz="2800" dirty="0">
                <a:solidFill>
                  <a:srgbClr val="C00000"/>
                </a:solidFill>
              </a:rPr>
              <a:t>+ noise</a:t>
            </a:r>
          </a:p>
        </p:txBody>
      </p:sp>
      <p:sp>
        <p:nvSpPr>
          <p:cNvPr id="30" name="Slide Number Placeholder 29">
            <a:extLst>
              <a:ext uri="{FF2B5EF4-FFF2-40B4-BE49-F238E27FC236}">
                <a16:creationId xmlns:a16="http://schemas.microsoft.com/office/drawing/2014/main" id="{982C4197-DCE7-9546-A218-D4CFB09697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dirty="0"/>
          </a:p>
        </p:txBody>
      </p:sp>
      <p:sp>
        <p:nvSpPr>
          <p:cNvPr id="2" name="TextBox 1">
            <a:extLst>
              <a:ext uri="{FF2B5EF4-FFF2-40B4-BE49-F238E27FC236}">
                <a16:creationId xmlns:a16="http://schemas.microsoft.com/office/drawing/2014/main" id="{24EC4893-19C9-394A-9461-C002A0EBC169}"/>
              </a:ext>
            </a:extLst>
          </p:cNvPr>
          <p:cNvSpPr txBox="1"/>
          <p:nvPr/>
        </p:nvSpPr>
        <p:spPr>
          <a:xfrm>
            <a:off x="3032258" y="6168599"/>
            <a:ext cx="732893" cy="461665"/>
          </a:xfrm>
          <a:prstGeom prst="rect">
            <a:avLst/>
          </a:prstGeom>
          <a:noFill/>
        </p:spPr>
        <p:txBody>
          <a:bodyPr wrap="none" rtlCol="0">
            <a:spAutoFit/>
          </a:bodyPr>
          <a:lstStyle/>
          <a:p>
            <a:r>
              <a:rPr lang="en-US" sz="2400" dirty="0"/>
              <a:t>Bob</a:t>
            </a:r>
          </a:p>
        </p:txBody>
      </p:sp>
      <p:sp>
        <p:nvSpPr>
          <p:cNvPr id="15" name="TextBox 14">
            <a:extLst>
              <a:ext uri="{FF2B5EF4-FFF2-40B4-BE49-F238E27FC236}">
                <a16:creationId xmlns:a16="http://schemas.microsoft.com/office/drawing/2014/main" id="{1D11DCA8-7CB7-8C49-BA7D-FFC1372DBE92}"/>
              </a:ext>
            </a:extLst>
          </p:cNvPr>
          <p:cNvSpPr txBox="1"/>
          <p:nvPr/>
        </p:nvSpPr>
        <p:spPr>
          <a:xfrm>
            <a:off x="7308253" y="6125517"/>
            <a:ext cx="3599062" cy="461665"/>
          </a:xfrm>
          <a:prstGeom prst="rect">
            <a:avLst/>
          </a:prstGeom>
          <a:noFill/>
        </p:spPr>
        <p:txBody>
          <a:bodyPr wrap="none" rtlCol="0" anchor="t">
            <a:spAutoFit/>
          </a:bodyPr>
          <a:lstStyle/>
          <a:p>
            <a:r>
              <a:rPr lang="en-US" altLang="zh-TW" sz="2400" dirty="0">
                <a:latin typeface="+mn-lt"/>
                <a:ea typeface="新細明體"/>
              </a:rPr>
              <a:t>Patients' medical dataset</a:t>
            </a:r>
            <a:endParaRPr lang="en-US" sz="2400" dirty="0">
              <a:ea typeface="+mn-ea"/>
            </a:endParaRPr>
          </a:p>
        </p:txBody>
      </p:sp>
      <p:graphicFrame>
        <p:nvGraphicFramePr>
          <p:cNvPr id="16" name="Table 15">
            <a:extLst>
              <a:ext uri="{FF2B5EF4-FFF2-40B4-BE49-F238E27FC236}">
                <a16:creationId xmlns:a16="http://schemas.microsoft.com/office/drawing/2014/main" id="{DCA3B782-115E-A94E-9ACD-F75030F6D9EC}"/>
              </a:ext>
            </a:extLst>
          </p:cNvPr>
          <p:cNvGraphicFramePr>
            <a:graphicFrameLocks noGrp="1"/>
          </p:cNvGraphicFramePr>
          <p:nvPr>
            <p:extLst>
              <p:ext uri="{D42A27DB-BD31-4B8C-83A1-F6EECF244321}">
                <p14:modId xmlns:p14="http://schemas.microsoft.com/office/powerpoint/2010/main" val="1818596830"/>
              </p:ext>
            </p:extLst>
          </p:nvPr>
        </p:nvGraphicFramePr>
        <p:xfrm>
          <a:off x="6861188" y="3718859"/>
          <a:ext cx="4962729" cy="2355008"/>
        </p:xfrm>
        <a:graphic>
          <a:graphicData uri="http://schemas.openxmlformats.org/drawingml/2006/table">
            <a:tbl>
              <a:tblPr firstRow="1" bandRow="1">
                <a:tableStyleId>{35758FB7-9AC5-4552-8A53-C91805E547FA}</a:tableStyleId>
              </a:tblPr>
              <a:tblGrid>
                <a:gridCol w="1839730">
                  <a:extLst>
                    <a:ext uri="{9D8B030D-6E8A-4147-A177-3AD203B41FA5}">
                      <a16:colId xmlns:a16="http://schemas.microsoft.com/office/drawing/2014/main" val="1243730644"/>
                    </a:ext>
                  </a:extLst>
                </a:gridCol>
                <a:gridCol w="1568958">
                  <a:extLst>
                    <a:ext uri="{9D8B030D-6E8A-4147-A177-3AD203B41FA5}">
                      <a16:colId xmlns:a16="http://schemas.microsoft.com/office/drawing/2014/main" val="3419260626"/>
                    </a:ext>
                  </a:extLst>
                </a:gridCol>
                <a:gridCol w="1554041">
                  <a:extLst>
                    <a:ext uri="{9D8B030D-6E8A-4147-A177-3AD203B41FA5}">
                      <a16:colId xmlns:a16="http://schemas.microsoft.com/office/drawing/2014/main" val="4089942710"/>
                    </a:ext>
                  </a:extLst>
                </a:gridCol>
              </a:tblGrid>
              <a:tr h="544209">
                <a:tc>
                  <a:txBody>
                    <a:bodyPr/>
                    <a:lstStyle/>
                    <a:p>
                      <a:r>
                        <a:rPr lang="en-US" sz="1600" dirty="0"/>
                        <a:t>Patient Name</a:t>
                      </a:r>
                    </a:p>
                    <a:p>
                      <a:r>
                        <a:rPr lang="en-US" sz="1600" dirty="0"/>
                        <a:t>(non-accessible)</a:t>
                      </a:r>
                    </a:p>
                  </a:txBody>
                  <a:tcPr/>
                </a:tc>
                <a:tc>
                  <a:txBody>
                    <a:bodyPr/>
                    <a:lstStyle/>
                    <a:p>
                      <a:r>
                        <a:rPr lang="en-US" sz="1600" dirty="0"/>
                        <a:t>Entered ICU Date</a:t>
                      </a:r>
                    </a:p>
                  </a:txBody>
                  <a:tcPr/>
                </a:tc>
                <a:tc>
                  <a:txBody>
                    <a:bodyPr/>
                    <a:lstStyle/>
                    <a:p>
                      <a:r>
                        <a:rPr lang="en-US" sz="1600" dirty="0"/>
                        <a:t>Symptoms</a:t>
                      </a:r>
                    </a:p>
                  </a:txBody>
                  <a:tcPr/>
                </a:tc>
                <a:extLst>
                  <a:ext uri="{0D108BD9-81ED-4DB2-BD59-A6C34878D82A}">
                    <a16:rowId xmlns:a16="http://schemas.microsoft.com/office/drawing/2014/main" val="2842646465"/>
                  </a:ext>
                </a:extLst>
              </a:tr>
              <a:tr h="443972">
                <a:tc>
                  <a:txBody>
                    <a:bodyPr/>
                    <a:lstStyle/>
                    <a:p>
                      <a:r>
                        <a:rPr lang="en-US" sz="1600" dirty="0"/>
                        <a:t>Tom</a:t>
                      </a:r>
                    </a:p>
                  </a:txBody>
                  <a:tcPr/>
                </a:tc>
                <a:tc>
                  <a:txBody>
                    <a:bodyPr/>
                    <a:lstStyle/>
                    <a:p>
                      <a:r>
                        <a:rPr lang="en-US" sz="1600" dirty="0"/>
                        <a:t>2</a:t>
                      </a:r>
                      <a:r>
                        <a:rPr lang="en-US" sz="1600" baseline="30000" dirty="0"/>
                        <a:t>nd</a:t>
                      </a:r>
                      <a:r>
                        <a:rPr lang="en-US" sz="1600" dirty="0"/>
                        <a:t> Jan 2019</a:t>
                      </a:r>
                    </a:p>
                  </a:txBody>
                  <a:tcPr/>
                </a:tc>
                <a:tc>
                  <a:txBody>
                    <a:bodyPr/>
                    <a:lstStyle/>
                    <a:p>
                      <a:r>
                        <a:rPr lang="en-US" sz="1600" dirty="0"/>
                        <a:t>Stroke</a:t>
                      </a:r>
                    </a:p>
                  </a:txBody>
                  <a:tcPr/>
                </a:tc>
                <a:extLst>
                  <a:ext uri="{0D108BD9-81ED-4DB2-BD59-A6C34878D82A}">
                    <a16:rowId xmlns:a16="http://schemas.microsoft.com/office/drawing/2014/main" val="976098795"/>
                  </a:ext>
                </a:extLst>
              </a:tr>
              <a:tr h="443972">
                <a:tc>
                  <a:txBody>
                    <a:bodyPr/>
                    <a:lstStyle/>
                    <a:p>
                      <a:r>
                        <a:rPr lang="en-US" sz="1600" dirty="0"/>
                        <a:t>Alice</a:t>
                      </a:r>
                    </a:p>
                  </a:txBody>
                  <a:tcPr/>
                </a:tc>
                <a:tc>
                  <a:txBody>
                    <a:bodyPr/>
                    <a:lstStyle/>
                    <a:p>
                      <a:r>
                        <a:rPr lang="en-US" sz="1600" dirty="0"/>
                        <a:t>1</a:t>
                      </a:r>
                      <a:r>
                        <a:rPr lang="en-US" sz="1600" baseline="30000" dirty="0"/>
                        <a:t>st</a:t>
                      </a:r>
                      <a:r>
                        <a:rPr lang="en-US" sz="1600" dirty="0"/>
                        <a:t> Jan 2019</a:t>
                      </a:r>
                    </a:p>
                  </a:txBody>
                  <a:tcPr/>
                </a:tc>
                <a:tc>
                  <a:txBody>
                    <a:bodyPr/>
                    <a:lstStyle/>
                    <a:p>
                      <a:r>
                        <a:rPr lang="en-US" sz="1600" dirty="0"/>
                        <a:t>Heart attack</a:t>
                      </a:r>
                    </a:p>
                  </a:txBody>
                  <a:tcPr/>
                </a:tc>
                <a:extLst>
                  <a:ext uri="{0D108BD9-81ED-4DB2-BD59-A6C34878D82A}">
                    <a16:rowId xmlns:a16="http://schemas.microsoft.com/office/drawing/2014/main" val="2077925622"/>
                  </a:ext>
                </a:extLst>
              </a:tr>
              <a:tr h="443972">
                <a:tc>
                  <a:txBody>
                    <a:bodyPr/>
                    <a:lstStyle/>
                    <a:p>
                      <a:r>
                        <a:rPr lang="en-US" sz="1600" dirty="0"/>
                        <a:t>Mary</a:t>
                      </a:r>
                    </a:p>
                  </a:txBody>
                  <a:tcPr/>
                </a:tc>
                <a:tc>
                  <a:txBody>
                    <a:bodyPr/>
                    <a:lstStyle/>
                    <a:p>
                      <a:r>
                        <a:rPr lang="en-US" sz="1600" dirty="0"/>
                        <a:t>3</a:t>
                      </a:r>
                      <a:r>
                        <a:rPr lang="en-US" sz="1600" baseline="30000" dirty="0"/>
                        <a:t>rd</a:t>
                      </a:r>
                      <a:r>
                        <a:rPr lang="en-US" sz="1600" dirty="0"/>
                        <a:t> Jan 2019</a:t>
                      </a:r>
                    </a:p>
                  </a:txBody>
                  <a:tcPr/>
                </a:tc>
                <a:tc>
                  <a:txBody>
                    <a:bodyPr/>
                    <a:lstStyle/>
                    <a:p>
                      <a:r>
                        <a:rPr lang="en-HK" sz="1600" u="none" strike="noStrike" cap="none" dirty="0">
                          <a:effectLst/>
                          <a:sym typeface="Arial"/>
                        </a:rPr>
                        <a:t>Pneumonia</a:t>
                      </a:r>
                      <a:endParaRPr lang="en-US" sz="1600" b="0" dirty="0"/>
                    </a:p>
                  </a:txBody>
                  <a:tcPr/>
                </a:tc>
                <a:extLst>
                  <a:ext uri="{0D108BD9-81ED-4DB2-BD59-A6C34878D82A}">
                    <a16:rowId xmlns:a16="http://schemas.microsoft.com/office/drawing/2014/main" val="3541591628"/>
                  </a:ext>
                </a:extLst>
              </a:tr>
              <a:tr h="443972">
                <a:tc gridSpan="3">
                  <a:txBody>
                    <a:bodyPr/>
                    <a:lstStyle/>
                    <a:p>
                      <a:pPr algn="ctr"/>
                      <a:r>
                        <a:rPr lang="en-US" sz="1600" dirty="0"/>
                        <a:t>…</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736295955"/>
                  </a:ext>
                </a:extLst>
              </a:tr>
            </a:tbl>
          </a:graphicData>
        </a:graphic>
      </p:graphicFrame>
      <p:sp>
        <p:nvSpPr>
          <p:cNvPr id="18" name="Rectangle 17">
            <a:extLst>
              <a:ext uri="{FF2B5EF4-FFF2-40B4-BE49-F238E27FC236}">
                <a16:creationId xmlns:a16="http://schemas.microsoft.com/office/drawing/2014/main" id="{529D0B94-139F-FA42-ACF6-80E15472F1D5}"/>
              </a:ext>
            </a:extLst>
          </p:cNvPr>
          <p:cNvSpPr/>
          <p:nvPr/>
        </p:nvSpPr>
        <p:spPr>
          <a:xfrm>
            <a:off x="6691045" y="4717957"/>
            <a:ext cx="5323653" cy="4860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D4465FD2-2C46-8542-97D8-C62976BD9D90}"/>
              </a:ext>
            </a:extLst>
          </p:cNvPr>
          <p:cNvSpPr/>
          <p:nvPr/>
        </p:nvSpPr>
        <p:spPr>
          <a:xfrm>
            <a:off x="2340354" y="4888439"/>
            <a:ext cx="477973" cy="462743"/>
          </a:xfrm>
          <a:prstGeom prst="ellipse">
            <a:avLst/>
          </a:prstGeom>
          <a:solidFill>
            <a:srgbClr val="98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loud 2">
            <a:extLst>
              <a:ext uri="{FF2B5EF4-FFF2-40B4-BE49-F238E27FC236}">
                <a16:creationId xmlns:a16="http://schemas.microsoft.com/office/drawing/2014/main" id="{3374AEC4-A4DC-3C40-A722-86C05DBE48A1}"/>
              </a:ext>
            </a:extLst>
          </p:cNvPr>
          <p:cNvSpPr/>
          <p:nvPr/>
        </p:nvSpPr>
        <p:spPr>
          <a:xfrm>
            <a:off x="123347" y="3565292"/>
            <a:ext cx="2850412" cy="1928923"/>
          </a:xfrm>
          <a:prstGeom prst="cloud">
            <a:avLst/>
          </a:prstGeom>
          <a:solidFill>
            <a:srgbClr val="98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26" name="Oval 25">
            <a:extLst>
              <a:ext uri="{FF2B5EF4-FFF2-40B4-BE49-F238E27FC236}">
                <a16:creationId xmlns:a16="http://schemas.microsoft.com/office/drawing/2014/main" id="{B5A5E80D-B3BD-C04A-9FC2-ED980006084B}"/>
              </a:ext>
            </a:extLst>
          </p:cNvPr>
          <p:cNvSpPr/>
          <p:nvPr/>
        </p:nvSpPr>
        <p:spPr>
          <a:xfrm>
            <a:off x="2237875" y="5779067"/>
            <a:ext cx="477973" cy="462743"/>
          </a:xfrm>
          <a:prstGeom prst="ellipse">
            <a:avLst/>
          </a:prstGeom>
          <a:solidFill>
            <a:srgbClr val="98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Cloud 24">
            <a:extLst>
              <a:ext uri="{FF2B5EF4-FFF2-40B4-BE49-F238E27FC236}">
                <a16:creationId xmlns:a16="http://schemas.microsoft.com/office/drawing/2014/main" id="{86C5B3FB-EEB6-5A4B-96FD-B6F08E0C71F5}"/>
              </a:ext>
            </a:extLst>
          </p:cNvPr>
          <p:cNvSpPr/>
          <p:nvPr/>
        </p:nvSpPr>
        <p:spPr>
          <a:xfrm>
            <a:off x="464889" y="5817822"/>
            <a:ext cx="2124889" cy="1038076"/>
          </a:xfrm>
          <a:prstGeom prst="cloud">
            <a:avLst/>
          </a:prstGeom>
          <a:solidFill>
            <a:srgbClr val="98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solidFill>
                  <a:sysClr val="windowText" lastClr="000000"/>
                </a:solidFill>
                <a:ea typeface="新細明體"/>
              </a:rPr>
              <a:t>Alice had a</a:t>
            </a:r>
            <a:r>
              <a:rPr lang="zh-CN" altLang="en-US" sz="1350" dirty="0">
                <a:solidFill>
                  <a:sysClr val="windowText" lastClr="000000"/>
                </a:solidFill>
                <a:ea typeface="新細明體"/>
              </a:rPr>
              <a:t> </a:t>
            </a:r>
            <a:r>
              <a:rPr lang="en-US" altLang="zh-TW" sz="1350" dirty="0">
                <a:solidFill>
                  <a:sysClr val="windowText" lastClr="000000"/>
                </a:solidFill>
                <a:ea typeface="新細明體"/>
              </a:rPr>
              <a:t>heart attack</a:t>
            </a:r>
            <a:endParaRPr lang="en-US" sz="1350" dirty="0">
              <a:solidFill>
                <a:sysClr val="windowText" lastClr="000000"/>
              </a:solidFill>
              <a:ea typeface="新細明體"/>
            </a:endParaRPr>
          </a:p>
        </p:txBody>
      </p:sp>
      <p:sp>
        <p:nvSpPr>
          <p:cNvPr id="6" name="TextBox 5">
            <a:extLst>
              <a:ext uri="{FF2B5EF4-FFF2-40B4-BE49-F238E27FC236}">
                <a16:creationId xmlns:a16="http://schemas.microsoft.com/office/drawing/2014/main" id="{AF7ED789-24FC-B34E-A70B-2E5B2B96E595}"/>
              </a:ext>
            </a:extLst>
          </p:cNvPr>
          <p:cNvSpPr txBox="1"/>
          <p:nvPr/>
        </p:nvSpPr>
        <p:spPr>
          <a:xfrm>
            <a:off x="513872" y="3911089"/>
            <a:ext cx="2244441" cy="1384995"/>
          </a:xfrm>
          <a:prstGeom prst="rect">
            <a:avLst/>
          </a:prstGeom>
          <a:noFill/>
        </p:spPr>
        <p:txBody>
          <a:bodyPr wrap="square" rtlCol="0">
            <a:spAutoFit/>
          </a:bodyPr>
          <a:lstStyle/>
          <a:p>
            <a:pPr algn="just"/>
            <a:r>
              <a:rPr lang="en-HK" altLang="zh-TW" dirty="0">
                <a:solidFill>
                  <a:sysClr val="windowText" lastClr="000000"/>
                </a:solidFill>
              </a:rPr>
              <a:t>Alice entered ICU, She was the only patient entered ICU on 1st Jan 2019. Did she have a heart attack?</a:t>
            </a:r>
            <a:endParaRPr lang="en-US" dirty="0">
              <a:solidFill>
                <a:sysClr val="windowText" lastClr="000000"/>
              </a:solidFill>
            </a:endParaRPr>
          </a:p>
          <a:p>
            <a:pPr algn="just"/>
            <a:endParaRPr lang="en-US" dirty="0"/>
          </a:p>
        </p:txBody>
      </p:sp>
    </p:spTree>
    <p:extLst>
      <p:ext uri="{BB962C8B-B14F-4D97-AF65-F5344CB8AC3E}">
        <p14:creationId xmlns:p14="http://schemas.microsoft.com/office/powerpoint/2010/main" val="3965057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Enforcing an end-to-end DP is challenging</a:t>
            </a:r>
            <a:endParaRPr dirty="0"/>
          </a:p>
        </p:txBody>
      </p:sp>
      <p:sp>
        <p:nvSpPr>
          <p:cNvPr id="99" name="Google Shape;9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14350" indent="-514350">
              <a:spcBef>
                <a:spcPts val="0"/>
              </a:spcBef>
              <a:buSzPts val="2800"/>
            </a:pPr>
            <a:r>
              <a:rPr lang="en-US" sz="2300" dirty="0"/>
              <a:t>The noise is calibrated according to “sensitivity”, the greatest change on a query’s output value when a data record is added to or removed from the input dataset</a:t>
            </a:r>
          </a:p>
          <a:p>
            <a:pPr marL="514350" indent="-514350">
              <a:spcBef>
                <a:spcPts val="0"/>
              </a:spcBef>
              <a:buSzPts val="2800"/>
            </a:pPr>
            <a:r>
              <a:rPr lang="en-US" sz="2300" dirty="0"/>
              <a:t>A sensitivity value of a query is usually unknown</a:t>
            </a:r>
          </a:p>
          <a:p>
            <a:pPr marL="514350" indent="-514350">
              <a:spcBef>
                <a:spcPts val="0"/>
              </a:spcBef>
              <a:buSzPts val="2800"/>
            </a:pPr>
            <a:r>
              <a:rPr lang="en-US" sz="2300" dirty="0"/>
              <a:t>Only brute force approach can identify the sensitivity value of an arbitrary query, but it is extremely inefficient and impractical</a:t>
            </a:r>
            <a:endParaRPr sz="2300" dirty="0"/>
          </a:p>
        </p:txBody>
      </p:sp>
      <p:sp>
        <p:nvSpPr>
          <p:cNvPr id="2" name="Slide Number Placeholder 1">
            <a:extLst>
              <a:ext uri="{FF2B5EF4-FFF2-40B4-BE49-F238E27FC236}">
                <a16:creationId xmlns:a16="http://schemas.microsoft.com/office/drawing/2014/main" id="{6FFA3A6D-7D58-3541-9EE6-4662D06B0B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3" name="Rectangle 2">
            <a:extLst>
              <a:ext uri="{FF2B5EF4-FFF2-40B4-BE49-F238E27FC236}">
                <a16:creationId xmlns:a16="http://schemas.microsoft.com/office/drawing/2014/main" id="{7A98501C-6A0A-9C4B-A93E-F834A826B8CC}"/>
              </a:ext>
            </a:extLst>
          </p:cNvPr>
          <p:cNvSpPr/>
          <p:nvPr/>
        </p:nvSpPr>
        <p:spPr>
          <a:xfrm>
            <a:off x="2821021" y="4001294"/>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a:extLst>
              <a:ext uri="{FF2B5EF4-FFF2-40B4-BE49-F238E27FC236}">
                <a16:creationId xmlns:a16="http://schemas.microsoft.com/office/drawing/2014/main" id="{99FC8E6E-37D1-A24E-A0BA-3B6E2D6A6981}"/>
              </a:ext>
            </a:extLst>
          </p:cNvPr>
          <p:cNvSpPr/>
          <p:nvPr/>
        </p:nvSpPr>
        <p:spPr>
          <a:xfrm>
            <a:off x="2821021" y="4353835"/>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5" name="Rectangle 14">
            <a:extLst>
              <a:ext uri="{FF2B5EF4-FFF2-40B4-BE49-F238E27FC236}">
                <a16:creationId xmlns:a16="http://schemas.microsoft.com/office/drawing/2014/main" id="{22DA982E-954E-BD45-9AB2-2D3A35454397}"/>
              </a:ext>
            </a:extLst>
          </p:cNvPr>
          <p:cNvSpPr/>
          <p:nvPr/>
        </p:nvSpPr>
        <p:spPr>
          <a:xfrm>
            <a:off x="2821021" y="4706376"/>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 name="Rectangle 15">
            <a:extLst>
              <a:ext uri="{FF2B5EF4-FFF2-40B4-BE49-F238E27FC236}">
                <a16:creationId xmlns:a16="http://schemas.microsoft.com/office/drawing/2014/main" id="{D11C9240-9A8C-604F-98EF-46BBEBE92AAD}"/>
              </a:ext>
            </a:extLst>
          </p:cNvPr>
          <p:cNvSpPr/>
          <p:nvPr/>
        </p:nvSpPr>
        <p:spPr>
          <a:xfrm>
            <a:off x="2821020" y="5052616"/>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7" name="Rectangle 16">
            <a:extLst>
              <a:ext uri="{FF2B5EF4-FFF2-40B4-BE49-F238E27FC236}">
                <a16:creationId xmlns:a16="http://schemas.microsoft.com/office/drawing/2014/main" id="{31ACA68A-F3DE-5744-844C-0874593A3FB0}"/>
              </a:ext>
            </a:extLst>
          </p:cNvPr>
          <p:cNvSpPr/>
          <p:nvPr/>
        </p:nvSpPr>
        <p:spPr>
          <a:xfrm>
            <a:off x="2821020" y="5405157"/>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 name="Rectangle 17">
            <a:extLst>
              <a:ext uri="{FF2B5EF4-FFF2-40B4-BE49-F238E27FC236}">
                <a16:creationId xmlns:a16="http://schemas.microsoft.com/office/drawing/2014/main" id="{CF16DFC3-AD59-B448-9F95-5384D9BF3A44}"/>
              </a:ext>
            </a:extLst>
          </p:cNvPr>
          <p:cNvSpPr/>
          <p:nvPr/>
        </p:nvSpPr>
        <p:spPr>
          <a:xfrm>
            <a:off x="2821020" y="5751397"/>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9" name="Rectangle 18">
            <a:extLst>
              <a:ext uri="{FF2B5EF4-FFF2-40B4-BE49-F238E27FC236}">
                <a16:creationId xmlns:a16="http://schemas.microsoft.com/office/drawing/2014/main" id="{D249CFCC-927B-6343-947E-E307C6A2C85A}"/>
              </a:ext>
            </a:extLst>
          </p:cNvPr>
          <p:cNvSpPr/>
          <p:nvPr/>
        </p:nvSpPr>
        <p:spPr>
          <a:xfrm>
            <a:off x="2821019" y="6103938"/>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 name="Right Arrow 3">
            <a:extLst>
              <a:ext uri="{FF2B5EF4-FFF2-40B4-BE49-F238E27FC236}">
                <a16:creationId xmlns:a16="http://schemas.microsoft.com/office/drawing/2014/main" id="{96AA2E89-797F-2443-96D4-3175DD3E54E9}"/>
              </a:ext>
            </a:extLst>
          </p:cNvPr>
          <p:cNvSpPr/>
          <p:nvPr/>
        </p:nvSpPr>
        <p:spPr>
          <a:xfrm>
            <a:off x="3522435" y="5350210"/>
            <a:ext cx="504496"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1F4FBCB-2233-234D-9DA1-80EB7F70F304}"/>
              </a:ext>
            </a:extLst>
          </p:cNvPr>
          <p:cNvSpPr txBox="1"/>
          <p:nvPr/>
        </p:nvSpPr>
        <p:spPr>
          <a:xfrm>
            <a:off x="3365000" y="4931851"/>
            <a:ext cx="753732" cy="400110"/>
          </a:xfrm>
          <a:prstGeom prst="rect">
            <a:avLst/>
          </a:prstGeom>
          <a:noFill/>
        </p:spPr>
        <p:txBody>
          <a:bodyPr wrap="none" rtlCol="0">
            <a:spAutoFit/>
          </a:bodyPr>
          <a:lstStyle/>
          <a:p>
            <a:r>
              <a:rPr lang="en-US" sz="2000" dirty="0"/>
              <a:t>Input</a:t>
            </a:r>
          </a:p>
        </p:txBody>
      </p:sp>
      <p:sp>
        <p:nvSpPr>
          <p:cNvPr id="22" name="Rectangle 21">
            <a:extLst>
              <a:ext uri="{FF2B5EF4-FFF2-40B4-BE49-F238E27FC236}">
                <a16:creationId xmlns:a16="http://schemas.microsoft.com/office/drawing/2014/main" id="{E7728544-E0C7-D34F-B423-D4943DD8425D}"/>
              </a:ext>
            </a:extLst>
          </p:cNvPr>
          <p:cNvSpPr/>
          <p:nvPr/>
        </p:nvSpPr>
        <p:spPr>
          <a:xfrm>
            <a:off x="4178517" y="4742360"/>
            <a:ext cx="1489388" cy="13975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pic>
        <p:nvPicPr>
          <p:cNvPr id="23" name="Graphic 13" descr="Gears">
            <a:extLst>
              <a:ext uri="{FF2B5EF4-FFF2-40B4-BE49-F238E27FC236}">
                <a16:creationId xmlns:a16="http://schemas.microsoft.com/office/drawing/2014/main" id="{FF3AC2B0-4CBF-CB40-B70C-A1DC08992C3F}"/>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73052" y="5324711"/>
            <a:ext cx="802046" cy="731688"/>
          </a:xfrm>
          <a:prstGeom prst="rect">
            <a:avLst/>
          </a:prstGeom>
        </p:spPr>
      </p:pic>
      <p:sp>
        <p:nvSpPr>
          <p:cNvPr id="24" name="TextBox 23">
            <a:extLst>
              <a:ext uri="{FF2B5EF4-FFF2-40B4-BE49-F238E27FC236}">
                <a16:creationId xmlns:a16="http://schemas.microsoft.com/office/drawing/2014/main" id="{91486628-503B-CA47-9EDB-D2E6AB55560C}"/>
              </a:ext>
            </a:extLst>
          </p:cNvPr>
          <p:cNvSpPr txBox="1"/>
          <p:nvPr/>
        </p:nvSpPr>
        <p:spPr>
          <a:xfrm>
            <a:off x="4518143" y="4858382"/>
            <a:ext cx="902811" cy="461665"/>
          </a:xfrm>
          <a:prstGeom prst="rect">
            <a:avLst/>
          </a:prstGeom>
          <a:noFill/>
        </p:spPr>
        <p:txBody>
          <a:bodyPr wrap="square" rtlCol="0">
            <a:spAutoFit/>
          </a:bodyPr>
          <a:lstStyle/>
          <a:p>
            <a:r>
              <a:rPr lang="en-US" altLang="zh-TW" sz="2400" dirty="0"/>
              <a:t>Sum</a:t>
            </a:r>
            <a:endParaRPr lang="en-US" sz="2400" dirty="0"/>
          </a:p>
        </p:txBody>
      </p:sp>
      <p:sp>
        <p:nvSpPr>
          <p:cNvPr id="25" name="Right Arrow 24">
            <a:extLst>
              <a:ext uri="{FF2B5EF4-FFF2-40B4-BE49-F238E27FC236}">
                <a16:creationId xmlns:a16="http://schemas.microsoft.com/office/drawing/2014/main" id="{C1AB48A6-ECD2-E043-B656-6FF83ECE05C9}"/>
              </a:ext>
            </a:extLst>
          </p:cNvPr>
          <p:cNvSpPr/>
          <p:nvPr/>
        </p:nvSpPr>
        <p:spPr>
          <a:xfrm>
            <a:off x="5918536" y="5350209"/>
            <a:ext cx="504496"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C75B386-F0B3-044C-89C6-EE2076643A0A}"/>
              </a:ext>
            </a:extLst>
          </p:cNvPr>
          <p:cNvSpPr txBox="1"/>
          <p:nvPr/>
        </p:nvSpPr>
        <p:spPr>
          <a:xfrm>
            <a:off x="5679632" y="4950099"/>
            <a:ext cx="952505" cy="400110"/>
          </a:xfrm>
          <a:prstGeom prst="rect">
            <a:avLst/>
          </a:prstGeom>
          <a:noFill/>
        </p:spPr>
        <p:txBody>
          <a:bodyPr wrap="none" rtlCol="0">
            <a:spAutoFit/>
          </a:bodyPr>
          <a:lstStyle/>
          <a:p>
            <a:r>
              <a:rPr lang="en-US" sz="2000" dirty="0"/>
              <a:t>Output</a:t>
            </a:r>
          </a:p>
        </p:txBody>
      </p:sp>
      <p:sp>
        <p:nvSpPr>
          <p:cNvPr id="6" name="TextBox 5">
            <a:extLst>
              <a:ext uri="{FF2B5EF4-FFF2-40B4-BE49-F238E27FC236}">
                <a16:creationId xmlns:a16="http://schemas.microsoft.com/office/drawing/2014/main" id="{3AC2A18E-8AFD-B342-B12A-9AC19FB230E4}"/>
              </a:ext>
            </a:extLst>
          </p:cNvPr>
          <p:cNvSpPr txBox="1"/>
          <p:nvPr/>
        </p:nvSpPr>
        <p:spPr>
          <a:xfrm>
            <a:off x="6578332" y="5220003"/>
            <a:ext cx="585417" cy="523220"/>
          </a:xfrm>
          <a:prstGeom prst="rect">
            <a:avLst/>
          </a:prstGeom>
          <a:noFill/>
        </p:spPr>
        <p:txBody>
          <a:bodyPr wrap="none" rtlCol="0">
            <a:spAutoFit/>
          </a:bodyPr>
          <a:lstStyle/>
          <a:p>
            <a:r>
              <a:rPr lang="en-US" sz="2800" dirty="0"/>
              <a:t>17</a:t>
            </a:r>
          </a:p>
        </p:txBody>
      </p:sp>
      <p:sp>
        <p:nvSpPr>
          <p:cNvPr id="27" name="TextBox 26">
            <a:extLst>
              <a:ext uri="{FF2B5EF4-FFF2-40B4-BE49-F238E27FC236}">
                <a16:creationId xmlns:a16="http://schemas.microsoft.com/office/drawing/2014/main" id="{BF42C5F4-4BDD-724B-BEEF-A0A224EDDA0E}"/>
              </a:ext>
            </a:extLst>
          </p:cNvPr>
          <p:cNvSpPr txBox="1"/>
          <p:nvPr/>
        </p:nvSpPr>
        <p:spPr>
          <a:xfrm>
            <a:off x="6379676" y="5828461"/>
            <a:ext cx="1614545" cy="369332"/>
          </a:xfrm>
          <a:prstGeom prst="rect">
            <a:avLst/>
          </a:prstGeom>
          <a:noFill/>
        </p:spPr>
        <p:txBody>
          <a:bodyPr wrap="none" rtlCol="0">
            <a:spAutoFit/>
          </a:bodyPr>
          <a:lstStyle/>
          <a:p>
            <a:r>
              <a:rPr lang="en-US" sz="1800" dirty="0"/>
              <a:t>Sensitivity = 4</a:t>
            </a:r>
          </a:p>
        </p:txBody>
      </p:sp>
      <p:sp>
        <p:nvSpPr>
          <p:cNvPr id="28" name="TextBox 27">
            <a:extLst>
              <a:ext uri="{FF2B5EF4-FFF2-40B4-BE49-F238E27FC236}">
                <a16:creationId xmlns:a16="http://schemas.microsoft.com/office/drawing/2014/main" id="{C7DF862A-6077-7448-A353-CE423934E455}"/>
              </a:ext>
            </a:extLst>
          </p:cNvPr>
          <p:cNvSpPr txBox="1"/>
          <p:nvPr/>
        </p:nvSpPr>
        <p:spPr>
          <a:xfrm>
            <a:off x="7066723" y="5237773"/>
            <a:ext cx="1854995" cy="523220"/>
          </a:xfrm>
          <a:prstGeom prst="rect">
            <a:avLst/>
          </a:prstGeom>
          <a:noFill/>
        </p:spPr>
        <p:txBody>
          <a:bodyPr wrap="none" rtlCol="0">
            <a:spAutoFit/>
          </a:bodyPr>
          <a:lstStyle/>
          <a:p>
            <a:r>
              <a:rPr lang="en-US" sz="2800" dirty="0"/>
              <a:t>+ Noise(4)</a:t>
            </a:r>
          </a:p>
        </p:txBody>
      </p:sp>
      <p:sp>
        <p:nvSpPr>
          <p:cNvPr id="34" name="Rectangle 33">
            <a:extLst>
              <a:ext uri="{FF2B5EF4-FFF2-40B4-BE49-F238E27FC236}">
                <a16:creationId xmlns:a16="http://schemas.microsoft.com/office/drawing/2014/main" id="{4F975AF5-7057-374E-B015-D28FC42F8942}"/>
              </a:ext>
            </a:extLst>
          </p:cNvPr>
          <p:cNvSpPr/>
          <p:nvPr/>
        </p:nvSpPr>
        <p:spPr>
          <a:xfrm>
            <a:off x="2821019" y="6444149"/>
            <a:ext cx="389107" cy="352541"/>
          </a:xfrm>
          <a:prstGeom prst="rect">
            <a:avLst/>
          </a:prstGeom>
          <a:solidFill>
            <a:srgbClr val="AAB52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8" name="Straight Connector 7">
            <a:extLst>
              <a:ext uri="{FF2B5EF4-FFF2-40B4-BE49-F238E27FC236}">
                <a16:creationId xmlns:a16="http://schemas.microsoft.com/office/drawing/2014/main" id="{DEC2EC9F-6A12-B54A-AF53-0177ED6C0252}"/>
              </a:ext>
            </a:extLst>
          </p:cNvPr>
          <p:cNvCxnSpPr/>
          <p:nvPr/>
        </p:nvCxnSpPr>
        <p:spPr>
          <a:xfrm flipV="1">
            <a:off x="2705795" y="4347670"/>
            <a:ext cx="582150" cy="35254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912CD3-A955-9A4F-85CA-3F6901F638BA}"/>
              </a:ext>
            </a:extLst>
          </p:cNvPr>
          <p:cNvCxnSpPr>
            <a:cxnSpLocks/>
          </p:cNvCxnSpPr>
          <p:nvPr/>
        </p:nvCxnSpPr>
        <p:spPr>
          <a:xfrm>
            <a:off x="2737440" y="4350816"/>
            <a:ext cx="518860" cy="3463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E25CB5C7-CF52-9F44-BCD5-EF29610BF277}"/>
              </a:ext>
            </a:extLst>
          </p:cNvPr>
          <p:cNvSpPr txBox="1"/>
          <p:nvPr/>
        </p:nvSpPr>
        <p:spPr>
          <a:xfrm>
            <a:off x="2164751" y="3629823"/>
            <a:ext cx="1664238" cy="400110"/>
          </a:xfrm>
          <a:prstGeom prst="rect">
            <a:avLst/>
          </a:prstGeom>
          <a:noFill/>
        </p:spPr>
        <p:txBody>
          <a:bodyPr wrap="none" rtlCol="0">
            <a:spAutoFit/>
          </a:bodyPr>
          <a:lstStyle/>
          <a:p>
            <a:r>
              <a:rPr lang="en-US" sz="2000" dirty="0"/>
              <a:t>Input dataset</a:t>
            </a:r>
          </a:p>
        </p:txBody>
      </p:sp>
    </p:spTree>
    <p:extLst>
      <p:ext uri="{BB962C8B-B14F-4D97-AF65-F5344CB8AC3E}">
        <p14:creationId xmlns:p14="http://schemas.microsoft.com/office/powerpoint/2010/main" val="1057368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881a038175_0_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Existing approaches </a:t>
            </a:r>
            <a:r>
              <a:rPr lang="en-US"/>
              <a:t>make other </a:t>
            </a:r>
            <a:r>
              <a:rPr lang="en-US" dirty="0"/>
              <a:t>tradeoffs</a:t>
            </a:r>
            <a:endParaRPr dirty="0"/>
          </a:p>
        </p:txBody>
      </p:sp>
      <p:sp>
        <p:nvSpPr>
          <p:cNvPr id="106" name="Google Shape;106;g881a038175_0_5"/>
          <p:cNvSpPr txBox="1">
            <a:spLocks noGrp="1"/>
          </p:cNvSpPr>
          <p:nvPr>
            <p:ph type="body" idx="1"/>
          </p:nvPr>
        </p:nvSpPr>
        <p:spPr>
          <a:xfrm>
            <a:off x="838200" y="1825625"/>
            <a:ext cx="11049000" cy="4351200"/>
          </a:xfrm>
          <a:prstGeom prst="rect">
            <a:avLst/>
          </a:prstGeom>
        </p:spPr>
        <p:txBody>
          <a:bodyPr spcFirstLastPara="1" wrap="square" lIns="91425" tIns="45700" rIns="91425" bIns="45700" anchor="t" anchorCtr="0">
            <a:noAutofit/>
          </a:bodyPr>
          <a:lstStyle/>
          <a:p>
            <a:pPr marL="457200" lvl="0" indent="-342900" algn="l" rtl="0">
              <a:spcBef>
                <a:spcPts val="1000"/>
              </a:spcBef>
              <a:spcAft>
                <a:spcPts val="0"/>
              </a:spcAft>
              <a:buSzPts val="1800"/>
              <a:buChar char="•"/>
            </a:pPr>
            <a:r>
              <a:rPr lang="en-US" sz="2700" dirty="0"/>
              <a:t>Manual approach </a:t>
            </a:r>
            <a:endParaRPr sz="2700" dirty="0"/>
          </a:p>
          <a:p>
            <a:pPr marL="914400" lvl="1" indent="-342900" algn="l" rtl="0">
              <a:spcBef>
                <a:spcPts val="0"/>
              </a:spcBef>
              <a:spcAft>
                <a:spcPts val="0"/>
              </a:spcAft>
              <a:buSzPts val="1800"/>
              <a:buChar char="•"/>
            </a:pPr>
            <a:r>
              <a:rPr lang="en-US" sz="2300" dirty="0"/>
              <a:t>A sensitivity value is inferred and given by human</a:t>
            </a:r>
            <a:endParaRPr sz="2300" dirty="0"/>
          </a:p>
          <a:p>
            <a:pPr lvl="1">
              <a:spcBef>
                <a:spcPts val="0"/>
              </a:spcBef>
            </a:pPr>
            <a:r>
              <a:rPr lang="en-US" sz="2300" dirty="0"/>
              <a:t>Advantage: general (applicable to an arbitrary query and input dataset)</a:t>
            </a:r>
            <a:endParaRPr lang="en-HK" sz="2300" dirty="0"/>
          </a:p>
          <a:p>
            <a:pPr marL="914400" lvl="1" indent="-342900" algn="l" rtl="0">
              <a:spcBef>
                <a:spcPts val="0"/>
              </a:spcBef>
              <a:spcAft>
                <a:spcPts val="0"/>
              </a:spcAft>
              <a:buSzPts val="1800"/>
              <a:buChar char="•"/>
            </a:pPr>
            <a:r>
              <a:rPr lang="en-US" sz="2300" dirty="0"/>
              <a:t>Limitations: non-automatic and error-prone (adding too much noise to output)</a:t>
            </a:r>
            <a:endParaRPr sz="2300" dirty="0"/>
          </a:p>
          <a:p>
            <a:pPr marL="914400" lvl="1" indent="-342900" algn="l" rtl="0">
              <a:spcBef>
                <a:spcPts val="0"/>
              </a:spcBef>
              <a:spcAft>
                <a:spcPts val="0"/>
              </a:spcAft>
              <a:buSzPts val="1800"/>
              <a:buChar char="•"/>
            </a:pPr>
            <a:r>
              <a:rPr lang="en-US" sz="2300" dirty="0"/>
              <a:t>Related work: PINQ [SIGMOD’09], </a:t>
            </a:r>
            <a:r>
              <a:rPr lang="en-US" sz="2300" dirty="0" err="1"/>
              <a:t>Airavat</a:t>
            </a:r>
            <a:r>
              <a:rPr lang="en-US" sz="2300" dirty="0"/>
              <a:t> [NSDI’10], FUZZ [SIGACT’13], GUPT [SIGMOD’12], </a:t>
            </a:r>
            <a:r>
              <a:rPr lang="en-US" sz="2300" dirty="0" err="1"/>
              <a:t>SensitivitySampler</a:t>
            </a:r>
            <a:r>
              <a:rPr lang="en-US" sz="2300" dirty="0"/>
              <a:t> [JMLR’17], Duet [OOPSLA’19]</a:t>
            </a:r>
            <a:endParaRPr sz="2300" dirty="0"/>
          </a:p>
          <a:p>
            <a:pPr marL="457200" lvl="0" indent="-342900" algn="l" rtl="0">
              <a:spcAft>
                <a:spcPts val="0"/>
              </a:spcAft>
              <a:buSzPts val="1800"/>
              <a:buChar char="•"/>
            </a:pPr>
            <a:r>
              <a:rPr lang="en-US" sz="2700" dirty="0"/>
              <a:t>Static approach</a:t>
            </a:r>
            <a:endParaRPr sz="2700" dirty="0"/>
          </a:p>
          <a:p>
            <a:pPr marL="914400" lvl="1" indent="-342900" algn="l" rtl="0">
              <a:spcBef>
                <a:spcPts val="0"/>
              </a:spcBef>
              <a:spcAft>
                <a:spcPts val="0"/>
              </a:spcAft>
              <a:buSzPts val="1800"/>
              <a:buChar char="•"/>
            </a:pPr>
            <a:r>
              <a:rPr lang="en-US" sz="2300" dirty="0"/>
              <a:t>A sensitivity value is identified by analyzing the syntax of a query</a:t>
            </a:r>
            <a:endParaRPr sz="2300" dirty="0"/>
          </a:p>
          <a:p>
            <a:pPr lvl="1">
              <a:spcBef>
                <a:spcPts val="0"/>
              </a:spcBef>
            </a:pPr>
            <a:r>
              <a:rPr lang="en-US" sz="2300" dirty="0"/>
              <a:t>Advantages: automatic and efficient (has near-zero overhead)</a:t>
            </a:r>
          </a:p>
          <a:p>
            <a:pPr lvl="1">
              <a:spcBef>
                <a:spcPts val="0"/>
              </a:spcBef>
            </a:pPr>
            <a:r>
              <a:rPr lang="en-US" sz="2300" dirty="0"/>
              <a:t>Limitations: not generate (applicable to only count query) and inaccurate Related work: FLEX [VLDB’18]</a:t>
            </a:r>
          </a:p>
          <a:p>
            <a:r>
              <a:rPr lang="en-US" sz="2700" dirty="0"/>
              <a:t>UPA is the first automatic, accurate, efficient DP system for general big data queries</a:t>
            </a:r>
          </a:p>
        </p:txBody>
      </p:sp>
      <p:sp>
        <p:nvSpPr>
          <p:cNvPr id="2" name="Slide Number Placeholder 1">
            <a:extLst>
              <a:ext uri="{FF2B5EF4-FFF2-40B4-BE49-F238E27FC236}">
                <a16:creationId xmlns:a16="http://schemas.microsoft.com/office/drawing/2014/main" id="{897B10D9-E2CD-2D4E-91E9-6E787F9F4C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3435625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BC1BB-3BC6-434E-842F-8E66783B1D0D}"/>
              </a:ext>
            </a:extLst>
          </p:cNvPr>
          <p:cNvSpPr>
            <a:spLocks noGrp="1"/>
          </p:cNvSpPr>
          <p:nvPr>
            <p:ph type="title"/>
          </p:nvPr>
        </p:nvSpPr>
        <p:spPr/>
        <p:txBody>
          <a:bodyPr/>
          <a:lstStyle/>
          <a:p>
            <a:r>
              <a:rPr lang="en-US" dirty="0"/>
              <a:t>Backup</a:t>
            </a:r>
          </a:p>
        </p:txBody>
      </p:sp>
      <p:sp>
        <p:nvSpPr>
          <p:cNvPr id="3" name="Text Placeholder 2">
            <a:extLst>
              <a:ext uri="{FF2B5EF4-FFF2-40B4-BE49-F238E27FC236}">
                <a16:creationId xmlns:a16="http://schemas.microsoft.com/office/drawing/2014/main" id="{16B727C3-8198-A347-AD55-6B60CE9A3F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704463-1658-D74F-97F2-F6AC2F642A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4222283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881a038175_0_4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UPA’s workflow</a:t>
            </a:r>
            <a:endParaRPr dirty="0"/>
          </a:p>
        </p:txBody>
      </p:sp>
      <p:sp>
        <p:nvSpPr>
          <p:cNvPr id="141" name="Google Shape;141;g881a038175_0_42"/>
          <p:cNvSpPr txBox="1">
            <a:spLocks noGrp="1"/>
          </p:cNvSpPr>
          <p:nvPr>
            <p:ph type="body" idx="1"/>
          </p:nvPr>
        </p:nvSpPr>
        <p:spPr>
          <a:xfrm>
            <a:off x="838200" y="1551325"/>
            <a:ext cx="10515600" cy="4351200"/>
          </a:xfrm>
          <a:prstGeom prst="rect">
            <a:avLst/>
          </a:prstGeom>
        </p:spPr>
        <p:txBody>
          <a:bodyPr spcFirstLastPara="1" wrap="square" lIns="91425" tIns="45700" rIns="91425" bIns="45700" anchor="t" anchorCtr="0">
            <a:noAutofit/>
          </a:bodyPr>
          <a:lstStyle/>
          <a:p>
            <a:pPr marL="114300" lvl="0" indent="0" algn="l" rtl="0">
              <a:spcBef>
                <a:spcPts val="1000"/>
              </a:spcBef>
              <a:spcAft>
                <a:spcPts val="0"/>
              </a:spcAft>
              <a:buSzPts val="1800"/>
              <a:buNone/>
            </a:pPr>
            <a:r>
              <a:rPr lang="en-US" sz="2300" dirty="0"/>
              <a:t>Based on these three observations, UPA: </a:t>
            </a:r>
          </a:p>
          <a:p>
            <a:pPr marL="628650" lvl="0" indent="-514350" algn="l" rtl="0">
              <a:spcBef>
                <a:spcPts val="0"/>
              </a:spcBef>
              <a:spcAft>
                <a:spcPts val="0"/>
              </a:spcAft>
              <a:buSzPts val="1800"/>
              <a:buFont typeface="+mj-lt"/>
              <a:buAutoNum type="arabicPeriod"/>
            </a:pPr>
            <a:r>
              <a:rPr lang="en-US" sz="2300" dirty="0"/>
              <a:t>samples n data records from the input dataset (n is by default 1111)</a:t>
            </a:r>
          </a:p>
          <a:p>
            <a:pPr marL="628650" lvl="0" indent="-514350" algn="l" rtl="0">
              <a:spcBef>
                <a:spcPts val="0"/>
              </a:spcBef>
              <a:spcAft>
                <a:spcPts val="0"/>
              </a:spcAft>
              <a:buSzPts val="1800"/>
              <a:buFont typeface="+mj-lt"/>
              <a:buAutoNum type="arabicPeriod"/>
            </a:pPr>
            <a:r>
              <a:rPr lang="en-US" sz="2300" dirty="0"/>
              <a:t>computes output value of the non-sampled data records</a:t>
            </a:r>
          </a:p>
          <a:p>
            <a:pPr marL="628650" lvl="0" indent="-514350" algn="l" rtl="0">
              <a:spcBef>
                <a:spcPts val="0"/>
              </a:spcBef>
              <a:spcAft>
                <a:spcPts val="0"/>
              </a:spcAft>
              <a:buSzPts val="1800"/>
              <a:buFont typeface="+mj-lt"/>
              <a:buAutoNum type="arabicPeriod"/>
            </a:pPr>
            <a:r>
              <a:rPr lang="en-US" sz="2300" dirty="0"/>
              <a:t>reuses such output value to compute the query’s output value, as well as the influence of individual sampled record to the output value</a:t>
            </a:r>
          </a:p>
          <a:p>
            <a:pPr marL="628650" lvl="0" indent="-514350" algn="l" rtl="0">
              <a:spcBef>
                <a:spcPts val="0"/>
              </a:spcBef>
              <a:spcAft>
                <a:spcPts val="0"/>
              </a:spcAft>
              <a:buSzPts val="1800"/>
              <a:buFont typeface="+mj-lt"/>
              <a:buAutoNum type="arabicPeriod"/>
            </a:pPr>
            <a:r>
              <a:rPr lang="en-US" sz="2300" dirty="0"/>
              <a:t>Infers a sensitivity value based on the influence of the individual sampled records</a:t>
            </a:r>
          </a:p>
          <a:p>
            <a:pPr marL="628650" lvl="0" indent="-514350" algn="l" rtl="0">
              <a:spcBef>
                <a:spcPts val="0"/>
              </a:spcBef>
              <a:spcAft>
                <a:spcPts val="0"/>
              </a:spcAft>
              <a:buSzPts val="1800"/>
              <a:buFont typeface="+mj-lt"/>
              <a:buAutoNum type="arabicPeriod"/>
            </a:pPr>
            <a:r>
              <a:rPr lang="en-US" sz="2300" dirty="0"/>
              <a:t>Add noise to the output value based on the inferred sensitivity value to enforce DP</a:t>
            </a:r>
            <a:endParaRPr sz="2300" dirty="0"/>
          </a:p>
        </p:txBody>
      </p:sp>
      <p:pic>
        <p:nvPicPr>
          <p:cNvPr id="142" name="Google Shape;142;g881a038175_0_42"/>
          <p:cNvPicPr preferRelativeResize="0"/>
          <p:nvPr/>
        </p:nvPicPr>
        <p:blipFill>
          <a:blip r:embed="rId3">
            <a:alphaModFix/>
          </a:blip>
          <a:stretch>
            <a:fillRect/>
          </a:stretch>
        </p:blipFill>
        <p:spPr>
          <a:xfrm>
            <a:off x="2461847" y="3987265"/>
            <a:ext cx="6175716" cy="2723587"/>
          </a:xfrm>
          <a:prstGeom prst="rect">
            <a:avLst/>
          </a:prstGeom>
          <a:noFill/>
          <a:ln>
            <a:noFill/>
          </a:ln>
        </p:spPr>
      </p:pic>
      <p:sp>
        <p:nvSpPr>
          <p:cNvPr id="2" name="Slide Number Placeholder 1">
            <a:extLst>
              <a:ext uri="{FF2B5EF4-FFF2-40B4-BE49-F238E27FC236}">
                <a16:creationId xmlns:a16="http://schemas.microsoft.com/office/drawing/2014/main" id="{1FBBDBD1-4886-6D4C-AA3C-9C7C8372BB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3632723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465C-FAE2-9D44-9B51-F10E6BBC281B}"/>
              </a:ext>
            </a:extLst>
          </p:cNvPr>
          <p:cNvSpPr>
            <a:spLocks noGrp="1"/>
          </p:cNvSpPr>
          <p:nvPr>
            <p:ph type="title"/>
          </p:nvPr>
        </p:nvSpPr>
        <p:spPr/>
        <p:txBody>
          <a:bodyPr/>
          <a:lstStyle/>
          <a:p>
            <a:r>
              <a:rPr lang="en-US" dirty="0"/>
              <a:t>Implementation highlights</a:t>
            </a:r>
          </a:p>
        </p:txBody>
      </p:sp>
      <p:sp>
        <p:nvSpPr>
          <p:cNvPr id="3" name="Text Placeholder 2">
            <a:extLst>
              <a:ext uri="{FF2B5EF4-FFF2-40B4-BE49-F238E27FC236}">
                <a16:creationId xmlns:a16="http://schemas.microsoft.com/office/drawing/2014/main" id="{5507920C-C472-FF47-8C1D-0906197A8883}"/>
              </a:ext>
            </a:extLst>
          </p:cNvPr>
          <p:cNvSpPr>
            <a:spLocks noGrp="1"/>
          </p:cNvSpPr>
          <p:nvPr>
            <p:ph type="body" idx="1"/>
          </p:nvPr>
        </p:nvSpPr>
        <p:spPr/>
        <p:txBody>
          <a:bodyPr/>
          <a:lstStyle/>
          <a:p>
            <a:r>
              <a:rPr lang="en-US" dirty="0"/>
              <a:t>Fully integrated with Spark</a:t>
            </a:r>
          </a:p>
          <a:p>
            <a:r>
              <a:rPr lang="en-US" dirty="0"/>
              <a:t>A set of DP-enabled, Spark-compatible MapReduce operators</a:t>
            </a:r>
          </a:p>
          <a:p>
            <a:r>
              <a:rPr lang="en-US" dirty="0"/>
              <a:t>A differential attack detector</a:t>
            </a:r>
          </a:p>
        </p:txBody>
      </p:sp>
      <p:sp>
        <p:nvSpPr>
          <p:cNvPr id="4" name="Slide Number Placeholder 3">
            <a:extLst>
              <a:ext uri="{FF2B5EF4-FFF2-40B4-BE49-F238E27FC236}">
                <a16:creationId xmlns:a16="http://schemas.microsoft.com/office/drawing/2014/main" id="{61435501-C600-FB4B-8E14-14CEE26655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pic>
        <p:nvPicPr>
          <p:cNvPr id="5" name="Picture 4">
            <a:extLst>
              <a:ext uri="{FF2B5EF4-FFF2-40B4-BE49-F238E27FC236}">
                <a16:creationId xmlns:a16="http://schemas.microsoft.com/office/drawing/2014/main" id="{5C6131ED-5E77-464A-8527-53C3190B27E1}"/>
              </a:ext>
            </a:extLst>
          </p:cNvPr>
          <p:cNvPicPr>
            <a:picLocks noChangeAspect="1"/>
          </p:cNvPicPr>
          <p:nvPr/>
        </p:nvPicPr>
        <p:blipFill>
          <a:blip r:embed="rId2"/>
          <a:stretch>
            <a:fillRect/>
          </a:stretch>
        </p:blipFill>
        <p:spPr>
          <a:xfrm>
            <a:off x="3806638" y="3596315"/>
            <a:ext cx="4578723" cy="3125160"/>
          </a:xfrm>
          <a:prstGeom prst="rect">
            <a:avLst/>
          </a:prstGeom>
        </p:spPr>
      </p:pic>
    </p:spTree>
    <p:extLst>
      <p:ext uri="{BB962C8B-B14F-4D97-AF65-F5344CB8AC3E}">
        <p14:creationId xmlns:p14="http://schemas.microsoft.com/office/powerpoint/2010/main" val="4060036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55D82-1C32-A547-A45E-F46C81BA0F65}"/>
              </a:ext>
            </a:extLst>
          </p:cNvPr>
          <p:cNvSpPr>
            <a:spLocks noGrp="1"/>
          </p:cNvSpPr>
          <p:nvPr>
            <p:ph type="title"/>
          </p:nvPr>
        </p:nvSpPr>
        <p:spPr/>
        <p:txBody>
          <a:bodyPr/>
          <a:lstStyle/>
          <a:p>
            <a:r>
              <a:rPr lang="en-US" dirty="0"/>
              <a:t>Evaluation setup (3)</a:t>
            </a:r>
          </a:p>
        </p:txBody>
      </p:sp>
      <p:sp>
        <p:nvSpPr>
          <p:cNvPr id="3" name="Text Placeholder 2">
            <a:extLst>
              <a:ext uri="{FF2B5EF4-FFF2-40B4-BE49-F238E27FC236}">
                <a16:creationId xmlns:a16="http://schemas.microsoft.com/office/drawing/2014/main" id="{AA32EA03-0EC0-2A46-A963-39F233CB3599}"/>
              </a:ext>
            </a:extLst>
          </p:cNvPr>
          <p:cNvSpPr>
            <a:spLocks noGrp="1"/>
          </p:cNvSpPr>
          <p:nvPr>
            <p:ph type="body" idx="1"/>
          </p:nvPr>
        </p:nvSpPr>
        <p:spPr/>
        <p:txBody>
          <a:bodyPr/>
          <a:lstStyle/>
          <a:p>
            <a:pPr marL="628650" lvl="0" indent="-514350">
              <a:lnSpc>
                <a:spcPct val="115000"/>
              </a:lnSpc>
              <a:spcBef>
                <a:spcPts val="0"/>
              </a:spcBef>
              <a:buClr>
                <a:srgbClr val="585858"/>
              </a:buClr>
              <a:buFont typeface="+mj-lt"/>
              <a:buAutoNum type="arabicPeriod"/>
            </a:pPr>
            <a:r>
              <a:rPr lang="en-US" dirty="0"/>
              <a:t>How accurate is UPA (in terms of RMSE) compared with FLEX?</a:t>
            </a:r>
          </a:p>
          <a:p>
            <a:pPr marL="628650" lvl="0" indent="-514350">
              <a:lnSpc>
                <a:spcPct val="115000"/>
              </a:lnSpc>
              <a:spcBef>
                <a:spcPts val="0"/>
              </a:spcBef>
              <a:buClr>
                <a:srgbClr val="585858"/>
              </a:buClr>
              <a:buFont typeface="+mj-lt"/>
              <a:buAutoNum type="arabicPeriod"/>
            </a:pPr>
            <a:r>
              <a:rPr lang="en-US" dirty="0">
                <a:solidFill>
                  <a:schemeClr val="bg1">
                    <a:lumMod val="65000"/>
                  </a:schemeClr>
                </a:solidFill>
              </a:rPr>
              <a:t>What is the source of UPA’s inaccuracy in estimating sensitivity?</a:t>
            </a:r>
          </a:p>
          <a:p>
            <a:pPr marL="628650" lvl="0" indent="-514350">
              <a:lnSpc>
                <a:spcPct val="115000"/>
              </a:lnSpc>
              <a:spcBef>
                <a:spcPts val="0"/>
              </a:spcBef>
              <a:buClr>
                <a:srgbClr val="585858"/>
              </a:buClr>
              <a:buFont typeface="+mj-lt"/>
              <a:buAutoNum type="arabicPeriod"/>
            </a:pPr>
            <a:r>
              <a:rPr lang="en-US" dirty="0"/>
              <a:t>What is UPA’s performance overhead?</a:t>
            </a:r>
          </a:p>
          <a:p>
            <a:pPr marL="628650" lvl="0" indent="-514350">
              <a:lnSpc>
                <a:spcPct val="115000"/>
              </a:lnSpc>
              <a:spcBef>
                <a:spcPts val="0"/>
              </a:spcBef>
              <a:buClr>
                <a:srgbClr val="585858"/>
              </a:buClr>
              <a:buFont typeface="+mj-lt"/>
              <a:buAutoNum type="arabicPeriod"/>
            </a:pPr>
            <a:r>
              <a:rPr lang="en-US" dirty="0">
                <a:solidFill>
                  <a:schemeClr val="bg1">
                    <a:lumMod val="65000"/>
                  </a:schemeClr>
                </a:solidFill>
              </a:rPr>
              <a:t>What are UPA’s limitations?</a:t>
            </a:r>
          </a:p>
        </p:txBody>
      </p:sp>
      <p:sp>
        <p:nvSpPr>
          <p:cNvPr id="4" name="Slide Number Placeholder 3">
            <a:extLst>
              <a:ext uri="{FF2B5EF4-FFF2-40B4-BE49-F238E27FC236}">
                <a16:creationId xmlns:a16="http://schemas.microsoft.com/office/drawing/2014/main" id="{DE06F0C8-7960-7D42-87EC-52102D083E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extLst>
      <p:ext uri="{BB962C8B-B14F-4D97-AF65-F5344CB8AC3E}">
        <p14:creationId xmlns:p14="http://schemas.microsoft.com/office/powerpoint/2010/main" val="1981091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g881a038175_0_5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US" dirty="0"/>
              <a:t>Observation 2: the influence of an individual data record to an output value usually follows normal distribution</a:t>
            </a:r>
            <a:endParaRPr dirty="0"/>
          </a:p>
        </p:txBody>
      </p:sp>
      <p:sp>
        <p:nvSpPr>
          <p:cNvPr id="134" name="Google Shape;134;g881a038175_0_5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Autofit/>
          </a:bodyPr>
          <a:lstStyle/>
          <a:p>
            <a:pPr marL="457200" lvl="0" indent="-342900" algn="l" rtl="0">
              <a:spcBef>
                <a:spcPts val="1000"/>
              </a:spcBef>
              <a:spcAft>
                <a:spcPts val="0"/>
              </a:spcAft>
              <a:buSzPts val="1800"/>
              <a:buChar char="•"/>
            </a:pPr>
            <a:r>
              <a:rPr lang="en-US" dirty="0"/>
              <a:t>Existing work shows that the influence of an individual data record to an output value usually follows normal distribution </a:t>
            </a:r>
            <a:endParaRPr dirty="0"/>
          </a:p>
          <a:p>
            <a:pPr marL="457200" lvl="0" indent="-342900" algn="l" rtl="0">
              <a:spcBef>
                <a:spcPts val="0"/>
              </a:spcBef>
              <a:spcAft>
                <a:spcPts val="0"/>
              </a:spcAft>
              <a:buSzPts val="1800"/>
              <a:buChar char="•"/>
            </a:pPr>
            <a:r>
              <a:rPr lang="en-US" dirty="0"/>
              <a:t>Statistical theories show that 1111 samples are enough to identify the underlying normal distribution</a:t>
            </a:r>
          </a:p>
          <a:p>
            <a:pPr marL="457200" lvl="0" indent="-342900" algn="l" rtl="0">
              <a:spcBef>
                <a:spcPts val="0"/>
              </a:spcBef>
              <a:spcAft>
                <a:spcPts val="0"/>
              </a:spcAft>
              <a:buSzPts val="1800"/>
              <a:buChar char="•"/>
            </a:pPr>
            <a:r>
              <a:rPr lang="en-US" dirty="0"/>
              <a:t>Hence, UPA only needs to infer a sensitivity value from 1111 data records for any input dataset size (i.e., UPA perform constant number of computation in inferring sensitivity)</a:t>
            </a:r>
            <a:endParaRPr dirty="0"/>
          </a:p>
        </p:txBody>
      </p:sp>
      <p:sp>
        <p:nvSpPr>
          <p:cNvPr id="2" name="Slide Number Placeholder 1">
            <a:extLst>
              <a:ext uri="{FF2B5EF4-FFF2-40B4-BE49-F238E27FC236}">
                <a16:creationId xmlns:a16="http://schemas.microsoft.com/office/drawing/2014/main" id="{A13C0C04-4619-AA49-9FB9-B728943BDC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Tree>
    <p:extLst>
      <p:ext uri="{BB962C8B-B14F-4D97-AF65-F5344CB8AC3E}">
        <p14:creationId xmlns:p14="http://schemas.microsoft.com/office/powerpoint/2010/main" val="699928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21DC6-EB30-F342-9035-F48E7D84E59E}"/>
              </a:ext>
            </a:extLst>
          </p:cNvPr>
          <p:cNvSpPr>
            <a:spLocks noGrp="1"/>
          </p:cNvSpPr>
          <p:nvPr>
            <p:ph type="title"/>
          </p:nvPr>
        </p:nvSpPr>
        <p:spPr/>
        <p:txBody>
          <a:bodyPr/>
          <a:lstStyle/>
          <a:p>
            <a:r>
              <a:rPr lang="en-US" dirty="0"/>
              <a:t>UPA’s performance overhead</a:t>
            </a:r>
          </a:p>
        </p:txBody>
      </p:sp>
      <p:sp>
        <p:nvSpPr>
          <p:cNvPr id="3" name="Text Placeholder 2">
            <a:extLst>
              <a:ext uri="{FF2B5EF4-FFF2-40B4-BE49-F238E27FC236}">
                <a16:creationId xmlns:a16="http://schemas.microsoft.com/office/drawing/2014/main" id="{888DF02A-AE2E-0B4D-88A0-747885BFB27A}"/>
              </a:ext>
            </a:extLst>
          </p:cNvPr>
          <p:cNvSpPr>
            <a:spLocks noGrp="1"/>
          </p:cNvSpPr>
          <p:nvPr>
            <p:ph type="body" idx="1"/>
          </p:nvPr>
        </p:nvSpPr>
        <p:spPr/>
        <p:txBody>
          <a:bodyPr>
            <a:normAutofit/>
          </a:bodyPr>
          <a:lstStyle/>
          <a:p>
            <a:r>
              <a:rPr lang="en-US" sz="2400" dirty="0"/>
              <a:t>The left figure shows UPA’s performance overhead on ~120GB input datasets, the right figure shows the variation of UPA’s performance overhead on larger dataset size</a:t>
            </a:r>
          </a:p>
          <a:p>
            <a:r>
              <a:rPr lang="en-US" sz="2400" dirty="0"/>
              <a:t>For ~120 GB input datasets, UPA’s performance overhead is merely 77.8%</a:t>
            </a:r>
          </a:p>
          <a:p>
            <a:r>
              <a:rPr lang="en-US" sz="2400" dirty="0"/>
              <a:t>For larger dataset. UPA’s performance overhead is even decreasing</a:t>
            </a:r>
          </a:p>
        </p:txBody>
      </p:sp>
      <p:pic>
        <p:nvPicPr>
          <p:cNvPr id="4" name="Picture 3">
            <a:extLst>
              <a:ext uri="{FF2B5EF4-FFF2-40B4-BE49-F238E27FC236}">
                <a16:creationId xmlns:a16="http://schemas.microsoft.com/office/drawing/2014/main" id="{7F298D6D-6F42-C046-820A-69545E595E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912290"/>
            <a:ext cx="3962186" cy="2973789"/>
          </a:xfrm>
          <a:prstGeom prst="rect">
            <a:avLst/>
          </a:prstGeom>
        </p:spPr>
      </p:pic>
      <p:pic>
        <p:nvPicPr>
          <p:cNvPr id="5" name="Picture 4">
            <a:extLst>
              <a:ext uri="{FF2B5EF4-FFF2-40B4-BE49-F238E27FC236}">
                <a16:creationId xmlns:a16="http://schemas.microsoft.com/office/drawing/2014/main" id="{D1FEDB41-5BDC-DC4B-AB36-D768B2EBDF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5938" y="4167963"/>
            <a:ext cx="3482875" cy="2614046"/>
          </a:xfrm>
          <a:prstGeom prst="rect">
            <a:avLst/>
          </a:prstGeom>
        </p:spPr>
      </p:pic>
      <p:sp>
        <p:nvSpPr>
          <p:cNvPr id="6" name="Slide Number Placeholder 5">
            <a:extLst>
              <a:ext uri="{FF2B5EF4-FFF2-40B4-BE49-F238E27FC236}">
                <a16:creationId xmlns:a16="http://schemas.microsoft.com/office/drawing/2014/main" id="{77930964-7BA8-B249-89AF-4C2AE0D369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extLst>
      <p:ext uri="{BB962C8B-B14F-4D97-AF65-F5344CB8AC3E}">
        <p14:creationId xmlns:p14="http://schemas.microsoft.com/office/powerpoint/2010/main" val="3794844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g881a038175_0_1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Our system UPA</a:t>
            </a:r>
            <a:endParaRPr/>
          </a:p>
        </p:txBody>
      </p:sp>
      <p:sp>
        <p:nvSpPr>
          <p:cNvPr id="112" name="Google Shape;112;g881a038175_0_13"/>
          <p:cNvSpPr txBox="1">
            <a:spLocks noGrp="1"/>
          </p:cNvSpPr>
          <p:nvPr>
            <p:ph type="body" idx="1"/>
          </p:nvPr>
        </p:nvSpPr>
        <p:spPr>
          <a:xfrm>
            <a:off x="838200" y="1690825"/>
            <a:ext cx="10515600" cy="4351200"/>
          </a:xfrm>
          <a:prstGeom prst="rect">
            <a:avLst/>
          </a:prstGeom>
        </p:spPr>
        <p:txBody>
          <a:bodyPr spcFirstLastPara="1" wrap="square" lIns="91425" tIns="45700" rIns="91425" bIns="45700" anchor="t" anchorCtr="0">
            <a:noAutofit/>
          </a:bodyPr>
          <a:lstStyle/>
          <a:p>
            <a:r>
              <a:rPr lang="en-US"/>
              <a:t>UPA starts from a brute force approach, but greatly enhances the efficiency of inferring a sensitivity value based on:</a:t>
            </a:r>
          </a:p>
          <a:p>
            <a:pPr lvl="0"/>
            <a:r>
              <a:rPr lang="en-US" b="1"/>
              <a:t>Observation 1: </a:t>
            </a:r>
            <a:r>
              <a:rPr lang="en-US"/>
              <a:t>big-data operators are commutative and associative</a:t>
            </a:r>
            <a:endParaRPr lang="en-US" b="1"/>
          </a:p>
          <a:p>
            <a:pPr marL="457200" lvl="0" indent="-342900" algn="l" rtl="0">
              <a:spcAft>
                <a:spcPts val="0"/>
              </a:spcAft>
              <a:buSzPts val="1800"/>
              <a:buChar char="•"/>
            </a:pPr>
            <a:r>
              <a:rPr lang="en-US" b="1"/>
              <a:t>Observation 2: </a:t>
            </a:r>
            <a:r>
              <a:rPr lang="en-US"/>
              <a:t>a sensitivity value can be inferred from a small set of data records</a:t>
            </a:r>
            <a:endParaRPr b="1"/>
          </a:p>
        </p:txBody>
      </p:sp>
      <p:graphicFrame>
        <p:nvGraphicFramePr>
          <p:cNvPr id="113" name="Google Shape;113;g881a038175_0_13"/>
          <p:cNvGraphicFramePr/>
          <p:nvPr/>
        </p:nvGraphicFramePr>
        <p:xfrm>
          <a:off x="1024218" y="4207025"/>
          <a:ext cx="10515598" cy="2285850"/>
        </p:xfrm>
        <a:graphic>
          <a:graphicData uri="http://schemas.openxmlformats.org/drawingml/2006/table">
            <a:tbl>
              <a:tblPr>
                <a:noFill/>
                <a:tableStyleId>{8AD8C4F5-C8AC-4095-881C-C65DC6E5D567}</a:tableStyleId>
              </a:tblPr>
              <a:tblGrid>
                <a:gridCol w="2117490">
                  <a:extLst>
                    <a:ext uri="{9D8B030D-6E8A-4147-A177-3AD203B41FA5}">
                      <a16:colId xmlns:a16="http://schemas.microsoft.com/office/drawing/2014/main" val="20000"/>
                    </a:ext>
                  </a:extLst>
                </a:gridCol>
                <a:gridCol w="2099527">
                  <a:extLst>
                    <a:ext uri="{9D8B030D-6E8A-4147-A177-3AD203B41FA5}">
                      <a16:colId xmlns:a16="http://schemas.microsoft.com/office/drawing/2014/main" val="20001"/>
                    </a:ext>
                  </a:extLst>
                </a:gridCol>
                <a:gridCol w="2099527">
                  <a:extLst>
                    <a:ext uri="{9D8B030D-6E8A-4147-A177-3AD203B41FA5}">
                      <a16:colId xmlns:a16="http://schemas.microsoft.com/office/drawing/2014/main" val="20002"/>
                    </a:ext>
                  </a:extLst>
                </a:gridCol>
                <a:gridCol w="2099527">
                  <a:extLst>
                    <a:ext uri="{9D8B030D-6E8A-4147-A177-3AD203B41FA5}">
                      <a16:colId xmlns:a16="http://schemas.microsoft.com/office/drawing/2014/main" val="20004"/>
                    </a:ext>
                  </a:extLst>
                </a:gridCol>
                <a:gridCol w="2099527">
                  <a:extLst>
                    <a:ext uri="{9D8B030D-6E8A-4147-A177-3AD203B41FA5}">
                      <a16:colId xmlns:a16="http://schemas.microsoft.com/office/drawing/2014/main" val="2068910731"/>
                    </a:ext>
                  </a:extLst>
                </a:gridCol>
              </a:tblGrid>
              <a:tr h="442183">
                <a:tc>
                  <a:txBody>
                    <a:bodyPr/>
                    <a:lstStyle/>
                    <a:p>
                      <a:pPr marL="0" lvl="0" indent="0" algn="l" rtl="0">
                        <a:spcBef>
                          <a:spcPts val="0"/>
                        </a:spcBef>
                        <a:spcAft>
                          <a:spcPts val="0"/>
                        </a:spcAft>
                        <a:buNone/>
                      </a:pPr>
                      <a:r>
                        <a:rPr lang="en-US" sz="1800">
                          <a:solidFill>
                            <a:schemeClr val="bg1"/>
                          </a:solidFill>
                        </a:rPr>
                        <a:t>Approach/Feature</a:t>
                      </a:r>
                      <a:endParaRPr sz="1800">
                        <a:solidFill>
                          <a:schemeClr val="bg1"/>
                        </a:solidFill>
                      </a:endParaRPr>
                    </a:p>
                  </a:txBody>
                  <a:tcPr marL="91425" marR="91425" marT="91425" marB="91425">
                    <a:solidFill>
                      <a:srgbClr val="4472C4"/>
                    </a:solidFill>
                  </a:tcPr>
                </a:tc>
                <a:tc>
                  <a:txBody>
                    <a:bodyPr/>
                    <a:lstStyle/>
                    <a:p>
                      <a:pPr marL="0" lvl="0" indent="0" algn="l" rtl="0">
                        <a:spcBef>
                          <a:spcPts val="0"/>
                        </a:spcBef>
                        <a:spcAft>
                          <a:spcPts val="0"/>
                        </a:spcAft>
                        <a:buNone/>
                      </a:pPr>
                      <a:r>
                        <a:rPr lang="en-US" sz="1800">
                          <a:solidFill>
                            <a:schemeClr val="bg1"/>
                          </a:solidFill>
                        </a:rPr>
                        <a:t>Automatic</a:t>
                      </a:r>
                      <a:endParaRPr sz="1800">
                        <a:solidFill>
                          <a:schemeClr val="bg1"/>
                        </a:solidFill>
                      </a:endParaRPr>
                    </a:p>
                  </a:txBody>
                  <a:tcPr marL="91425" marR="91425" marT="91425" marB="91425">
                    <a:solidFill>
                      <a:srgbClr val="4472C4"/>
                    </a:solidFill>
                  </a:tcPr>
                </a:tc>
                <a:tc>
                  <a:txBody>
                    <a:bodyPr/>
                    <a:lstStyle/>
                    <a:p>
                      <a:pPr marL="0" lvl="0" indent="0" algn="l" rtl="0">
                        <a:spcBef>
                          <a:spcPts val="0"/>
                        </a:spcBef>
                        <a:spcAft>
                          <a:spcPts val="0"/>
                        </a:spcAft>
                        <a:buNone/>
                      </a:pPr>
                      <a:r>
                        <a:rPr lang="en-US" sz="1800">
                          <a:solidFill>
                            <a:schemeClr val="bg1"/>
                          </a:solidFill>
                        </a:rPr>
                        <a:t>Accurate</a:t>
                      </a:r>
                      <a:endParaRPr sz="1800">
                        <a:solidFill>
                          <a:schemeClr val="bg1"/>
                        </a:solidFill>
                      </a:endParaRPr>
                    </a:p>
                  </a:txBody>
                  <a:tcPr marL="91425" marR="91425" marT="91425" marB="91425">
                    <a:solidFill>
                      <a:srgbClr val="4472C4"/>
                    </a:solidFill>
                  </a:tcPr>
                </a:tc>
                <a:tc>
                  <a:txBody>
                    <a:bodyPr/>
                    <a:lstStyle/>
                    <a:p>
                      <a:pPr marL="0" lvl="0" indent="0" algn="l" rtl="0">
                        <a:spcBef>
                          <a:spcPts val="0"/>
                        </a:spcBef>
                        <a:spcAft>
                          <a:spcPts val="0"/>
                        </a:spcAft>
                        <a:buNone/>
                      </a:pPr>
                      <a:r>
                        <a:rPr lang="en-US" sz="1800">
                          <a:solidFill>
                            <a:schemeClr val="bg1"/>
                          </a:solidFill>
                        </a:rPr>
                        <a:t>General</a:t>
                      </a:r>
                      <a:endParaRPr sz="1800">
                        <a:solidFill>
                          <a:schemeClr val="bg1"/>
                        </a:solidFill>
                      </a:endParaRPr>
                    </a:p>
                  </a:txBody>
                  <a:tcPr marL="91425" marR="91425" marT="91425" marB="91425">
                    <a:solidFill>
                      <a:srgbClr val="4472C4"/>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a:solidFill>
                            <a:schemeClr val="bg1"/>
                          </a:solidFill>
                        </a:rPr>
                        <a:t>Efficient</a:t>
                      </a:r>
                    </a:p>
                  </a:txBody>
                  <a:tcPr marL="91425" marR="91425" marT="91425" marB="91425">
                    <a:solidFill>
                      <a:srgbClr val="4472C4"/>
                    </a:solidFill>
                  </a:tcPr>
                </a:tc>
                <a:extLst>
                  <a:ext uri="{0D108BD9-81ED-4DB2-BD59-A6C34878D82A}">
                    <a16:rowId xmlns:a16="http://schemas.microsoft.com/office/drawing/2014/main" val="10000"/>
                  </a:ext>
                </a:extLst>
              </a:tr>
              <a:tr h="442183">
                <a:tc>
                  <a:txBody>
                    <a:bodyPr/>
                    <a:lstStyle/>
                    <a:p>
                      <a:pPr marL="0" lvl="0" indent="0" algn="l" rtl="0">
                        <a:spcBef>
                          <a:spcPts val="0"/>
                        </a:spcBef>
                        <a:spcAft>
                          <a:spcPts val="0"/>
                        </a:spcAft>
                        <a:buNone/>
                      </a:pPr>
                      <a:r>
                        <a:rPr lang="en-US" sz="1800"/>
                        <a:t>Manual</a:t>
                      </a:r>
                      <a:endParaRPr sz="1800"/>
                    </a:p>
                  </a:txBody>
                  <a:tcPr marL="91425" marR="91425" marT="91425" marB="91425">
                    <a:solidFill>
                      <a:srgbClr val="CED5EA"/>
                    </a:solidFill>
                  </a:tcPr>
                </a:tc>
                <a:tc>
                  <a:txBody>
                    <a:bodyPr/>
                    <a:lstStyle/>
                    <a:p>
                      <a:pPr marL="0" lvl="0" indent="0" algn="l" rtl="0">
                        <a:spcBef>
                          <a:spcPts val="0"/>
                        </a:spcBef>
                        <a:spcAft>
                          <a:spcPts val="0"/>
                        </a:spcAft>
                        <a:buNone/>
                      </a:pPr>
                      <a:r>
                        <a:rPr lang="en-US" sz="1800"/>
                        <a:t>☓</a:t>
                      </a:r>
                      <a:endParaRPr sz="1800"/>
                    </a:p>
                  </a:txBody>
                  <a:tcPr marL="91425" marR="91425" marT="91425" marB="91425">
                    <a:solidFill>
                      <a:srgbClr val="CED5EA"/>
                    </a:solidFill>
                  </a:tcPr>
                </a:tc>
                <a:tc>
                  <a:txBody>
                    <a:bodyPr/>
                    <a:lstStyle/>
                    <a:p>
                      <a:pPr marL="0" lvl="0" indent="0" algn="l" rtl="0">
                        <a:spcBef>
                          <a:spcPts val="0"/>
                        </a:spcBef>
                        <a:spcAft>
                          <a:spcPts val="0"/>
                        </a:spcAft>
                        <a:buClr>
                          <a:schemeClr val="dk1"/>
                        </a:buClr>
                        <a:buSzPts val="1100"/>
                        <a:buFont typeface="Arial"/>
                        <a:buNone/>
                      </a:pPr>
                      <a:r>
                        <a:rPr lang="en-US" sz="1800">
                          <a:solidFill>
                            <a:schemeClr val="dk1"/>
                          </a:solidFill>
                        </a:rPr>
                        <a:t>☓</a:t>
                      </a:r>
                      <a:endParaRPr sz="1800"/>
                    </a:p>
                  </a:txBody>
                  <a:tcPr marL="91425" marR="91425" marT="91425" marB="91425">
                    <a:solidFill>
                      <a:srgbClr val="CED5EA"/>
                    </a:solidFill>
                  </a:tcPr>
                </a:tc>
                <a:tc>
                  <a:txBody>
                    <a:bodyPr/>
                    <a:lstStyle/>
                    <a:p>
                      <a:pPr marL="0" lvl="0" indent="0" algn="l" rtl="0">
                        <a:spcBef>
                          <a:spcPts val="0"/>
                        </a:spcBef>
                        <a:spcAft>
                          <a:spcPts val="0"/>
                        </a:spcAft>
                        <a:buClr>
                          <a:schemeClr val="dk1"/>
                        </a:buClr>
                        <a:buSzPts val="1100"/>
                        <a:buFont typeface="Arial"/>
                        <a:buNone/>
                      </a:pPr>
                      <a:r>
                        <a:rPr lang="en-US" sz="1800">
                          <a:solidFill>
                            <a:schemeClr val="dk1"/>
                          </a:solidFill>
                        </a:rPr>
                        <a:t>✔</a:t>
                      </a:r>
                      <a:endParaRPr sz="1800"/>
                    </a:p>
                  </a:txBody>
                  <a:tcPr marL="91425" marR="91425" marT="91425" marB="91425">
                    <a:solidFill>
                      <a:srgbClr val="CED5EA"/>
                    </a:solidFill>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1800"/>
                        <a:t>N/A</a:t>
                      </a:r>
                    </a:p>
                  </a:txBody>
                  <a:tcPr marL="91425" marR="91425" marT="91425" marB="91425">
                    <a:solidFill>
                      <a:srgbClr val="CED5EA"/>
                    </a:solidFill>
                  </a:tcPr>
                </a:tc>
                <a:extLst>
                  <a:ext uri="{0D108BD9-81ED-4DB2-BD59-A6C34878D82A}">
                    <a16:rowId xmlns:a16="http://schemas.microsoft.com/office/drawing/2014/main" val="10001"/>
                  </a:ext>
                </a:extLst>
              </a:tr>
              <a:tr h="442183">
                <a:tc>
                  <a:txBody>
                    <a:bodyPr/>
                    <a:lstStyle/>
                    <a:p>
                      <a:pPr marL="0" lvl="0" indent="0" algn="l" rtl="0">
                        <a:spcBef>
                          <a:spcPts val="0"/>
                        </a:spcBef>
                        <a:spcAft>
                          <a:spcPts val="0"/>
                        </a:spcAft>
                        <a:buNone/>
                      </a:pPr>
                      <a:r>
                        <a:rPr lang="en-US" sz="1800"/>
                        <a:t>Static</a:t>
                      </a:r>
                      <a:endParaRPr sz="1800"/>
                    </a:p>
                  </a:txBody>
                  <a:tcPr marL="91425" marR="91425" marT="91425" marB="91425">
                    <a:solidFill>
                      <a:srgbClr val="E9EBF5"/>
                    </a:solidFill>
                  </a:tcPr>
                </a:tc>
                <a:tc>
                  <a:txBody>
                    <a:bodyPr/>
                    <a:lstStyle/>
                    <a:p>
                      <a:pPr marL="0" lvl="0" indent="0" algn="l" rtl="0">
                        <a:spcBef>
                          <a:spcPts val="0"/>
                        </a:spcBef>
                        <a:spcAft>
                          <a:spcPts val="0"/>
                        </a:spcAft>
                        <a:buNone/>
                      </a:pPr>
                      <a:r>
                        <a:rPr lang="en-US" sz="1800"/>
                        <a:t>✔</a:t>
                      </a:r>
                      <a:endParaRPr sz="1800"/>
                    </a:p>
                  </a:txBody>
                  <a:tcPr marL="91425" marR="91425" marT="91425" marB="91425">
                    <a:solidFill>
                      <a:srgbClr val="E9EBF5"/>
                    </a:solidFill>
                  </a:tcPr>
                </a:tc>
                <a:tc>
                  <a:txBody>
                    <a:bodyPr/>
                    <a:lstStyle/>
                    <a:p>
                      <a:pPr marL="0" lvl="0" indent="0" algn="l" rtl="0">
                        <a:spcBef>
                          <a:spcPts val="0"/>
                        </a:spcBef>
                        <a:spcAft>
                          <a:spcPts val="0"/>
                        </a:spcAft>
                        <a:buClr>
                          <a:schemeClr val="dk1"/>
                        </a:buClr>
                        <a:buSzPts val="1100"/>
                        <a:buFont typeface="Arial"/>
                        <a:buNone/>
                      </a:pPr>
                      <a:r>
                        <a:rPr lang="en-US" sz="1800">
                          <a:solidFill>
                            <a:schemeClr val="dk1"/>
                          </a:solidFill>
                        </a:rPr>
                        <a:t>☓</a:t>
                      </a:r>
                      <a:endParaRPr sz="1800"/>
                    </a:p>
                  </a:txBody>
                  <a:tcPr marL="91425" marR="91425" marT="91425" marB="91425">
                    <a:solidFill>
                      <a:srgbClr val="E9EBF5"/>
                    </a:solidFill>
                  </a:tcPr>
                </a:tc>
                <a:tc>
                  <a:txBody>
                    <a:bodyPr/>
                    <a:lstStyle/>
                    <a:p>
                      <a:pPr marL="0" lvl="0" indent="0" algn="l" rtl="0">
                        <a:spcBef>
                          <a:spcPts val="0"/>
                        </a:spcBef>
                        <a:spcAft>
                          <a:spcPts val="0"/>
                        </a:spcAft>
                        <a:buClr>
                          <a:schemeClr val="dk1"/>
                        </a:buClr>
                        <a:buSzPts val="1100"/>
                        <a:buFont typeface="Arial"/>
                        <a:buNone/>
                      </a:pPr>
                      <a:r>
                        <a:rPr lang="en-US" sz="1800">
                          <a:solidFill>
                            <a:schemeClr val="dk1"/>
                          </a:solidFill>
                        </a:rPr>
                        <a:t>☓</a:t>
                      </a:r>
                      <a:endParaRPr sz="1800"/>
                    </a:p>
                  </a:txBody>
                  <a:tcPr marL="91425" marR="91425" marT="91425" marB="91425">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1800">
                          <a:solidFill>
                            <a:schemeClr val="dk1"/>
                          </a:solidFill>
                        </a:rPr>
                        <a:t>✔</a:t>
                      </a:r>
                      <a:endParaRPr lang="en-US" sz="1800"/>
                    </a:p>
                  </a:txBody>
                  <a:tcPr marL="91425" marR="91425" marT="91425" marB="91425">
                    <a:solidFill>
                      <a:srgbClr val="E9EBF5"/>
                    </a:solidFill>
                  </a:tcPr>
                </a:tc>
                <a:extLst>
                  <a:ext uri="{0D108BD9-81ED-4DB2-BD59-A6C34878D82A}">
                    <a16:rowId xmlns:a16="http://schemas.microsoft.com/office/drawing/2014/main" val="10002"/>
                  </a:ext>
                </a:extLst>
              </a:tr>
              <a:tr h="442183">
                <a:tc>
                  <a:txBody>
                    <a:bodyPr/>
                    <a:lstStyle/>
                    <a:p>
                      <a:pPr marL="0" lvl="0" indent="0" algn="l" rtl="0">
                        <a:spcBef>
                          <a:spcPts val="0"/>
                        </a:spcBef>
                        <a:spcAft>
                          <a:spcPts val="0"/>
                        </a:spcAft>
                        <a:buNone/>
                      </a:pPr>
                      <a:r>
                        <a:rPr lang="en-US" sz="1800"/>
                        <a:t>Brute-force</a:t>
                      </a:r>
                      <a:endParaRPr sz="1800"/>
                    </a:p>
                  </a:txBody>
                  <a:tcPr marL="91425" marR="91425" marT="91425" marB="91425">
                    <a:solidFill>
                      <a:srgbClr val="CED5EA"/>
                    </a:solidFill>
                  </a:tcPr>
                </a:tc>
                <a:tc>
                  <a:txBody>
                    <a:bodyPr/>
                    <a:lstStyle/>
                    <a:p>
                      <a:pPr marL="0" lvl="0" indent="0" algn="l" rtl="0">
                        <a:spcBef>
                          <a:spcPts val="0"/>
                        </a:spcBef>
                        <a:spcAft>
                          <a:spcPts val="0"/>
                        </a:spcAft>
                        <a:buNone/>
                      </a:pPr>
                      <a:r>
                        <a:rPr lang="en-US" sz="1800"/>
                        <a:t>✔</a:t>
                      </a:r>
                      <a:endParaRPr sz="1800"/>
                    </a:p>
                  </a:txBody>
                  <a:tcPr marL="91425" marR="91425" marT="91425" marB="91425">
                    <a:solidFill>
                      <a:srgbClr val="CED5EA"/>
                    </a:solidFill>
                  </a:tcPr>
                </a:tc>
                <a:tc>
                  <a:txBody>
                    <a:bodyPr/>
                    <a:lstStyle/>
                    <a:p>
                      <a:pPr marL="0" lvl="0" indent="0" algn="l" rtl="0">
                        <a:spcBef>
                          <a:spcPts val="0"/>
                        </a:spcBef>
                        <a:spcAft>
                          <a:spcPts val="0"/>
                        </a:spcAft>
                        <a:buClr>
                          <a:schemeClr val="dk1"/>
                        </a:buClr>
                        <a:buSzPts val="1100"/>
                        <a:buFont typeface="Arial"/>
                        <a:buNone/>
                      </a:pPr>
                      <a:r>
                        <a:rPr lang="en-US" sz="1800">
                          <a:solidFill>
                            <a:schemeClr val="dk1"/>
                          </a:solidFill>
                        </a:rPr>
                        <a:t>✔</a:t>
                      </a:r>
                      <a:endParaRPr sz="1800"/>
                    </a:p>
                  </a:txBody>
                  <a:tcPr marL="91425" marR="91425" marT="91425" marB="91425">
                    <a:solidFill>
                      <a:srgbClr val="CED5EA"/>
                    </a:solidFill>
                  </a:tcPr>
                </a:tc>
                <a:tc>
                  <a:txBody>
                    <a:bodyPr/>
                    <a:lstStyle/>
                    <a:p>
                      <a:pPr marL="0" lvl="0" indent="0" algn="l" rtl="0">
                        <a:spcBef>
                          <a:spcPts val="0"/>
                        </a:spcBef>
                        <a:spcAft>
                          <a:spcPts val="0"/>
                        </a:spcAft>
                        <a:buClr>
                          <a:schemeClr val="dk1"/>
                        </a:buClr>
                        <a:buSzPts val="1100"/>
                        <a:buFont typeface="Arial"/>
                        <a:buNone/>
                      </a:pPr>
                      <a:r>
                        <a:rPr lang="en-US" sz="1800">
                          <a:solidFill>
                            <a:schemeClr val="dk1"/>
                          </a:solidFill>
                        </a:rPr>
                        <a:t>✔</a:t>
                      </a:r>
                      <a:endParaRPr sz="1800"/>
                    </a:p>
                  </a:txBody>
                  <a:tcPr marL="91425" marR="91425" marT="91425" marB="91425">
                    <a:solidFill>
                      <a:srgbClr val="CED5EA"/>
                    </a:solidFill>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1800">
                          <a:solidFill>
                            <a:schemeClr val="dk1"/>
                          </a:solidFill>
                        </a:rPr>
                        <a:t>☓</a:t>
                      </a:r>
                      <a:endParaRPr lang="en-US" sz="1800"/>
                    </a:p>
                  </a:txBody>
                  <a:tcPr marL="91425" marR="91425" marT="91425" marB="91425">
                    <a:solidFill>
                      <a:srgbClr val="CED5EA"/>
                    </a:solidFill>
                  </a:tcPr>
                </a:tc>
                <a:extLst>
                  <a:ext uri="{0D108BD9-81ED-4DB2-BD59-A6C34878D82A}">
                    <a16:rowId xmlns:a16="http://schemas.microsoft.com/office/drawing/2014/main" val="10003"/>
                  </a:ext>
                </a:extLst>
              </a:tr>
              <a:tr h="442183">
                <a:tc>
                  <a:txBody>
                    <a:bodyPr/>
                    <a:lstStyle/>
                    <a:p>
                      <a:pPr marL="0" lvl="0" indent="0" algn="l" rtl="0">
                        <a:spcBef>
                          <a:spcPts val="0"/>
                        </a:spcBef>
                        <a:spcAft>
                          <a:spcPts val="0"/>
                        </a:spcAft>
                        <a:buNone/>
                      </a:pPr>
                      <a:r>
                        <a:rPr lang="en-US" sz="1800"/>
                        <a:t>UPA</a:t>
                      </a:r>
                      <a:endParaRPr sz="1800"/>
                    </a:p>
                  </a:txBody>
                  <a:tcPr marL="91425" marR="91425" marT="91425" marB="91425">
                    <a:solidFill>
                      <a:srgbClr val="E8EBF6"/>
                    </a:solidFill>
                  </a:tcPr>
                </a:tc>
                <a:tc>
                  <a:txBody>
                    <a:bodyPr/>
                    <a:lstStyle/>
                    <a:p>
                      <a:pPr marL="0" lvl="0" indent="0" algn="l" rtl="0">
                        <a:spcBef>
                          <a:spcPts val="0"/>
                        </a:spcBef>
                        <a:spcAft>
                          <a:spcPts val="0"/>
                        </a:spcAft>
                        <a:buNone/>
                      </a:pPr>
                      <a:r>
                        <a:rPr lang="en-US" sz="1800"/>
                        <a:t>✔</a:t>
                      </a:r>
                      <a:endParaRPr sz="1800"/>
                    </a:p>
                  </a:txBody>
                  <a:tcPr marL="91425" marR="91425" marT="91425" marB="91425">
                    <a:solidFill>
                      <a:srgbClr val="E8EBF6"/>
                    </a:solidFill>
                  </a:tcPr>
                </a:tc>
                <a:tc>
                  <a:txBody>
                    <a:bodyPr/>
                    <a:lstStyle/>
                    <a:p>
                      <a:pPr marL="0" lvl="0" indent="0" algn="l" rtl="0">
                        <a:spcBef>
                          <a:spcPts val="0"/>
                        </a:spcBef>
                        <a:spcAft>
                          <a:spcPts val="0"/>
                        </a:spcAft>
                        <a:buClr>
                          <a:schemeClr val="dk1"/>
                        </a:buClr>
                        <a:buSzPts val="1100"/>
                        <a:buFont typeface="Arial"/>
                        <a:buNone/>
                      </a:pPr>
                      <a:r>
                        <a:rPr lang="en-US" sz="1800">
                          <a:solidFill>
                            <a:schemeClr val="dk1"/>
                          </a:solidFill>
                        </a:rPr>
                        <a:t>✔</a:t>
                      </a:r>
                      <a:endParaRPr sz="1800"/>
                    </a:p>
                  </a:txBody>
                  <a:tcPr marL="91425" marR="91425" marT="91425" marB="91425">
                    <a:solidFill>
                      <a:srgbClr val="E8EBF6"/>
                    </a:solidFill>
                  </a:tcPr>
                </a:tc>
                <a:tc>
                  <a:txBody>
                    <a:bodyPr/>
                    <a:lstStyle/>
                    <a:p>
                      <a:pPr marL="0" lvl="0" indent="0" algn="l" rtl="0">
                        <a:spcBef>
                          <a:spcPts val="0"/>
                        </a:spcBef>
                        <a:spcAft>
                          <a:spcPts val="0"/>
                        </a:spcAft>
                        <a:buClr>
                          <a:schemeClr val="dk1"/>
                        </a:buClr>
                        <a:buSzPts val="1100"/>
                        <a:buFont typeface="Arial"/>
                        <a:buNone/>
                      </a:pPr>
                      <a:r>
                        <a:rPr lang="en-US" sz="1800">
                          <a:solidFill>
                            <a:schemeClr val="dk1"/>
                          </a:solidFill>
                        </a:rPr>
                        <a:t>✔</a:t>
                      </a:r>
                      <a:endParaRPr sz="1800"/>
                    </a:p>
                  </a:txBody>
                  <a:tcPr marL="91425" marR="91425" marT="91425" marB="91425">
                    <a:solidFill>
                      <a:srgbClr val="E8EBF6"/>
                    </a:solidFill>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1800">
                          <a:solidFill>
                            <a:schemeClr val="dk1"/>
                          </a:solidFill>
                        </a:rPr>
                        <a:t>✔</a:t>
                      </a:r>
                      <a:endParaRPr lang="en-US" sz="1800"/>
                    </a:p>
                  </a:txBody>
                  <a:tcPr marL="91425" marR="91425" marT="91425" marB="91425">
                    <a:solidFill>
                      <a:srgbClr val="E8EBF6"/>
                    </a:solidFill>
                  </a:tcPr>
                </a:tc>
                <a:extLst>
                  <a:ext uri="{0D108BD9-81ED-4DB2-BD59-A6C34878D82A}">
                    <a16:rowId xmlns:a16="http://schemas.microsoft.com/office/drawing/2014/main" val="10004"/>
                  </a:ext>
                </a:extLst>
              </a:tr>
            </a:tbl>
          </a:graphicData>
        </a:graphic>
      </p:graphicFrame>
      <p:sp>
        <p:nvSpPr>
          <p:cNvPr id="2" name="Rectangle 1">
            <a:extLst>
              <a:ext uri="{FF2B5EF4-FFF2-40B4-BE49-F238E27FC236}">
                <a16:creationId xmlns:a16="http://schemas.microsoft.com/office/drawing/2014/main" id="{F1AF45D9-F423-B74D-9CE9-5FCB2F6AEEEB}"/>
              </a:ext>
            </a:extLst>
          </p:cNvPr>
          <p:cNvSpPr/>
          <p:nvPr/>
        </p:nvSpPr>
        <p:spPr>
          <a:xfrm>
            <a:off x="838200" y="5439759"/>
            <a:ext cx="10887634" cy="1185770"/>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AC5ED229-19C6-614D-944A-1C98647BCE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Tree>
    <p:extLst>
      <p:ext uri="{BB962C8B-B14F-4D97-AF65-F5344CB8AC3E}">
        <p14:creationId xmlns:p14="http://schemas.microsoft.com/office/powerpoint/2010/main" val="36448358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g881a038175_0_5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US" dirty="0"/>
              <a:t>Observation 2: the influence of an individual data record to an output value usually follows normal distribution</a:t>
            </a:r>
            <a:endParaRPr dirty="0"/>
          </a:p>
        </p:txBody>
      </p:sp>
      <p:sp>
        <p:nvSpPr>
          <p:cNvPr id="134" name="Google Shape;134;g881a038175_0_5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Autofit/>
          </a:bodyPr>
          <a:lstStyle/>
          <a:p>
            <a:pPr marL="457200" lvl="0" indent="-342900" algn="l" rtl="0">
              <a:spcBef>
                <a:spcPts val="1000"/>
              </a:spcBef>
              <a:spcAft>
                <a:spcPts val="0"/>
              </a:spcAft>
              <a:buSzPts val="1800"/>
              <a:buChar char="•"/>
            </a:pPr>
            <a:r>
              <a:rPr lang="en-US" dirty="0"/>
              <a:t>Existing work shows that the influence of an individual data record to an output value usually follows normal distribution </a:t>
            </a:r>
            <a:endParaRPr dirty="0"/>
          </a:p>
          <a:p>
            <a:pPr marL="457200" lvl="0" indent="-342900" algn="l" rtl="0">
              <a:spcBef>
                <a:spcPts val="0"/>
              </a:spcBef>
              <a:spcAft>
                <a:spcPts val="0"/>
              </a:spcAft>
              <a:buSzPts val="1800"/>
              <a:buChar char="•"/>
            </a:pPr>
            <a:r>
              <a:rPr lang="en-US" dirty="0"/>
              <a:t>Statistical theories show that 1111 samples are enough to identify the underlying normal distribution</a:t>
            </a:r>
          </a:p>
          <a:p>
            <a:pPr marL="457200" lvl="0" indent="-342900" algn="l" rtl="0">
              <a:spcBef>
                <a:spcPts val="0"/>
              </a:spcBef>
              <a:spcAft>
                <a:spcPts val="0"/>
              </a:spcAft>
              <a:buSzPts val="1800"/>
              <a:buChar char="•"/>
            </a:pPr>
            <a:r>
              <a:rPr lang="en-US" dirty="0"/>
              <a:t>Hence, UPA only needs to infer a sensitivity value from 1111 data records for any input dataset size (i.e., UPA perform constant number of computation in inferring sensitivity)</a:t>
            </a:r>
            <a:endParaRPr dirty="0"/>
          </a:p>
        </p:txBody>
      </p:sp>
      <p:sp>
        <p:nvSpPr>
          <p:cNvPr id="2" name="Slide Number Placeholder 1">
            <a:extLst>
              <a:ext uri="{FF2B5EF4-FFF2-40B4-BE49-F238E27FC236}">
                <a16:creationId xmlns:a16="http://schemas.microsoft.com/office/drawing/2014/main" id="{A13C0C04-4619-AA49-9FB9-B728943BDC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Tree>
    <p:extLst>
      <p:ext uri="{BB962C8B-B14F-4D97-AF65-F5344CB8AC3E}">
        <p14:creationId xmlns:p14="http://schemas.microsoft.com/office/powerpoint/2010/main" val="2356573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Differential Privacy</a:t>
            </a:r>
            <a:endParaRPr dirty="0"/>
          </a:p>
        </p:txBody>
      </p:sp>
      <p:sp>
        <p:nvSpPr>
          <p:cNvPr id="91" name="Google Shape;91;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indent="-228600">
              <a:spcBef>
                <a:spcPts val="0"/>
              </a:spcBef>
              <a:buSzPts val="2800"/>
            </a:pPr>
            <a:r>
              <a:rPr lang="en-US" sz="2400" dirty="0"/>
              <a:t>Differential Privacy (DP) is a popular privacy preserving technique that adds randomness (e.g., random noise) to </a:t>
            </a:r>
            <a:r>
              <a:rPr lang="en-US" sz="2400"/>
              <a:t>the aggregated information </a:t>
            </a:r>
            <a:r>
              <a:rPr lang="en-US" sz="2400" dirty="0"/>
              <a:t>of a </a:t>
            </a:r>
            <a:r>
              <a:rPr lang="en-US" sz="2400"/>
              <a:t>dataset (i.e., a query's output value on the dataset)</a:t>
            </a:r>
          </a:p>
          <a:p>
            <a:pPr marL="0" lvl="0" indent="0" algn="l" rtl="0">
              <a:lnSpc>
                <a:spcPct val="90000"/>
              </a:lnSpc>
              <a:spcBef>
                <a:spcPts val="0"/>
              </a:spcBef>
              <a:spcAft>
                <a:spcPts val="0"/>
              </a:spcAft>
              <a:buClr>
                <a:schemeClr val="dk1"/>
              </a:buClr>
              <a:buSzPts val="2800"/>
              <a:buNone/>
            </a:pPr>
            <a:endParaRPr lang="en-US" dirty="0"/>
          </a:p>
        </p:txBody>
      </p:sp>
      <p:pic>
        <p:nvPicPr>
          <p:cNvPr id="17" name="Graphic 16" descr="Devil face with solid fill">
            <a:extLst>
              <a:ext uri="{FF2B5EF4-FFF2-40B4-BE49-F238E27FC236}">
                <a16:creationId xmlns:a16="http://schemas.microsoft.com/office/drawing/2014/main" id="{CCE3281C-6C0A-BE40-92C7-C677EC6652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18594" y="4597576"/>
            <a:ext cx="1117210" cy="1105114"/>
          </a:xfrm>
          <a:prstGeom prst="rect">
            <a:avLst/>
          </a:prstGeom>
        </p:spPr>
      </p:pic>
      <p:pic>
        <p:nvPicPr>
          <p:cNvPr id="18" name="Graphic 17" descr="Hospital">
            <a:extLst>
              <a:ext uri="{FF2B5EF4-FFF2-40B4-BE49-F238E27FC236}">
                <a16:creationId xmlns:a16="http://schemas.microsoft.com/office/drawing/2014/main" id="{13E2889E-632C-3745-90A5-15AFB01EA01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23542" y="3300999"/>
            <a:ext cx="2743200" cy="2743200"/>
          </a:xfrm>
          <a:prstGeom prst="rect">
            <a:avLst/>
          </a:prstGeom>
        </p:spPr>
      </p:pic>
      <p:cxnSp>
        <p:nvCxnSpPr>
          <p:cNvPr id="19" name="Straight Arrow Connector 18">
            <a:extLst>
              <a:ext uri="{FF2B5EF4-FFF2-40B4-BE49-F238E27FC236}">
                <a16:creationId xmlns:a16="http://schemas.microsoft.com/office/drawing/2014/main" id="{10588AF3-FF45-1048-87EF-BB293C97DC4C}"/>
              </a:ext>
            </a:extLst>
          </p:cNvPr>
          <p:cNvCxnSpPr/>
          <p:nvPr/>
        </p:nvCxnSpPr>
        <p:spPr bwMode="auto">
          <a:xfrm>
            <a:off x="3121987" y="5182767"/>
            <a:ext cx="2743200" cy="0"/>
          </a:xfrm>
          <a:prstGeom prst="straightConnector1">
            <a:avLst/>
          </a:prstGeom>
          <a:noFill/>
          <a:ln w="19050" cap="flat" cmpd="sng" algn="ctr">
            <a:solidFill>
              <a:schemeClr val="tx1"/>
            </a:solidFill>
            <a:prstDash val="solid"/>
            <a:round/>
            <a:headEnd type="none" w="med" len="med"/>
            <a:tailEnd type="triangle"/>
          </a:ln>
          <a:effectLst/>
        </p:spPr>
      </p:cxnSp>
      <p:sp>
        <p:nvSpPr>
          <p:cNvPr id="20" name="TextBox 19">
            <a:extLst>
              <a:ext uri="{FF2B5EF4-FFF2-40B4-BE49-F238E27FC236}">
                <a16:creationId xmlns:a16="http://schemas.microsoft.com/office/drawing/2014/main" id="{49389575-0312-144F-9E2E-D3A8A882F26E}"/>
              </a:ext>
            </a:extLst>
          </p:cNvPr>
          <p:cNvSpPr txBox="1"/>
          <p:nvPr/>
        </p:nvSpPr>
        <p:spPr>
          <a:xfrm>
            <a:off x="3121987" y="3956733"/>
            <a:ext cx="2783247" cy="1200329"/>
          </a:xfrm>
          <a:prstGeom prst="rect">
            <a:avLst/>
          </a:prstGeom>
          <a:noFill/>
        </p:spPr>
        <p:txBody>
          <a:bodyPr wrap="square" rtlCol="0" anchor="t">
            <a:spAutoFit/>
          </a:bodyPr>
          <a:lstStyle/>
          <a:p>
            <a:pPr algn="just"/>
            <a:r>
              <a:rPr lang="en-US" altLang="zh-TW" sz="1800" b="0">
                <a:latin typeface="+mn-lt"/>
                <a:ea typeface="新細明體"/>
              </a:rPr>
              <a:t>Count the number of patients </a:t>
            </a:r>
            <a:r>
              <a:rPr lang="en-US" altLang="zh-TW" sz="1800">
                <a:latin typeface="+mn-lt"/>
                <a:ea typeface="新細明體"/>
              </a:rPr>
              <a:t>who entered</a:t>
            </a:r>
            <a:r>
              <a:rPr lang="en-US" altLang="zh-TW" sz="1800" b="0">
                <a:latin typeface="+mn-lt"/>
                <a:ea typeface="新細明體"/>
              </a:rPr>
              <a:t> ICU on 1</a:t>
            </a:r>
            <a:r>
              <a:rPr lang="en-US" altLang="zh-TW" sz="1800" b="0" baseline="30000">
                <a:latin typeface="+mn-lt"/>
                <a:ea typeface="新細明體"/>
              </a:rPr>
              <a:t>st</a:t>
            </a:r>
            <a:r>
              <a:rPr lang="en-US" altLang="zh-TW" sz="1800" b="0">
                <a:latin typeface="+mn-lt"/>
                <a:ea typeface="新細明體"/>
              </a:rPr>
              <a:t> Jan 2019 and had a heart attack</a:t>
            </a:r>
            <a:endParaRPr lang="en-US" sz="1800" b="0">
              <a:latin typeface="+mn-lt"/>
              <a:ea typeface="新細明體"/>
            </a:endParaRPr>
          </a:p>
        </p:txBody>
      </p:sp>
      <p:cxnSp>
        <p:nvCxnSpPr>
          <p:cNvPr id="21" name="Straight Arrow Connector 20">
            <a:extLst>
              <a:ext uri="{FF2B5EF4-FFF2-40B4-BE49-F238E27FC236}">
                <a16:creationId xmlns:a16="http://schemas.microsoft.com/office/drawing/2014/main" id="{4F7F1202-AEEF-8F4F-BDA3-400B356C7A5C}"/>
              </a:ext>
            </a:extLst>
          </p:cNvPr>
          <p:cNvCxnSpPr>
            <a:cxnSpLocks/>
          </p:cNvCxnSpPr>
          <p:nvPr/>
        </p:nvCxnSpPr>
        <p:spPr bwMode="auto">
          <a:xfrm flipH="1">
            <a:off x="3121987" y="5582877"/>
            <a:ext cx="2743200" cy="0"/>
          </a:xfrm>
          <a:prstGeom prst="straightConnector1">
            <a:avLst/>
          </a:prstGeom>
          <a:noFill/>
          <a:ln w="19050" cap="flat" cmpd="sng" algn="ctr">
            <a:solidFill>
              <a:schemeClr val="tx1"/>
            </a:solidFill>
            <a:prstDash val="solid"/>
            <a:round/>
            <a:headEnd type="none" w="med" len="med"/>
            <a:tailEnd type="triangle"/>
          </a:ln>
          <a:effectLst/>
        </p:spPr>
      </p:cxnSp>
      <p:sp>
        <p:nvSpPr>
          <p:cNvPr id="22" name="TextBox 21">
            <a:extLst>
              <a:ext uri="{FF2B5EF4-FFF2-40B4-BE49-F238E27FC236}">
                <a16:creationId xmlns:a16="http://schemas.microsoft.com/office/drawing/2014/main" id="{5FADA6B9-EB43-F544-831A-4A9D11EC8079}"/>
              </a:ext>
            </a:extLst>
          </p:cNvPr>
          <p:cNvSpPr txBox="1"/>
          <p:nvPr/>
        </p:nvSpPr>
        <p:spPr>
          <a:xfrm>
            <a:off x="4012249" y="5655208"/>
            <a:ext cx="1739820" cy="369332"/>
          </a:xfrm>
          <a:prstGeom prst="rect">
            <a:avLst/>
          </a:prstGeom>
          <a:noFill/>
        </p:spPr>
        <p:txBody>
          <a:bodyPr wrap="square" rtlCol="0">
            <a:spAutoFit/>
          </a:bodyPr>
          <a:lstStyle/>
          <a:p>
            <a:r>
              <a:rPr lang="en-US" altLang="zh-TW" sz="1800" b="0" dirty="0">
                <a:latin typeface="+mn-lt"/>
                <a:ea typeface="+mn-ea"/>
              </a:rPr>
              <a:t>Output: 1</a:t>
            </a:r>
            <a:endParaRPr lang="en-US" sz="1800" dirty="0">
              <a:latin typeface="+mn-lt"/>
              <a:ea typeface="+mn-ea"/>
            </a:endParaRPr>
          </a:p>
        </p:txBody>
      </p:sp>
      <p:sp>
        <p:nvSpPr>
          <p:cNvPr id="23" name="Cloud Callout 22">
            <a:extLst>
              <a:ext uri="{FF2B5EF4-FFF2-40B4-BE49-F238E27FC236}">
                <a16:creationId xmlns:a16="http://schemas.microsoft.com/office/drawing/2014/main" id="{C45E310B-DDAB-3447-8E9F-7CB041DE35E1}"/>
              </a:ext>
            </a:extLst>
          </p:cNvPr>
          <p:cNvSpPr/>
          <p:nvPr/>
        </p:nvSpPr>
        <p:spPr bwMode="auto">
          <a:xfrm flipH="1">
            <a:off x="123347" y="2917659"/>
            <a:ext cx="2344059" cy="1721971"/>
          </a:xfrm>
          <a:prstGeom prst="cloudCallout">
            <a:avLst/>
          </a:prstGeom>
          <a:solidFill>
            <a:srgbClr val="99CCFF"/>
          </a:solidFill>
          <a:ln w="12700" cap="flat" cmpd="sng" algn="ctr">
            <a:solidFill>
              <a:schemeClr val="tx1"/>
            </a:solidFill>
            <a:prstDash val="solid"/>
            <a:round/>
            <a:headEnd type="none" w="med" len="med"/>
            <a:tailEnd type="none" w="med" len="med"/>
          </a:ln>
          <a:effectLst/>
        </p:spPr>
        <p:txBody>
          <a:bodyPr vert="horz" wrap="square" lIns="79200" tIns="39600" rIns="79200" bIns="39600" numCol="1" rtlCol="0" anchor="ctr" anchorCtr="0" compatLnSpc="1">
            <a:prstTxWarp prst="textNoShape">
              <a:avLst/>
            </a:prstTxWarp>
            <a:noAutofit/>
          </a:bodyPr>
          <a:lstStyle/>
          <a:p>
            <a:pPr algn="just"/>
            <a:r>
              <a:rPr lang="en-HK" altLang="zh-TW" sz="1150" dirty="0">
                <a:latin typeface="+mn-lt"/>
                <a:ea typeface="+mn-ea"/>
              </a:rPr>
              <a:t>Alice entered ICU in this hospital, she was the only patient entered ICU on 1st Jan 2019. Did she have a heart attack?</a:t>
            </a:r>
            <a:endParaRPr lang="en-US" sz="1150" b="0" dirty="0">
              <a:latin typeface="+mn-lt"/>
              <a:ea typeface="+mn-ea"/>
            </a:endParaRPr>
          </a:p>
        </p:txBody>
      </p:sp>
      <p:sp>
        <p:nvSpPr>
          <p:cNvPr id="24" name="Cloud Callout 23">
            <a:extLst>
              <a:ext uri="{FF2B5EF4-FFF2-40B4-BE49-F238E27FC236}">
                <a16:creationId xmlns:a16="http://schemas.microsoft.com/office/drawing/2014/main" id="{DB12E31D-CDC7-2E44-BBE3-74ECAA2D5CE0}"/>
              </a:ext>
            </a:extLst>
          </p:cNvPr>
          <p:cNvSpPr/>
          <p:nvPr/>
        </p:nvSpPr>
        <p:spPr bwMode="auto">
          <a:xfrm flipH="1" flipV="1">
            <a:off x="617351" y="5852024"/>
            <a:ext cx="1921847" cy="955422"/>
          </a:xfrm>
          <a:prstGeom prst="cloudCallout">
            <a:avLst/>
          </a:prstGeom>
          <a:solidFill>
            <a:srgbClr val="99CCFF"/>
          </a:solidFill>
          <a:ln w="12700" cap="flat" cmpd="sng" algn="ctr">
            <a:solidFill>
              <a:schemeClr val="tx1"/>
            </a:solidFill>
            <a:prstDash val="solid"/>
            <a:round/>
            <a:headEnd type="none" w="med" len="med"/>
            <a:tailEnd type="none" w="med" len="med"/>
          </a:ln>
          <a:effectLst/>
        </p:spPr>
        <p:txBody>
          <a:bodyPr vert="horz" wrap="square" lIns="79200" tIns="39600" rIns="79200" bIns="39600" numCol="1" rtlCol="0" anchor="ctr" anchorCtr="0" compatLnSpc="1">
            <a:prstTxWarp prst="textNoShape">
              <a:avLst/>
            </a:prstTxWarp>
            <a:noAutofit/>
          </a:bodyPr>
          <a:lstStyle/>
          <a:p>
            <a:pPr algn="ctr"/>
            <a:endParaRPr lang="en-US" b="0" dirty="0">
              <a:latin typeface="FrutigerNext LT Regular"/>
              <a:ea typeface="MS PGothic" pitchFamily="34" charset="-128"/>
            </a:endParaRPr>
          </a:p>
        </p:txBody>
      </p:sp>
      <p:sp>
        <p:nvSpPr>
          <p:cNvPr id="25" name="TextBox 24">
            <a:extLst>
              <a:ext uri="{FF2B5EF4-FFF2-40B4-BE49-F238E27FC236}">
                <a16:creationId xmlns:a16="http://schemas.microsoft.com/office/drawing/2014/main" id="{F5D71E43-BF59-8046-AB22-67FAF903E3E5}"/>
              </a:ext>
            </a:extLst>
          </p:cNvPr>
          <p:cNvSpPr txBox="1"/>
          <p:nvPr/>
        </p:nvSpPr>
        <p:spPr>
          <a:xfrm>
            <a:off x="794718" y="6251011"/>
            <a:ext cx="1729961" cy="276999"/>
          </a:xfrm>
          <a:prstGeom prst="rect">
            <a:avLst/>
          </a:prstGeom>
          <a:noFill/>
        </p:spPr>
        <p:txBody>
          <a:bodyPr wrap="none" rtlCol="0" anchor="t">
            <a:spAutoFit/>
          </a:bodyPr>
          <a:lstStyle/>
          <a:p>
            <a:r>
              <a:rPr lang="en-US" altLang="zh-TW" sz="1150" b="0" dirty="0">
                <a:latin typeface="+mn-lt"/>
                <a:ea typeface="新細明體"/>
              </a:rPr>
              <a:t>Alice has a </a:t>
            </a:r>
            <a:r>
              <a:rPr lang="en-US" altLang="zh-TW" sz="1150" dirty="0">
                <a:latin typeface="+mn-lt"/>
                <a:ea typeface="新細明體"/>
              </a:rPr>
              <a:t>heart</a:t>
            </a:r>
            <a:r>
              <a:rPr lang="en-US" altLang="zh-TW" sz="1150" b="0" dirty="0">
                <a:latin typeface="+mn-lt"/>
                <a:ea typeface="新細明體"/>
              </a:rPr>
              <a:t> attack</a:t>
            </a:r>
            <a:endParaRPr lang="en-US" sz="1150" dirty="0">
              <a:latin typeface="+mn-lt"/>
              <a:ea typeface="新細明體"/>
            </a:endParaRPr>
          </a:p>
        </p:txBody>
      </p:sp>
      <p:sp>
        <p:nvSpPr>
          <p:cNvPr id="26" name="TextBox 25">
            <a:extLst>
              <a:ext uri="{FF2B5EF4-FFF2-40B4-BE49-F238E27FC236}">
                <a16:creationId xmlns:a16="http://schemas.microsoft.com/office/drawing/2014/main" id="{3366EECD-6707-BE44-842D-496630CF846C}"/>
              </a:ext>
            </a:extLst>
          </p:cNvPr>
          <p:cNvSpPr txBox="1"/>
          <p:nvPr/>
        </p:nvSpPr>
        <p:spPr>
          <a:xfrm>
            <a:off x="5808472" y="5636433"/>
            <a:ext cx="2741456" cy="369332"/>
          </a:xfrm>
          <a:prstGeom prst="rect">
            <a:avLst/>
          </a:prstGeom>
          <a:noFill/>
        </p:spPr>
        <p:txBody>
          <a:bodyPr wrap="none" rtlCol="0" anchor="t">
            <a:spAutoFit/>
          </a:bodyPr>
          <a:lstStyle/>
          <a:p>
            <a:r>
              <a:rPr lang="en-US" altLang="zh-TW" sz="1800">
                <a:latin typeface="+mn-lt"/>
                <a:ea typeface="新細明體"/>
              </a:rPr>
              <a:t>Patients' medical dataset</a:t>
            </a:r>
            <a:endParaRPr lang="en-US">
              <a:ea typeface="+mn-ea"/>
            </a:endParaRPr>
          </a:p>
        </p:txBody>
      </p:sp>
      <p:sp>
        <p:nvSpPr>
          <p:cNvPr id="29" name="TextBox 28">
            <a:extLst>
              <a:ext uri="{FF2B5EF4-FFF2-40B4-BE49-F238E27FC236}">
                <a16:creationId xmlns:a16="http://schemas.microsoft.com/office/drawing/2014/main" id="{BDB95ABC-9002-344A-8761-189104F5CB8D}"/>
              </a:ext>
            </a:extLst>
          </p:cNvPr>
          <p:cNvSpPr txBox="1"/>
          <p:nvPr/>
        </p:nvSpPr>
        <p:spPr>
          <a:xfrm>
            <a:off x="4718691" y="5942448"/>
            <a:ext cx="1354858" cy="523220"/>
          </a:xfrm>
          <a:prstGeom prst="rect">
            <a:avLst/>
          </a:prstGeom>
          <a:noFill/>
        </p:spPr>
        <p:txBody>
          <a:bodyPr wrap="none" rtlCol="0">
            <a:spAutoFit/>
          </a:bodyPr>
          <a:lstStyle/>
          <a:p>
            <a:r>
              <a:rPr lang="en-US" sz="2800" dirty="0">
                <a:solidFill>
                  <a:srgbClr val="C00000"/>
                </a:solidFill>
              </a:rPr>
              <a:t>+ noise</a:t>
            </a:r>
          </a:p>
        </p:txBody>
      </p:sp>
      <p:sp>
        <p:nvSpPr>
          <p:cNvPr id="30" name="Slide Number Placeholder 29">
            <a:extLst>
              <a:ext uri="{FF2B5EF4-FFF2-40B4-BE49-F238E27FC236}">
                <a16:creationId xmlns:a16="http://schemas.microsoft.com/office/drawing/2014/main" id="{982C4197-DCE7-9546-A218-D4CFB09697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
        <p:nvSpPr>
          <p:cNvPr id="2" name="TextBox 1">
            <a:extLst>
              <a:ext uri="{FF2B5EF4-FFF2-40B4-BE49-F238E27FC236}">
                <a16:creationId xmlns:a16="http://schemas.microsoft.com/office/drawing/2014/main" id="{24EC4893-19C9-394A-9461-C002A0EBC169}"/>
              </a:ext>
            </a:extLst>
          </p:cNvPr>
          <p:cNvSpPr txBox="1"/>
          <p:nvPr/>
        </p:nvSpPr>
        <p:spPr>
          <a:xfrm>
            <a:off x="2203918" y="5547648"/>
            <a:ext cx="641522" cy="400110"/>
          </a:xfrm>
          <a:prstGeom prst="rect">
            <a:avLst/>
          </a:prstGeom>
          <a:noFill/>
        </p:spPr>
        <p:txBody>
          <a:bodyPr wrap="none" rtlCol="0">
            <a:spAutoFit/>
          </a:bodyPr>
          <a:lstStyle/>
          <a:p>
            <a:r>
              <a:rPr lang="en-US" sz="2000" dirty="0"/>
              <a:t>Bob</a:t>
            </a:r>
          </a:p>
        </p:txBody>
      </p:sp>
      <p:sp>
        <p:nvSpPr>
          <p:cNvPr id="27" name="TextBox 26">
            <a:extLst>
              <a:ext uri="{FF2B5EF4-FFF2-40B4-BE49-F238E27FC236}">
                <a16:creationId xmlns:a16="http://schemas.microsoft.com/office/drawing/2014/main" id="{34718224-F72E-42C8-A73F-5A52C543D785}"/>
              </a:ext>
            </a:extLst>
          </p:cNvPr>
          <p:cNvSpPr txBox="1"/>
          <p:nvPr/>
        </p:nvSpPr>
        <p:spPr>
          <a:xfrm>
            <a:off x="8407607" y="2710922"/>
            <a:ext cx="3581531" cy="2585323"/>
          </a:xfrm>
          <a:prstGeom prst="rect">
            <a:avLst/>
          </a:prstGeom>
          <a:noFill/>
        </p:spPr>
        <p:txBody>
          <a:bodyPr wrap="square" rtlCol="0" anchor="t">
            <a:spAutoFit/>
          </a:bodyPr>
          <a:lstStyle/>
          <a:p>
            <a:pPr algn="just"/>
            <a:r>
              <a:rPr lang="en-US" altLang="zh-TW" sz="1800" b="1" dirty="0">
                <a:latin typeface="+mn-lt"/>
                <a:ea typeface="新細明體"/>
              </a:rPr>
              <a:t>Even p</a:t>
            </a:r>
            <a:r>
              <a:rPr lang="en-US" sz="1800" b="1" dirty="0">
                <a:latin typeface="+mn-lt"/>
                <a:ea typeface="新細明體"/>
              </a:rPr>
              <a:t>atients' medical records are anonymized, and Bob cannot directly access individual medical records' information, Bob can still retrieve Alice's medical information through an aggregated information of the entire medical dataset</a:t>
            </a:r>
          </a:p>
        </p:txBody>
      </p:sp>
    </p:spTree>
    <p:extLst>
      <p:ext uri="{BB962C8B-B14F-4D97-AF65-F5344CB8AC3E}">
        <p14:creationId xmlns:p14="http://schemas.microsoft.com/office/powerpoint/2010/main" val="2625292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fade">
                                      <p:cBhvr>
                                        <p:cTn id="37" dur="500"/>
                                        <p:tgtEl>
                                          <p:spTgt spid="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3" grpId="0" animBg="1"/>
      <p:bldP spid="24" grpId="0" animBg="1"/>
      <p:bldP spid="25" grpId="0"/>
      <p:bldP spid="26" grpId="0"/>
      <p:bldP spid="29" grpId="0"/>
      <p:bldP spid="2" grpId="0"/>
      <p:bldP spid="2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881a038175_0_3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Observation:  big-data operators are commutative and associative (Part 2)</a:t>
            </a:r>
            <a:endParaRPr dirty="0"/>
          </a:p>
        </p:txBody>
      </p:sp>
      <p:sp>
        <p:nvSpPr>
          <p:cNvPr id="126" name="Google Shape;126;g881a038175_0_3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Autofit/>
          </a:bodyPr>
          <a:lstStyle/>
          <a:p>
            <a:pPr marL="457200" lvl="0" indent="-342900" algn="l" rtl="0">
              <a:spcBef>
                <a:spcPts val="1000"/>
              </a:spcBef>
              <a:spcAft>
                <a:spcPts val="0"/>
              </a:spcAft>
              <a:buSzPts val="1800"/>
              <a:buChar char="•"/>
            </a:pPr>
            <a:r>
              <a:rPr lang="en-US" dirty="0"/>
              <a:t>Commutative: an operator always outputs the same value regardless of the order of input data records</a:t>
            </a:r>
            <a:endParaRPr dirty="0"/>
          </a:p>
        </p:txBody>
      </p:sp>
      <p:sp>
        <p:nvSpPr>
          <p:cNvPr id="2" name="Slide Number Placeholder 1">
            <a:extLst>
              <a:ext uri="{FF2B5EF4-FFF2-40B4-BE49-F238E27FC236}">
                <a16:creationId xmlns:a16="http://schemas.microsoft.com/office/drawing/2014/main" id="{9DC27C4B-78EB-C645-A704-A0F6B7E3D61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graphicFrame>
        <p:nvGraphicFramePr>
          <p:cNvPr id="7" name="Table 6">
            <a:extLst>
              <a:ext uri="{FF2B5EF4-FFF2-40B4-BE49-F238E27FC236}">
                <a16:creationId xmlns:a16="http://schemas.microsoft.com/office/drawing/2014/main" id="{0DDAFEC8-EACD-7445-80BF-CD4AD1F05E3B}"/>
              </a:ext>
            </a:extLst>
          </p:cNvPr>
          <p:cNvGraphicFramePr>
            <a:graphicFrameLocks noGrp="1"/>
          </p:cNvGraphicFramePr>
          <p:nvPr/>
        </p:nvGraphicFramePr>
        <p:xfrm>
          <a:off x="2771361" y="3613065"/>
          <a:ext cx="327600" cy="2440800"/>
        </p:xfrm>
        <a:graphic>
          <a:graphicData uri="http://schemas.openxmlformats.org/drawingml/2006/table">
            <a:tbl>
              <a:tblPr firstRow="1" bandRow="1">
                <a:tableStyleId>{5940675A-B579-460E-94D1-54222C63F5DA}</a:tableStyleId>
              </a:tblPr>
              <a:tblGrid>
                <a:gridCol w="327600">
                  <a:extLst>
                    <a:ext uri="{9D8B030D-6E8A-4147-A177-3AD203B41FA5}">
                      <a16:colId xmlns:a16="http://schemas.microsoft.com/office/drawing/2014/main" val="235123813"/>
                    </a:ext>
                  </a:extLst>
                </a:gridCol>
              </a:tblGrid>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132235989"/>
                  </a:ext>
                </a:extLst>
              </a:tr>
              <a:tr h="305100">
                <a:tc>
                  <a:txBody>
                    <a:bodyPr/>
                    <a:lstStyle/>
                    <a:p>
                      <a:pPr algn="ctr"/>
                      <a:r>
                        <a:rPr lang="en-US" sz="1400" dirty="0"/>
                        <a:t>4</a:t>
                      </a:r>
                    </a:p>
                  </a:txBody>
                  <a:tcPr anchor="ctr">
                    <a:solidFill>
                      <a:srgbClr val="AAB428"/>
                    </a:solidFill>
                  </a:tcPr>
                </a:tc>
                <a:extLst>
                  <a:ext uri="{0D108BD9-81ED-4DB2-BD59-A6C34878D82A}">
                    <a16:rowId xmlns:a16="http://schemas.microsoft.com/office/drawing/2014/main" val="858724994"/>
                  </a:ext>
                </a:extLst>
              </a:tr>
              <a:tr h="305100">
                <a:tc>
                  <a:txBody>
                    <a:bodyPr/>
                    <a:lstStyle/>
                    <a:p>
                      <a:pPr algn="ctr"/>
                      <a:r>
                        <a:rPr lang="en-US" sz="1400" dirty="0"/>
                        <a:t>2</a:t>
                      </a:r>
                    </a:p>
                  </a:txBody>
                  <a:tcPr anchor="ctr">
                    <a:solidFill>
                      <a:srgbClr val="AAB428"/>
                    </a:solidFill>
                  </a:tcPr>
                </a:tc>
                <a:extLst>
                  <a:ext uri="{0D108BD9-81ED-4DB2-BD59-A6C34878D82A}">
                    <a16:rowId xmlns:a16="http://schemas.microsoft.com/office/drawing/2014/main" val="4037024621"/>
                  </a:ext>
                </a:extLst>
              </a:tr>
              <a:tr h="305100">
                <a:tc>
                  <a:txBody>
                    <a:bodyPr/>
                    <a:lstStyle/>
                    <a:p>
                      <a:pPr algn="ctr"/>
                      <a:r>
                        <a:rPr lang="en-US" sz="1400" dirty="0"/>
                        <a:t>3</a:t>
                      </a:r>
                    </a:p>
                  </a:txBody>
                  <a:tcPr anchor="ctr">
                    <a:solidFill>
                      <a:srgbClr val="AAB428"/>
                    </a:solidFill>
                  </a:tcPr>
                </a:tc>
                <a:extLst>
                  <a:ext uri="{0D108BD9-81ED-4DB2-BD59-A6C34878D82A}">
                    <a16:rowId xmlns:a16="http://schemas.microsoft.com/office/drawing/2014/main" val="2983303987"/>
                  </a:ext>
                </a:extLst>
              </a:tr>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2550123582"/>
                  </a:ext>
                </a:extLst>
              </a:tr>
              <a:tr h="305100">
                <a:tc>
                  <a:txBody>
                    <a:bodyPr/>
                    <a:lstStyle/>
                    <a:p>
                      <a:pPr algn="ctr"/>
                      <a:r>
                        <a:rPr lang="en-US" sz="1400" dirty="0"/>
                        <a:t>2</a:t>
                      </a:r>
                    </a:p>
                  </a:txBody>
                  <a:tcPr anchor="ctr">
                    <a:solidFill>
                      <a:srgbClr val="AAB428"/>
                    </a:solidFill>
                  </a:tcPr>
                </a:tc>
                <a:extLst>
                  <a:ext uri="{0D108BD9-81ED-4DB2-BD59-A6C34878D82A}">
                    <a16:rowId xmlns:a16="http://schemas.microsoft.com/office/drawing/2014/main" val="219769279"/>
                  </a:ext>
                </a:extLst>
              </a:tr>
              <a:tr h="305100">
                <a:tc>
                  <a:txBody>
                    <a:bodyPr/>
                    <a:lstStyle/>
                    <a:p>
                      <a:pPr algn="ctr"/>
                      <a:r>
                        <a:rPr lang="en-US" sz="1400" dirty="0"/>
                        <a:t>3</a:t>
                      </a:r>
                    </a:p>
                  </a:txBody>
                  <a:tcPr anchor="ctr">
                    <a:solidFill>
                      <a:srgbClr val="AAB428"/>
                    </a:solidFill>
                  </a:tcPr>
                </a:tc>
                <a:extLst>
                  <a:ext uri="{0D108BD9-81ED-4DB2-BD59-A6C34878D82A}">
                    <a16:rowId xmlns:a16="http://schemas.microsoft.com/office/drawing/2014/main" val="1734682692"/>
                  </a:ext>
                </a:extLst>
              </a:tr>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3586400642"/>
                  </a:ext>
                </a:extLst>
              </a:tr>
            </a:tbl>
          </a:graphicData>
        </a:graphic>
      </p:graphicFrame>
      <p:sp>
        <p:nvSpPr>
          <p:cNvPr id="8" name="TextBox 7">
            <a:extLst>
              <a:ext uri="{FF2B5EF4-FFF2-40B4-BE49-F238E27FC236}">
                <a16:creationId xmlns:a16="http://schemas.microsoft.com/office/drawing/2014/main" id="{2B4E3D15-6D6A-5D4F-A0D1-2AE8F39D30C9}"/>
              </a:ext>
            </a:extLst>
          </p:cNvPr>
          <p:cNvSpPr txBox="1"/>
          <p:nvPr/>
        </p:nvSpPr>
        <p:spPr>
          <a:xfrm>
            <a:off x="3074495" y="4547824"/>
            <a:ext cx="248786" cy="369332"/>
          </a:xfrm>
          <a:prstGeom prst="rect">
            <a:avLst/>
          </a:prstGeom>
          <a:noFill/>
        </p:spPr>
        <p:txBody>
          <a:bodyPr wrap="none" rtlCol="0">
            <a:spAutoFit/>
          </a:bodyPr>
          <a:lstStyle/>
          <a:p>
            <a:r>
              <a:rPr lang="en-US" sz="1800" dirty="0"/>
              <a:t>,</a:t>
            </a:r>
          </a:p>
        </p:txBody>
      </p:sp>
      <p:graphicFrame>
        <p:nvGraphicFramePr>
          <p:cNvPr id="9" name="Table 8">
            <a:extLst>
              <a:ext uri="{FF2B5EF4-FFF2-40B4-BE49-F238E27FC236}">
                <a16:creationId xmlns:a16="http://schemas.microsoft.com/office/drawing/2014/main" id="{B3B0B6DA-9604-6E48-A143-1CB0479C412E}"/>
              </a:ext>
            </a:extLst>
          </p:cNvPr>
          <p:cNvGraphicFramePr>
            <a:graphicFrameLocks noGrp="1"/>
          </p:cNvGraphicFramePr>
          <p:nvPr/>
        </p:nvGraphicFramePr>
        <p:xfrm>
          <a:off x="3410763" y="3600402"/>
          <a:ext cx="330517" cy="2440800"/>
        </p:xfrm>
        <a:graphic>
          <a:graphicData uri="http://schemas.openxmlformats.org/drawingml/2006/table">
            <a:tbl>
              <a:tblPr firstRow="1" bandRow="1">
                <a:tableStyleId>{5940675A-B579-460E-94D1-54222C63F5DA}</a:tableStyleId>
              </a:tblPr>
              <a:tblGrid>
                <a:gridCol w="330517">
                  <a:extLst>
                    <a:ext uri="{9D8B030D-6E8A-4147-A177-3AD203B41FA5}">
                      <a16:colId xmlns:a16="http://schemas.microsoft.com/office/drawing/2014/main" val="235123813"/>
                    </a:ext>
                  </a:extLst>
                </a:gridCol>
              </a:tblGrid>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132235989"/>
                  </a:ext>
                </a:extLst>
              </a:tr>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858724994"/>
                  </a:ext>
                </a:extLst>
              </a:tr>
              <a:tr h="305100">
                <a:tc>
                  <a:txBody>
                    <a:bodyPr/>
                    <a:lstStyle/>
                    <a:p>
                      <a:pPr algn="ctr"/>
                      <a:r>
                        <a:rPr lang="en-US" sz="1400" dirty="0"/>
                        <a:t>4</a:t>
                      </a:r>
                    </a:p>
                  </a:txBody>
                  <a:tcPr anchor="ctr">
                    <a:solidFill>
                      <a:srgbClr val="AAB428"/>
                    </a:solidFill>
                  </a:tcPr>
                </a:tc>
                <a:extLst>
                  <a:ext uri="{0D108BD9-81ED-4DB2-BD59-A6C34878D82A}">
                    <a16:rowId xmlns:a16="http://schemas.microsoft.com/office/drawing/2014/main" val="4037024621"/>
                  </a:ext>
                </a:extLst>
              </a:tr>
              <a:tr h="305100">
                <a:tc>
                  <a:txBody>
                    <a:bodyPr/>
                    <a:lstStyle/>
                    <a:p>
                      <a:pPr algn="ctr"/>
                      <a:r>
                        <a:rPr lang="en-US" sz="1400" dirty="0"/>
                        <a:t>2</a:t>
                      </a:r>
                    </a:p>
                  </a:txBody>
                  <a:tcPr anchor="ctr">
                    <a:solidFill>
                      <a:srgbClr val="AAB428"/>
                    </a:solidFill>
                  </a:tcPr>
                </a:tc>
                <a:extLst>
                  <a:ext uri="{0D108BD9-81ED-4DB2-BD59-A6C34878D82A}">
                    <a16:rowId xmlns:a16="http://schemas.microsoft.com/office/drawing/2014/main" val="2983303987"/>
                  </a:ext>
                </a:extLst>
              </a:tr>
              <a:tr h="305100">
                <a:tc>
                  <a:txBody>
                    <a:bodyPr/>
                    <a:lstStyle/>
                    <a:p>
                      <a:pPr algn="ctr"/>
                      <a:r>
                        <a:rPr lang="en-US" sz="1400" dirty="0"/>
                        <a:t>3</a:t>
                      </a:r>
                    </a:p>
                  </a:txBody>
                  <a:tcPr anchor="ctr">
                    <a:solidFill>
                      <a:srgbClr val="AAB428"/>
                    </a:solidFill>
                  </a:tcPr>
                </a:tc>
                <a:extLst>
                  <a:ext uri="{0D108BD9-81ED-4DB2-BD59-A6C34878D82A}">
                    <a16:rowId xmlns:a16="http://schemas.microsoft.com/office/drawing/2014/main" val="2550123582"/>
                  </a:ext>
                </a:extLst>
              </a:tr>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219769279"/>
                  </a:ext>
                </a:extLst>
              </a:tr>
              <a:tr h="305100">
                <a:tc>
                  <a:txBody>
                    <a:bodyPr/>
                    <a:lstStyle/>
                    <a:p>
                      <a:pPr algn="ctr"/>
                      <a:r>
                        <a:rPr lang="en-US" sz="1400" dirty="0"/>
                        <a:t>2</a:t>
                      </a:r>
                    </a:p>
                  </a:txBody>
                  <a:tcPr anchor="ctr">
                    <a:solidFill>
                      <a:srgbClr val="AAB428"/>
                    </a:solidFill>
                  </a:tcPr>
                </a:tc>
                <a:extLst>
                  <a:ext uri="{0D108BD9-81ED-4DB2-BD59-A6C34878D82A}">
                    <a16:rowId xmlns:a16="http://schemas.microsoft.com/office/drawing/2014/main" val="1734682692"/>
                  </a:ext>
                </a:extLst>
              </a:tr>
              <a:tr h="305100">
                <a:tc>
                  <a:txBody>
                    <a:bodyPr/>
                    <a:lstStyle/>
                    <a:p>
                      <a:pPr algn="ctr"/>
                      <a:r>
                        <a:rPr lang="en-US" sz="1400" dirty="0"/>
                        <a:t>3</a:t>
                      </a:r>
                    </a:p>
                  </a:txBody>
                  <a:tcPr anchor="ctr">
                    <a:solidFill>
                      <a:srgbClr val="AAB428"/>
                    </a:solidFill>
                  </a:tcPr>
                </a:tc>
                <a:extLst>
                  <a:ext uri="{0D108BD9-81ED-4DB2-BD59-A6C34878D82A}">
                    <a16:rowId xmlns:a16="http://schemas.microsoft.com/office/drawing/2014/main" val="3586400642"/>
                  </a:ext>
                </a:extLst>
              </a:tr>
            </a:tbl>
          </a:graphicData>
        </a:graphic>
      </p:graphicFrame>
      <p:sp>
        <p:nvSpPr>
          <p:cNvPr id="10" name="TextBox 9">
            <a:extLst>
              <a:ext uri="{FF2B5EF4-FFF2-40B4-BE49-F238E27FC236}">
                <a16:creationId xmlns:a16="http://schemas.microsoft.com/office/drawing/2014/main" id="{4CBD2884-D721-2C42-9BA1-2110AC07515D}"/>
              </a:ext>
            </a:extLst>
          </p:cNvPr>
          <p:cNvSpPr txBox="1"/>
          <p:nvPr/>
        </p:nvSpPr>
        <p:spPr>
          <a:xfrm>
            <a:off x="3729766" y="4547824"/>
            <a:ext cx="248786" cy="369332"/>
          </a:xfrm>
          <a:prstGeom prst="rect">
            <a:avLst/>
          </a:prstGeom>
          <a:noFill/>
        </p:spPr>
        <p:txBody>
          <a:bodyPr wrap="none" rtlCol="0">
            <a:spAutoFit/>
          </a:bodyPr>
          <a:lstStyle/>
          <a:p>
            <a:r>
              <a:rPr lang="en-US" sz="1800" dirty="0"/>
              <a:t>,</a:t>
            </a:r>
          </a:p>
        </p:txBody>
      </p:sp>
      <p:graphicFrame>
        <p:nvGraphicFramePr>
          <p:cNvPr id="11" name="Table 10">
            <a:extLst>
              <a:ext uri="{FF2B5EF4-FFF2-40B4-BE49-F238E27FC236}">
                <a16:creationId xmlns:a16="http://schemas.microsoft.com/office/drawing/2014/main" id="{3E8BD423-E3A3-5040-B4F9-6E6C430A350B}"/>
              </a:ext>
            </a:extLst>
          </p:cNvPr>
          <p:cNvGraphicFramePr>
            <a:graphicFrameLocks noGrp="1"/>
          </p:cNvGraphicFramePr>
          <p:nvPr/>
        </p:nvGraphicFramePr>
        <p:xfrm>
          <a:off x="4017958" y="3599202"/>
          <a:ext cx="327600" cy="2440800"/>
        </p:xfrm>
        <a:graphic>
          <a:graphicData uri="http://schemas.openxmlformats.org/drawingml/2006/table">
            <a:tbl>
              <a:tblPr firstRow="1" bandRow="1">
                <a:tableStyleId>{5940675A-B579-460E-94D1-54222C63F5DA}</a:tableStyleId>
              </a:tblPr>
              <a:tblGrid>
                <a:gridCol w="327600">
                  <a:extLst>
                    <a:ext uri="{9D8B030D-6E8A-4147-A177-3AD203B41FA5}">
                      <a16:colId xmlns:a16="http://schemas.microsoft.com/office/drawing/2014/main" val="235123813"/>
                    </a:ext>
                  </a:extLst>
                </a:gridCol>
              </a:tblGrid>
              <a:tr h="305100">
                <a:tc>
                  <a:txBody>
                    <a:bodyPr/>
                    <a:lstStyle/>
                    <a:p>
                      <a:pPr algn="ctr"/>
                      <a:r>
                        <a:rPr lang="en-US" sz="1400" dirty="0"/>
                        <a:t>3</a:t>
                      </a:r>
                    </a:p>
                  </a:txBody>
                  <a:tcPr anchor="ctr">
                    <a:solidFill>
                      <a:srgbClr val="AAB428"/>
                    </a:solidFill>
                  </a:tcPr>
                </a:tc>
                <a:extLst>
                  <a:ext uri="{0D108BD9-81ED-4DB2-BD59-A6C34878D82A}">
                    <a16:rowId xmlns:a16="http://schemas.microsoft.com/office/drawing/2014/main" val="132235989"/>
                  </a:ext>
                </a:extLst>
              </a:tr>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858724994"/>
                  </a:ext>
                </a:extLst>
              </a:tr>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4037024621"/>
                  </a:ext>
                </a:extLst>
              </a:tr>
              <a:tr h="305100">
                <a:tc>
                  <a:txBody>
                    <a:bodyPr/>
                    <a:lstStyle/>
                    <a:p>
                      <a:pPr algn="ctr"/>
                      <a:r>
                        <a:rPr lang="en-US" sz="1400" dirty="0"/>
                        <a:t>4</a:t>
                      </a:r>
                    </a:p>
                  </a:txBody>
                  <a:tcPr anchor="ctr">
                    <a:solidFill>
                      <a:srgbClr val="AAB428"/>
                    </a:solidFill>
                  </a:tcPr>
                </a:tc>
                <a:extLst>
                  <a:ext uri="{0D108BD9-81ED-4DB2-BD59-A6C34878D82A}">
                    <a16:rowId xmlns:a16="http://schemas.microsoft.com/office/drawing/2014/main" val="2983303987"/>
                  </a:ext>
                </a:extLst>
              </a:tr>
              <a:tr h="305100">
                <a:tc>
                  <a:txBody>
                    <a:bodyPr/>
                    <a:lstStyle/>
                    <a:p>
                      <a:pPr algn="ctr"/>
                      <a:r>
                        <a:rPr lang="en-US" sz="1400" dirty="0"/>
                        <a:t>2</a:t>
                      </a:r>
                    </a:p>
                  </a:txBody>
                  <a:tcPr anchor="ctr">
                    <a:solidFill>
                      <a:srgbClr val="AAB428"/>
                    </a:solidFill>
                  </a:tcPr>
                </a:tc>
                <a:extLst>
                  <a:ext uri="{0D108BD9-81ED-4DB2-BD59-A6C34878D82A}">
                    <a16:rowId xmlns:a16="http://schemas.microsoft.com/office/drawing/2014/main" val="2550123582"/>
                  </a:ext>
                </a:extLst>
              </a:tr>
              <a:tr h="305100">
                <a:tc>
                  <a:txBody>
                    <a:bodyPr/>
                    <a:lstStyle/>
                    <a:p>
                      <a:pPr algn="ctr"/>
                      <a:r>
                        <a:rPr lang="en-US" sz="1400" dirty="0"/>
                        <a:t>3</a:t>
                      </a:r>
                    </a:p>
                  </a:txBody>
                  <a:tcPr anchor="ctr">
                    <a:solidFill>
                      <a:srgbClr val="AAB428"/>
                    </a:solidFill>
                  </a:tcPr>
                </a:tc>
                <a:extLst>
                  <a:ext uri="{0D108BD9-81ED-4DB2-BD59-A6C34878D82A}">
                    <a16:rowId xmlns:a16="http://schemas.microsoft.com/office/drawing/2014/main" val="219769279"/>
                  </a:ext>
                </a:extLst>
              </a:tr>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1734682692"/>
                  </a:ext>
                </a:extLst>
              </a:tr>
              <a:tr h="305100">
                <a:tc>
                  <a:txBody>
                    <a:bodyPr/>
                    <a:lstStyle/>
                    <a:p>
                      <a:pPr algn="ctr"/>
                      <a:r>
                        <a:rPr lang="en-US" sz="1400" dirty="0"/>
                        <a:t>2</a:t>
                      </a:r>
                    </a:p>
                  </a:txBody>
                  <a:tcPr anchor="ctr">
                    <a:solidFill>
                      <a:srgbClr val="AAB428"/>
                    </a:solidFill>
                  </a:tcPr>
                </a:tc>
                <a:extLst>
                  <a:ext uri="{0D108BD9-81ED-4DB2-BD59-A6C34878D82A}">
                    <a16:rowId xmlns:a16="http://schemas.microsoft.com/office/drawing/2014/main" val="3586400642"/>
                  </a:ext>
                </a:extLst>
              </a:tr>
            </a:tbl>
          </a:graphicData>
        </a:graphic>
      </p:graphicFrame>
      <p:sp>
        <p:nvSpPr>
          <p:cNvPr id="12" name="TextBox 11">
            <a:extLst>
              <a:ext uri="{FF2B5EF4-FFF2-40B4-BE49-F238E27FC236}">
                <a16:creationId xmlns:a16="http://schemas.microsoft.com/office/drawing/2014/main" id="{39F259BE-5C3A-9C4D-BC7B-CACCDB8215FC}"/>
              </a:ext>
            </a:extLst>
          </p:cNvPr>
          <p:cNvSpPr txBox="1"/>
          <p:nvPr/>
        </p:nvSpPr>
        <p:spPr>
          <a:xfrm>
            <a:off x="4323198" y="4571121"/>
            <a:ext cx="543739" cy="369332"/>
          </a:xfrm>
          <a:prstGeom prst="rect">
            <a:avLst/>
          </a:prstGeom>
          <a:noFill/>
        </p:spPr>
        <p:txBody>
          <a:bodyPr wrap="none" rtlCol="0">
            <a:spAutoFit/>
          </a:bodyPr>
          <a:lstStyle/>
          <a:p>
            <a:r>
              <a:rPr lang="en-US" sz="1800" dirty="0"/>
              <a:t>,…,</a:t>
            </a:r>
          </a:p>
        </p:txBody>
      </p:sp>
      <p:graphicFrame>
        <p:nvGraphicFramePr>
          <p:cNvPr id="13" name="Table 12">
            <a:extLst>
              <a:ext uri="{FF2B5EF4-FFF2-40B4-BE49-F238E27FC236}">
                <a16:creationId xmlns:a16="http://schemas.microsoft.com/office/drawing/2014/main" id="{4AE94B38-0359-D34C-BA62-46F898B798E6}"/>
              </a:ext>
            </a:extLst>
          </p:cNvPr>
          <p:cNvGraphicFramePr>
            <a:graphicFrameLocks noGrp="1"/>
          </p:cNvGraphicFramePr>
          <p:nvPr/>
        </p:nvGraphicFramePr>
        <p:xfrm>
          <a:off x="4832233" y="3603342"/>
          <a:ext cx="327600" cy="2440800"/>
        </p:xfrm>
        <a:graphic>
          <a:graphicData uri="http://schemas.openxmlformats.org/drawingml/2006/table">
            <a:tbl>
              <a:tblPr firstRow="1" bandRow="1">
                <a:tableStyleId>{5940675A-B579-460E-94D1-54222C63F5DA}</a:tableStyleId>
              </a:tblPr>
              <a:tblGrid>
                <a:gridCol w="327600">
                  <a:extLst>
                    <a:ext uri="{9D8B030D-6E8A-4147-A177-3AD203B41FA5}">
                      <a16:colId xmlns:a16="http://schemas.microsoft.com/office/drawing/2014/main" val="235123813"/>
                    </a:ext>
                  </a:extLst>
                </a:gridCol>
              </a:tblGrid>
              <a:tr h="305100">
                <a:tc>
                  <a:txBody>
                    <a:bodyPr/>
                    <a:lstStyle/>
                    <a:p>
                      <a:pPr algn="ctr"/>
                      <a:r>
                        <a:rPr lang="en-US" sz="1400" dirty="0"/>
                        <a:t>4</a:t>
                      </a:r>
                    </a:p>
                  </a:txBody>
                  <a:tcPr anchor="ctr">
                    <a:solidFill>
                      <a:srgbClr val="AAB428"/>
                    </a:solidFill>
                  </a:tcPr>
                </a:tc>
                <a:extLst>
                  <a:ext uri="{0D108BD9-81ED-4DB2-BD59-A6C34878D82A}">
                    <a16:rowId xmlns:a16="http://schemas.microsoft.com/office/drawing/2014/main" val="132235989"/>
                  </a:ext>
                </a:extLst>
              </a:tr>
              <a:tr h="305100">
                <a:tc>
                  <a:txBody>
                    <a:bodyPr/>
                    <a:lstStyle/>
                    <a:p>
                      <a:pPr algn="ctr"/>
                      <a:r>
                        <a:rPr lang="en-US" sz="1400" dirty="0"/>
                        <a:t>2</a:t>
                      </a:r>
                    </a:p>
                  </a:txBody>
                  <a:tcPr anchor="ctr">
                    <a:solidFill>
                      <a:srgbClr val="AAB428"/>
                    </a:solidFill>
                  </a:tcPr>
                </a:tc>
                <a:extLst>
                  <a:ext uri="{0D108BD9-81ED-4DB2-BD59-A6C34878D82A}">
                    <a16:rowId xmlns:a16="http://schemas.microsoft.com/office/drawing/2014/main" val="858724994"/>
                  </a:ext>
                </a:extLst>
              </a:tr>
              <a:tr h="305100">
                <a:tc>
                  <a:txBody>
                    <a:bodyPr/>
                    <a:lstStyle/>
                    <a:p>
                      <a:pPr algn="ctr"/>
                      <a:r>
                        <a:rPr lang="en-US" sz="1400" dirty="0"/>
                        <a:t>3</a:t>
                      </a:r>
                    </a:p>
                  </a:txBody>
                  <a:tcPr anchor="ctr">
                    <a:solidFill>
                      <a:srgbClr val="AAB428"/>
                    </a:solidFill>
                  </a:tcPr>
                </a:tc>
                <a:extLst>
                  <a:ext uri="{0D108BD9-81ED-4DB2-BD59-A6C34878D82A}">
                    <a16:rowId xmlns:a16="http://schemas.microsoft.com/office/drawing/2014/main" val="4037024621"/>
                  </a:ext>
                </a:extLst>
              </a:tr>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2983303987"/>
                  </a:ext>
                </a:extLst>
              </a:tr>
              <a:tr h="305100">
                <a:tc>
                  <a:txBody>
                    <a:bodyPr/>
                    <a:lstStyle/>
                    <a:p>
                      <a:pPr algn="ctr"/>
                      <a:r>
                        <a:rPr lang="en-US" sz="1400" dirty="0"/>
                        <a:t>2</a:t>
                      </a:r>
                    </a:p>
                  </a:txBody>
                  <a:tcPr anchor="ctr">
                    <a:solidFill>
                      <a:srgbClr val="AAB428"/>
                    </a:solidFill>
                  </a:tcPr>
                </a:tc>
                <a:extLst>
                  <a:ext uri="{0D108BD9-81ED-4DB2-BD59-A6C34878D82A}">
                    <a16:rowId xmlns:a16="http://schemas.microsoft.com/office/drawing/2014/main" val="2550123582"/>
                  </a:ext>
                </a:extLst>
              </a:tr>
              <a:tr h="305100">
                <a:tc>
                  <a:txBody>
                    <a:bodyPr/>
                    <a:lstStyle/>
                    <a:p>
                      <a:pPr algn="ctr"/>
                      <a:r>
                        <a:rPr lang="en-US" sz="1400" dirty="0"/>
                        <a:t>3</a:t>
                      </a:r>
                    </a:p>
                  </a:txBody>
                  <a:tcPr anchor="ctr">
                    <a:solidFill>
                      <a:srgbClr val="AAB428"/>
                    </a:solidFill>
                  </a:tcPr>
                </a:tc>
                <a:extLst>
                  <a:ext uri="{0D108BD9-81ED-4DB2-BD59-A6C34878D82A}">
                    <a16:rowId xmlns:a16="http://schemas.microsoft.com/office/drawing/2014/main" val="219769279"/>
                  </a:ext>
                </a:extLst>
              </a:tr>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1734682692"/>
                  </a:ext>
                </a:extLst>
              </a:tr>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3586400642"/>
                  </a:ext>
                </a:extLst>
              </a:tr>
            </a:tbl>
          </a:graphicData>
        </a:graphic>
      </p:graphicFrame>
      <p:sp>
        <p:nvSpPr>
          <p:cNvPr id="14" name="Right Arrow 13">
            <a:extLst>
              <a:ext uri="{FF2B5EF4-FFF2-40B4-BE49-F238E27FC236}">
                <a16:creationId xmlns:a16="http://schemas.microsoft.com/office/drawing/2014/main" id="{3AF1ED29-BEF6-B44A-A8D2-107FA5EA61C4}"/>
              </a:ext>
            </a:extLst>
          </p:cNvPr>
          <p:cNvSpPr/>
          <p:nvPr/>
        </p:nvSpPr>
        <p:spPr>
          <a:xfrm>
            <a:off x="5310683" y="4684527"/>
            <a:ext cx="504496"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D828869-581E-B442-9747-731293E0D313}"/>
              </a:ext>
            </a:extLst>
          </p:cNvPr>
          <p:cNvSpPr txBox="1"/>
          <p:nvPr/>
        </p:nvSpPr>
        <p:spPr>
          <a:xfrm>
            <a:off x="5226327" y="4378695"/>
            <a:ext cx="697627" cy="369332"/>
          </a:xfrm>
          <a:prstGeom prst="rect">
            <a:avLst/>
          </a:prstGeom>
          <a:noFill/>
        </p:spPr>
        <p:txBody>
          <a:bodyPr wrap="none" rtlCol="0">
            <a:spAutoFit/>
          </a:bodyPr>
          <a:lstStyle/>
          <a:p>
            <a:r>
              <a:rPr lang="en-US" sz="1800" dirty="0"/>
              <a:t>Input</a:t>
            </a:r>
          </a:p>
        </p:txBody>
      </p:sp>
      <p:sp>
        <p:nvSpPr>
          <p:cNvPr id="16" name="Rectangle 15">
            <a:extLst>
              <a:ext uri="{FF2B5EF4-FFF2-40B4-BE49-F238E27FC236}">
                <a16:creationId xmlns:a16="http://schemas.microsoft.com/office/drawing/2014/main" id="{13AD7FF8-480D-3942-9C33-068D2D74F81A}"/>
              </a:ext>
            </a:extLst>
          </p:cNvPr>
          <p:cNvSpPr/>
          <p:nvPr/>
        </p:nvSpPr>
        <p:spPr>
          <a:xfrm>
            <a:off x="5906429" y="4218261"/>
            <a:ext cx="1070027" cy="12812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pic>
        <p:nvPicPr>
          <p:cNvPr id="17" name="Graphic 13" descr="Gears">
            <a:extLst>
              <a:ext uri="{FF2B5EF4-FFF2-40B4-BE49-F238E27FC236}">
                <a16:creationId xmlns:a16="http://schemas.microsoft.com/office/drawing/2014/main" id="{2407FED8-8125-C249-B883-5683ED928FBF}"/>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5474" y="4703327"/>
            <a:ext cx="802046" cy="731688"/>
          </a:xfrm>
          <a:prstGeom prst="rect">
            <a:avLst/>
          </a:prstGeom>
        </p:spPr>
      </p:pic>
      <p:sp>
        <p:nvSpPr>
          <p:cNvPr id="18" name="TextBox 17">
            <a:extLst>
              <a:ext uri="{FF2B5EF4-FFF2-40B4-BE49-F238E27FC236}">
                <a16:creationId xmlns:a16="http://schemas.microsoft.com/office/drawing/2014/main" id="{39A6213F-6B80-A041-AF67-120F7809FB4F}"/>
              </a:ext>
            </a:extLst>
          </p:cNvPr>
          <p:cNvSpPr txBox="1"/>
          <p:nvPr/>
        </p:nvSpPr>
        <p:spPr>
          <a:xfrm>
            <a:off x="6047464" y="4309668"/>
            <a:ext cx="902811" cy="461665"/>
          </a:xfrm>
          <a:prstGeom prst="rect">
            <a:avLst/>
          </a:prstGeom>
          <a:noFill/>
        </p:spPr>
        <p:txBody>
          <a:bodyPr wrap="square" rtlCol="0">
            <a:spAutoFit/>
          </a:bodyPr>
          <a:lstStyle/>
          <a:p>
            <a:r>
              <a:rPr lang="en-US" altLang="zh-TW" sz="2400" dirty="0"/>
              <a:t>Sum</a:t>
            </a:r>
            <a:endParaRPr lang="en-US" sz="2400" dirty="0"/>
          </a:p>
        </p:txBody>
      </p:sp>
      <p:sp>
        <p:nvSpPr>
          <p:cNvPr id="19" name="Right Arrow 18">
            <a:extLst>
              <a:ext uri="{FF2B5EF4-FFF2-40B4-BE49-F238E27FC236}">
                <a16:creationId xmlns:a16="http://schemas.microsoft.com/office/drawing/2014/main" id="{58AA9B1B-8FAF-CE43-A439-115BB9BF9FBC}"/>
              </a:ext>
            </a:extLst>
          </p:cNvPr>
          <p:cNvSpPr/>
          <p:nvPr/>
        </p:nvSpPr>
        <p:spPr>
          <a:xfrm>
            <a:off x="7110668" y="4709778"/>
            <a:ext cx="504496"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455F7C1-D9D8-3C4E-87B0-2F0195FA3FE7}"/>
              </a:ext>
            </a:extLst>
          </p:cNvPr>
          <p:cNvSpPr txBox="1"/>
          <p:nvPr/>
        </p:nvSpPr>
        <p:spPr>
          <a:xfrm>
            <a:off x="6963757" y="4355834"/>
            <a:ext cx="877163" cy="369332"/>
          </a:xfrm>
          <a:prstGeom prst="rect">
            <a:avLst/>
          </a:prstGeom>
          <a:noFill/>
        </p:spPr>
        <p:txBody>
          <a:bodyPr wrap="none" rtlCol="0">
            <a:spAutoFit/>
          </a:bodyPr>
          <a:lstStyle/>
          <a:p>
            <a:r>
              <a:rPr lang="en-US" sz="1800" dirty="0"/>
              <a:t>Output</a:t>
            </a:r>
          </a:p>
        </p:txBody>
      </p:sp>
      <p:sp>
        <p:nvSpPr>
          <p:cNvPr id="21" name="TextBox 20">
            <a:extLst>
              <a:ext uri="{FF2B5EF4-FFF2-40B4-BE49-F238E27FC236}">
                <a16:creationId xmlns:a16="http://schemas.microsoft.com/office/drawing/2014/main" id="{8E8D2EA9-6014-2346-B353-6F3B91EEF6EE}"/>
              </a:ext>
            </a:extLst>
          </p:cNvPr>
          <p:cNvSpPr txBox="1"/>
          <p:nvPr/>
        </p:nvSpPr>
        <p:spPr>
          <a:xfrm>
            <a:off x="7595091" y="4674210"/>
            <a:ext cx="1697901" cy="369332"/>
          </a:xfrm>
          <a:prstGeom prst="rect">
            <a:avLst/>
          </a:prstGeom>
          <a:noFill/>
        </p:spPr>
        <p:txBody>
          <a:bodyPr wrap="none" rtlCol="0">
            <a:spAutoFit/>
          </a:bodyPr>
          <a:lstStyle/>
          <a:p>
            <a:r>
              <a:rPr lang="en-US" sz="1800" dirty="0"/>
              <a:t>17,17,17,…,17</a:t>
            </a:r>
          </a:p>
        </p:txBody>
      </p:sp>
    </p:spTree>
    <p:extLst>
      <p:ext uri="{BB962C8B-B14F-4D97-AF65-F5344CB8AC3E}">
        <p14:creationId xmlns:p14="http://schemas.microsoft.com/office/powerpoint/2010/main" val="3660757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881a038175_0_3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lvl="0"/>
            <a:r>
              <a:rPr lang="en-US" dirty="0"/>
              <a:t>Observation: big-data operators are commutative and associative (Part 2)</a:t>
            </a:r>
            <a:endParaRPr dirty="0"/>
          </a:p>
        </p:txBody>
      </p:sp>
      <p:sp>
        <p:nvSpPr>
          <p:cNvPr id="126" name="Google Shape;126;g881a038175_0_3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Autofit/>
          </a:bodyPr>
          <a:lstStyle/>
          <a:p>
            <a:pPr marL="457200" lvl="0" indent="-342900" algn="l" rtl="0">
              <a:spcBef>
                <a:spcPts val="1000"/>
              </a:spcBef>
              <a:spcAft>
                <a:spcPts val="0"/>
              </a:spcAft>
              <a:buSzPts val="1800"/>
              <a:buChar char="•"/>
            </a:pPr>
            <a:r>
              <a:rPr lang="en-US" dirty="0">
                <a:solidFill>
                  <a:schemeClr val="tx1"/>
                </a:solidFill>
              </a:rPr>
              <a:t>Commutative: an operator always outputs the same value regardless of the order of input data records</a:t>
            </a:r>
            <a:endParaRPr dirty="0">
              <a:solidFill>
                <a:schemeClr val="tx1"/>
              </a:solidFill>
            </a:endParaRPr>
          </a:p>
          <a:p>
            <a:pPr marL="457200" lvl="0" indent="-342900" algn="l" rtl="0">
              <a:spcAft>
                <a:spcPts val="0"/>
              </a:spcAft>
              <a:buSzPts val="1800"/>
              <a:buChar char="•"/>
            </a:pPr>
            <a:r>
              <a:rPr lang="en-US" dirty="0"/>
              <a:t>Associative: an operator can first compute the output values of the subsets of an input dataset, and then aggregates these output values to obtain the output value of the entire input dataset </a:t>
            </a:r>
            <a:endParaRPr dirty="0"/>
          </a:p>
        </p:txBody>
      </p:sp>
      <p:sp>
        <p:nvSpPr>
          <p:cNvPr id="2" name="Slide Number Placeholder 1">
            <a:extLst>
              <a:ext uri="{FF2B5EF4-FFF2-40B4-BE49-F238E27FC236}">
                <a16:creationId xmlns:a16="http://schemas.microsoft.com/office/drawing/2014/main" id="{9DC27C4B-78EB-C645-A704-A0F6B7E3D61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graphicFrame>
        <p:nvGraphicFramePr>
          <p:cNvPr id="37" name="Table 36">
            <a:extLst>
              <a:ext uri="{FF2B5EF4-FFF2-40B4-BE49-F238E27FC236}">
                <a16:creationId xmlns:a16="http://schemas.microsoft.com/office/drawing/2014/main" id="{90EF16FF-B91C-FD4C-9A44-9E3970300B3D}"/>
              </a:ext>
            </a:extLst>
          </p:cNvPr>
          <p:cNvGraphicFramePr>
            <a:graphicFrameLocks noGrp="1"/>
          </p:cNvGraphicFramePr>
          <p:nvPr/>
        </p:nvGraphicFramePr>
        <p:xfrm>
          <a:off x="1653185" y="4185675"/>
          <a:ext cx="327600" cy="2440800"/>
        </p:xfrm>
        <a:graphic>
          <a:graphicData uri="http://schemas.openxmlformats.org/drawingml/2006/table">
            <a:tbl>
              <a:tblPr firstRow="1" bandRow="1">
                <a:tableStyleId>{5940675A-B579-460E-94D1-54222C63F5DA}</a:tableStyleId>
              </a:tblPr>
              <a:tblGrid>
                <a:gridCol w="327600">
                  <a:extLst>
                    <a:ext uri="{9D8B030D-6E8A-4147-A177-3AD203B41FA5}">
                      <a16:colId xmlns:a16="http://schemas.microsoft.com/office/drawing/2014/main" val="235123813"/>
                    </a:ext>
                  </a:extLst>
                </a:gridCol>
              </a:tblGrid>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132235989"/>
                  </a:ext>
                </a:extLst>
              </a:tr>
              <a:tr h="305100">
                <a:tc>
                  <a:txBody>
                    <a:bodyPr/>
                    <a:lstStyle/>
                    <a:p>
                      <a:pPr algn="ctr"/>
                      <a:r>
                        <a:rPr lang="en-US" sz="1400" dirty="0"/>
                        <a:t>4</a:t>
                      </a:r>
                    </a:p>
                  </a:txBody>
                  <a:tcPr anchor="ctr">
                    <a:solidFill>
                      <a:srgbClr val="AAB428"/>
                    </a:solidFill>
                  </a:tcPr>
                </a:tc>
                <a:extLst>
                  <a:ext uri="{0D108BD9-81ED-4DB2-BD59-A6C34878D82A}">
                    <a16:rowId xmlns:a16="http://schemas.microsoft.com/office/drawing/2014/main" val="858724994"/>
                  </a:ext>
                </a:extLst>
              </a:tr>
              <a:tr h="305100">
                <a:tc>
                  <a:txBody>
                    <a:bodyPr/>
                    <a:lstStyle/>
                    <a:p>
                      <a:pPr algn="ctr"/>
                      <a:r>
                        <a:rPr lang="en-US" sz="1400" dirty="0"/>
                        <a:t>2</a:t>
                      </a:r>
                    </a:p>
                  </a:txBody>
                  <a:tcPr anchor="ctr">
                    <a:solidFill>
                      <a:srgbClr val="AAB428"/>
                    </a:solidFill>
                  </a:tcPr>
                </a:tc>
                <a:extLst>
                  <a:ext uri="{0D108BD9-81ED-4DB2-BD59-A6C34878D82A}">
                    <a16:rowId xmlns:a16="http://schemas.microsoft.com/office/drawing/2014/main" val="4037024621"/>
                  </a:ext>
                </a:extLst>
              </a:tr>
              <a:tr h="305100">
                <a:tc>
                  <a:txBody>
                    <a:bodyPr/>
                    <a:lstStyle/>
                    <a:p>
                      <a:pPr algn="ctr"/>
                      <a:r>
                        <a:rPr lang="en-US" sz="1400" dirty="0"/>
                        <a:t>3</a:t>
                      </a:r>
                    </a:p>
                  </a:txBody>
                  <a:tcPr anchor="ctr">
                    <a:solidFill>
                      <a:srgbClr val="AAB428"/>
                    </a:solidFill>
                  </a:tcPr>
                </a:tc>
                <a:extLst>
                  <a:ext uri="{0D108BD9-81ED-4DB2-BD59-A6C34878D82A}">
                    <a16:rowId xmlns:a16="http://schemas.microsoft.com/office/drawing/2014/main" val="2983303987"/>
                  </a:ext>
                </a:extLst>
              </a:tr>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2550123582"/>
                  </a:ext>
                </a:extLst>
              </a:tr>
              <a:tr h="305100">
                <a:tc>
                  <a:txBody>
                    <a:bodyPr/>
                    <a:lstStyle/>
                    <a:p>
                      <a:pPr algn="ctr"/>
                      <a:r>
                        <a:rPr lang="en-US" sz="1400" dirty="0"/>
                        <a:t>2</a:t>
                      </a:r>
                    </a:p>
                  </a:txBody>
                  <a:tcPr anchor="ctr">
                    <a:solidFill>
                      <a:srgbClr val="AAB428"/>
                    </a:solidFill>
                  </a:tcPr>
                </a:tc>
                <a:extLst>
                  <a:ext uri="{0D108BD9-81ED-4DB2-BD59-A6C34878D82A}">
                    <a16:rowId xmlns:a16="http://schemas.microsoft.com/office/drawing/2014/main" val="219769279"/>
                  </a:ext>
                </a:extLst>
              </a:tr>
              <a:tr h="305100">
                <a:tc>
                  <a:txBody>
                    <a:bodyPr/>
                    <a:lstStyle/>
                    <a:p>
                      <a:pPr algn="ctr"/>
                      <a:r>
                        <a:rPr lang="en-US" sz="1400" dirty="0"/>
                        <a:t>3</a:t>
                      </a:r>
                    </a:p>
                  </a:txBody>
                  <a:tcPr anchor="ctr">
                    <a:solidFill>
                      <a:srgbClr val="AAB428"/>
                    </a:solidFill>
                  </a:tcPr>
                </a:tc>
                <a:extLst>
                  <a:ext uri="{0D108BD9-81ED-4DB2-BD59-A6C34878D82A}">
                    <a16:rowId xmlns:a16="http://schemas.microsoft.com/office/drawing/2014/main" val="1734682692"/>
                  </a:ext>
                </a:extLst>
              </a:tr>
              <a:tr h="3051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3586400642"/>
                  </a:ext>
                </a:extLst>
              </a:tr>
            </a:tbl>
          </a:graphicData>
        </a:graphic>
      </p:graphicFrame>
      <p:graphicFrame>
        <p:nvGraphicFramePr>
          <p:cNvPr id="44" name="Table 43">
            <a:extLst>
              <a:ext uri="{FF2B5EF4-FFF2-40B4-BE49-F238E27FC236}">
                <a16:creationId xmlns:a16="http://schemas.microsoft.com/office/drawing/2014/main" id="{4D3234B2-6C8E-EA46-9EA2-9B7DB3FBB9E2}"/>
              </a:ext>
            </a:extLst>
          </p:cNvPr>
          <p:cNvGraphicFramePr>
            <a:graphicFrameLocks noGrp="1"/>
          </p:cNvGraphicFramePr>
          <p:nvPr/>
        </p:nvGraphicFramePr>
        <p:xfrm>
          <a:off x="3111015" y="4783387"/>
          <a:ext cx="338400" cy="1281600"/>
        </p:xfrm>
        <a:graphic>
          <a:graphicData uri="http://schemas.openxmlformats.org/drawingml/2006/table">
            <a:tbl>
              <a:tblPr firstRow="1" bandRow="1">
                <a:tableStyleId>{5940675A-B579-460E-94D1-54222C63F5DA}</a:tableStyleId>
              </a:tblPr>
              <a:tblGrid>
                <a:gridCol w="338400">
                  <a:extLst>
                    <a:ext uri="{9D8B030D-6E8A-4147-A177-3AD203B41FA5}">
                      <a16:colId xmlns:a16="http://schemas.microsoft.com/office/drawing/2014/main" val="235123813"/>
                    </a:ext>
                  </a:extLst>
                </a:gridCol>
              </a:tblGrid>
              <a:tr h="3204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132235989"/>
                  </a:ext>
                </a:extLst>
              </a:tr>
              <a:tr h="320400">
                <a:tc>
                  <a:txBody>
                    <a:bodyPr/>
                    <a:lstStyle/>
                    <a:p>
                      <a:pPr algn="ctr"/>
                      <a:r>
                        <a:rPr lang="en-US" sz="1400" dirty="0"/>
                        <a:t>4</a:t>
                      </a:r>
                    </a:p>
                  </a:txBody>
                  <a:tcPr anchor="ctr">
                    <a:solidFill>
                      <a:srgbClr val="AAB428"/>
                    </a:solidFill>
                  </a:tcPr>
                </a:tc>
                <a:extLst>
                  <a:ext uri="{0D108BD9-81ED-4DB2-BD59-A6C34878D82A}">
                    <a16:rowId xmlns:a16="http://schemas.microsoft.com/office/drawing/2014/main" val="858724994"/>
                  </a:ext>
                </a:extLst>
              </a:tr>
              <a:tr h="320400">
                <a:tc>
                  <a:txBody>
                    <a:bodyPr/>
                    <a:lstStyle/>
                    <a:p>
                      <a:pPr algn="ctr"/>
                      <a:r>
                        <a:rPr lang="en-US" sz="1400" dirty="0"/>
                        <a:t>2</a:t>
                      </a:r>
                    </a:p>
                  </a:txBody>
                  <a:tcPr anchor="ctr">
                    <a:solidFill>
                      <a:srgbClr val="AAB428"/>
                    </a:solidFill>
                  </a:tcPr>
                </a:tc>
                <a:extLst>
                  <a:ext uri="{0D108BD9-81ED-4DB2-BD59-A6C34878D82A}">
                    <a16:rowId xmlns:a16="http://schemas.microsoft.com/office/drawing/2014/main" val="4037024621"/>
                  </a:ext>
                </a:extLst>
              </a:tr>
              <a:tr h="320400">
                <a:tc>
                  <a:txBody>
                    <a:bodyPr/>
                    <a:lstStyle/>
                    <a:p>
                      <a:pPr algn="ctr"/>
                      <a:r>
                        <a:rPr lang="en-US" sz="1400" dirty="0"/>
                        <a:t>3</a:t>
                      </a:r>
                    </a:p>
                  </a:txBody>
                  <a:tcPr anchor="ctr">
                    <a:solidFill>
                      <a:srgbClr val="AAB428"/>
                    </a:solidFill>
                  </a:tcPr>
                </a:tc>
                <a:extLst>
                  <a:ext uri="{0D108BD9-81ED-4DB2-BD59-A6C34878D82A}">
                    <a16:rowId xmlns:a16="http://schemas.microsoft.com/office/drawing/2014/main" val="2983303987"/>
                  </a:ext>
                </a:extLst>
              </a:tr>
            </a:tbl>
          </a:graphicData>
        </a:graphic>
      </p:graphicFrame>
      <p:sp>
        <p:nvSpPr>
          <p:cNvPr id="45" name="TextBox 44">
            <a:extLst>
              <a:ext uri="{FF2B5EF4-FFF2-40B4-BE49-F238E27FC236}">
                <a16:creationId xmlns:a16="http://schemas.microsoft.com/office/drawing/2014/main" id="{1E9CDC6E-CECC-EE44-BC08-B6940CF3739B}"/>
              </a:ext>
            </a:extLst>
          </p:cNvPr>
          <p:cNvSpPr txBox="1"/>
          <p:nvPr/>
        </p:nvSpPr>
        <p:spPr>
          <a:xfrm>
            <a:off x="3401127" y="4922298"/>
            <a:ext cx="312906" cy="707886"/>
          </a:xfrm>
          <a:prstGeom prst="rect">
            <a:avLst/>
          </a:prstGeom>
          <a:noFill/>
        </p:spPr>
        <p:txBody>
          <a:bodyPr wrap="none" rtlCol="0">
            <a:spAutoFit/>
          </a:bodyPr>
          <a:lstStyle/>
          <a:p>
            <a:r>
              <a:rPr lang="en-US" sz="4000" dirty="0"/>
              <a:t>,</a:t>
            </a:r>
          </a:p>
        </p:txBody>
      </p:sp>
      <p:graphicFrame>
        <p:nvGraphicFramePr>
          <p:cNvPr id="46" name="Table 45">
            <a:extLst>
              <a:ext uri="{FF2B5EF4-FFF2-40B4-BE49-F238E27FC236}">
                <a16:creationId xmlns:a16="http://schemas.microsoft.com/office/drawing/2014/main" id="{4EADD466-2A77-1548-BDB6-EEF4CC87924B}"/>
              </a:ext>
            </a:extLst>
          </p:cNvPr>
          <p:cNvGraphicFramePr>
            <a:graphicFrameLocks noGrp="1"/>
          </p:cNvGraphicFramePr>
          <p:nvPr/>
        </p:nvGraphicFramePr>
        <p:xfrm>
          <a:off x="3752232" y="4779724"/>
          <a:ext cx="338400" cy="1281600"/>
        </p:xfrm>
        <a:graphic>
          <a:graphicData uri="http://schemas.openxmlformats.org/drawingml/2006/table">
            <a:tbl>
              <a:tblPr firstRow="1" bandRow="1">
                <a:tableStyleId>{5940675A-B579-460E-94D1-54222C63F5DA}</a:tableStyleId>
              </a:tblPr>
              <a:tblGrid>
                <a:gridCol w="338400">
                  <a:extLst>
                    <a:ext uri="{9D8B030D-6E8A-4147-A177-3AD203B41FA5}">
                      <a16:colId xmlns:a16="http://schemas.microsoft.com/office/drawing/2014/main" val="235123813"/>
                    </a:ext>
                  </a:extLst>
                </a:gridCol>
              </a:tblGrid>
              <a:tr h="3204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2550123582"/>
                  </a:ext>
                </a:extLst>
              </a:tr>
              <a:tr h="320400">
                <a:tc>
                  <a:txBody>
                    <a:bodyPr/>
                    <a:lstStyle/>
                    <a:p>
                      <a:pPr algn="ctr"/>
                      <a:r>
                        <a:rPr lang="en-US" sz="1400" dirty="0"/>
                        <a:t>2</a:t>
                      </a:r>
                    </a:p>
                  </a:txBody>
                  <a:tcPr anchor="ctr">
                    <a:solidFill>
                      <a:srgbClr val="AAB428"/>
                    </a:solidFill>
                  </a:tcPr>
                </a:tc>
                <a:extLst>
                  <a:ext uri="{0D108BD9-81ED-4DB2-BD59-A6C34878D82A}">
                    <a16:rowId xmlns:a16="http://schemas.microsoft.com/office/drawing/2014/main" val="219769279"/>
                  </a:ext>
                </a:extLst>
              </a:tr>
              <a:tr h="320400">
                <a:tc>
                  <a:txBody>
                    <a:bodyPr/>
                    <a:lstStyle/>
                    <a:p>
                      <a:pPr algn="ctr"/>
                      <a:r>
                        <a:rPr lang="en-US" sz="1400" dirty="0"/>
                        <a:t>3</a:t>
                      </a:r>
                    </a:p>
                  </a:txBody>
                  <a:tcPr anchor="ctr">
                    <a:solidFill>
                      <a:srgbClr val="AAB428"/>
                    </a:solidFill>
                  </a:tcPr>
                </a:tc>
                <a:extLst>
                  <a:ext uri="{0D108BD9-81ED-4DB2-BD59-A6C34878D82A}">
                    <a16:rowId xmlns:a16="http://schemas.microsoft.com/office/drawing/2014/main" val="1734682692"/>
                  </a:ext>
                </a:extLst>
              </a:tr>
              <a:tr h="320400">
                <a:tc>
                  <a:txBody>
                    <a:bodyPr/>
                    <a:lstStyle/>
                    <a:p>
                      <a:pPr algn="ctr"/>
                      <a:r>
                        <a:rPr lang="en-US" sz="1400" dirty="0"/>
                        <a:t>1</a:t>
                      </a:r>
                    </a:p>
                  </a:txBody>
                  <a:tcPr anchor="ctr">
                    <a:solidFill>
                      <a:srgbClr val="AAB428"/>
                    </a:solidFill>
                  </a:tcPr>
                </a:tc>
                <a:extLst>
                  <a:ext uri="{0D108BD9-81ED-4DB2-BD59-A6C34878D82A}">
                    <a16:rowId xmlns:a16="http://schemas.microsoft.com/office/drawing/2014/main" val="3586400642"/>
                  </a:ext>
                </a:extLst>
              </a:tr>
            </a:tbl>
          </a:graphicData>
        </a:graphic>
      </p:graphicFrame>
      <p:sp>
        <p:nvSpPr>
          <p:cNvPr id="62" name="Rectangle 61">
            <a:extLst>
              <a:ext uri="{FF2B5EF4-FFF2-40B4-BE49-F238E27FC236}">
                <a16:creationId xmlns:a16="http://schemas.microsoft.com/office/drawing/2014/main" id="{C577E15B-2821-3745-A519-E5D0D3D42683}"/>
              </a:ext>
            </a:extLst>
          </p:cNvPr>
          <p:cNvSpPr/>
          <p:nvPr/>
        </p:nvSpPr>
        <p:spPr>
          <a:xfrm>
            <a:off x="4903196" y="4785826"/>
            <a:ext cx="1070027" cy="12812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pic>
        <p:nvPicPr>
          <p:cNvPr id="63" name="Graphic 13" descr="Gears">
            <a:extLst>
              <a:ext uri="{FF2B5EF4-FFF2-40B4-BE49-F238E27FC236}">
                <a16:creationId xmlns:a16="http://schemas.microsoft.com/office/drawing/2014/main" id="{00AB391E-2D2E-9243-B572-B6938B48C3F8}"/>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02241" y="5270892"/>
            <a:ext cx="802046" cy="731688"/>
          </a:xfrm>
          <a:prstGeom prst="rect">
            <a:avLst/>
          </a:prstGeom>
        </p:spPr>
      </p:pic>
      <p:sp>
        <p:nvSpPr>
          <p:cNvPr id="64" name="TextBox 63">
            <a:extLst>
              <a:ext uri="{FF2B5EF4-FFF2-40B4-BE49-F238E27FC236}">
                <a16:creationId xmlns:a16="http://schemas.microsoft.com/office/drawing/2014/main" id="{D0F14097-BF18-C348-88F0-FA48316B7DBE}"/>
              </a:ext>
            </a:extLst>
          </p:cNvPr>
          <p:cNvSpPr txBox="1"/>
          <p:nvPr/>
        </p:nvSpPr>
        <p:spPr>
          <a:xfrm>
            <a:off x="5044231" y="4877233"/>
            <a:ext cx="902811" cy="461665"/>
          </a:xfrm>
          <a:prstGeom prst="rect">
            <a:avLst/>
          </a:prstGeom>
          <a:noFill/>
        </p:spPr>
        <p:txBody>
          <a:bodyPr wrap="square" rtlCol="0">
            <a:spAutoFit/>
          </a:bodyPr>
          <a:lstStyle/>
          <a:p>
            <a:r>
              <a:rPr lang="en-US" altLang="zh-TW" sz="2400" dirty="0"/>
              <a:t>Sum</a:t>
            </a:r>
            <a:endParaRPr lang="en-US" sz="2400" dirty="0"/>
          </a:p>
        </p:txBody>
      </p:sp>
      <p:sp>
        <p:nvSpPr>
          <p:cNvPr id="65" name="Right Arrow 64">
            <a:extLst>
              <a:ext uri="{FF2B5EF4-FFF2-40B4-BE49-F238E27FC236}">
                <a16:creationId xmlns:a16="http://schemas.microsoft.com/office/drawing/2014/main" id="{CA30AFDF-CA1C-DD46-A342-45B0801B5DB7}"/>
              </a:ext>
            </a:extLst>
          </p:cNvPr>
          <p:cNvSpPr/>
          <p:nvPr/>
        </p:nvSpPr>
        <p:spPr>
          <a:xfrm>
            <a:off x="6173473" y="5293657"/>
            <a:ext cx="504496"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6E0E22EB-39F2-5645-922E-821794FB8741}"/>
              </a:ext>
            </a:extLst>
          </p:cNvPr>
          <p:cNvSpPr txBox="1"/>
          <p:nvPr/>
        </p:nvSpPr>
        <p:spPr>
          <a:xfrm>
            <a:off x="5943729" y="4956594"/>
            <a:ext cx="877163" cy="369332"/>
          </a:xfrm>
          <a:prstGeom prst="rect">
            <a:avLst/>
          </a:prstGeom>
          <a:noFill/>
        </p:spPr>
        <p:txBody>
          <a:bodyPr wrap="none" rtlCol="0">
            <a:spAutoFit/>
          </a:bodyPr>
          <a:lstStyle/>
          <a:p>
            <a:r>
              <a:rPr lang="en-US" sz="1800" dirty="0"/>
              <a:t>Output</a:t>
            </a:r>
          </a:p>
        </p:txBody>
      </p:sp>
      <p:sp>
        <p:nvSpPr>
          <p:cNvPr id="67" name="TextBox 66">
            <a:extLst>
              <a:ext uri="{FF2B5EF4-FFF2-40B4-BE49-F238E27FC236}">
                <a16:creationId xmlns:a16="http://schemas.microsoft.com/office/drawing/2014/main" id="{191B7699-087E-7B49-A81D-1E833DC0BF2C}"/>
              </a:ext>
            </a:extLst>
          </p:cNvPr>
          <p:cNvSpPr txBox="1"/>
          <p:nvPr/>
        </p:nvSpPr>
        <p:spPr>
          <a:xfrm>
            <a:off x="6750976" y="5221485"/>
            <a:ext cx="633507" cy="369332"/>
          </a:xfrm>
          <a:prstGeom prst="rect">
            <a:avLst/>
          </a:prstGeom>
          <a:noFill/>
        </p:spPr>
        <p:txBody>
          <a:bodyPr wrap="none" rtlCol="0">
            <a:spAutoFit/>
          </a:bodyPr>
          <a:lstStyle/>
          <a:p>
            <a:r>
              <a:rPr lang="en-US" sz="1800" dirty="0"/>
              <a:t>10,7</a:t>
            </a:r>
          </a:p>
        </p:txBody>
      </p:sp>
      <p:sp>
        <p:nvSpPr>
          <p:cNvPr id="68" name="Rectangle 67">
            <a:extLst>
              <a:ext uri="{FF2B5EF4-FFF2-40B4-BE49-F238E27FC236}">
                <a16:creationId xmlns:a16="http://schemas.microsoft.com/office/drawing/2014/main" id="{7B07211C-35AE-5C49-B8D8-D44F9EA039EA}"/>
              </a:ext>
            </a:extLst>
          </p:cNvPr>
          <p:cNvSpPr/>
          <p:nvPr/>
        </p:nvSpPr>
        <p:spPr>
          <a:xfrm>
            <a:off x="8110532" y="4785826"/>
            <a:ext cx="1070027" cy="12812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pic>
        <p:nvPicPr>
          <p:cNvPr id="69" name="Graphic 13" descr="Gears">
            <a:extLst>
              <a:ext uri="{FF2B5EF4-FFF2-40B4-BE49-F238E27FC236}">
                <a16:creationId xmlns:a16="http://schemas.microsoft.com/office/drawing/2014/main" id="{904BF490-7955-304B-90F2-29B211406995}"/>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09577" y="5270892"/>
            <a:ext cx="802046" cy="731688"/>
          </a:xfrm>
          <a:prstGeom prst="rect">
            <a:avLst/>
          </a:prstGeom>
        </p:spPr>
      </p:pic>
      <p:sp>
        <p:nvSpPr>
          <p:cNvPr id="70" name="TextBox 69">
            <a:extLst>
              <a:ext uri="{FF2B5EF4-FFF2-40B4-BE49-F238E27FC236}">
                <a16:creationId xmlns:a16="http://schemas.microsoft.com/office/drawing/2014/main" id="{F935AD09-7D96-B14B-9649-AF2E182C1EF7}"/>
              </a:ext>
            </a:extLst>
          </p:cNvPr>
          <p:cNvSpPr txBox="1"/>
          <p:nvPr/>
        </p:nvSpPr>
        <p:spPr>
          <a:xfrm>
            <a:off x="8251567" y="4877233"/>
            <a:ext cx="902811" cy="461665"/>
          </a:xfrm>
          <a:prstGeom prst="rect">
            <a:avLst/>
          </a:prstGeom>
          <a:noFill/>
        </p:spPr>
        <p:txBody>
          <a:bodyPr wrap="square" rtlCol="0">
            <a:spAutoFit/>
          </a:bodyPr>
          <a:lstStyle/>
          <a:p>
            <a:r>
              <a:rPr lang="en-US" altLang="zh-TW" sz="2400" dirty="0"/>
              <a:t>Sum</a:t>
            </a:r>
            <a:endParaRPr lang="en-US" sz="2400" dirty="0"/>
          </a:p>
        </p:txBody>
      </p:sp>
      <p:sp>
        <p:nvSpPr>
          <p:cNvPr id="71" name="Right Arrow 70">
            <a:extLst>
              <a:ext uri="{FF2B5EF4-FFF2-40B4-BE49-F238E27FC236}">
                <a16:creationId xmlns:a16="http://schemas.microsoft.com/office/drawing/2014/main" id="{0F4407CB-275C-484E-A6F7-DD92986204C5}"/>
              </a:ext>
            </a:extLst>
          </p:cNvPr>
          <p:cNvSpPr/>
          <p:nvPr/>
        </p:nvSpPr>
        <p:spPr>
          <a:xfrm>
            <a:off x="7480244" y="5309046"/>
            <a:ext cx="504496"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8A584C39-893B-5C4C-9C85-936D63B19713}"/>
              </a:ext>
            </a:extLst>
          </p:cNvPr>
          <p:cNvSpPr txBox="1"/>
          <p:nvPr/>
        </p:nvSpPr>
        <p:spPr>
          <a:xfrm>
            <a:off x="7340789" y="4974943"/>
            <a:ext cx="697627" cy="369332"/>
          </a:xfrm>
          <a:prstGeom prst="rect">
            <a:avLst/>
          </a:prstGeom>
          <a:noFill/>
        </p:spPr>
        <p:txBody>
          <a:bodyPr wrap="none" rtlCol="0">
            <a:spAutoFit/>
          </a:bodyPr>
          <a:lstStyle/>
          <a:p>
            <a:r>
              <a:rPr lang="en-US" sz="1800" dirty="0"/>
              <a:t>Input</a:t>
            </a:r>
          </a:p>
        </p:txBody>
      </p:sp>
      <p:sp>
        <p:nvSpPr>
          <p:cNvPr id="73" name="Right Arrow 72">
            <a:extLst>
              <a:ext uri="{FF2B5EF4-FFF2-40B4-BE49-F238E27FC236}">
                <a16:creationId xmlns:a16="http://schemas.microsoft.com/office/drawing/2014/main" id="{04A1CA59-4EEF-874A-B7FF-95C851218DAF}"/>
              </a:ext>
            </a:extLst>
          </p:cNvPr>
          <p:cNvSpPr/>
          <p:nvPr/>
        </p:nvSpPr>
        <p:spPr>
          <a:xfrm>
            <a:off x="9387153" y="5325926"/>
            <a:ext cx="504496"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A8518B0C-A18C-5F45-87F6-AF711A7D0FEC}"/>
              </a:ext>
            </a:extLst>
          </p:cNvPr>
          <p:cNvSpPr txBox="1"/>
          <p:nvPr/>
        </p:nvSpPr>
        <p:spPr>
          <a:xfrm>
            <a:off x="9157409" y="4988863"/>
            <a:ext cx="877163" cy="369332"/>
          </a:xfrm>
          <a:prstGeom prst="rect">
            <a:avLst/>
          </a:prstGeom>
          <a:noFill/>
        </p:spPr>
        <p:txBody>
          <a:bodyPr wrap="none" rtlCol="0">
            <a:spAutoFit/>
          </a:bodyPr>
          <a:lstStyle/>
          <a:p>
            <a:r>
              <a:rPr lang="en-US" sz="1800" dirty="0"/>
              <a:t>Output</a:t>
            </a:r>
          </a:p>
        </p:txBody>
      </p:sp>
      <p:sp>
        <p:nvSpPr>
          <p:cNvPr id="75" name="TextBox 74">
            <a:extLst>
              <a:ext uri="{FF2B5EF4-FFF2-40B4-BE49-F238E27FC236}">
                <a16:creationId xmlns:a16="http://schemas.microsoft.com/office/drawing/2014/main" id="{1C9EA5A8-3702-EF42-9808-870856113B17}"/>
              </a:ext>
            </a:extLst>
          </p:cNvPr>
          <p:cNvSpPr txBox="1"/>
          <p:nvPr/>
        </p:nvSpPr>
        <p:spPr>
          <a:xfrm>
            <a:off x="9972652" y="5285159"/>
            <a:ext cx="441146" cy="369332"/>
          </a:xfrm>
          <a:prstGeom prst="rect">
            <a:avLst/>
          </a:prstGeom>
          <a:noFill/>
        </p:spPr>
        <p:txBody>
          <a:bodyPr wrap="none" rtlCol="0">
            <a:spAutoFit/>
          </a:bodyPr>
          <a:lstStyle/>
          <a:p>
            <a:r>
              <a:rPr lang="en-US" sz="1800" dirty="0"/>
              <a:t>17</a:t>
            </a:r>
          </a:p>
        </p:txBody>
      </p:sp>
      <p:sp>
        <p:nvSpPr>
          <p:cNvPr id="76" name="Right Arrow 75">
            <a:extLst>
              <a:ext uri="{FF2B5EF4-FFF2-40B4-BE49-F238E27FC236}">
                <a16:creationId xmlns:a16="http://schemas.microsoft.com/office/drawing/2014/main" id="{D263573C-2B62-EC44-9D7E-ED7DF427DD44}"/>
              </a:ext>
            </a:extLst>
          </p:cNvPr>
          <p:cNvSpPr/>
          <p:nvPr/>
        </p:nvSpPr>
        <p:spPr>
          <a:xfrm>
            <a:off x="4311090" y="5275515"/>
            <a:ext cx="504496"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60D3E2A0-9423-4948-8113-4F508FBF58F2}"/>
              </a:ext>
            </a:extLst>
          </p:cNvPr>
          <p:cNvSpPr txBox="1"/>
          <p:nvPr/>
        </p:nvSpPr>
        <p:spPr>
          <a:xfrm>
            <a:off x="4171635" y="4941412"/>
            <a:ext cx="697627" cy="369332"/>
          </a:xfrm>
          <a:prstGeom prst="rect">
            <a:avLst/>
          </a:prstGeom>
          <a:noFill/>
        </p:spPr>
        <p:txBody>
          <a:bodyPr wrap="none" rtlCol="0">
            <a:spAutoFit/>
          </a:bodyPr>
          <a:lstStyle/>
          <a:p>
            <a:r>
              <a:rPr lang="en-US" sz="1800" dirty="0"/>
              <a:t>Input</a:t>
            </a:r>
          </a:p>
        </p:txBody>
      </p:sp>
      <p:sp>
        <p:nvSpPr>
          <p:cNvPr id="78" name="Right Arrow 77">
            <a:extLst>
              <a:ext uri="{FF2B5EF4-FFF2-40B4-BE49-F238E27FC236}">
                <a16:creationId xmlns:a16="http://schemas.microsoft.com/office/drawing/2014/main" id="{A850CF66-10D3-564C-BB00-CFA73E98BF18}"/>
              </a:ext>
            </a:extLst>
          </p:cNvPr>
          <p:cNvSpPr/>
          <p:nvPr/>
        </p:nvSpPr>
        <p:spPr>
          <a:xfrm>
            <a:off x="2317768" y="5305065"/>
            <a:ext cx="504496" cy="307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D01856AF-F482-BB4F-81F6-2F63F1AF4DE6}"/>
              </a:ext>
            </a:extLst>
          </p:cNvPr>
          <p:cNvSpPr txBox="1"/>
          <p:nvPr/>
        </p:nvSpPr>
        <p:spPr>
          <a:xfrm>
            <a:off x="2076933" y="4954822"/>
            <a:ext cx="1031051" cy="369332"/>
          </a:xfrm>
          <a:prstGeom prst="rect">
            <a:avLst/>
          </a:prstGeom>
          <a:noFill/>
        </p:spPr>
        <p:txBody>
          <a:bodyPr wrap="none" rtlCol="0">
            <a:spAutoFit/>
          </a:bodyPr>
          <a:lstStyle/>
          <a:p>
            <a:r>
              <a:rPr lang="en-US" sz="1800" dirty="0"/>
              <a:t>Partition</a:t>
            </a:r>
          </a:p>
        </p:txBody>
      </p:sp>
    </p:spTree>
    <p:extLst>
      <p:ext uri="{BB962C8B-B14F-4D97-AF65-F5344CB8AC3E}">
        <p14:creationId xmlns:p14="http://schemas.microsoft.com/office/powerpoint/2010/main" val="2650876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500"/>
                                        <p:tgtEl>
                                          <p:spTgt spid="45"/>
                                        </p:tgtEl>
                                      </p:cBhvr>
                                    </p:animEffect>
                                  </p:childTnLst>
                                </p:cTn>
                              </p:par>
                              <p:par>
                                <p:cTn id="11" presetID="10" presetClass="entr" presetSubtype="0" fill="hold" nodeType="withEffect">
                                  <p:stCondLst>
                                    <p:cond delay="0"/>
                                  </p:stCondLst>
                                  <p:childTnLst>
                                    <p:set>
                                      <p:cBhvr>
                                        <p:cTn id="12" dur="1" fill="hold">
                                          <p:stCondLst>
                                            <p:cond delay="0"/>
                                          </p:stCondLst>
                                        </p:cTn>
                                        <p:tgtEl>
                                          <p:spTgt spid="46"/>
                                        </p:tgtEl>
                                        <p:attrNameLst>
                                          <p:attrName>style.visibility</p:attrName>
                                        </p:attrNameLst>
                                      </p:cBhvr>
                                      <p:to>
                                        <p:strVal val="visible"/>
                                      </p:to>
                                    </p:set>
                                    <p:animEffect transition="in" filter="fade">
                                      <p:cBhvr>
                                        <p:cTn id="13" dur="500"/>
                                        <p:tgtEl>
                                          <p:spTgt spid="4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8"/>
                                        </p:tgtEl>
                                        <p:attrNameLst>
                                          <p:attrName>style.visibility</p:attrName>
                                        </p:attrNameLst>
                                      </p:cBhvr>
                                      <p:to>
                                        <p:strVal val="visible"/>
                                      </p:to>
                                    </p:set>
                                    <p:animEffect transition="in" filter="fade">
                                      <p:cBhvr>
                                        <p:cTn id="16" dur="500"/>
                                        <p:tgtEl>
                                          <p:spTgt spid="7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9"/>
                                        </p:tgtEl>
                                        <p:attrNameLst>
                                          <p:attrName>style.visibility</p:attrName>
                                        </p:attrNameLst>
                                      </p:cBhvr>
                                      <p:to>
                                        <p:strVal val="visible"/>
                                      </p:to>
                                    </p:set>
                                    <p:animEffect transition="in" filter="fade">
                                      <p:cBhvr>
                                        <p:cTn id="19" dur="500"/>
                                        <p:tgtEl>
                                          <p:spTgt spid="7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2"/>
                                        </p:tgtEl>
                                        <p:attrNameLst>
                                          <p:attrName>style.visibility</p:attrName>
                                        </p:attrNameLst>
                                      </p:cBhvr>
                                      <p:to>
                                        <p:strVal val="visible"/>
                                      </p:to>
                                    </p:set>
                                    <p:animEffect transition="in" filter="fade">
                                      <p:cBhvr>
                                        <p:cTn id="24" dur="500"/>
                                        <p:tgtEl>
                                          <p:spTgt spid="62"/>
                                        </p:tgtEl>
                                      </p:cBhvr>
                                    </p:animEffect>
                                  </p:childTnLst>
                                </p:cTn>
                              </p:par>
                              <p:par>
                                <p:cTn id="25" presetID="10" presetClass="entr" presetSubtype="0" fill="hold" nodeType="with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fade">
                                      <p:cBhvr>
                                        <p:cTn id="27" dur="500"/>
                                        <p:tgtEl>
                                          <p:spTgt spid="6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4"/>
                                        </p:tgtEl>
                                        <p:attrNameLst>
                                          <p:attrName>style.visibility</p:attrName>
                                        </p:attrNameLst>
                                      </p:cBhvr>
                                      <p:to>
                                        <p:strVal val="visible"/>
                                      </p:to>
                                    </p:set>
                                    <p:animEffect transition="in" filter="fade">
                                      <p:cBhvr>
                                        <p:cTn id="30" dur="500"/>
                                        <p:tgtEl>
                                          <p:spTgt spid="6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5"/>
                                        </p:tgtEl>
                                        <p:attrNameLst>
                                          <p:attrName>style.visibility</p:attrName>
                                        </p:attrNameLst>
                                      </p:cBhvr>
                                      <p:to>
                                        <p:strVal val="visible"/>
                                      </p:to>
                                    </p:set>
                                    <p:animEffect transition="in" filter="fade">
                                      <p:cBhvr>
                                        <p:cTn id="33" dur="500"/>
                                        <p:tgtEl>
                                          <p:spTgt spid="6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6"/>
                                        </p:tgtEl>
                                        <p:attrNameLst>
                                          <p:attrName>style.visibility</p:attrName>
                                        </p:attrNameLst>
                                      </p:cBhvr>
                                      <p:to>
                                        <p:strVal val="visible"/>
                                      </p:to>
                                    </p:set>
                                    <p:animEffect transition="in" filter="fade">
                                      <p:cBhvr>
                                        <p:cTn id="36" dur="500"/>
                                        <p:tgtEl>
                                          <p:spTgt spid="6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7"/>
                                        </p:tgtEl>
                                        <p:attrNameLst>
                                          <p:attrName>style.visibility</p:attrName>
                                        </p:attrNameLst>
                                      </p:cBhvr>
                                      <p:to>
                                        <p:strVal val="visible"/>
                                      </p:to>
                                    </p:set>
                                    <p:animEffect transition="in" filter="fade">
                                      <p:cBhvr>
                                        <p:cTn id="39" dur="500"/>
                                        <p:tgtEl>
                                          <p:spTgt spid="6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6"/>
                                        </p:tgtEl>
                                        <p:attrNameLst>
                                          <p:attrName>style.visibility</p:attrName>
                                        </p:attrNameLst>
                                      </p:cBhvr>
                                      <p:to>
                                        <p:strVal val="visible"/>
                                      </p:to>
                                    </p:set>
                                    <p:animEffect transition="in" filter="fade">
                                      <p:cBhvr>
                                        <p:cTn id="42" dur="500"/>
                                        <p:tgtEl>
                                          <p:spTgt spid="7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77"/>
                                        </p:tgtEl>
                                        <p:attrNameLst>
                                          <p:attrName>style.visibility</p:attrName>
                                        </p:attrNameLst>
                                      </p:cBhvr>
                                      <p:to>
                                        <p:strVal val="visible"/>
                                      </p:to>
                                    </p:set>
                                    <p:animEffect transition="in" filter="fade">
                                      <p:cBhvr>
                                        <p:cTn id="45" dur="500"/>
                                        <p:tgtEl>
                                          <p:spTgt spid="7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68"/>
                                        </p:tgtEl>
                                        <p:attrNameLst>
                                          <p:attrName>style.visibility</p:attrName>
                                        </p:attrNameLst>
                                      </p:cBhvr>
                                      <p:to>
                                        <p:strVal val="visible"/>
                                      </p:to>
                                    </p:set>
                                    <p:animEffect transition="in" filter="fade">
                                      <p:cBhvr>
                                        <p:cTn id="50" dur="500"/>
                                        <p:tgtEl>
                                          <p:spTgt spid="68"/>
                                        </p:tgtEl>
                                      </p:cBhvr>
                                    </p:animEffect>
                                  </p:childTnLst>
                                </p:cTn>
                              </p:par>
                              <p:par>
                                <p:cTn id="51" presetID="10" presetClass="entr" presetSubtype="0" fill="hold" nodeType="withEffect">
                                  <p:stCondLst>
                                    <p:cond delay="0"/>
                                  </p:stCondLst>
                                  <p:childTnLst>
                                    <p:set>
                                      <p:cBhvr>
                                        <p:cTn id="52" dur="1" fill="hold">
                                          <p:stCondLst>
                                            <p:cond delay="0"/>
                                          </p:stCondLst>
                                        </p:cTn>
                                        <p:tgtEl>
                                          <p:spTgt spid="69"/>
                                        </p:tgtEl>
                                        <p:attrNameLst>
                                          <p:attrName>style.visibility</p:attrName>
                                        </p:attrNameLst>
                                      </p:cBhvr>
                                      <p:to>
                                        <p:strVal val="visible"/>
                                      </p:to>
                                    </p:set>
                                    <p:animEffect transition="in" filter="fade">
                                      <p:cBhvr>
                                        <p:cTn id="53" dur="500"/>
                                        <p:tgtEl>
                                          <p:spTgt spid="6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70"/>
                                        </p:tgtEl>
                                        <p:attrNameLst>
                                          <p:attrName>style.visibility</p:attrName>
                                        </p:attrNameLst>
                                      </p:cBhvr>
                                      <p:to>
                                        <p:strVal val="visible"/>
                                      </p:to>
                                    </p:set>
                                    <p:animEffect transition="in" filter="fade">
                                      <p:cBhvr>
                                        <p:cTn id="56" dur="500"/>
                                        <p:tgtEl>
                                          <p:spTgt spid="7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71"/>
                                        </p:tgtEl>
                                        <p:attrNameLst>
                                          <p:attrName>style.visibility</p:attrName>
                                        </p:attrNameLst>
                                      </p:cBhvr>
                                      <p:to>
                                        <p:strVal val="visible"/>
                                      </p:to>
                                    </p:set>
                                    <p:animEffect transition="in" filter="fade">
                                      <p:cBhvr>
                                        <p:cTn id="59" dur="500"/>
                                        <p:tgtEl>
                                          <p:spTgt spid="7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72"/>
                                        </p:tgtEl>
                                        <p:attrNameLst>
                                          <p:attrName>style.visibility</p:attrName>
                                        </p:attrNameLst>
                                      </p:cBhvr>
                                      <p:to>
                                        <p:strVal val="visible"/>
                                      </p:to>
                                    </p:set>
                                    <p:animEffect transition="in" filter="fade">
                                      <p:cBhvr>
                                        <p:cTn id="62" dur="500"/>
                                        <p:tgtEl>
                                          <p:spTgt spid="7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3"/>
                                        </p:tgtEl>
                                        <p:attrNameLst>
                                          <p:attrName>style.visibility</p:attrName>
                                        </p:attrNameLst>
                                      </p:cBhvr>
                                      <p:to>
                                        <p:strVal val="visible"/>
                                      </p:to>
                                    </p:set>
                                    <p:animEffect transition="in" filter="fade">
                                      <p:cBhvr>
                                        <p:cTn id="65" dur="500"/>
                                        <p:tgtEl>
                                          <p:spTgt spid="7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74"/>
                                        </p:tgtEl>
                                        <p:attrNameLst>
                                          <p:attrName>style.visibility</p:attrName>
                                        </p:attrNameLst>
                                      </p:cBhvr>
                                      <p:to>
                                        <p:strVal val="visible"/>
                                      </p:to>
                                    </p:set>
                                    <p:animEffect transition="in" filter="fade">
                                      <p:cBhvr>
                                        <p:cTn id="68" dur="500"/>
                                        <p:tgtEl>
                                          <p:spTgt spid="7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75"/>
                                        </p:tgtEl>
                                        <p:attrNameLst>
                                          <p:attrName>style.visibility</p:attrName>
                                        </p:attrNameLst>
                                      </p:cBhvr>
                                      <p:to>
                                        <p:strVal val="visible"/>
                                      </p:to>
                                    </p:set>
                                    <p:animEffect transition="in" filter="fade">
                                      <p:cBhvr>
                                        <p:cTn id="71"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62" grpId="0" animBg="1"/>
      <p:bldP spid="64" grpId="0"/>
      <p:bldP spid="65" grpId="0" animBg="1"/>
      <p:bldP spid="66" grpId="0"/>
      <p:bldP spid="67" grpId="0"/>
      <p:bldP spid="68" grpId="0" animBg="1"/>
      <p:bldP spid="70" grpId="0"/>
      <p:bldP spid="71" grpId="0" animBg="1"/>
      <p:bldP spid="72" grpId="0"/>
      <p:bldP spid="73" grpId="0" animBg="1"/>
      <p:bldP spid="74" grpId="0"/>
      <p:bldP spid="75" grpId="0"/>
      <p:bldP spid="76" grpId="0" animBg="1"/>
      <p:bldP spid="77" grpId="0"/>
      <p:bldP spid="78" grpId="0" animBg="1"/>
      <p:bldP spid="7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881a038175_0_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Existing approaches</a:t>
            </a:r>
            <a:endParaRPr/>
          </a:p>
        </p:txBody>
      </p:sp>
      <p:sp>
        <p:nvSpPr>
          <p:cNvPr id="106" name="Google Shape;106;g881a038175_0_5"/>
          <p:cNvSpPr txBox="1">
            <a:spLocks noGrp="1"/>
          </p:cNvSpPr>
          <p:nvPr>
            <p:ph type="body" idx="1"/>
          </p:nvPr>
        </p:nvSpPr>
        <p:spPr>
          <a:xfrm>
            <a:off x="838200" y="1825625"/>
            <a:ext cx="11049000" cy="4351200"/>
          </a:xfrm>
          <a:prstGeom prst="rect">
            <a:avLst/>
          </a:prstGeom>
        </p:spPr>
        <p:txBody>
          <a:bodyPr spcFirstLastPara="1" wrap="square" lIns="91425" tIns="45700" rIns="91425" bIns="45700" anchor="t" anchorCtr="0">
            <a:noAutofit/>
          </a:bodyPr>
          <a:lstStyle/>
          <a:p>
            <a:pPr marL="457200" lvl="0" indent="-342900" algn="l" rtl="0">
              <a:spcBef>
                <a:spcPts val="1000"/>
              </a:spcBef>
              <a:spcAft>
                <a:spcPts val="0"/>
              </a:spcAft>
              <a:buSzPts val="1800"/>
              <a:buChar char="•"/>
            </a:pPr>
            <a:r>
              <a:rPr lang="en-US" dirty="0"/>
              <a:t>Manual approach </a:t>
            </a:r>
            <a:endParaRPr dirty="0"/>
          </a:p>
          <a:p>
            <a:pPr marL="914400" lvl="1" indent="-342900" algn="l" rtl="0">
              <a:spcBef>
                <a:spcPts val="0"/>
              </a:spcBef>
              <a:spcAft>
                <a:spcPts val="0"/>
              </a:spcAft>
              <a:buSzPts val="1800"/>
              <a:buChar char="•"/>
            </a:pPr>
            <a:r>
              <a:rPr lang="en-US" dirty="0"/>
              <a:t>A sensitivity value is inferred and given by human</a:t>
            </a:r>
            <a:endParaRPr dirty="0"/>
          </a:p>
          <a:p>
            <a:pPr lvl="1">
              <a:spcBef>
                <a:spcPts val="0"/>
              </a:spcBef>
            </a:pPr>
            <a:r>
              <a:rPr lang="en-US" dirty="0"/>
              <a:t>Advantage: general (applicable to an arbitrary query and input dataset)</a:t>
            </a:r>
            <a:endParaRPr lang="en-HK" dirty="0"/>
          </a:p>
          <a:p>
            <a:pPr marL="914400" lvl="1" indent="-342900" algn="l" rtl="0">
              <a:spcBef>
                <a:spcPts val="0"/>
              </a:spcBef>
              <a:spcAft>
                <a:spcPts val="0"/>
              </a:spcAft>
              <a:buSzPts val="1800"/>
              <a:buChar char="•"/>
            </a:pPr>
            <a:r>
              <a:rPr lang="en-US" dirty="0"/>
              <a:t>Limitations: non-automatic and error-prone (adding too much noise to output)</a:t>
            </a:r>
            <a:endParaRPr dirty="0"/>
          </a:p>
          <a:p>
            <a:pPr marL="914400" lvl="1" indent="-342900" algn="l" rtl="0">
              <a:spcBef>
                <a:spcPts val="0"/>
              </a:spcBef>
              <a:spcAft>
                <a:spcPts val="0"/>
              </a:spcAft>
              <a:buSzPts val="1800"/>
              <a:buChar char="•"/>
            </a:pPr>
            <a:r>
              <a:rPr lang="en-US" dirty="0"/>
              <a:t>Related work: PINQ [46], </a:t>
            </a:r>
            <a:r>
              <a:rPr lang="en-US" dirty="0" err="1"/>
              <a:t>Airavat</a:t>
            </a:r>
            <a:r>
              <a:rPr lang="en-US" dirty="0"/>
              <a:t> [19], FUZZ [47,48], GUPT [18], </a:t>
            </a:r>
            <a:r>
              <a:rPr lang="en-US" dirty="0" err="1"/>
              <a:t>SensitivitySampler</a:t>
            </a:r>
            <a:r>
              <a:rPr lang="en-US" dirty="0"/>
              <a:t> [15]</a:t>
            </a:r>
          </a:p>
          <a:p>
            <a:pPr>
              <a:spcBef>
                <a:spcPts val="0"/>
              </a:spcBef>
            </a:pPr>
            <a:r>
              <a:rPr lang="en-US" dirty="0"/>
              <a:t>Static approach</a:t>
            </a:r>
            <a:endParaRPr dirty="0"/>
          </a:p>
          <a:p>
            <a:pPr marL="914400" lvl="1" indent="-342900" algn="l" rtl="0">
              <a:spcBef>
                <a:spcPts val="0"/>
              </a:spcBef>
              <a:spcAft>
                <a:spcPts val="0"/>
              </a:spcAft>
              <a:buSzPts val="1800"/>
              <a:buChar char="•"/>
            </a:pPr>
            <a:r>
              <a:rPr lang="en-US" dirty="0"/>
              <a:t>A sensitivity value is identified by analyzing the syntax of a query</a:t>
            </a:r>
            <a:endParaRPr dirty="0"/>
          </a:p>
          <a:p>
            <a:pPr lvl="1">
              <a:spcBef>
                <a:spcPts val="0"/>
              </a:spcBef>
            </a:pPr>
            <a:r>
              <a:rPr lang="en-US" dirty="0"/>
              <a:t>Advantages: automatic and efficient (has near-zero overhead)</a:t>
            </a:r>
          </a:p>
          <a:p>
            <a:pPr lvl="1">
              <a:spcBef>
                <a:spcPts val="0"/>
              </a:spcBef>
            </a:pPr>
            <a:r>
              <a:rPr lang="en-US" dirty="0"/>
              <a:t>Limitations: not generate (applicable to only count query) and inaccurate</a:t>
            </a:r>
            <a:endParaRPr dirty="0"/>
          </a:p>
          <a:p>
            <a:pPr lvl="1">
              <a:spcBef>
                <a:spcPts val="0"/>
              </a:spcBef>
            </a:pPr>
            <a:r>
              <a:rPr lang="en-US" dirty="0"/>
              <a:t>Related work: FLEX [14]</a:t>
            </a:r>
            <a:endParaRPr dirty="0"/>
          </a:p>
        </p:txBody>
      </p:sp>
      <p:sp>
        <p:nvSpPr>
          <p:cNvPr id="2" name="Slide Number Placeholder 1">
            <a:extLst>
              <a:ext uri="{FF2B5EF4-FFF2-40B4-BE49-F238E27FC236}">
                <a16:creationId xmlns:a16="http://schemas.microsoft.com/office/drawing/2014/main" id="{897B10D9-E2CD-2D4E-91E9-6E787F9F4C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extLst>
      <p:ext uri="{BB962C8B-B14F-4D97-AF65-F5344CB8AC3E}">
        <p14:creationId xmlns:p14="http://schemas.microsoft.com/office/powerpoint/2010/main" val="274003049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5515</TotalTime>
  <Words>5085</Words>
  <Application>Microsoft Macintosh PowerPoint</Application>
  <PresentationFormat>Widescreen</PresentationFormat>
  <Paragraphs>549</Paragraphs>
  <Slides>32</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FrutigerNext LT Regular</vt:lpstr>
      <vt:lpstr>Arial</vt:lpstr>
      <vt:lpstr>Calibri</vt:lpstr>
      <vt:lpstr>Office Theme</vt:lpstr>
      <vt:lpstr>UPA: An Automated, Accurate and Efficient Differentially Private Big-data Mining System</vt:lpstr>
      <vt:lpstr>Differential Privacy</vt:lpstr>
      <vt:lpstr>Enforcing an end-to-end DP is challenging</vt:lpstr>
      <vt:lpstr>Existing approaches</vt:lpstr>
      <vt:lpstr>Our system UPA</vt:lpstr>
      <vt:lpstr>Brute-force approach computes on mostly overlapped dataset</vt:lpstr>
      <vt:lpstr>Observation1: big-data operators are commutative and associative</vt:lpstr>
      <vt:lpstr>Observation 2: majority of data records have small influence on an output value    </vt:lpstr>
      <vt:lpstr>UPA is an end-to-end DP system</vt:lpstr>
      <vt:lpstr>Evaluation setup (1)</vt:lpstr>
      <vt:lpstr>Evaluation setup (2)</vt:lpstr>
      <vt:lpstr>UPA and FLEX’s RMSE</vt:lpstr>
      <vt:lpstr>UPA’s performance overhead</vt:lpstr>
      <vt:lpstr>Conclusion</vt:lpstr>
      <vt:lpstr>Another interesting application of Differential Privacy</vt:lpstr>
      <vt:lpstr>Thank you!</vt:lpstr>
      <vt:lpstr>teaser</vt:lpstr>
      <vt:lpstr>Differential Privacy</vt:lpstr>
      <vt:lpstr>Enforcing an end-to-end DP is challenging</vt:lpstr>
      <vt:lpstr>Existing approaches make other tradeoffs</vt:lpstr>
      <vt:lpstr>Backup</vt:lpstr>
      <vt:lpstr>UPA’s workflow</vt:lpstr>
      <vt:lpstr>Implementation highlights</vt:lpstr>
      <vt:lpstr>Evaluation setup (3)</vt:lpstr>
      <vt:lpstr>Observation 2: the influence of an individual data record to an output value usually follows normal distribution</vt:lpstr>
      <vt:lpstr>UPA’s performance overhead</vt:lpstr>
      <vt:lpstr>Our system UPA</vt:lpstr>
      <vt:lpstr>Observation 2: the influence of an individual data record to an output value usually follows normal distribution</vt:lpstr>
      <vt:lpstr>Differential Privacy</vt:lpstr>
      <vt:lpstr>Observation:  big-data operators are commutative and associative (Part 2)</vt:lpstr>
      <vt:lpstr>Observation: big-data operators are commutative and associative (Part 2)</vt:lpstr>
      <vt:lpstr>Existing approaches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UPA: An Automated, Accurate and Efficient Differentially Private Big-data Mining System</dc:title>
  <dc:creator>Li Tsz On</dc:creator>
  <cp:lastModifiedBy>Li Tsz On</cp:lastModifiedBy>
  <cp:revision>56</cp:revision>
  <dcterms:created xsi:type="dcterms:W3CDTF">2020-06-02T12:51:21Z</dcterms:created>
  <dcterms:modified xsi:type="dcterms:W3CDTF">2020-09-17T03:47:10Z</dcterms:modified>
</cp:coreProperties>
</file>