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56" r:id="rId2"/>
    <p:sldId id="257" r:id="rId3"/>
    <p:sldId id="258" r:id="rId4"/>
    <p:sldId id="259" r:id="rId5"/>
    <p:sldId id="293" r:id="rId6"/>
    <p:sldId id="301" r:id="rId7"/>
    <p:sldId id="305" r:id="rId8"/>
    <p:sldId id="308" r:id="rId9"/>
    <p:sldId id="306" r:id="rId10"/>
    <p:sldId id="309" r:id="rId11"/>
    <p:sldId id="304" r:id="rId12"/>
    <p:sldId id="270" r:id="rId13"/>
    <p:sldId id="272" r:id="rId14"/>
    <p:sldId id="273" r:id="rId15"/>
    <p:sldId id="299" r:id="rId16"/>
    <p:sldId id="276" r:id="rId17"/>
    <p:sldId id="278" r:id="rId18"/>
    <p:sldId id="279" r:id="rId19"/>
    <p:sldId id="280" r:id="rId20"/>
    <p:sldId id="310" r:id="rId21"/>
    <p:sldId id="284" r:id="rId22"/>
    <p:sldId id="312" r:id="rId23"/>
    <p:sldId id="307" r:id="rId24"/>
    <p:sldId id="285" r:id="rId25"/>
    <p:sldId id="311" r:id="rId26"/>
    <p:sldId id="313"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58" roundtripDataSignature="AMtx7miqTFyzi6NB9NKlsB7AIo2ON/+x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E79"/>
    <a:srgbClr val="FF0000"/>
    <a:srgbClr val="FF2600"/>
    <a:srgbClr val="FF7F0B"/>
    <a:srgbClr val="000000"/>
    <a:srgbClr val="29A12B"/>
    <a:srgbClr val="1F77B5"/>
    <a:srgbClr val="863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EEEF68-AAE6-EA4F-8E17-A41B4C1CC351}" v="734" dt="2019-10-01T08:30:23.206"/>
  </p1510:revLst>
</p1510:revInfo>
</file>

<file path=ppt/tableStyles.xml><?xml version="1.0" encoding="utf-8"?>
<a:tblStyleLst xmlns:a="http://schemas.openxmlformats.org/drawingml/2006/main" def="{3AA8D292-A182-483C-8C5F-61F4DCA5B08A}">
  <a:tblStyle styleId="{3AA8D292-A182-483C-8C5F-61F4DCA5B08A}"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fill>
          <a:solidFill>
            <a:srgbClr val="FFFFFF">
              <a:alpha val="0"/>
            </a:srgbClr>
          </a:solidFill>
        </a:fill>
      </a:tcStyle>
    </a:wholeTbl>
    <a:band1H>
      <a:tcTxStyle/>
      <a:tcStyle>
        <a:tcBdr/>
      </a:tcStyle>
    </a:band1H>
    <a:band2H>
      <a:tcTxStyle b="off" i="off"/>
      <a:tcStyle>
        <a:tcBdr/>
        <a:fill>
          <a:solidFill>
            <a:srgbClr val="FFFFFF"/>
          </a:solidFill>
        </a:fill>
      </a:tcStyle>
    </a:band2H>
    <a:band1V>
      <a:tcTxStyle/>
      <a:tcStyle>
        <a:tcBdr/>
      </a:tcStyle>
    </a:band1V>
    <a:band2V>
      <a:tcTxStyle/>
      <a:tcStyle>
        <a:tcBdr/>
      </a:tcStyle>
    </a:band2V>
    <a:lastCol>
      <a:tcTxStyle/>
      <a:tcStyle>
        <a:tcBdr/>
      </a:tcStyle>
    </a:lastCol>
    <a:firstCo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fill>
          <a:solidFill>
            <a:srgbClr val="FFFFFF">
              <a:alpha val="0"/>
            </a:srgbClr>
          </a:solidFill>
        </a:fill>
      </a:tcStyle>
    </a:firstCol>
    <a:lastRow>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fill>
          <a:solidFill>
            <a:srgbClr val="FFFFFF">
              <a:alpha val="0"/>
            </a:srgbClr>
          </a:solidFill>
        </a:fill>
      </a:tcStyle>
    </a:firstRow>
    <a:neCell>
      <a:tcTxStyle/>
      <a:tcStyle>
        <a:tcBdr/>
      </a:tcStyle>
    </a:neCell>
    <a:nwCell>
      <a:tcTxStyle/>
      <a:tcStyle>
        <a:tcBdr/>
      </a:tcStyle>
    </a:nwCell>
  </a:tblStyle>
  <a:tblStyle styleId="{792F84B4-0B30-445A-B3BC-8A7FA9196EF1}"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9"/>
    <p:restoredTop sz="74762"/>
  </p:normalViewPr>
  <p:slideViewPr>
    <p:cSldViewPr snapToGrid="0">
      <p:cViewPr varScale="1">
        <p:scale>
          <a:sx n="106" d="100"/>
          <a:sy n="106" d="100"/>
        </p:scale>
        <p:origin x="1800" y="168"/>
      </p:cViewPr>
      <p:guideLst/>
    </p:cSldViewPr>
  </p:slideViewPr>
  <p:outlineViewPr>
    <p:cViewPr>
      <p:scale>
        <a:sx n="33" d="100"/>
        <a:sy n="33" d="100"/>
      </p:scale>
      <p:origin x="0" y="0"/>
    </p:cViewPr>
  </p:outlineViewPr>
  <p:notesTextViewPr>
    <p:cViewPr>
      <p:scale>
        <a:sx n="155" d="100"/>
        <a:sy n="15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63"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4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4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4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4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4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Hello everyone, I am Li Tsz On from the University of Hong Kong. Today I will present Fulva, an efficient live migration technique for in-memory key value store. This work is done with my colleagues </a:t>
            </a:r>
            <a:r>
              <a:rPr lang="en-US" sz="1200" dirty="0" err="1">
                <a:solidFill>
                  <a:schemeClr val="dk1"/>
                </a:solidFill>
                <a:latin typeface="Calibri"/>
                <a:ea typeface="Calibri"/>
                <a:cs typeface="Calibri"/>
                <a:sym typeface="Calibri"/>
              </a:rPr>
              <a:t>Jiewen</a:t>
            </a:r>
            <a:r>
              <a:rPr lang="en-US" sz="1200" dirty="0">
                <a:solidFill>
                  <a:schemeClr val="dk1"/>
                </a:solidFill>
                <a:latin typeface="Calibri"/>
                <a:ea typeface="Calibri"/>
                <a:cs typeface="Calibri"/>
                <a:sym typeface="Calibri"/>
              </a:rPr>
              <a:t>, Cheng, </a:t>
            </a:r>
            <a:r>
              <a:rPr lang="en-US" sz="1200" dirty="0" err="1">
                <a:solidFill>
                  <a:schemeClr val="dk1"/>
                </a:solidFill>
                <a:latin typeface="Calibri"/>
                <a:ea typeface="Calibri"/>
                <a:cs typeface="Calibri"/>
                <a:sym typeface="Calibri"/>
              </a:rPr>
              <a:t>Xusheng</a:t>
            </a:r>
            <a:r>
              <a:rPr lang="en-US" sz="1200" dirty="0">
                <a:solidFill>
                  <a:schemeClr val="dk1"/>
                </a:solidFill>
                <a:latin typeface="Calibri"/>
                <a:ea typeface="Calibri"/>
                <a:cs typeface="Calibri"/>
                <a:sym typeface="Calibri"/>
              </a:rPr>
              <a:t>, an Huawei researcher, Sen Wang, and our supervisor Heming Cui.</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p:txBody>
      </p:sp>
      <p:sp>
        <p:nvSpPr>
          <p:cNvPr id="103" name="Google Shape;10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 name="Google Shape;109;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dirty="0"/>
              <a:t>Distributed in-memory key-value stores are an essential building block in data center. These key-value stores systems distribute data tuples into multiple partitions, with each partitions</a:t>
            </a:r>
            <a:r>
              <a:rPr lang="en-US" sz="1100" dirty="0">
                <a:solidFill>
                  <a:schemeClr val="dk1"/>
                </a:solidFill>
              </a:rPr>
              <a:t> </a:t>
            </a:r>
            <a:r>
              <a:rPr lang="en-US" sz="1100" dirty="0"/>
              <a:t>running on one computer in order to achieve high performance. For instance, a key-value store </a:t>
            </a:r>
            <a:r>
              <a:rPr lang="en-US" sz="1100" dirty="0" err="1">
                <a:solidFill>
                  <a:schemeClr val="dk1"/>
                </a:solidFill>
              </a:rPr>
              <a:t>RAMCloud</a:t>
            </a:r>
            <a:r>
              <a:rPr lang="en-US" sz="1100" dirty="0">
                <a:solidFill>
                  <a:schemeClr val="dk1"/>
                </a:solidFill>
              </a:rPr>
              <a:t>, which runs both servers and clients in the same datacenter, using DPDK, </a:t>
            </a:r>
            <a:r>
              <a:rPr lang="en-US" sz="1100" dirty="0"/>
              <a:t>achieves millions operations per second with tens of microseconds latency.</a:t>
            </a:r>
            <a:endParaRPr sz="11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4" name="Google Shape;174;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dirty="0"/>
              <a:t>However, in Key value store, the access pattern over the key space is often uneven (!) and such skewed workload degrades the performance of the key-value store. For example, in typical YCSB workloads, when 80% clients’  requests go to the tuples stored on one computer, which are the tuples of key 1 to 400 colored in red in this slide, such skewed workload causes one computer overloaded while another computer idle, hence the latency of the overloaded computer increases from 9.4 µs to 19.5 µs.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dirty="0"/>
              <a:t>To rebalance load between these computers, live migration technique (!) moves half of the workloads from an overloaded computer (which we call it source) to an idle computer (which we call it destination), while continuously serving the incoming client requests. After the migration, the overall performance of the Key-value store will be improved</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t>Existing live migration approaches can be divided into 3 categories: source-driven, destination-driven and our work, Fulva. </a:t>
            </a:r>
            <a:r>
              <a:rPr lang="en-US" b="1" dirty="0"/>
              <a:t>In both figures on the left, x-axis is the timeline in seconds, and the migration starts at the 10</a:t>
            </a:r>
            <a:r>
              <a:rPr lang="en-US" b="1" baseline="30000" dirty="0"/>
              <a:t>th</a:t>
            </a:r>
            <a:r>
              <a:rPr lang="en-US" b="1" dirty="0"/>
              <a:t> second. For the first figure, the y-axis is the aggregated throughput of both the source and destination. For the second figure, the y-axis is the aggregated median latency of both source and destination.</a:t>
            </a:r>
            <a:r>
              <a:rPr lang="en-US" b="0" dirty="0"/>
              <a:t> </a:t>
            </a:r>
            <a:r>
              <a:rPr lang="en-US" b="1" dirty="0"/>
              <a:t>After all the migration approaches finish, the aggregated throughput of both source and destination will increase from about 1 million requests per second to 2 million, and median latency of the two computers will reduce from about 19 microseconds to 9.</a:t>
            </a:r>
          </a:p>
          <a:p>
            <a:pPr marL="0" marR="0" lvl="0" indent="0" algn="l" rtl="0">
              <a:spcBef>
                <a:spcPts val="0"/>
              </a:spcBef>
              <a:spcAft>
                <a:spcPts val="0"/>
              </a:spcAft>
              <a:buNone/>
            </a:pPr>
            <a:endParaRPr lang="en-US" dirty="0"/>
          </a:p>
          <a:p>
            <a:pPr marL="0" marR="0" lvl="0" indent="0" algn="l" rtl="0">
              <a:spcBef>
                <a:spcPts val="0"/>
              </a:spcBef>
              <a:spcAft>
                <a:spcPts val="0"/>
              </a:spcAft>
              <a:buNone/>
            </a:pPr>
            <a:r>
              <a:rPr lang="en-US" dirty="0"/>
              <a:t>Overall</a:t>
            </a:r>
            <a:r>
              <a:rPr lang="en-US" sz="1400" dirty="0"/>
              <a:t>, both source-driven approach (the orange line) and the destination-driven approach (the green line)’s throughput decreases when migration starts, and source-driven approach has a downtime near the end of migration (!). While Fulva’ throughput increases when migration starts and it does not have downtime. Therefore, Fulva is a near-optimal live migration technique. </a:t>
            </a:r>
            <a:endParaRPr dirty="0"/>
          </a:p>
        </p:txBody>
      </p:sp>
    </p:spTree>
    <p:extLst>
      <p:ext uri="{BB962C8B-B14F-4D97-AF65-F5344CB8AC3E}">
        <p14:creationId xmlns:p14="http://schemas.microsoft.com/office/powerpoint/2010/main" val="2647651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 shows the outline of this presentation, we first talk about the workflow and limitations of source-driven and destination driven approach, then we present you Fulva’s workflow, challenge, architecture, and Fulva’s two detailed techniques. We then talk about the evaluation result and finally we conclude. </a:t>
            </a:r>
          </a:p>
        </p:txBody>
      </p:sp>
    </p:spTree>
    <p:extLst>
      <p:ext uri="{BB962C8B-B14F-4D97-AF65-F5344CB8AC3E}">
        <p14:creationId xmlns:p14="http://schemas.microsoft.com/office/powerpoint/2010/main" val="34087804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To re-balance load between computers while handle client’s request, source-driven approach lets source  (!) handle client’s read request and write request during migration.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main challenge for source driven approach is to make sure destination has the latest version of tuple when migration completes. Existing source-driven approach incrementally copies the updated tuple from source to destination during migration. For instance (!), as shown in this slide, suppose the clients keep updating the tuple of key 1 by sending write request to source, after the source commits the update, it has to send a copy to the destination</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Unfortunately (!), letting source handle client’s requests makes source even more overloaded during migration than before migration, which degrades the KV store’s overall performance during migration. Moreover, in order to make sure all updated tuples are completely copied from source to destination before a migration terminates, a service downtime up to two seconds has to be triggered near the end of migration.</a:t>
            </a:r>
          </a:p>
        </p:txBody>
      </p:sp>
      <p:sp>
        <p:nvSpPr>
          <p:cNvPr id="736" name="Google Shape;73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7089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Overall, source driven approach is easy to implement, but it degrades key value store’s performance during migration. It is because during the migration, source not only needs to handle requests of all tuples that are originally stored on source, which have the key 1 to 400 in the examples of this presentation, but it also needs to migrate tuples from source to destination and iteratively copies updated tuples to destination, which causes source more overloaded and having higher read and write latency (!)</a:t>
            </a:r>
            <a:r>
              <a:rPr lang="zh-TW" altLang="en-US" dirty="0"/>
              <a:t> </a:t>
            </a:r>
            <a:r>
              <a:rPr lang="en-US" altLang="zh-TW" dirty="0"/>
              <a:t>during migration</a:t>
            </a:r>
            <a:r>
              <a:rPr lang="en-US" dirty="0"/>
              <a:t> than before migration. Moreover, source-driven approach has to trigger a service downtime time (!) near the end of migration</a:t>
            </a:r>
          </a:p>
        </p:txBody>
      </p:sp>
    </p:spTree>
    <p:extLst>
      <p:ext uri="{BB962C8B-B14F-4D97-AF65-F5344CB8AC3E}">
        <p14:creationId xmlns:p14="http://schemas.microsoft.com/office/powerpoint/2010/main" val="1164290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To avoid the problem of further overloading source during migration and the problem of trigging a downtime near the end of migration, destination-driven approach lets destination (!) handles client’s write request and read requests.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main challenge for destination driven approach is to handle read request for those tuples that have not been migrated to destination. Existing destination-driven approach lets destination pull the tuples from source on demand. For example, suppose the client sends a read request to destination for reading the tuple of key 180 (!), which has not been migrated to destination yet, instead of aborting the request, the destination pulls (!) the tuple from source and reply (!) the client with the pulled tuple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Unfortunately (!), the extra round-trip between source and destination due to on demand pulling for read request incurs notable latency. This round trip latency is especially enormous to the client’s perceived read latency when the servers and clients communicate with high-speed network such as DPDK.</a:t>
            </a:r>
          </a:p>
        </p:txBody>
      </p:sp>
      <p:sp>
        <p:nvSpPr>
          <p:cNvPr id="736" name="Google Shape;73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2343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Overall, destination-driven approach’s on-demand pulling incurs enormous read latency (!), even though halve of all tuples originally stored on source are offloaded to destination when migration starts. Moreover, destination-driven approach </a:t>
            </a:r>
            <a:r>
              <a:rPr lang="en-US" dirty="0" err="1"/>
              <a:t>casuses</a:t>
            </a:r>
            <a:r>
              <a:rPr lang="en-US" dirty="0"/>
              <a:t> the KV store’s overall latency increases (!) significantly when migration starts. It is because most KV tuples are not available on destination for read request when migration starts, so on-demand pull is frequent.</a:t>
            </a:r>
          </a:p>
        </p:txBody>
      </p:sp>
    </p:spTree>
    <p:extLst>
      <p:ext uri="{BB962C8B-B14F-4D97-AF65-F5344CB8AC3E}">
        <p14:creationId xmlns:p14="http://schemas.microsoft.com/office/powerpoint/2010/main" val="3162027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To avoid the on-demand pulling problem of destination-driven approach, and downtime problem</a:t>
            </a:r>
            <a:r>
              <a:rPr lang="zh-TW" altLang="en-US" dirty="0"/>
              <a:t> </a:t>
            </a:r>
            <a:r>
              <a:rPr lang="en-US" altLang="zh-TW" dirty="0"/>
              <a:t>of source-driven approach, Fulva lets source and destination collaboratively handle clients’ requests during migration to efficiently balance load between computers. To be specific, Fulva lets destination to handle write request (!), so that the downtime problem of source-driven approach can be avoided, and lets source handle read (!) request, so that the on-demand pulling problem of </a:t>
            </a:r>
            <a:r>
              <a:rPr lang="en-US" altLang="zh-TW" dirty="0" err="1"/>
              <a:t>destionation</a:t>
            </a:r>
            <a:r>
              <a:rPr lang="en-US" altLang="zh-TW" dirty="0"/>
              <a:t>-drive approach can be avoided. </a:t>
            </a:r>
          </a:p>
          <a:p>
            <a:pPr marL="0" lvl="0" indent="0" algn="l" rtl="0">
              <a:spcBef>
                <a:spcPts val="0"/>
              </a:spcBef>
              <a:spcAft>
                <a:spcPts val="0"/>
              </a:spcAft>
              <a:buNone/>
            </a:pPr>
            <a:endParaRPr lang="en-US" altLang="zh-TW" dirty="0"/>
          </a:p>
          <a:p>
            <a:pPr marL="0" lvl="0" indent="0" algn="l" rtl="0">
              <a:spcBef>
                <a:spcPts val="0"/>
              </a:spcBef>
              <a:spcAft>
                <a:spcPts val="0"/>
              </a:spcAft>
              <a:buNone/>
            </a:pPr>
            <a:r>
              <a:rPr lang="en-US" altLang="zh-TW" dirty="0"/>
              <a:t>However, client may not always get the latest value of a tuple when clients only send read request to source (!), as write request is always handled by destination. For instance, after three clients send their write requests to destination, the latest value of tuple of key 1 is V3 (!). So the client who sends read request to source for the tuple of key 1 will get the outdated value.</a:t>
            </a:r>
          </a:p>
          <a:p>
            <a:pPr marL="0" lvl="0" indent="0" algn="l" rtl="0">
              <a:spcBef>
                <a:spcPts val="0"/>
              </a:spcBef>
              <a:spcAft>
                <a:spcPts val="0"/>
              </a:spcAft>
              <a:buNone/>
            </a:pPr>
            <a:endParaRPr lang="en-US" altLang="zh-TW" dirty="0"/>
          </a:p>
          <a:p>
            <a:pPr marL="0" lvl="0" indent="0" algn="l" rtl="0">
              <a:spcBef>
                <a:spcPts val="0"/>
              </a:spcBef>
              <a:spcAft>
                <a:spcPts val="0"/>
              </a:spcAft>
              <a:buNone/>
            </a:pPr>
            <a:r>
              <a:rPr lang="en-US" altLang="zh-TW" dirty="0"/>
              <a:t>To ensure linearizability, Fulva lets client send read request to both source and destination (!) for the tuples that have not been migrated to destination. Therefore, client can always get the latest value from destination (!) for the tuple has been migrated or updated on destination. For the tuple that has not been migrated or updated on destination, the destination simply replies client an empty value, so that the client accepts the tuple replied by source. Under both cases, the client always get the latest value of the tuple from either the source or the destination. The challenge of this approach is that client needs to send two read request to source and destination respectively, which increases Fulva’s bandwidth usage. We will present two techniques to reduce Fulva’s bandwidth usage in the following slides</a:t>
            </a:r>
          </a:p>
          <a:p>
            <a:pPr marL="0" lvl="0" indent="0" algn="l" rtl="0">
              <a:spcBef>
                <a:spcPts val="0"/>
              </a:spcBef>
              <a:spcAft>
                <a:spcPts val="0"/>
              </a:spcAft>
              <a:buNone/>
            </a:pPr>
            <a:endParaRPr lang="en-US" altLang="zh-TW" dirty="0"/>
          </a:p>
          <a:p>
            <a:pPr marL="0" lvl="0" indent="0" algn="l" rtl="0">
              <a:spcBef>
                <a:spcPts val="0"/>
              </a:spcBef>
              <a:spcAft>
                <a:spcPts val="0"/>
              </a:spcAft>
              <a:buNone/>
            </a:pPr>
            <a:endParaRPr dirty="0"/>
          </a:p>
        </p:txBody>
      </p:sp>
      <p:sp>
        <p:nvSpPr>
          <p:cNvPr id="736" name="Google Shape;73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2796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6277982ef9_0_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solidFill>
                  <a:schemeClr val="dk1"/>
                </a:solidFill>
              </a:rPr>
              <a:t>We first look into the high-level architecture of Fulva. Client applications access the key-value stores over a datacenter network using an RPC library (!) provided by Fulva, so that the client program logic does not need to be modiﬁed. Fulva also has a “Migration Controller” (!) to start several concurrent streams to migrate tuples from source to destination. Each stream migrates the tuples sequentially based on the order of the tuples’ key</a:t>
            </a:r>
            <a:endParaRPr dirty="0"/>
          </a:p>
        </p:txBody>
      </p:sp>
      <p:sp>
        <p:nvSpPr>
          <p:cNvPr id="742" name="Google Shape;742;g6277982ef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181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475845831e_0_5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solidFill>
                  <a:schemeClr val="dk1"/>
                </a:solidFill>
              </a:rPr>
              <a:t>Fulva keeps track of migrated tuple by maintaining a lightweight data structure (!) called “migration completion ranges” (MCR) in each Fulva client's RPC library. </a:t>
            </a:r>
          </a:p>
          <a:p>
            <a:pPr marL="0" lvl="0" indent="0" algn="l" rtl="0">
              <a:spcBef>
                <a:spcPts val="0"/>
              </a:spcBef>
              <a:spcAft>
                <a:spcPts val="0"/>
              </a:spcAft>
              <a:buNone/>
            </a:pPr>
            <a:endParaRPr lang="en-US" dirty="0">
              <a:solidFill>
                <a:schemeClr val="dk1"/>
              </a:solidFill>
            </a:endParaRPr>
          </a:p>
          <a:p>
            <a:pPr marL="0" lvl="0" indent="0" algn="l" rtl="0">
              <a:spcBef>
                <a:spcPts val="0"/>
              </a:spcBef>
              <a:spcAft>
                <a:spcPts val="0"/>
              </a:spcAft>
              <a:buNone/>
            </a:pPr>
            <a:r>
              <a:rPr lang="en-US" dirty="0">
                <a:solidFill>
                  <a:schemeClr val="dk1"/>
                </a:solidFill>
              </a:rPr>
              <a:t>MCR’s key idea is to let destination periodically piggybacks the metadata of the migrated tuple to the reply to the clients who sent the read requests. The MCR in each client’s RPC library then updates the key range of migrated tuple. MCR  in each client’s </a:t>
            </a:r>
            <a:r>
              <a:rPr lang="en-US" dirty="0" err="1">
                <a:solidFill>
                  <a:schemeClr val="dk1"/>
                </a:solidFill>
              </a:rPr>
              <a:t>programme</a:t>
            </a:r>
            <a:r>
              <a:rPr lang="en-US" dirty="0">
                <a:solidFill>
                  <a:schemeClr val="dk1"/>
                </a:solidFill>
              </a:rPr>
              <a:t> has little memory footprint because it only needs to record the key of the latest tuple migrated to destination in each concurrent migration stream. This is because the migration in each stream is done sequentially based on the order of tuples’ key.</a:t>
            </a:r>
          </a:p>
          <a:p>
            <a:pPr marL="0" lvl="0" indent="0" algn="l" rtl="0">
              <a:spcBef>
                <a:spcPts val="0"/>
              </a:spcBef>
              <a:spcAft>
                <a:spcPts val="0"/>
              </a:spcAft>
              <a:buNone/>
            </a:pPr>
            <a:endParaRPr lang="en-US" dirty="0">
              <a:solidFill>
                <a:schemeClr val="dk1"/>
              </a:solidFill>
            </a:endParaRPr>
          </a:p>
          <a:p>
            <a:pPr marL="0" lvl="0" indent="0" algn="l" rtl="0">
              <a:spcBef>
                <a:spcPts val="0"/>
              </a:spcBef>
              <a:spcAft>
                <a:spcPts val="0"/>
              </a:spcAft>
              <a:buNone/>
            </a:pPr>
            <a:r>
              <a:rPr lang="en-US" dirty="0">
                <a:solidFill>
                  <a:schemeClr val="dk1"/>
                </a:solidFill>
              </a:rPr>
              <a:t>Suppose the tuples of key 1-50 (!) is migrated to destination, when the client send (!) a read request to destination, the destination replies (!) both the tuple value and the metadata telling the client that the tuples of key 1-50 is migrated to destination. (!) Then, the MCR updates (!) the key range of migrated tuples, which is 1 to 50. </a:t>
            </a:r>
            <a:endParaRPr dirty="0"/>
          </a:p>
        </p:txBody>
      </p:sp>
      <p:sp>
        <p:nvSpPr>
          <p:cNvPr id="854" name="Google Shape;854;g475845831e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625fbb7380_0_27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dirty="0">
                <a:solidFill>
                  <a:schemeClr val="dk1"/>
                </a:solidFill>
              </a:rPr>
              <a:t>With MCR, clients only need to send read request to destination for migrated tuple, suppose MCR stores the key range of one to one hundred, which implies the tuple of keys one to one hundreds have been migrated. </a:t>
            </a:r>
          </a:p>
          <a:p>
            <a:pPr marL="0" lvl="0" indent="0" algn="l" rtl="0">
              <a:spcBef>
                <a:spcPts val="0"/>
              </a:spcBef>
              <a:spcAft>
                <a:spcPts val="0"/>
              </a:spcAft>
              <a:buClr>
                <a:schemeClr val="dk1"/>
              </a:buClr>
              <a:buSzPts val="1100"/>
              <a:buFont typeface="Arial"/>
              <a:buNone/>
            </a:pPr>
            <a:endParaRPr lang="en-US"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For example, suppose (!), a client </a:t>
            </a:r>
            <a:r>
              <a:rPr lang="en-US" dirty="0" err="1">
                <a:solidFill>
                  <a:schemeClr val="dk1"/>
                </a:solidFill>
              </a:rPr>
              <a:t>programme</a:t>
            </a:r>
            <a:r>
              <a:rPr lang="en-US" dirty="0">
                <a:solidFill>
                  <a:schemeClr val="dk1"/>
                </a:solidFill>
              </a:rPr>
              <a:t> wants to read a tuple of key 100, it first checks if the key is within the MCR (!). Since the key 100 is within the MCR, the client only needs to send read request to destination. If the client want to read a tuple of key 200 (!), since key 200 is not within MCR (!), the client needs to send read request to both source and destination. </a:t>
            </a:r>
          </a:p>
          <a:p>
            <a:pPr marL="0" lvl="0" indent="0" algn="l" rtl="0">
              <a:spcBef>
                <a:spcPts val="0"/>
              </a:spcBef>
              <a:spcAft>
                <a:spcPts val="0"/>
              </a:spcAft>
              <a:buClr>
                <a:schemeClr val="dk1"/>
              </a:buClr>
              <a:buSzPts val="1100"/>
              <a:buFont typeface="Arial"/>
              <a:buNone/>
            </a:pPr>
            <a:endParaRPr lang="en-US"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One should note that MCR does not have to be perfectly up-to-date in each client’s library, because it only provides hint for the client to reduce extra bandwidth usage without affecting Fulva’s linearizability and end-to-end performance. Since MCR does not have to be up-to-date, destination piggybacks the meta to the reply to client for each 1000 client's requests, instead of for each client's request, in order to reduce Fulva’s extra bandwidth usage. Overall, MCR (!) is effective in reducing the number of double read request from clients for the tuples that have been migrated to destination</a:t>
            </a:r>
            <a:endParaRPr dirty="0"/>
          </a:p>
        </p:txBody>
      </p:sp>
      <p:sp>
        <p:nvSpPr>
          <p:cNvPr id="976" name="Google Shape;976;g625fbb7380_0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58778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However, if hot tuple is not migrated in the beginning of the migration, MCR maybe ineffective in reducing the number of double-read request. To be specific (!), hot tuple may located near the end of key space. Since migration is done sequentially based on tuple’s key, those hot tuple will only be included in MCR near the end of migration. Therefore (!), clients need to send double read request to source and destination during most of the time in migration.</a:t>
            </a:r>
            <a:endParaRPr dirty="0"/>
          </a:p>
        </p:txBody>
      </p:sp>
      <p:sp>
        <p:nvSpPr>
          <p:cNvPr id="848" name="Google Shape;84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8803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7"/>
        <p:cNvGrpSpPr/>
        <p:nvPr/>
      </p:nvGrpSpPr>
      <p:grpSpPr>
        <a:xfrm>
          <a:off x="0" y="0"/>
          <a:ext cx="0" cy="0"/>
          <a:chOff x="0" y="0"/>
          <a:chExt cx="0" cy="0"/>
        </a:xfrm>
      </p:grpSpPr>
      <p:sp>
        <p:nvSpPr>
          <p:cNvPr id="1248" name="Google Shape;1248;p2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dirty="0">
                <a:solidFill>
                  <a:schemeClr val="dk1"/>
                </a:solidFill>
              </a:rPr>
              <a:t>We propose </a:t>
            </a:r>
            <a:r>
              <a:rPr lang="en-US" dirty="0" err="1">
                <a:solidFill>
                  <a:schemeClr val="dk1"/>
                </a:solidFill>
              </a:rPr>
              <a:t>SampPull</a:t>
            </a:r>
            <a:r>
              <a:rPr lang="en-US" dirty="0">
                <a:solidFill>
                  <a:schemeClr val="dk1"/>
                </a:solidFill>
              </a:rPr>
              <a:t>, a light-weight technique to identify and migrate hot tuples through sampling incoming requests. </a:t>
            </a:r>
            <a:r>
              <a:rPr lang="en-US" dirty="0" err="1">
                <a:solidFill>
                  <a:schemeClr val="dk1"/>
                </a:solidFill>
              </a:rPr>
              <a:t>SampPull</a:t>
            </a:r>
            <a:r>
              <a:rPr lang="en-US" dirty="0">
                <a:solidFill>
                  <a:schemeClr val="dk1"/>
                </a:solidFill>
              </a:rPr>
              <a:t> is effective because hot tuples are accessed by much more clients request than other tuples, hence hot tuples have high probability to be sampled from these requests.</a:t>
            </a:r>
          </a:p>
          <a:p>
            <a:pPr marL="0" lvl="0" indent="0" algn="l" rtl="0">
              <a:spcBef>
                <a:spcPts val="0"/>
              </a:spcBef>
              <a:spcAft>
                <a:spcPts val="0"/>
              </a:spcAft>
              <a:buClr>
                <a:schemeClr val="dk1"/>
              </a:buClr>
              <a:buSzPts val="1100"/>
              <a:buFont typeface="Arial"/>
              <a:buNone/>
            </a:pPr>
            <a:endParaRPr lang="en-US"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For instance (!), suppose the tuple of key 200 is hot and most clients send read requests for this tuple, the </a:t>
            </a:r>
            <a:r>
              <a:rPr lang="en-US" dirty="0" err="1">
                <a:solidFill>
                  <a:schemeClr val="dk1"/>
                </a:solidFill>
              </a:rPr>
              <a:t>sampPull</a:t>
            </a:r>
            <a:r>
              <a:rPr lang="en-US" dirty="0">
                <a:solidFill>
                  <a:schemeClr val="dk1"/>
                </a:solidFill>
              </a:rPr>
              <a:t> identified (!) this key by sampling incoming requests and pulls the tuple of key 200 from source to destination. Then </a:t>
            </a:r>
            <a:r>
              <a:rPr lang="en-US" dirty="0" err="1">
                <a:solidFill>
                  <a:schemeClr val="dk1"/>
                </a:solidFill>
              </a:rPr>
              <a:t>sampPull</a:t>
            </a:r>
            <a:r>
              <a:rPr lang="en-US" dirty="0">
                <a:solidFill>
                  <a:schemeClr val="dk1"/>
                </a:solidFill>
              </a:rPr>
              <a:t> then periodically piggyback (!) a meta data to the reply to client to update Sampling Pulled Hashes in the client’s RPC library, like MCR. Compared with MCR, the memory footprint of these hashes in each client program consumes more memory, and we will introduce techniques to reduce this memory footprint on each client later.</a:t>
            </a:r>
          </a:p>
          <a:p>
            <a:pPr marL="0" lvl="0" indent="0" algn="l" rtl="0">
              <a:spcBef>
                <a:spcPts val="0"/>
              </a:spcBef>
              <a:spcAft>
                <a:spcPts val="0"/>
              </a:spcAft>
              <a:buClr>
                <a:schemeClr val="dk1"/>
              </a:buClr>
              <a:buSzPts val="1100"/>
              <a:buFont typeface="Arial"/>
              <a:buNone/>
            </a:pPr>
            <a:endParaRPr lang="en-US"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Overall (!), </a:t>
            </a:r>
            <a:r>
              <a:rPr lang="en-US" dirty="0" err="1">
                <a:solidFill>
                  <a:schemeClr val="dk1"/>
                </a:solidFill>
              </a:rPr>
              <a:t>SampPull</a:t>
            </a:r>
            <a:r>
              <a:rPr lang="en-US" dirty="0">
                <a:solidFill>
                  <a:schemeClr val="dk1"/>
                </a:solidFill>
              </a:rPr>
              <a:t> is lightweight and efficient because it uses simple sampling technique to identify hot tuples and does not affect the end to end performance of Fulva. Lastly (!), similar to MCR, </a:t>
            </a:r>
            <a:r>
              <a:rPr lang="en-US" dirty="0" err="1">
                <a:solidFill>
                  <a:schemeClr val="dk1"/>
                </a:solidFill>
              </a:rPr>
              <a:t>SampPull</a:t>
            </a:r>
            <a:r>
              <a:rPr lang="en-US" dirty="0">
                <a:solidFill>
                  <a:schemeClr val="dk1"/>
                </a:solidFill>
              </a:rPr>
              <a:t> does not need to be up-to-date in each client’s RPC library because it only provides hint for client to reduce bandwidth, therefore it does not affect Fulva’s linearizability.</a:t>
            </a:r>
          </a:p>
          <a:p>
            <a:pPr marL="0" lvl="0" indent="0" algn="l" rtl="0">
              <a:spcBef>
                <a:spcPts val="0"/>
              </a:spcBef>
              <a:spcAft>
                <a:spcPts val="0"/>
              </a:spcAft>
              <a:buClr>
                <a:schemeClr val="dk1"/>
              </a:buClr>
              <a:buSzPts val="1100"/>
              <a:buFont typeface="Arial"/>
              <a:buNone/>
            </a:pPr>
            <a:endParaRPr dirty="0">
              <a:solidFill>
                <a:schemeClr val="dk1"/>
              </a:solidFill>
            </a:endParaRPr>
          </a:p>
        </p:txBody>
      </p:sp>
      <p:sp>
        <p:nvSpPr>
          <p:cNvPr id="1249" name="Google Shape;124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0871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6"/>
        <p:cNvGrpSpPr/>
        <p:nvPr/>
      </p:nvGrpSpPr>
      <p:grpSpPr>
        <a:xfrm>
          <a:off x="0" y="0"/>
          <a:ext cx="0" cy="0"/>
          <a:chOff x="0" y="0"/>
          <a:chExt cx="0" cy="0"/>
        </a:xfrm>
      </p:grpSpPr>
      <p:sp>
        <p:nvSpPr>
          <p:cNvPr id="1407" name="Google Shape;1407;g61028e7a18_0_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For the evaluation, we use a cluster of 12 computers. We have implemented Fulva on </a:t>
            </a:r>
            <a:r>
              <a:rPr lang="en-US" dirty="0" err="1"/>
              <a:t>RAMCloud</a:t>
            </a:r>
            <a:r>
              <a:rPr lang="en-US" dirty="0"/>
              <a:t>, a popular in-memory key-value store, and we have compared our system with two related </a:t>
            </a:r>
            <a:r>
              <a:rPr lang="en-US" dirty="0" err="1"/>
              <a:t>sytems</a:t>
            </a:r>
            <a:r>
              <a:rPr lang="en-US" dirty="0"/>
              <a:t>, the first one is </a:t>
            </a:r>
            <a:r>
              <a:rPr lang="en-US" dirty="0" err="1"/>
              <a:t>RAMCloud</a:t>
            </a:r>
            <a:r>
              <a:rPr lang="en-US" dirty="0"/>
              <a:t>-migration, the </a:t>
            </a:r>
            <a:r>
              <a:rPr lang="en-US" dirty="0" err="1"/>
              <a:t>builtin</a:t>
            </a:r>
            <a:r>
              <a:rPr lang="en-US" dirty="0"/>
              <a:t> source-driven approach of </a:t>
            </a:r>
            <a:r>
              <a:rPr lang="en-US" dirty="0" err="1"/>
              <a:t>RAMCloud</a:t>
            </a:r>
            <a:r>
              <a:rPr lang="en-US" dirty="0"/>
              <a:t>. And the second one is Rocksteady, a state-of-the-art destination-driven approach tailored for </a:t>
            </a:r>
            <a:r>
              <a:rPr lang="en-US" dirty="0" err="1"/>
              <a:t>RAMCloud</a:t>
            </a:r>
            <a:endParaRPr dirty="0"/>
          </a:p>
        </p:txBody>
      </p:sp>
      <p:sp>
        <p:nvSpPr>
          <p:cNvPr id="1408" name="Google Shape;1408;g61028e7a18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06809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2"/>
        <p:cNvGrpSpPr/>
        <p:nvPr/>
      </p:nvGrpSpPr>
      <p:grpSpPr>
        <a:xfrm>
          <a:off x="0" y="0"/>
          <a:ext cx="0" cy="0"/>
          <a:chOff x="0" y="0"/>
          <a:chExt cx="0" cy="0"/>
        </a:xfrm>
      </p:grpSpPr>
      <p:sp>
        <p:nvSpPr>
          <p:cNvPr id="1413" name="Google Shape;1413;g61028e7a18_0_1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We evaluated all the three systems with two benchmarks: YCSB and TPC-C. Our dataset comprised of 300 million records on source, which has total size of 40GB. All the systems migrated 20GB from source to destination. For our evaluation metric throughput and median latency, we use standard definition, for tail </a:t>
            </a:r>
            <a:r>
              <a:rPr lang="en-US" dirty="0" err="1"/>
              <a:t>latecy</a:t>
            </a:r>
            <a:r>
              <a:rPr lang="en-US" dirty="0"/>
              <a:t>, we </a:t>
            </a:r>
            <a:r>
              <a:rPr lang="en-US" dirty="0" err="1"/>
              <a:t>mesaure</a:t>
            </a:r>
            <a:r>
              <a:rPr lang="en-US" dirty="0"/>
              <a:t> the 99  percentile of the latency of all requests in one second</a:t>
            </a:r>
          </a:p>
        </p:txBody>
      </p:sp>
      <p:sp>
        <p:nvSpPr>
          <p:cNvPr id="1414" name="Google Shape;1414;g61028e7a18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7104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8"/>
        <p:cNvGrpSpPr/>
        <p:nvPr/>
      </p:nvGrpSpPr>
      <p:grpSpPr>
        <a:xfrm>
          <a:off x="0" y="0"/>
          <a:ext cx="0" cy="0"/>
          <a:chOff x="0" y="0"/>
          <a:chExt cx="0" cy="0"/>
        </a:xfrm>
      </p:grpSpPr>
      <p:sp>
        <p:nvSpPr>
          <p:cNvPr id="1419" name="Google Shape;1419;g61028e7a18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0" name="Google Shape;1420;g61028e7a18_0_2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In this presentation, we mainly focus on Fulva’s performance on YCSB under high skew setting and effectiveness of Fulva’s component. For the rest of the questions such as Fulva’s performance on low skew workload and TPC-C workload, you may refer to our paper</a:t>
            </a:r>
            <a:endParaRPr dirty="0"/>
          </a:p>
        </p:txBody>
      </p:sp>
    </p:spTree>
    <p:extLst>
      <p:ext uri="{BB962C8B-B14F-4D97-AF65-F5344CB8AC3E}">
        <p14:creationId xmlns:p14="http://schemas.microsoft.com/office/powerpoint/2010/main" val="31393137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4"/>
        <p:cNvGrpSpPr/>
        <p:nvPr/>
      </p:nvGrpSpPr>
      <p:grpSpPr>
        <a:xfrm>
          <a:off x="0" y="0"/>
          <a:ext cx="0" cy="0"/>
          <a:chOff x="0" y="0"/>
          <a:chExt cx="0" cy="0"/>
        </a:xfrm>
      </p:grpSpPr>
      <p:sp>
        <p:nvSpPr>
          <p:cNvPr id="1425" name="Google Shape;1425;g41c341d872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6" name="Google Shape;1426;g41c341d872_1_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We first show the throughput, median latency and tail latency of the three systems for YCSB-B under high skew setting. We can see that Fulva, the blue line, has the best performance that it has highest throughput and the lowest median and tail latency. One major concern is that a key-value store migration system may have high tail latency in high skew workload. Surprisingly, Fulva’s tail latency (!) during migration was much lower than the tail latency before migration, and it was also much lower than </a:t>
            </a:r>
            <a:r>
              <a:rPr lang="en-US" dirty="0" err="1"/>
              <a:t>RAMCloud</a:t>
            </a:r>
            <a:r>
              <a:rPr lang="en-US" dirty="0"/>
              <a:t> and </a:t>
            </a:r>
            <a:r>
              <a:rPr lang="en-US" dirty="0" err="1"/>
              <a:t>RockSteady’s</a:t>
            </a:r>
            <a:r>
              <a:rPr lang="en-US" dirty="0"/>
              <a:t> because Fulva offloads write request to destination, which makes source less overloaded, and always replies client the latest write value without an extra latency. In </a:t>
            </a:r>
            <a:r>
              <a:rPr lang="en-US" dirty="0" err="1"/>
              <a:t>constrast</a:t>
            </a:r>
            <a:r>
              <a:rPr lang="en-US" dirty="0"/>
              <a:t>, </a:t>
            </a:r>
            <a:r>
              <a:rPr lang="en-US" dirty="0" err="1"/>
              <a:t>RAMCLoud</a:t>
            </a:r>
            <a:r>
              <a:rPr lang="en-US" dirty="0"/>
              <a:t> migration causes source more overloaded and Rocksteady incurs an extra round trip latency between source and destination, which result in a high tail latency during migration.</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Besides, Fulva in YCSB-A (!) has even greater performance improvement comparing to Fulva in YCSB-B. Fulva in YCSB-A 's throughput increase more significantly when migration starts because for write-heavy workload, more client’s requests are offloaded from source to destination when migration starts, which implies source is even less overloaded.</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p:txBody>
      </p:sp>
    </p:spTree>
    <p:extLst>
      <p:ext uri="{BB962C8B-B14F-4D97-AF65-F5344CB8AC3E}">
        <p14:creationId xmlns:p14="http://schemas.microsoft.com/office/powerpoint/2010/main" val="267112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6"/>
        <p:cNvGrpSpPr/>
        <p:nvPr/>
      </p:nvGrpSpPr>
      <p:grpSpPr>
        <a:xfrm>
          <a:off x="0" y="0"/>
          <a:ext cx="0" cy="0"/>
          <a:chOff x="0" y="0"/>
          <a:chExt cx="0" cy="0"/>
        </a:xfrm>
      </p:grpSpPr>
      <p:sp>
        <p:nvSpPr>
          <p:cNvPr id="1467" name="Google Shape;1467;g6254bb81a6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8" name="Google Shape;1468;g6254bb81a6_0_2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On major concern about Fulva is that Fulva has notable extra bandwidth usage, which is the bandwidth usage for functions other than migrating the 20GB data. Fulva incurs extra bandwidth usage because of double read request and </a:t>
            </a:r>
            <a:r>
              <a:rPr lang="en-US" dirty="0" err="1"/>
              <a:t>sampPull</a:t>
            </a:r>
            <a:r>
              <a:rPr lang="en-US" dirty="0"/>
              <a:t>. Rocksteady incurs extra bandwidth usage because of the on demand pull for read request, and </a:t>
            </a:r>
            <a:r>
              <a:rPr lang="en-US" dirty="0" err="1"/>
              <a:t>RAMCloud</a:t>
            </a:r>
            <a:r>
              <a:rPr lang="en-US" dirty="0"/>
              <a:t> migration incurs extra bandwidth usage because source iteratively </a:t>
            </a:r>
            <a:r>
              <a:rPr lang="en-US" dirty="0" err="1"/>
              <a:t>compies</a:t>
            </a:r>
            <a:r>
              <a:rPr lang="en-US" dirty="0"/>
              <a:t> the updated tuple to </a:t>
            </a:r>
            <a:r>
              <a:rPr lang="en-US" dirty="0" err="1"/>
              <a:t>destionation</a:t>
            </a:r>
            <a:r>
              <a:rPr lang="en-US" dirty="0"/>
              <a:t>. Fulva and Rocksteady incurs twice (!) more total extra bandwidth usage than </a:t>
            </a:r>
            <a:r>
              <a:rPr lang="en-US" dirty="0" err="1"/>
              <a:t>RAMCloud</a:t>
            </a:r>
            <a:r>
              <a:rPr lang="en-US" dirty="0"/>
              <a:t>-migration because Fulva and Rocksteady have higher average throughput than </a:t>
            </a:r>
            <a:r>
              <a:rPr lang="en-US" dirty="0" err="1"/>
              <a:t>RAMCloud</a:t>
            </a:r>
            <a:r>
              <a:rPr lang="en-US" dirty="0"/>
              <a:t>-migration during migration so they handled twice more clients’ requests, result in higher total extra bandwidth usage.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To analyze (!) the extra bandwidth usage of the three systems, we look into their extra bandwidth usage per request. Thanks to MCR and </a:t>
            </a:r>
            <a:r>
              <a:rPr lang="en-US" dirty="0" err="1"/>
              <a:t>SampPull</a:t>
            </a:r>
            <a:r>
              <a:rPr lang="en-US" dirty="0"/>
              <a:t>, Fulva (!) does not use significantly more bandwidth usage per request than Rocksteady. Although Fulva and Rocksteady uses more extra bandwidth per request than </a:t>
            </a:r>
            <a:r>
              <a:rPr lang="en-US" dirty="0" err="1"/>
              <a:t>RAMCloud</a:t>
            </a:r>
            <a:r>
              <a:rPr lang="en-US" dirty="0"/>
              <a:t>-migration, </a:t>
            </a:r>
            <a:r>
              <a:rPr lang="en-US" dirty="0" err="1"/>
              <a:t>RAMCloud</a:t>
            </a:r>
            <a:r>
              <a:rPr lang="en-US" dirty="0"/>
              <a:t>-migration takes longer time (!) to do the migration because it makes source more overloaded so it has lower migration throughput than Fulva and </a:t>
            </a:r>
            <a:r>
              <a:rPr lang="en-US" dirty="0" err="1"/>
              <a:t>RockSteady</a:t>
            </a:r>
            <a:r>
              <a:rPr lang="en-US" dirty="0"/>
              <a:t>.</a:t>
            </a:r>
            <a:endParaRPr dirty="0"/>
          </a:p>
        </p:txBody>
      </p:sp>
    </p:spTree>
    <p:extLst>
      <p:ext uri="{BB962C8B-B14F-4D97-AF65-F5344CB8AC3E}">
        <p14:creationId xmlns:p14="http://schemas.microsoft.com/office/powerpoint/2010/main" val="25901743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Lastly, we show the effectiveness of Fulva’s MCR and </a:t>
            </a:r>
            <a:r>
              <a:rPr lang="en-US" dirty="0" err="1"/>
              <a:t>SampPull</a:t>
            </a:r>
            <a:r>
              <a:rPr lang="en-US" dirty="0"/>
              <a:t>, the left figure shows that MCR and </a:t>
            </a:r>
            <a:r>
              <a:rPr lang="en-US" dirty="0" err="1"/>
              <a:t>SampPull</a:t>
            </a:r>
            <a:r>
              <a:rPr lang="en-US" dirty="0"/>
              <a:t> is effective in reducing Fulva’s latency. </a:t>
            </a:r>
            <a:r>
              <a:rPr lang="en-US" altLang="zh-TW" dirty="0"/>
              <a:t>Our</a:t>
            </a:r>
            <a:r>
              <a:rPr lang="zh-TW" altLang="en-US" dirty="0"/>
              <a:t> </a:t>
            </a:r>
            <a:r>
              <a:rPr lang="en-US" altLang="zh-TW" dirty="0"/>
              <a:t>evaluation</a:t>
            </a:r>
            <a:r>
              <a:rPr lang="zh-TW" altLang="en-US" dirty="0"/>
              <a:t> </a:t>
            </a:r>
            <a:r>
              <a:rPr lang="en-US" altLang="zh-TW" dirty="0"/>
              <a:t>also</a:t>
            </a:r>
            <a:r>
              <a:rPr lang="zh-TW" altLang="en-US" dirty="0"/>
              <a:t> </a:t>
            </a:r>
            <a:r>
              <a:rPr lang="en-US" altLang="zh-TW" dirty="0"/>
              <a:t>shows</a:t>
            </a:r>
            <a:r>
              <a:rPr lang="zh-TW" altLang="en-US" dirty="0"/>
              <a:t> </a:t>
            </a:r>
            <a:r>
              <a:rPr lang="en-US" altLang="zh-TW" dirty="0"/>
              <a:t>that</a:t>
            </a:r>
            <a:r>
              <a:rPr lang="zh-TW" altLang="en-US" dirty="0"/>
              <a:t> </a:t>
            </a:r>
            <a:r>
              <a:rPr lang="en-US" dirty="0"/>
              <a:t>MCR and </a:t>
            </a:r>
            <a:r>
              <a:rPr lang="en-US" dirty="0" err="1"/>
              <a:t>SampPull</a:t>
            </a:r>
            <a:r>
              <a:rPr lang="en-US" altLang="zh-TW" dirty="0" err="1"/>
              <a:t>’s</a:t>
            </a:r>
            <a:r>
              <a:rPr lang="zh-TW" altLang="en-US" dirty="0"/>
              <a:t> </a:t>
            </a:r>
            <a:r>
              <a:rPr lang="en-US" altLang="zh-TW" dirty="0"/>
              <a:t>lookup</a:t>
            </a:r>
            <a:r>
              <a:rPr lang="zh-TW" altLang="en-US" dirty="0"/>
              <a:t> </a:t>
            </a:r>
            <a:r>
              <a:rPr lang="en-US" altLang="zh-TW" dirty="0"/>
              <a:t>latency</a:t>
            </a:r>
            <a:r>
              <a:rPr lang="zh-TW" altLang="en-US" dirty="0"/>
              <a:t> </a:t>
            </a:r>
            <a:r>
              <a:rPr lang="en-US" altLang="zh-TW" dirty="0"/>
              <a:t>is</a:t>
            </a:r>
            <a:r>
              <a:rPr lang="zh-TW" altLang="en-US" dirty="0"/>
              <a:t> </a:t>
            </a:r>
            <a:r>
              <a:rPr lang="en-US" altLang="zh-TW" dirty="0"/>
              <a:t>less</a:t>
            </a:r>
            <a:r>
              <a:rPr lang="zh-TW" altLang="en-US" dirty="0"/>
              <a:t> </a:t>
            </a:r>
            <a:r>
              <a:rPr lang="en-US" dirty="0"/>
              <a:t>than 0.18 microseconds, which is negligible. </a:t>
            </a:r>
            <a:r>
              <a:rPr lang="en-HK" dirty="0"/>
              <a:t>F</a:t>
            </a:r>
            <a:r>
              <a:rPr lang="en-HK" altLang="zh-TW" dirty="0"/>
              <a:t>or each client programme, the memory footprint of MCR and the </a:t>
            </a:r>
            <a:r>
              <a:rPr lang="en-HK" altLang="zh-TW" dirty="0" err="1"/>
              <a:t>SampPull</a:t>
            </a:r>
            <a:r>
              <a:rPr lang="en-HK" altLang="zh-TW" dirty="0"/>
              <a:t> Hashes table was up to 70 MB and decreased quickly during the migration. This is because </a:t>
            </a:r>
            <a:r>
              <a:rPr lang="en-US" altLang="zh-TW" sz="1400" dirty="0"/>
              <a:t>i</a:t>
            </a:r>
            <a:r>
              <a:rPr lang="en-US" sz="1400" dirty="0"/>
              <a:t>n the earlier phase of a migration, the SPH table is small. Besides, the lookup time and the memory footprint of MCR is always </a:t>
            </a:r>
            <a:r>
              <a:rPr lang="en-US" sz="1400" dirty="0" err="1"/>
              <a:t>neglible</a:t>
            </a:r>
            <a:r>
              <a:rPr lang="en-US" sz="1400" dirty="0"/>
              <a:t> during the entire migration. In the later phase of the migration, the MCR covers most keys, and the SPH table is trimmed because it only needs to contain the hot keys not covered by MCR.</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400" dirty="0"/>
              <a:t> </a:t>
            </a:r>
          </a:p>
          <a:p>
            <a:pPr algn="l"/>
            <a:endParaRPr lang="en-US" dirty="0"/>
          </a:p>
        </p:txBody>
      </p:sp>
    </p:spTree>
    <p:extLst>
      <p:ext uri="{BB962C8B-B14F-4D97-AF65-F5344CB8AC3E}">
        <p14:creationId xmlns:p14="http://schemas.microsoft.com/office/powerpoint/2010/main" val="25265860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to conclude, we present a near-optimal live migration technique, based on our source and destination hybrid-driven design. Fulva is applicable to the key value  store that has both clients and servers run in the same datacenter, which implies the key value store is  sensitive to workloads' skewness, and needs to enforce linearizability, These two requirements are common to all </a:t>
            </a:r>
            <a:r>
              <a:rPr lang="en-US" dirty="0" err="1"/>
              <a:t>exisiting</a:t>
            </a:r>
            <a:r>
              <a:rPr lang="en-US" dirty="0"/>
              <a:t> live migration approaches, such as Rocksteady and </a:t>
            </a:r>
            <a:r>
              <a:rPr lang="en-US" dirty="0" err="1"/>
              <a:t>Drtmb</a:t>
            </a:r>
            <a:r>
              <a:rPr lang="en-US" dirty="0"/>
              <a:t>. The example of these key value stores are </a:t>
            </a:r>
            <a:r>
              <a:rPr lang="en-US" dirty="0" err="1"/>
              <a:t>RAMCloud</a:t>
            </a:r>
            <a:r>
              <a:rPr lang="en-US" dirty="0"/>
              <a:t>, Redis and Mica etc. Our recent development on Fulva include integrating Fulva to more key value stores, such as Redis, other than </a:t>
            </a:r>
            <a:r>
              <a:rPr lang="en-US" dirty="0" err="1"/>
              <a:t>RAMCloud</a:t>
            </a:r>
            <a:r>
              <a:rPr lang="en-US" dirty="0"/>
              <a:t>. And Fulva’s source code can be found in this </a:t>
            </a:r>
            <a:r>
              <a:rPr lang="en-US" dirty="0" err="1"/>
              <a:t>github</a:t>
            </a:r>
            <a:r>
              <a:rPr lang="en-US" dirty="0"/>
              <a:t> link</a:t>
            </a:r>
          </a:p>
        </p:txBody>
      </p:sp>
    </p:spTree>
    <p:extLst>
      <p:ext uri="{BB962C8B-B14F-4D97-AF65-F5344CB8AC3E}">
        <p14:creationId xmlns:p14="http://schemas.microsoft.com/office/powerpoint/2010/main" val="21665473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7"/>
        <p:cNvGrpSpPr/>
        <p:nvPr/>
      </p:nvGrpSpPr>
      <p:grpSpPr>
        <a:xfrm>
          <a:off x="0" y="0"/>
          <a:ext cx="0" cy="0"/>
          <a:chOff x="0" y="0"/>
          <a:chExt cx="0" cy="0"/>
        </a:xfrm>
      </p:grpSpPr>
      <p:sp>
        <p:nvSpPr>
          <p:cNvPr id="1478" name="Google Shape;1478;g625fbb7380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9" name="Google Shape;1479;g625fbb7380_0_2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That's all about Fulva. Please feel free to ask questions</a:t>
            </a:r>
          </a:p>
          <a:p>
            <a:pPr marL="342900" lvl="0" indent="-342900" algn="l" rtl="0">
              <a:spcBef>
                <a:spcPts val="0"/>
              </a:spcBef>
              <a:spcAft>
                <a:spcPts val="0"/>
              </a:spcAft>
              <a:buFont typeface="+mj-lt"/>
              <a:buAutoNum type="arabicPeriod"/>
            </a:pPr>
            <a:r>
              <a:rPr lang="en-US" dirty="0"/>
              <a:t>What if no DPDK? Fulva can always also improve the key value store’s performance during migration, as long as the client-server/server-server network’s latency is similar. If the client-server network latency is large, for instance, the clients are outside the datacenter, the client-server network latency will dominate the end-to-end latency of the key-value store, so all live migration techniques tend to have the same performance</a:t>
            </a:r>
          </a:p>
          <a:p>
            <a:pPr marL="342900" lvl="0" indent="-342900" algn="l" rtl="0">
              <a:spcBef>
                <a:spcPts val="0"/>
              </a:spcBef>
              <a:spcAft>
                <a:spcPts val="0"/>
              </a:spcAft>
              <a:buFont typeface="+mj-lt"/>
              <a:buAutoNum type="arabicPeriod"/>
            </a:pPr>
            <a:r>
              <a:rPr lang="en-US" dirty="0"/>
              <a:t>What if client run outside? All live migration systems have similar performance. The KV store’s end-to-end performance will be less sensitive to live migration, depends on the difference between client-server/server-server network’s latency, the larger, the less sensitive. </a:t>
            </a:r>
          </a:p>
          <a:p>
            <a:pPr marL="342900" lvl="0" indent="-342900" algn="l" rtl="0">
              <a:spcBef>
                <a:spcPts val="0"/>
              </a:spcBef>
              <a:spcAft>
                <a:spcPts val="0"/>
              </a:spcAft>
              <a:buFont typeface="+mj-lt"/>
              <a:buAutoNum type="arabicPeriod"/>
            </a:pPr>
            <a:r>
              <a:rPr lang="en-US" dirty="0"/>
              <a:t>Fulva’s performance on low skew workload? We also have evaluated low skewed setting on YCSB. Fulva’s performance in low-skew workload similar as Fulva’s performance in high skew workload</a:t>
            </a:r>
          </a:p>
          <a:p>
            <a:pPr marL="342900" lvl="0" indent="-342900" algn="l" rtl="0">
              <a:spcBef>
                <a:spcPts val="0"/>
              </a:spcBef>
              <a:spcAft>
                <a:spcPts val="0"/>
              </a:spcAft>
              <a:buFont typeface="+mj-lt"/>
              <a:buAutoNum type="arabicPeriod"/>
            </a:pPr>
            <a:r>
              <a:rPr lang="en-US" dirty="0"/>
              <a:t>Is Fulva only applicable to linearizable KV store? Fulva can apply to non-linearizable KV store as well. One should note that ensuring linearizability is a challenge for live migration technique to improve a KV store’s performance. Without this challenge, the live migration mechanism can be much simpler</a:t>
            </a:r>
          </a:p>
          <a:p>
            <a:pPr marL="342900" lvl="0" indent="-342900" algn="l" rtl="0">
              <a:spcBef>
                <a:spcPts val="0"/>
              </a:spcBef>
              <a:spcAft>
                <a:spcPts val="0"/>
              </a:spcAft>
              <a:buFont typeface="+mj-lt"/>
              <a:buAutoNum type="arabicPeriod"/>
            </a:pPr>
            <a:r>
              <a:rPr lang="en-US" dirty="0"/>
              <a:t>Can Fulva apply to RDBMS? Although Fulva is designed for KV stores, Fulva is also applicable to RDBMS. However, Fulva may not be the optimal live migration technique for RDBMS because live migration techniques in RDBMS also consider the optimization technique for SQL such as functional dependency, while Fulva does not consider these optimizations.</a:t>
            </a:r>
          </a:p>
          <a:p>
            <a:pPr marL="342900" lvl="0" indent="-342900" algn="l" rtl="0">
              <a:spcBef>
                <a:spcPts val="0"/>
              </a:spcBef>
              <a:spcAft>
                <a:spcPts val="0"/>
              </a:spcAft>
              <a:buFont typeface="+mj-lt"/>
              <a:buAutoNum type="arabicPeriod"/>
            </a:pPr>
            <a:r>
              <a:rPr lang="en-US" dirty="0"/>
              <a:t>How do u overload the servers? We increase the number of client </a:t>
            </a:r>
            <a:r>
              <a:rPr lang="en-US" dirty="0" err="1"/>
              <a:t>programmes</a:t>
            </a:r>
            <a:r>
              <a:rPr lang="en-US" dirty="0"/>
              <a:t>, each client </a:t>
            </a:r>
            <a:r>
              <a:rPr lang="en-US" dirty="0" err="1"/>
              <a:t>programme</a:t>
            </a:r>
            <a:r>
              <a:rPr lang="en-US" dirty="0"/>
              <a:t> sends requests to servers with the same setting such as the key-space distribution. We stop increasing the number of clients until we observe the server’s throughput cannot further increase.</a:t>
            </a:r>
          </a:p>
          <a:p>
            <a:pPr marL="342900" lvl="0" indent="-342900" algn="l" rtl="0">
              <a:spcBef>
                <a:spcPts val="0"/>
              </a:spcBef>
              <a:spcAft>
                <a:spcPts val="0"/>
              </a:spcAft>
              <a:buFont typeface="+mj-lt"/>
              <a:buAutoNum type="arabicPeriod"/>
            </a:pPr>
            <a:r>
              <a:rPr lang="en-US" dirty="0"/>
              <a:t>Why the servers are overloaded, is it because of the hardware capacity? We found the reasons for the servers to be overloaded is because the software processing capability of </a:t>
            </a:r>
            <a:r>
              <a:rPr lang="en-US" dirty="0" err="1"/>
              <a:t>RAMCloud</a:t>
            </a:r>
            <a:r>
              <a:rPr lang="en-US" dirty="0"/>
              <a:t>. </a:t>
            </a:r>
            <a:r>
              <a:rPr lang="en-US" dirty="0" err="1"/>
              <a:t>RAMCloud</a:t>
            </a:r>
            <a:r>
              <a:rPr lang="en-US" dirty="0"/>
              <a:t> only uses one dispatch thread to receive client’s requests and assign those requests to idle worker threads. Therefore, when the number of clients increase, the dispatch thread is busier and the throughput of the </a:t>
            </a:r>
            <a:r>
              <a:rPr lang="en-US" dirty="0" err="1"/>
              <a:t>RAMCloud</a:t>
            </a:r>
            <a:r>
              <a:rPr lang="en-US" dirty="0"/>
              <a:t> server reach the peak</a:t>
            </a:r>
          </a:p>
          <a:p>
            <a:pPr marL="342900" lvl="0" indent="-342900" algn="l" rtl="0">
              <a:spcBef>
                <a:spcPts val="0"/>
              </a:spcBef>
              <a:spcAft>
                <a:spcPts val="0"/>
              </a:spcAft>
              <a:buFont typeface="+mj-lt"/>
              <a:buAutoNum type="arabicPeriod"/>
            </a:pPr>
            <a:r>
              <a:rPr lang="en-US" dirty="0"/>
              <a:t>Why only evaluate YCSB-A and YCSB-B but not others? We follow the evaluation setting of the latest two works, Rocksteady and </a:t>
            </a:r>
            <a:r>
              <a:rPr lang="en-US" dirty="0" err="1"/>
              <a:t>Drtmb</a:t>
            </a:r>
            <a:endParaRPr lang="en-US" dirty="0"/>
          </a:p>
          <a:p>
            <a:pPr marL="342900" lvl="0" indent="-342900" algn="l" rtl="0">
              <a:spcBef>
                <a:spcPts val="0"/>
              </a:spcBef>
              <a:spcAft>
                <a:spcPts val="0"/>
              </a:spcAft>
              <a:buFont typeface="+mj-lt"/>
              <a:buAutoNum type="arabicPeriod"/>
            </a:pPr>
            <a:r>
              <a:rPr lang="en-US" dirty="0"/>
              <a:t>How many clients are used in the evaluation:  8 clients, with 4 microseconds latency between server and clients</a:t>
            </a:r>
          </a:p>
          <a:p>
            <a:pPr marL="342900" lvl="0" indent="-342900" algn="l" rtl="0">
              <a:spcBef>
                <a:spcPts val="0"/>
              </a:spcBef>
              <a:spcAft>
                <a:spcPts val="0"/>
              </a:spcAft>
              <a:buFont typeface="+mj-lt"/>
              <a:buAutoNum type="arabicPeriod"/>
            </a:pPr>
            <a:r>
              <a:rPr lang="en-US" dirty="0"/>
              <a:t>How is Fulva’s performance on read-only workload? Fulva is still the most efficient live migration system. Fulva is more efficient than source-driven approach because by using Fulva, more tuples are offloaded to destination as migration </a:t>
            </a:r>
            <a:r>
              <a:rPr lang="en-US" dirty="0" err="1"/>
              <a:t>preceeds</a:t>
            </a:r>
            <a:r>
              <a:rPr lang="en-US" dirty="0"/>
              <a:t>, so source’s load is reduced. Moreover, Fulva is more efficient than destination driven approach because Fulva does not incur extra round-trip latency between source and destination.</a:t>
            </a:r>
          </a:p>
          <a:p>
            <a:pPr marL="342900" lvl="0" indent="-342900" algn="l" rtl="0">
              <a:spcBef>
                <a:spcPts val="0"/>
              </a:spcBef>
              <a:spcAft>
                <a:spcPts val="0"/>
              </a:spcAft>
              <a:buFont typeface="+mj-lt"/>
              <a:buAutoNum type="arabicPeriod"/>
            </a:pPr>
            <a:r>
              <a:rPr lang="en-US" dirty="0"/>
              <a:t>Does Fulva has any fault-tolerance mechanism? Yes, Fulva’s fault tolerance mechanism is the same as Rocksteady’s, which relies on server called coordinator to record which tuples have been migrated to destination.</a:t>
            </a:r>
          </a:p>
          <a:p>
            <a:pPr marL="342900" lvl="0" indent="-342900" algn="l" rtl="0">
              <a:spcBef>
                <a:spcPts val="0"/>
              </a:spcBef>
              <a:spcAft>
                <a:spcPts val="0"/>
              </a:spcAft>
              <a:buFont typeface="+mj-lt"/>
              <a:buAutoNum type="arabicPeriod"/>
            </a:pPr>
            <a:r>
              <a:rPr lang="en-US" dirty="0"/>
              <a:t>SPH MCR Data per client? SPH and MCR are maintained in each RPC client’s library</a:t>
            </a:r>
          </a:p>
          <a:p>
            <a:pPr marL="342900" lvl="0" indent="-342900" algn="l" rtl="0">
              <a:spcBef>
                <a:spcPts val="0"/>
              </a:spcBef>
              <a:spcAft>
                <a:spcPts val="0"/>
              </a:spcAft>
              <a:buFont typeface="+mj-lt"/>
              <a:buAutoNum type="arabicPeriod"/>
            </a:pPr>
            <a:r>
              <a:rPr lang="en-US" dirty="0"/>
              <a:t>How to compare with </a:t>
            </a:r>
            <a:r>
              <a:rPr lang="en-US" dirty="0" err="1"/>
              <a:t>Drtmb</a:t>
            </a:r>
            <a:r>
              <a:rPr lang="en-US" dirty="0"/>
              <a:t>? Backup is not synchronized with primary &amp;  our performance is better based on the paper</a:t>
            </a:r>
          </a:p>
          <a:p>
            <a:pPr marL="342900" lvl="0" indent="-342900" algn="l" rtl="0">
              <a:spcBef>
                <a:spcPts val="0"/>
              </a:spcBef>
              <a:spcAft>
                <a:spcPts val="0"/>
              </a:spcAft>
              <a:buFont typeface="+mj-lt"/>
              <a:buAutoNum type="arabicPeriod"/>
            </a:pPr>
            <a:endParaRPr lang="en-US" dirty="0"/>
          </a:p>
          <a:p>
            <a:pPr marL="800100" lvl="1" indent="-342900" algn="l" rtl="0">
              <a:spcBef>
                <a:spcPts val="0"/>
              </a:spcBef>
              <a:spcAft>
                <a:spcPts val="0"/>
              </a:spcAft>
              <a:buFont typeface="+mj-lt"/>
              <a:buAutoNum type="arabicPeriod"/>
            </a:pPr>
            <a:endParaRPr lang="en-US" dirty="0"/>
          </a:p>
          <a:p>
            <a:pPr marL="285750" lvl="0" indent="-285750" algn="l" rtl="0">
              <a:spcBef>
                <a:spcPts val="0"/>
              </a:spcBef>
              <a:spcAft>
                <a:spcPts val="0"/>
              </a:spcAft>
              <a:buFontTx/>
              <a:buChar char="-"/>
            </a:pPr>
            <a:endParaRPr lang="en-US" dirty="0"/>
          </a:p>
          <a:p>
            <a:pPr marL="285750" lvl="0" indent="-285750" algn="l" rtl="0">
              <a:spcBef>
                <a:spcPts val="0"/>
              </a:spcBef>
              <a:spcAft>
                <a:spcPts val="0"/>
              </a:spcAft>
              <a:buFontTx/>
              <a:buChar char="-"/>
            </a:pPr>
            <a:endParaRPr lang="en-US" dirty="0"/>
          </a:p>
          <a:p>
            <a:pPr marL="285750" lvl="0" indent="-285750" algn="l" rtl="0">
              <a:spcBef>
                <a:spcPts val="0"/>
              </a:spcBef>
              <a:spcAft>
                <a:spcPts val="0"/>
              </a:spcAft>
              <a:buFontTx/>
              <a:buChar char="-"/>
            </a:pPr>
            <a:endParaRPr lang="en-US" dirty="0"/>
          </a:p>
        </p:txBody>
      </p:sp>
    </p:spTree>
    <p:extLst>
      <p:ext uri="{BB962C8B-B14F-4D97-AF65-F5344CB8AC3E}">
        <p14:creationId xmlns:p14="http://schemas.microsoft.com/office/powerpoint/2010/main" val="42748612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4"/>
        <p:cNvGrpSpPr/>
        <p:nvPr/>
      </p:nvGrpSpPr>
      <p:grpSpPr>
        <a:xfrm>
          <a:off x="0" y="0"/>
          <a:ext cx="0" cy="0"/>
          <a:chOff x="0" y="0"/>
          <a:chExt cx="0" cy="0"/>
        </a:xfrm>
      </p:grpSpPr>
      <p:sp>
        <p:nvSpPr>
          <p:cNvPr id="1425" name="Google Shape;1425;g41c341d872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6" name="Google Shape;1426;g41c341d872_1_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Similar to High Skew workload, Fulva's performance during migration is better than before </a:t>
            </a:r>
            <a:r>
              <a:rPr lang="en-US" dirty="0" err="1"/>
              <a:t>migraion's</a:t>
            </a:r>
            <a:r>
              <a:rPr lang="en-US" dirty="0"/>
              <a:t>. Moreover, Fulva is also the most efficient system among the three evaluated systems. Therefore, Fulva's performance is insensitive to workload's skewness</a:t>
            </a:r>
            <a:endParaRPr dirty="0"/>
          </a:p>
        </p:txBody>
      </p:sp>
    </p:spTree>
    <p:extLst>
      <p:ext uri="{BB962C8B-B14F-4D97-AF65-F5344CB8AC3E}">
        <p14:creationId xmlns:p14="http://schemas.microsoft.com/office/powerpoint/2010/main" val="227963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311708" y="744574"/>
            <a:ext cx="8520601" cy="20526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5200"/>
              <a:buFont typeface="Arial"/>
              <a:buNone/>
              <a:defRPr sz="52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11" name="Google Shape;11;p29"/>
          <p:cNvSpPr txBox="1">
            <a:spLocks noGrp="1"/>
          </p:cNvSpPr>
          <p:nvPr>
            <p:ph type="body" idx="1"/>
          </p:nvPr>
        </p:nvSpPr>
        <p:spPr>
          <a:xfrm>
            <a:off x="311699" y="2834125"/>
            <a:ext cx="8520602" cy="7926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2800"/>
              <a:buFont typeface="Arial"/>
              <a:buNone/>
              <a:defRPr sz="2800"/>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12" name="Google Shape;12;p29"/>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spAutoFit/>
          </a:bodyPr>
          <a:lstStyle>
            <a:lvl1pPr marL="0" lvl="0" indent="0" algn="r">
              <a:lnSpc>
                <a:spcPct val="100000"/>
              </a:lnSpc>
              <a:spcBef>
                <a:spcPts val="0"/>
              </a:spcBef>
              <a:spcAft>
                <a:spcPts val="0"/>
              </a:spcAft>
              <a:buClr>
                <a:srgbClr val="585858"/>
              </a:buClr>
              <a:buSzPts val="1000"/>
              <a:buFont typeface="Arial"/>
              <a:buNone/>
              <a:defRPr sz="1000">
                <a:solidFill>
                  <a:srgbClr val="585858"/>
                </a:solidFill>
              </a:defRPr>
            </a:lvl1pPr>
            <a:lvl2pPr marL="0" lvl="1" indent="0" algn="r">
              <a:lnSpc>
                <a:spcPct val="100000"/>
              </a:lnSpc>
              <a:spcBef>
                <a:spcPts val="0"/>
              </a:spcBef>
              <a:spcAft>
                <a:spcPts val="0"/>
              </a:spcAft>
              <a:buClr>
                <a:srgbClr val="585858"/>
              </a:buClr>
              <a:buSzPts val="1000"/>
              <a:buFont typeface="Arial"/>
              <a:buNone/>
              <a:defRPr sz="1000">
                <a:solidFill>
                  <a:srgbClr val="585858"/>
                </a:solidFill>
              </a:defRPr>
            </a:lvl2pPr>
            <a:lvl3pPr marL="0" lvl="2" indent="0" algn="r">
              <a:lnSpc>
                <a:spcPct val="100000"/>
              </a:lnSpc>
              <a:spcBef>
                <a:spcPts val="0"/>
              </a:spcBef>
              <a:spcAft>
                <a:spcPts val="0"/>
              </a:spcAft>
              <a:buClr>
                <a:srgbClr val="585858"/>
              </a:buClr>
              <a:buSzPts val="1000"/>
              <a:buFont typeface="Arial"/>
              <a:buNone/>
              <a:defRPr sz="1000">
                <a:solidFill>
                  <a:srgbClr val="585858"/>
                </a:solidFill>
              </a:defRPr>
            </a:lvl3pPr>
            <a:lvl4pPr marL="0" lvl="3" indent="0" algn="r">
              <a:lnSpc>
                <a:spcPct val="100000"/>
              </a:lnSpc>
              <a:spcBef>
                <a:spcPts val="0"/>
              </a:spcBef>
              <a:spcAft>
                <a:spcPts val="0"/>
              </a:spcAft>
              <a:buClr>
                <a:srgbClr val="585858"/>
              </a:buClr>
              <a:buSzPts val="1000"/>
              <a:buFont typeface="Arial"/>
              <a:buNone/>
              <a:defRPr sz="1000">
                <a:solidFill>
                  <a:srgbClr val="585858"/>
                </a:solidFill>
              </a:defRPr>
            </a:lvl4pPr>
            <a:lvl5pPr marL="0" lvl="4" indent="0" algn="r">
              <a:lnSpc>
                <a:spcPct val="100000"/>
              </a:lnSpc>
              <a:spcBef>
                <a:spcPts val="0"/>
              </a:spcBef>
              <a:spcAft>
                <a:spcPts val="0"/>
              </a:spcAft>
              <a:buClr>
                <a:srgbClr val="585858"/>
              </a:buClr>
              <a:buSzPts val="1000"/>
              <a:buFont typeface="Arial"/>
              <a:buNone/>
              <a:defRPr sz="1000">
                <a:solidFill>
                  <a:srgbClr val="585858"/>
                </a:solidFill>
              </a:defRPr>
            </a:lvl5pPr>
            <a:lvl6pPr marL="0" lvl="5" indent="0" algn="r">
              <a:lnSpc>
                <a:spcPct val="100000"/>
              </a:lnSpc>
              <a:spcBef>
                <a:spcPts val="0"/>
              </a:spcBef>
              <a:spcAft>
                <a:spcPts val="0"/>
              </a:spcAft>
              <a:buClr>
                <a:srgbClr val="585858"/>
              </a:buClr>
              <a:buSzPts val="1000"/>
              <a:buFont typeface="Arial"/>
              <a:buNone/>
              <a:defRPr sz="1000">
                <a:solidFill>
                  <a:srgbClr val="585858"/>
                </a:solidFill>
              </a:defRPr>
            </a:lvl6pPr>
            <a:lvl7pPr marL="0" lvl="6" indent="0" algn="r">
              <a:lnSpc>
                <a:spcPct val="100000"/>
              </a:lnSpc>
              <a:spcBef>
                <a:spcPts val="0"/>
              </a:spcBef>
              <a:spcAft>
                <a:spcPts val="0"/>
              </a:spcAft>
              <a:buClr>
                <a:srgbClr val="585858"/>
              </a:buClr>
              <a:buSzPts val="1000"/>
              <a:buFont typeface="Arial"/>
              <a:buNone/>
              <a:defRPr sz="1000">
                <a:solidFill>
                  <a:srgbClr val="585858"/>
                </a:solidFill>
              </a:defRPr>
            </a:lvl7pPr>
            <a:lvl8pPr marL="0" lvl="7" indent="0" algn="r">
              <a:lnSpc>
                <a:spcPct val="100000"/>
              </a:lnSpc>
              <a:spcBef>
                <a:spcPts val="0"/>
              </a:spcBef>
              <a:spcAft>
                <a:spcPts val="0"/>
              </a:spcAft>
              <a:buClr>
                <a:srgbClr val="585858"/>
              </a:buClr>
              <a:buSzPts val="1000"/>
              <a:buFont typeface="Arial"/>
              <a:buNone/>
              <a:defRPr sz="1000">
                <a:solidFill>
                  <a:srgbClr val="585858"/>
                </a:solidFill>
              </a:defRPr>
            </a:lvl8pPr>
            <a:lvl9pPr marL="0" lvl="8" indent="0" algn="r">
              <a:lnSpc>
                <a:spcPct val="100000"/>
              </a:lnSpc>
              <a:spcBef>
                <a:spcPts val="0"/>
              </a:spcBef>
              <a:spcAft>
                <a:spcPts val="0"/>
              </a:spcAft>
              <a:buClr>
                <a:srgbClr val="585858"/>
              </a:buClr>
              <a:buSzPts val="1000"/>
              <a:buFont typeface="Arial"/>
              <a:buNone/>
              <a:defRPr sz="1000">
                <a:solidFill>
                  <a:srgbClr val="58585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_AND_BODY" type="tx">
  <p:cSld name="TITLE_AND_BODY">
    <p:spTree>
      <p:nvGrpSpPr>
        <p:cNvPr id="1" name="Shape 13"/>
        <p:cNvGrpSpPr/>
        <p:nvPr/>
      </p:nvGrpSpPr>
      <p:grpSpPr>
        <a:xfrm>
          <a:off x="0" y="0"/>
          <a:ext cx="0" cy="0"/>
          <a:chOff x="0" y="0"/>
          <a:chExt cx="0" cy="0"/>
        </a:xfrm>
      </p:grpSpPr>
      <p:sp>
        <p:nvSpPr>
          <p:cNvPr id="14" name="Google Shape;14;p30"/>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15" name="Google Shape;15;p30"/>
          <p:cNvSpPr txBox="1">
            <a:spLocks noGrp="1"/>
          </p:cNvSpPr>
          <p:nvPr>
            <p:ph type="body" idx="1"/>
          </p:nvPr>
        </p:nvSpPr>
        <p:spPr>
          <a:xfrm>
            <a:off x="311699" y="1152475"/>
            <a:ext cx="8520602" cy="3416400"/>
          </a:xfrm>
          <a:prstGeom prst="rect">
            <a:avLst/>
          </a:prstGeom>
          <a:noFill/>
          <a:ln>
            <a:noFill/>
          </a:ln>
        </p:spPr>
        <p:txBody>
          <a:bodyPr spcFirstLastPara="1" wrap="square" lIns="91400" tIns="91400" rIns="91400" bIns="91400"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16" name="Google Shape;16;p30"/>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spAutoFit/>
          </a:bodyPr>
          <a:lstStyle>
            <a:lvl1pPr marL="0" lvl="0" indent="0" algn="r">
              <a:lnSpc>
                <a:spcPct val="100000"/>
              </a:lnSpc>
              <a:spcBef>
                <a:spcPts val="0"/>
              </a:spcBef>
              <a:spcAft>
                <a:spcPts val="0"/>
              </a:spcAft>
              <a:buClr>
                <a:srgbClr val="585858"/>
              </a:buClr>
              <a:buSzPts val="1000"/>
              <a:buFont typeface="Arial"/>
              <a:buNone/>
              <a:defRPr sz="1000">
                <a:solidFill>
                  <a:srgbClr val="585858"/>
                </a:solidFill>
              </a:defRPr>
            </a:lvl1pPr>
            <a:lvl2pPr marL="0" lvl="1" indent="0" algn="r">
              <a:lnSpc>
                <a:spcPct val="100000"/>
              </a:lnSpc>
              <a:spcBef>
                <a:spcPts val="0"/>
              </a:spcBef>
              <a:spcAft>
                <a:spcPts val="0"/>
              </a:spcAft>
              <a:buClr>
                <a:srgbClr val="585858"/>
              </a:buClr>
              <a:buSzPts val="1000"/>
              <a:buFont typeface="Arial"/>
              <a:buNone/>
              <a:defRPr sz="1000">
                <a:solidFill>
                  <a:srgbClr val="585858"/>
                </a:solidFill>
              </a:defRPr>
            </a:lvl2pPr>
            <a:lvl3pPr marL="0" lvl="2" indent="0" algn="r">
              <a:lnSpc>
                <a:spcPct val="100000"/>
              </a:lnSpc>
              <a:spcBef>
                <a:spcPts val="0"/>
              </a:spcBef>
              <a:spcAft>
                <a:spcPts val="0"/>
              </a:spcAft>
              <a:buClr>
                <a:srgbClr val="585858"/>
              </a:buClr>
              <a:buSzPts val="1000"/>
              <a:buFont typeface="Arial"/>
              <a:buNone/>
              <a:defRPr sz="1000">
                <a:solidFill>
                  <a:srgbClr val="585858"/>
                </a:solidFill>
              </a:defRPr>
            </a:lvl3pPr>
            <a:lvl4pPr marL="0" lvl="3" indent="0" algn="r">
              <a:lnSpc>
                <a:spcPct val="100000"/>
              </a:lnSpc>
              <a:spcBef>
                <a:spcPts val="0"/>
              </a:spcBef>
              <a:spcAft>
                <a:spcPts val="0"/>
              </a:spcAft>
              <a:buClr>
                <a:srgbClr val="585858"/>
              </a:buClr>
              <a:buSzPts val="1000"/>
              <a:buFont typeface="Arial"/>
              <a:buNone/>
              <a:defRPr sz="1000">
                <a:solidFill>
                  <a:srgbClr val="585858"/>
                </a:solidFill>
              </a:defRPr>
            </a:lvl4pPr>
            <a:lvl5pPr marL="0" lvl="4" indent="0" algn="r">
              <a:lnSpc>
                <a:spcPct val="100000"/>
              </a:lnSpc>
              <a:spcBef>
                <a:spcPts val="0"/>
              </a:spcBef>
              <a:spcAft>
                <a:spcPts val="0"/>
              </a:spcAft>
              <a:buClr>
                <a:srgbClr val="585858"/>
              </a:buClr>
              <a:buSzPts val="1000"/>
              <a:buFont typeface="Arial"/>
              <a:buNone/>
              <a:defRPr sz="1000">
                <a:solidFill>
                  <a:srgbClr val="585858"/>
                </a:solidFill>
              </a:defRPr>
            </a:lvl5pPr>
            <a:lvl6pPr marL="0" lvl="5" indent="0" algn="r">
              <a:lnSpc>
                <a:spcPct val="100000"/>
              </a:lnSpc>
              <a:spcBef>
                <a:spcPts val="0"/>
              </a:spcBef>
              <a:spcAft>
                <a:spcPts val="0"/>
              </a:spcAft>
              <a:buClr>
                <a:srgbClr val="585858"/>
              </a:buClr>
              <a:buSzPts val="1000"/>
              <a:buFont typeface="Arial"/>
              <a:buNone/>
              <a:defRPr sz="1000">
                <a:solidFill>
                  <a:srgbClr val="585858"/>
                </a:solidFill>
              </a:defRPr>
            </a:lvl6pPr>
            <a:lvl7pPr marL="0" lvl="6" indent="0" algn="r">
              <a:lnSpc>
                <a:spcPct val="100000"/>
              </a:lnSpc>
              <a:spcBef>
                <a:spcPts val="0"/>
              </a:spcBef>
              <a:spcAft>
                <a:spcPts val="0"/>
              </a:spcAft>
              <a:buClr>
                <a:srgbClr val="585858"/>
              </a:buClr>
              <a:buSzPts val="1000"/>
              <a:buFont typeface="Arial"/>
              <a:buNone/>
              <a:defRPr sz="1000">
                <a:solidFill>
                  <a:srgbClr val="585858"/>
                </a:solidFill>
              </a:defRPr>
            </a:lvl7pPr>
            <a:lvl8pPr marL="0" lvl="7" indent="0" algn="r">
              <a:lnSpc>
                <a:spcPct val="100000"/>
              </a:lnSpc>
              <a:spcBef>
                <a:spcPts val="0"/>
              </a:spcBef>
              <a:spcAft>
                <a:spcPts val="0"/>
              </a:spcAft>
              <a:buClr>
                <a:srgbClr val="585858"/>
              </a:buClr>
              <a:buSzPts val="1000"/>
              <a:buFont typeface="Arial"/>
              <a:buNone/>
              <a:defRPr sz="1000">
                <a:solidFill>
                  <a:srgbClr val="585858"/>
                </a:solidFill>
              </a:defRPr>
            </a:lvl8pPr>
            <a:lvl9pPr marL="0" lvl="8" indent="0" algn="r">
              <a:lnSpc>
                <a:spcPct val="100000"/>
              </a:lnSpc>
              <a:spcBef>
                <a:spcPts val="0"/>
              </a:spcBef>
              <a:spcAft>
                <a:spcPts val="0"/>
              </a:spcAft>
              <a:buClr>
                <a:srgbClr val="585858"/>
              </a:buClr>
              <a:buSzPts val="1000"/>
              <a:buFont typeface="Arial"/>
              <a:buNone/>
              <a:defRPr sz="1000">
                <a:solidFill>
                  <a:srgbClr val="58585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p:cSld name="TITLE 2">
    <p:spTree>
      <p:nvGrpSpPr>
        <p:cNvPr id="1" name="Shape 17"/>
        <p:cNvGrpSpPr/>
        <p:nvPr/>
      </p:nvGrpSpPr>
      <p:grpSpPr>
        <a:xfrm>
          <a:off x="0" y="0"/>
          <a:ext cx="0" cy="0"/>
          <a:chOff x="0" y="0"/>
          <a:chExt cx="0" cy="0"/>
        </a:xfrm>
      </p:grpSpPr>
      <p:sp>
        <p:nvSpPr>
          <p:cNvPr id="18" name="Google Shape;18;p31"/>
          <p:cNvSpPr txBox="1">
            <a:spLocks noGrp="1"/>
          </p:cNvSpPr>
          <p:nvPr>
            <p:ph type="title"/>
          </p:nvPr>
        </p:nvSpPr>
        <p:spPr>
          <a:xfrm>
            <a:off x="1143000" y="841771"/>
            <a:ext cx="6858000" cy="1790701"/>
          </a:xfrm>
          <a:prstGeom prst="rect">
            <a:avLst/>
          </a:prstGeom>
          <a:noFill/>
          <a:ln>
            <a:noFill/>
          </a:ln>
        </p:spPr>
        <p:txBody>
          <a:bodyPr spcFirstLastPara="1" wrap="square" lIns="34275" tIns="34275" rIns="34275" bIns="34275" anchor="b" anchorCtr="0">
            <a:normAutofit/>
          </a:bodyPr>
          <a:lstStyle>
            <a:lvl1pPr lvl="0" algn="ctr">
              <a:lnSpc>
                <a:spcPct val="90000"/>
              </a:lnSpc>
              <a:spcBef>
                <a:spcPts val="0"/>
              </a:spcBef>
              <a:spcAft>
                <a:spcPts val="0"/>
              </a:spcAft>
              <a:buClr>
                <a:srgbClr val="000000"/>
              </a:buClr>
              <a:buSzPts val="4500"/>
              <a:buFont typeface="Calibri"/>
              <a:buNone/>
              <a:defRPr sz="4500">
                <a:latin typeface="Calibri"/>
                <a:ea typeface="Calibri"/>
                <a:cs typeface="Calibri"/>
                <a:sym typeface="Calibri"/>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19" name="Google Shape;19;p31"/>
          <p:cNvSpPr txBox="1">
            <a:spLocks noGrp="1"/>
          </p:cNvSpPr>
          <p:nvPr>
            <p:ph type="body" idx="1"/>
          </p:nvPr>
        </p:nvSpPr>
        <p:spPr>
          <a:xfrm>
            <a:off x="1143000" y="2701527"/>
            <a:ext cx="6858000" cy="1241701"/>
          </a:xfrm>
          <a:prstGeom prst="rect">
            <a:avLst/>
          </a:prstGeom>
          <a:noFill/>
          <a:ln>
            <a:noFill/>
          </a:ln>
        </p:spPr>
        <p:txBody>
          <a:bodyPr spcFirstLastPara="1" wrap="square" lIns="34275" tIns="34275" rIns="34275" bIns="34275" anchor="t" anchorCtr="0">
            <a:normAutofit/>
          </a:bodyPr>
          <a:lstStyle>
            <a:lvl1pPr marL="457200" lvl="0" indent="-228600" algn="ctr">
              <a:lnSpc>
                <a:spcPct val="90000"/>
              </a:lnSpc>
              <a:spcBef>
                <a:spcPts val="800"/>
              </a:spcBef>
              <a:spcAft>
                <a:spcPts val="0"/>
              </a:spcAft>
              <a:buClr>
                <a:srgbClr val="000000"/>
              </a:buClr>
              <a:buSzPts val="1800"/>
              <a:buFont typeface="Calibri"/>
              <a:buNone/>
              <a:defRPr>
                <a:solidFill>
                  <a:srgbClr val="000000"/>
                </a:solidFill>
                <a:latin typeface="Calibri"/>
                <a:ea typeface="Calibri"/>
                <a:cs typeface="Calibri"/>
                <a:sym typeface="Calibri"/>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20" name="Google Shape;20;p31"/>
          <p:cNvSpPr txBox="1">
            <a:spLocks noGrp="1"/>
          </p:cNvSpPr>
          <p:nvPr>
            <p:ph type="sldNum" idx="12"/>
          </p:nvPr>
        </p:nvSpPr>
        <p:spPr>
          <a:xfrm>
            <a:off x="8318237" y="4800087"/>
            <a:ext cx="197114"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p:cSld name="TITLE 3">
    <p:spTree>
      <p:nvGrpSpPr>
        <p:cNvPr id="1" name="Shape 21"/>
        <p:cNvGrpSpPr/>
        <p:nvPr/>
      </p:nvGrpSpPr>
      <p:grpSpPr>
        <a:xfrm>
          <a:off x="0" y="0"/>
          <a:ext cx="0" cy="0"/>
          <a:chOff x="0" y="0"/>
          <a:chExt cx="0" cy="0"/>
        </a:xfrm>
      </p:grpSpPr>
      <p:sp>
        <p:nvSpPr>
          <p:cNvPr id="22" name="Google Shape;22;p32"/>
          <p:cNvSpPr txBox="1">
            <a:spLocks noGrp="1"/>
          </p:cNvSpPr>
          <p:nvPr>
            <p:ph type="title"/>
          </p:nvPr>
        </p:nvSpPr>
        <p:spPr>
          <a:xfrm>
            <a:off x="1143000" y="841771"/>
            <a:ext cx="6858000" cy="1790701"/>
          </a:xfrm>
          <a:prstGeom prst="rect">
            <a:avLst/>
          </a:prstGeom>
          <a:noFill/>
          <a:ln>
            <a:noFill/>
          </a:ln>
        </p:spPr>
        <p:txBody>
          <a:bodyPr spcFirstLastPara="1" wrap="square" lIns="34275" tIns="34275" rIns="34275" bIns="34275" anchor="b" anchorCtr="0">
            <a:normAutofit/>
          </a:bodyPr>
          <a:lstStyle>
            <a:lvl1pPr lvl="0" algn="ctr">
              <a:lnSpc>
                <a:spcPct val="90000"/>
              </a:lnSpc>
              <a:spcBef>
                <a:spcPts val="0"/>
              </a:spcBef>
              <a:spcAft>
                <a:spcPts val="0"/>
              </a:spcAft>
              <a:buClr>
                <a:srgbClr val="000000"/>
              </a:buClr>
              <a:buSzPts val="4500"/>
              <a:buFont typeface="Calibri"/>
              <a:buNone/>
              <a:defRPr sz="4500">
                <a:latin typeface="Calibri"/>
                <a:ea typeface="Calibri"/>
                <a:cs typeface="Calibri"/>
                <a:sym typeface="Calibri"/>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23" name="Google Shape;23;p32"/>
          <p:cNvSpPr txBox="1">
            <a:spLocks noGrp="1"/>
          </p:cNvSpPr>
          <p:nvPr>
            <p:ph type="body" idx="1"/>
          </p:nvPr>
        </p:nvSpPr>
        <p:spPr>
          <a:xfrm>
            <a:off x="1143000" y="2701527"/>
            <a:ext cx="6858000" cy="1241701"/>
          </a:xfrm>
          <a:prstGeom prst="rect">
            <a:avLst/>
          </a:prstGeom>
          <a:noFill/>
          <a:ln>
            <a:noFill/>
          </a:ln>
        </p:spPr>
        <p:txBody>
          <a:bodyPr spcFirstLastPara="1" wrap="square" lIns="34275" tIns="34275" rIns="34275" bIns="34275" anchor="t" anchorCtr="0">
            <a:normAutofit/>
          </a:bodyPr>
          <a:lstStyle>
            <a:lvl1pPr marL="457200" lvl="0" indent="-228600" algn="ctr">
              <a:lnSpc>
                <a:spcPct val="90000"/>
              </a:lnSpc>
              <a:spcBef>
                <a:spcPts val="800"/>
              </a:spcBef>
              <a:spcAft>
                <a:spcPts val="0"/>
              </a:spcAft>
              <a:buClr>
                <a:srgbClr val="000000"/>
              </a:buClr>
              <a:buSzPts val="1800"/>
              <a:buFont typeface="Calibri"/>
              <a:buNone/>
              <a:defRPr>
                <a:solidFill>
                  <a:srgbClr val="000000"/>
                </a:solidFill>
                <a:latin typeface="Calibri"/>
                <a:ea typeface="Calibri"/>
                <a:cs typeface="Calibri"/>
                <a:sym typeface="Calibri"/>
              </a:defRPr>
            </a:lvl1pPr>
            <a:lvl2pPr marL="914400" lvl="1" indent="-228600" algn="ctr">
              <a:lnSpc>
                <a:spcPct val="90000"/>
              </a:lnSpc>
              <a:spcBef>
                <a:spcPts val="800"/>
              </a:spcBef>
              <a:spcAft>
                <a:spcPts val="0"/>
              </a:spcAft>
              <a:buClr>
                <a:srgbClr val="000000"/>
              </a:buClr>
              <a:buSzPts val="1800"/>
              <a:buFont typeface="Calibri"/>
              <a:buNone/>
              <a:defRPr>
                <a:solidFill>
                  <a:srgbClr val="000000"/>
                </a:solidFill>
                <a:latin typeface="Calibri"/>
                <a:ea typeface="Calibri"/>
                <a:cs typeface="Calibri"/>
                <a:sym typeface="Calibri"/>
              </a:defRPr>
            </a:lvl2pPr>
            <a:lvl3pPr marL="1371600" lvl="2" indent="-228600" algn="ctr">
              <a:lnSpc>
                <a:spcPct val="90000"/>
              </a:lnSpc>
              <a:spcBef>
                <a:spcPts val="800"/>
              </a:spcBef>
              <a:spcAft>
                <a:spcPts val="0"/>
              </a:spcAft>
              <a:buClr>
                <a:srgbClr val="000000"/>
              </a:buClr>
              <a:buSzPts val="1800"/>
              <a:buFont typeface="Calibri"/>
              <a:buNone/>
              <a:defRPr>
                <a:solidFill>
                  <a:srgbClr val="000000"/>
                </a:solidFill>
                <a:latin typeface="Calibri"/>
                <a:ea typeface="Calibri"/>
                <a:cs typeface="Calibri"/>
                <a:sym typeface="Calibri"/>
              </a:defRPr>
            </a:lvl3pPr>
            <a:lvl4pPr marL="1828800" lvl="3" indent="-228600" algn="ctr">
              <a:lnSpc>
                <a:spcPct val="90000"/>
              </a:lnSpc>
              <a:spcBef>
                <a:spcPts val="800"/>
              </a:spcBef>
              <a:spcAft>
                <a:spcPts val="0"/>
              </a:spcAft>
              <a:buClr>
                <a:srgbClr val="000000"/>
              </a:buClr>
              <a:buSzPts val="1800"/>
              <a:buFont typeface="Calibri"/>
              <a:buNone/>
              <a:defRPr>
                <a:solidFill>
                  <a:srgbClr val="000000"/>
                </a:solidFill>
                <a:latin typeface="Calibri"/>
                <a:ea typeface="Calibri"/>
                <a:cs typeface="Calibri"/>
                <a:sym typeface="Calibri"/>
              </a:defRPr>
            </a:lvl4pPr>
            <a:lvl5pPr marL="2286000" lvl="4" indent="-228600" algn="ctr">
              <a:lnSpc>
                <a:spcPct val="90000"/>
              </a:lnSpc>
              <a:spcBef>
                <a:spcPts val="800"/>
              </a:spcBef>
              <a:spcAft>
                <a:spcPts val="0"/>
              </a:spcAft>
              <a:buClr>
                <a:srgbClr val="000000"/>
              </a:buClr>
              <a:buSzPts val="1800"/>
              <a:buFont typeface="Calibri"/>
              <a:buNone/>
              <a:defRPr>
                <a:solidFill>
                  <a:srgbClr val="000000"/>
                </a:solidFill>
                <a:latin typeface="Calibri"/>
                <a:ea typeface="Calibri"/>
                <a:cs typeface="Calibri"/>
                <a:sym typeface="Calibri"/>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24" name="Google Shape;24;p32"/>
          <p:cNvSpPr txBox="1">
            <a:spLocks noGrp="1"/>
          </p:cNvSpPr>
          <p:nvPr>
            <p:ph type="sldNum" idx="12"/>
          </p:nvPr>
        </p:nvSpPr>
        <p:spPr>
          <a:xfrm>
            <a:off x="8318237" y="4800088"/>
            <a:ext cx="197114"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25"/>
        <p:cNvGrpSpPr/>
        <p:nvPr/>
      </p:nvGrpSpPr>
      <p:grpSpPr>
        <a:xfrm>
          <a:off x="0" y="0"/>
          <a:ext cx="0" cy="0"/>
          <a:chOff x="0" y="0"/>
          <a:chExt cx="0" cy="0"/>
        </a:xfrm>
      </p:grpSpPr>
      <p:sp>
        <p:nvSpPr>
          <p:cNvPr id="26" name="Google Shape;26;p33"/>
          <p:cNvSpPr txBox="1">
            <a:spLocks noGrp="1"/>
          </p:cNvSpPr>
          <p:nvPr>
            <p:ph type="title"/>
          </p:nvPr>
        </p:nvSpPr>
        <p:spPr>
          <a:xfrm>
            <a:off x="628650" y="273843"/>
            <a:ext cx="7886700" cy="994201"/>
          </a:xfrm>
          <a:prstGeom prst="rect">
            <a:avLst/>
          </a:prstGeom>
          <a:noFill/>
          <a:ln>
            <a:noFill/>
          </a:ln>
        </p:spPr>
        <p:txBody>
          <a:bodyPr spcFirstLastPara="1" wrap="square" lIns="34275" tIns="34275" rIns="34275" bIns="34275" anchor="ctr" anchorCtr="0">
            <a:normAutofit/>
          </a:bodyPr>
          <a:lstStyle>
            <a:lvl1pPr lvl="0" algn="l">
              <a:lnSpc>
                <a:spcPct val="90000"/>
              </a:lnSpc>
              <a:spcBef>
                <a:spcPts val="0"/>
              </a:spcBef>
              <a:spcAft>
                <a:spcPts val="0"/>
              </a:spcAft>
              <a:buClr>
                <a:srgbClr val="000000"/>
              </a:buClr>
              <a:buSzPts val="3300"/>
              <a:buFont typeface="Calibri"/>
              <a:buNone/>
              <a:defRPr sz="3300">
                <a:latin typeface="Calibri"/>
                <a:ea typeface="Calibri"/>
                <a:cs typeface="Calibri"/>
                <a:sym typeface="Calibri"/>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27" name="Google Shape;27;p33"/>
          <p:cNvSpPr txBox="1">
            <a:spLocks noGrp="1"/>
          </p:cNvSpPr>
          <p:nvPr>
            <p:ph type="body" idx="1"/>
          </p:nvPr>
        </p:nvSpPr>
        <p:spPr>
          <a:xfrm>
            <a:off x="628650" y="1369219"/>
            <a:ext cx="7886700" cy="3263401"/>
          </a:xfrm>
          <a:prstGeom prst="rect">
            <a:avLst/>
          </a:prstGeom>
          <a:noFill/>
          <a:ln>
            <a:noFill/>
          </a:ln>
        </p:spPr>
        <p:txBody>
          <a:bodyPr spcFirstLastPara="1" wrap="square" lIns="34275" tIns="34275" rIns="34275" bIns="34275" anchor="t" anchorCtr="0">
            <a:normAutofit/>
          </a:bodyPr>
          <a:lstStyle>
            <a:lvl1pPr marL="457200" lvl="0" indent="-361950" algn="l">
              <a:lnSpc>
                <a:spcPct val="90000"/>
              </a:lnSpc>
              <a:spcBef>
                <a:spcPts val="800"/>
              </a:spcBef>
              <a:spcAft>
                <a:spcPts val="0"/>
              </a:spcAft>
              <a:buClr>
                <a:srgbClr val="000000"/>
              </a:buClr>
              <a:buSzPts val="2100"/>
              <a:buChar char="•"/>
              <a:defRPr sz="2100">
                <a:solidFill>
                  <a:srgbClr val="000000"/>
                </a:solidFill>
                <a:latin typeface="Calibri"/>
                <a:ea typeface="Calibri"/>
                <a:cs typeface="Calibri"/>
                <a:sym typeface="Calibri"/>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28" name="Google Shape;28;p33"/>
          <p:cNvSpPr txBox="1">
            <a:spLocks noGrp="1"/>
          </p:cNvSpPr>
          <p:nvPr>
            <p:ph type="sldNum" idx="12"/>
          </p:nvPr>
        </p:nvSpPr>
        <p:spPr>
          <a:xfrm>
            <a:off x="8318237" y="4800087"/>
            <a:ext cx="197114"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29"/>
        <p:cNvGrpSpPr/>
        <p:nvPr/>
      </p:nvGrpSpPr>
      <p:grpSpPr>
        <a:xfrm>
          <a:off x="0" y="0"/>
          <a:ext cx="0" cy="0"/>
          <a:chOff x="0" y="0"/>
          <a:chExt cx="0" cy="0"/>
        </a:xfrm>
      </p:grpSpPr>
      <p:sp>
        <p:nvSpPr>
          <p:cNvPr id="30" name="Google Shape;30;p34"/>
          <p:cNvSpPr txBox="1">
            <a:spLocks noGrp="1"/>
          </p:cNvSpPr>
          <p:nvPr>
            <p:ph type="title"/>
          </p:nvPr>
        </p:nvSpPr>
        <p:spPr>
          <a:xfrm>
            <a:off x="623887" y="1282303"/>
            <a:ext cx="7886701" cy="2139602"/>
          </a:xfrm>
          <a:prstGeom prst="rect">
            <a:avLst/>
          </a:prstGeom>
          <a:noFill/>
          <a:ln>
            <a:noFill/>
          </a:ln>
        </p:spPr>
        <p:txBody>
          <a:bodyPr spcFirstLastPara="1" wrap="square" lIns="34275" tIns="34275" rIns="34275" bIns="34275" anchor="b" anchorCtr="0">
            <a:normAutofit/>
          </a:bodyPr>
          <a:lstStyle>
            <a:lvl1pPr lvl="0" algn="l">
              <a:lnSpc>
                <a:spcPct val="90000"/>
              </a:lnSpc>
              <a:spcBef>
                <a:spcPts val="0"/>
              </a:spcBef>
              <a:spcAft>
                <a:spcPts val="0"/>
              </a:spcAft>
              <a:buClr>
                <a:srgbClr val="000000"/>
              </a:buClr>
              <a:buSzPts val="4500"/>
              <a:buFont typeface="Calibri"/>
              <a:buNone/>
              <a:defRPr sz="4500">
                <a:latin typeface="Calibri"/>
                <a:ea typeface="Calibri"/>
                <a:cs typeface="Calibri"/>
                <a:sym typeface="Calibri"/>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31" name="Google Shape;31;p34"/>
          <p:cNvSpPr txBox="1">
            <a:spLocks noGrp="1"/>
          </p:cNvSpPr>
          <p:nvPr>
            <p:ph type="body" idx="1"/>
          </p:nvPr>
        </p:nvSpPr>
        <p:spPr>
          <a:xfrm>
            <a:off x="623887" y="3442096"/>
            <a:ext cx="7886701" cy="1125301"/>
          </a:xfrm>
          <a:prstGeom prst="rect">
            <a:avLst/>
          </a:prstGeom>
          <a:noFill/>
          <a:ln>
            <a:noFill/>
          </a:ln>
        </p:spPr>
        <p:txBody>
          <a:bodyPr spcFirstLastPara="1" wrap="square" lIns="34275" tIns="34275" rIns="34275" bIns="34275" anchor="t" anchorCtr="0">
            <a:normAutofit/>
          </a:bodyPr>
          <a:lstStyle>
            <a:lvl1pPr marL="457200" lvl="0" indent="-228600" algn="l">
              <a:lnSpc>
                <a:spcPct val="90000"/>
              </a:lnSpc>
              <a:spcBef>
                <a:spcPts val="800"/>
              </a:spcBef>
              <a:spcAft>
                <a:spcPts val="0"/>
              </a:spcAft>
              <a:buClr>
                <a:srgbClr val="888888"/>
              </a:buClr>
              <a:buSzPts val="1800"/>
              <a:buFont typeface="Calibri"/>
              <a:buNone/>
              <a:defRPr>
                <a:solidFill>
                  <a:srgbClr val="888888"/>
                </a:solidFill>
                <a:latin typeface="Calibri"/>
                <a:ea typeface="Calibri"/>
                <a:cs typeface="Calibri"/>
                <a:sym typeface="Calibri"/>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32" name="Google Shape;32;p34"/>
          <p:cNvSpPr txBox="1">
            <a:spLocks noGrp="1"/>
          </p:cNvSpPr>
          <p:nvPr>
            <p:ph type="sldNum" idx="12"/>
          </p:nvPr>
        </p:nvSpPr>
        <p:spPr>
          <a:xfrm>
            <a:off x="8318237" y="4800087"/>
            <a:ext cx="197114"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spTree>
      <p:nvGrpSpPr>
        <p:cNvPr id="1" name="Shape 36"/>
        <p:cNvGrpSpPr/>
        <p:nvPr/>
      </p:nvGrpSpPr>
      <p:grpSpPr>
        <a:xfrm>
          <a:off x="0" y="0"/>
          <a:ext cx="0" cy="0"/>
          <a:chOff x="0" y="0"/>
          <a:chExt cx="0" cy="0"/>
        </a:xfrm>
      </p:grpSpPr>
      <p:sp>
        <p:nvSpPr>
          <p:cNvPr id="37" name="Google Shape;37;p36"/>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38" name="Google Shape;38;p36"/>
          <p:cNvSpPr txBox="1">
            <a:spLocks noGrp="1"/>
          </p:cNvSpPr>
          <p:nvPr>
            <p:ph type="body" idx="1"/>
          </p:nvPr>
        </p:nvSpPr>
        <p:spPr>
          <a:xfrm>
            <a:off x="311699" y="1152475"/>
            <a:ext cx="3999902" cy="3416400"/>
          </a:xfrm>
          <a:prstGeom prst="rect">
            <a:avLst/>
          </a:prstGeom>
          <a:noFill/>
          <a:ln>
            <a:noFill/>
          </a:ln>
        </p:spPr>
        <p:txBody>
          <a:bodyPr spcFirstLastPara="1" wrap="square" lIns="91400" tIns="91400" rIns="91400" bIns="91400" anchor="t" anchorCtr="0">
            <a:normAutofit/>
          </a:bodyPr>
          <a:lstStyle>
            <a:lvl1pPr marL="457200" lvl="0" indent="-317500" algn="l">
              <a:lnSpc>
                <a:spcPct val="115000"/>
              </a:lnSpc>
              <a:spcBef>
                <a:spcPts val="0"/>
              </a:spcBef>
              <a:spcAft>
                <a:spcPts val="0"/>
              </a:spcAft>
              <a:buSzPts val="1400"/>
              <a:buChar char="●"/>
              <a:defRPr sz="1400"/>
            </a:lvl1pPr>
            <a:lvl2pPr marL="914400" lvl="1" indent="-317500" algn="l">
              <a:lnSpc>
                <a:spcPct val="115000"/>
              </a:lnSpc>
              <a:spcBef>
                <a:spcPts val="0"/>
              </a:spcBef>
              <a:spcAft>
                <a:spcPts val="0"/>
              </a:spcAft>
              <a:buSzPts val="1400"/>
              <a:buChar char="○"/>
              <a:defRPr sz="1400"/>
            </a:lvl2pPr>
            <a:lvl3pPr marL="1371600" lvl="2" indent="-317500" algn="l">
              <a:lnSpc>
                <a:spcPct val="115000"/>
              </a:lnSpc>
              <a:spcBef>
                <a:spcPts val="0"/>
              </a:spcBef>
              <a:spcAft>
                <a:spcPts val="0"/>
              </a:spcAft>
              <a:buSzPts val="1400"/>
              <a:buChar char="■"/>
              <a:defRPr sz="1400"/>
            </a:lvl3pPr>
            <a:lvl4pPr marL="1828800" lvl="3" indent="-317500" algn="l">
              <a:lnSpc>
                <a:spcPct val="115000"/>
              </a:lnSpc>
              <a:spcBef>
                <a:spcPts val="0"/>
              </a:spcBef>
              <a:spcAft>
                <a:spcPts val="0"/>
              </a:spcAft>
              <a:buSzPts val="1400"/>
              <a:buChar char="●"/>
              <a:defRPr sz="1400"/>
            </a:lvl4pPr>
            <a:lvl5pPr marL="2286000" lvl="4" indent="-317500" algn="l">
              <a:lnSpc>
                <a:spcPct val="115000"/>
              </a:lnSpc>
              <a:spcBef>
                <a:spcPts val="0"/>
              </a:spcBef>
              <a:spcAft>
                <a:spcPts val="0"/>
              </a:spcAft>
              <a:buSzPts val="1400"/>
              <a:buChar char="○"/>
              <a:defRPr sz="1400"/>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39" name="Google Shape;39;p36"/>
          <p:cNvSpPr txBox="1">
            <a:spLocks noGrp="1"/>
          </p:cNvSpPr>
          <p:nvPr>
            <p:ph type="body" idx="2"/>
          </p:nvPr>
        </p:nvSpPr>
        <p:spPr>
          <a:xfrm>
            <a:off x="4832399" y="1152475"/>
            <a:ext cx="3999902" cy="3416400"/>
          </a:xfrm>
          <a:prstGeom prst="rect">
            <a:avLst/>
          </a:prstGeom>
          <a:noFill/>
          <a:ln>
            <a:noFill/>
          </a:ln>
        </p:spPr>
        <p:txBody>
          <a:bodyPr spcFirstLastPara="1" wrap="square" lIns="91400" tIns="91400" rIns="91400" bIns="91400"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40" name="Google Shape;40;p36"/>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spAutoFit/>
          </a:bodyPr>
          <a:lstStyle>
            <a:lvl1pPr marL="0" lvl="0" indent="0" algn="r">
              <a:lnSpc>
                <a:spcPct val="100000"/>
              </a:lnSpc>
              <a:spcBef>
                <a:spcPts val="0"/>
              </a:spcBef>
              <a:spcAft>
                <a:spcPts val="0"/>
              </a:spcAft>
              <a:buClr>
                <a:srgbClr val="585858"/>
              </a:buClr>
              <a:buSzPts val="1000"/>
              <a:buFont typeface="Arial"/>
              <a:buNone/>
              <a:defRPr sz="1000">
                <a:solidFill>
                  <a:srgbClr val="585858"/>
                </a:solidFill>
              </a:defRPr>
            </a:lvl1pPr>
            <a:lvl2pPr marL="0" lvl="1" indent="0" algn="r">
              <a:lnSpc>
                <a:spcPct val="100000"/>
              </a:lnSpc>
              <a:spcBef>
                <a:spcPts val="0"/>
              </a:spcBef>
              <a:spcAft>
                <a:spcPts val="0"/>
              </a:spcAft>
              <a:buClr>
                <a:srgbClr val="585858"/>
              </a:buClr>
              <a:buSzPts val="1000"/>
              <a:buFont typeface="Arial"/>
              <a:buNone/>
              <a:defRPr sz="1000">
                <a:solidFill>
                  <a:srgbClr val="585858"/>
                </a:solidFill>
              </a:defRPr>
            </a:lvl2pPr>
            <a:lvl3pPr marL="0" lvl="2" indent="0" algn="r">
              <a:lnSpc>
                <a:spcPct val="100000"/>
              </a:lnSpc>
              <a:spcBef>
                <a:spcPts val="0"/>
              </a:spcBef>
              <a:spcAft>
                <a:spcPts val="0"/>
              </a:spcAft>
              <a:buClr>
                <a:srgbClr val="585858"/>
              </a:buClr>
              <a:buSzPts val="1000"/>
              <a:buFont typeface="Arial"/>
              <a:buNone/>
              <a:defRPr sz="1000">
                <a:solidFill>
                  <a:srgbClr val="585858"/>
                </a:solidFill>
              </a:defRPr>
            </a:lvl3pPr>
            <a:lvl4pPr marL="0" lvl="3" indent="0" algn="r">
              <a:lnSpc>
                <a:spcPct val="100000"/>
              </a:lnSpc>
              <a:spcBef>
                <a:spcPts val="0"/>
              </a:spcBef>
              <a:spcAft>
                <a:spcPts val="0"/>
              </a:spcAft>
              <a:buClr>
                <a:srgbClr val="585858"/>
              </a:buClr>
              <a:buSzPts val="1000"/>
              <a:buFont typeface="Arial"/>
              <a:buNone/>
              <a:defRPr sz="1000">
                <a:solidFill>
                  <a:srgbClr val="585858"/>
                </a:solidFill>
              </a:defRPr>
            </a:lvl4pPr>
            <a:lvl5pPr marL="0" lvl="4" indent="0" algn="r">
              <a:lnSpc>
                <a:spcPct val="100000"/>
              </a:lnSpc>
              <a:spcBef>
                <a:spcPts val="0"/>
              </a:spcBef>
              <a:spcAft>
                <a:spcPts val="0"/>
              </a:spcAft>
              <a:buClr>
                <a:srgbClr val="585858"/>
              </a:buClr>
              <a:buSzPts val="1000"/>
              <a:buFont typeface="Arial"/>
              <a:buNone/>
              <a:defRPr sz="1000">
                <a:solidFill>
                  <a:srgbClr val="585858"/>
                </a:solidFill>
              </a:defRPr>
            </a:lvl5pPr>
            <a:lvl6pPr marL="0" lvl="5" indent="0" algn="r">
              <a:lnSpc>
                <a:spcPct val="100000"/>
              </a:lnSpc>
              <a:spcBef>
                <a:spcPts val="0"/>
              </a:spcBef>
              <a:spcAft>
                <a:spcPts val="0"/>
              </a:spcAft>
              <a:buClr>
                <a:srgbClr val="585858"/>
              </a:buClr>
              <a:buSzPts val="1000"/>
              <a:buFont typeface="Arial"/>
              <a:buNone/>
              <a:defRPr sz="1000">
                <a:solidFill>
                  <a:srgbClr val="585858"/>
                </a:solidFill>
              </a:defRPr>
            </a:lvl6pPr>
            <a:lvl7pPr marL="0" lvl="6" indent="0" algn="r">
              <a:lnSpc>
                <a:spcPct val="100000"/>
              </a:lnSpc>
              <a:spcBef>
                <a:spcPts val="0"/>
              </a:spcBef>
              <a:spcAft>
                <a:spcPts val="0"/>
              </a:spcAft>
              <a:buClr>
                <a:srgbClr val="585858"/>
              </a:buClr>
              <a:buSzPts val="1000"/>
              <a:buFont typeface="Arial"/>
              <a:buNone/>
              <a:defRPr sz="1000">
                <a:solidFill>
                  <a:srgbClr val="585858"/>
                </a:solidFill>
              </a:defRPr>
            </a:lvl7pPr>
            <a:lvl8pPr marL="0" lvl="7" indent="0" algn="r">
              <a:lnSpc>
                <a:spcPct val="100000"/>
              </a:lnSpc>
              <a:spcBef>
                <a:spcPts val="0"/>
              </a:spcBef>
              <a:spcAft>
                <a:spcPts val="0"/>
              </a:spcAft>
              <a:buClr>
                <a:srgbClr val="585858"/>
              </a:buClr>
              <a:buSzPts val="1000"/>
              <a:buFont typeface="Arial"/>
              <a:buNone/>
              <a:defRPr sz="1000">
                <a:solidFill>
                  <a:srgbClr val="585858"/>
                </a:solidFill>
              </a:defRPr>
            </a:lvl8pPr>
            <a:lvl9pPr marL="0" lvl="8" indent="0" algn="r">
              <a:lnSpc>
                <a:spcPct val="100000"/>
              </a:lnSpc>
              <a:spcBef>
                <a:spcPts val="0"/>
              </a:spcBef>
              <a:spcAft>
                <a:spcPts val="0"/>
              </a:spcAft>
              <a:buClr>
                <a:srgbClr val="585858"/>
              </a:buClr>
              <a:buSzPts val="1000"/>
              <a:buFont typeface="Arial"/>
              <a:buNone/>
              <a:defRPr sz="1000">
                <a:solidFill>
                  <a:srgbClr val="58585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41"/>
        <p:cNvGrpSpPr/>
        <p:nvPr/>
      </p:nvGrpSpPr>
      <p:grpSpPr>
        <a:xfrm>
          <a:off x="0" y="0"/>
          <a:ext cx="0" cy="0"/>
          <a:chOff x="0" y="0"/>
          <a:chExt cx="0" cy="0"/>
        </a:xfrm>
      </p:grpSpPr>
      <p:sp>
        <p:nvSpPr>
          <p:cNvPr id="42" name="Google Shape;42;p37"/>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43" name="Google Shape;43;p37"/>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spAutoFit/>
          </a:bodyPr>
          <a:lstStyle>
            <a:lvl1pPr marL="0" lvl="0" indent="0" algn="r">
              <a:lnSpc>
                <a:spcPct val="100000"/>
              </a:lnSpc>
              <a:spcBef>
                <a:spcPts val="0"/>
              </a:spcBef>
              <a:spcAft>
                <a:spcPts val="0"/>
              </a:spcAft>
              <a:buClr>
                <a:srgbClr val="585858"/>
              </a:buClr>
              <a:buSzPts val="1000"/>
              <a:buFont typeface="Arial"/>
              <a:buNone/>
              <a:defRPr sz="1000">
                <a:solidFill>
                  <a:srgbClr val="585858"/>
                </a:solidFill>
              </a:defRPr>
            </a:lvl1pPr>
            <a:lvl2pPr marL="0" lvl="1" indent="0" algn="r">
              <a:lnSpc>
                <a:spcPct val="100000"/>
              </a:lnSpc>
              <a:spcBef>
                <a:spcPts val="0"/>
              </a:spcBef>
              <a:spcAft>
                <a:spcPts val="0"/>
              </a:spcAft>
              <a:buClr>
                <a:srgbClr val="585858"/>
              </a:buClr>
              <a:buSzPts val="1000"/>
              <a:buFont typeface="Arial"/>
              <a:buNone/>
              <a:defRPr sz="1000">
                <a:solidFill>
                  <a:srgbClr val="585858"/>
                </a:solidFill>
              </a:defRPr>
            </a:lvl2pPr>
            <a:lvl3pPr marL="0" lvl="2" indent="0" algn="r">
              <a:lnSpc>
                <a:spcPct val="100000"/>
              </a:lnSpc>
              <a:spcBef>
                <a:spcPts val="0"/>
              </a:spcBef>
              <a:spcAft>
                <a:spcPts val="0"/>
              </a:spcAft>
              <a:buClr>
                <a:srgbClr val="585858"/>
              </a:buClr>
              <a:buSzPts val="1000"/>
              <a:buFont typeface="Arial"/>
              <a:buNone/>
              <a:defRPr sz="1000">
                <a:solidFill>
                  <a:srgbClr val="585858"/>
                </a:solidFill>
              </a:defRPr>
            </a:lvl3pPr>
            <a:lvl4pPr marL="0" lvl="3" indent="0" algn="r">
              <a:lnSpc>
                <a:spcPct val="100000"/>
              </a:lnSpc>
              <a:spcBef>
                <a:spcPts val="0"/>
              </a:spcBef>
              <a:spcAft>
                <a:spcPts val="0"/>
              </a:spcAft>
              <a:buClr>
                <a:srgbClr val="585858"/>
              </a:buClr>
              <a:buSzPts val="1000"/>
              <a:buFont typeface="Arial"/>
              <a:buNone/>
              <a:defRPr sz="1000">
                <a:solidFill>
                  <a:srgbClr val="585858"/>
                </a:solidFill>
              </a:defRPr>
            </a:lvl4pPr>
            <a:lvl5pPr marL="0" lvl="4" indent="0" algn="r">
              <a:lnSpc>
                <a:spcPct val="100000"/>
              </a:lnSpc>
              <a:spcBef>
                <a:spcPts val="0"/>
              </a:spcBef>
              <a:spcAft>
                <a:spcPts val="0"/>
              </a:spcAft>
              <a:buClr>
                <a:srgbClr val="585858"/>
              </a:buClr>
              <a:buSzPts val="1000"/>
              <a:buFont typeface="Arial"/>
              <a:buNone/>
              <a:defRPr sz="1000">
                <a:solidFill>
                  <a:srgbClr val="585858"/>
                </a:solidFill>
              </a:defRPr>
            </a:lvl5pPr>
            <a:lvl6pPr marL="0" lvl="5" indent="0" algn="r">
              <a:lnSpc>
                <a:spcPct val="100000"/>
              </a:lnSpc>
              <a:spcBef>
                <a:spcPts val="0"/>
              </a:spcBef>
              <a:spcAft>
                <a:spcPts val="0"/>
              </a:spcAft>
              <a:buClr>
                <a:srgbClr val="585858"/>
              </a:buClr>
              <a:buSzPts val="1000"/>
              <a:buFont typeface="Arial"/>
              <a:buNone/>
              <a:defRPr sz="1000">
                <a:solidFill>
                  <a:srgbClr val="585858"/>
                </a:solidFill>
              </a:defRPr>
            </a:lvl6pPr>
            <a:lvl7pPr marL="0" lvl="6" indent="0" algn="r">
              <a:lnSpc>
                <a:spcPct val="100000"/>
              </a:lnSpc>
              <a:spcBef>
                <a:spcPts val="0"/>
              </a:spcBef>
              <a:spcAft>
                <a:spcPts val="0"/>
              </a:spcAft>
              <a:buClr>
                <a:srgbClr val="585858"/>
              </a:buClr>
              <a:buSzPts val="1000"/>
              <a:buFont typeface="Arial"/>
              <a:buNone/>
              <a:defRPr sz="1000">
                <a:solidFill>
                  <a:srgbClr val="585858"/>
                </a:solidFill>
              </a:defRPr>
            </a:lvl7pPr>
            <a:lvl8pPr marL="0" lvl="7" indent="0" algn="r">
              <a:lnSpc>
                <a:spcPct val="100000"/>
              </a:lnSpc>
              <a:spcBef>
                <a:spcPts val="0"/>
              </a:spcBef>
              <a:spcAft>
                <a:spcPts val="0"/>
              </a:spcAft>
              <a:buClr>
                <a:srgbClr val="585858"/>
              </a:buClr>
              <a:buSzPts val="1000"/>
              <a:buFont typeface="Arial"/>
              <a:buNone/>
              <a:defRPr sz="1000">
                <a:solidFill>
                  <a:srgbClr val="585858"/>
                </a:solidFill>
              </a:defRPr>
            </a:lvl8pPr>
            <a:lvl9pPr marL="0" lvl="8" indent="0" algn="r">
              <a:lnSpc>
                <a:spcPct val="100000"/>
              </a:lnSpc>
              <a:spcBef>
                <a:spcPts val="0"/>
              </a:spcBef>
              <a:spcAft>
                <a:spcPts val="0"/>
              </a:spcAft>
              <a:buClr>
                <a:srgbClr val="585858"/>
              </a:buClr>
              <a:buSzPts val="1000"/>
              <a:buFont typeface="Arial"/>
              <a:buNone/>
              <a:defRPr sz="1000">
                <a:solidFill>
                  <a:srgbClr val="58585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_COLUMN_TEXT">
  <p:cSld name="ONE_COLUMN_TEXT">
    <p:spTree>
      <p:nvGrpSpPr>
        <p:cNvPr id="1" name="Shape 44"/>
        <p:cNvGrpSpPr/>
        <p:nvPr/>
      </p:nvGrpSpPr>
      <p:grpSpPr>
        <a:xfrm>
          <a:off x="0" y="0"/>
          <a:ext cx="0" cy="0"/>
          <a:chOff x="0" y="0"/>
          <a:chExt cx="0" cy="0"/>
        </a:xfrm>
      </p:grpSpPr>
      <p:sp>
        <p:nvSpPr>
          <p:cNvPr id="45" name="Google Shape;45;p38"/>
          <p:cNvSpPr txBox="1">
            <a:spLocks noGrp="1"/>
          </p:cNvSpPr>
          <p:nvPr>
            <p:ph type="title"/>
          </p:nvPr>
        </p:nvSpPr>
        <p:spPr>
          <a:xfrm>
            <a:off x="311699" y="555600"/>
            <a:ext cx="2808001" cy="755700"/>
          </a:xfrm>
          <a:prstGeom prst="rect">
            <a:avLst/>
          </a:prstGeom>
          <a:noFill/>
          <a:ln>
            <a:noFill/>
          </a:ln>
        </p:spPr>
        <p:txBody>
          <a:bodyPr spcFirstLastPara="1" wrap="square" lIns="91400" tIns="91400" rIns="91400" bIns="91400" anchor="b" anchorCtr="0">
            <a:normAutofit/>
          </a:bodyPr>
          <a:lstStyle>
            <a:lvl1pPr lvl="0" algn="l">
              <a:lnSpc>
                <a:spcPct val="100000"/>
              </a:lnSpc>
              <a:spcBef>
                <a:spcPts val="0"/>
              </a:spcBef>
              <a:spcAft>
                <a:spcPts val="0"/>
              </a:spcAft>
              <a:buClr>
                <a:srgbClr val="000000"/>
              </a:buClr>
              <a:buSzPts val="2400"/>
              <a:buFont typeface="Arial"/>
              <a:buNone/>
              <a:defRPr sz="24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46" name="Google Shape;46;p38"/>
          <p:cNvSpPr txBox="1">
            <a:spLocks noGrp="1"/>
          </p:cNvSpPr>
          <p:nvPr>
            <p:ph type="body" idx="1"/>
          </p:nvPr>
        </p:nvSpPr>
        <p:spPr>
          <a:xfrm>
            <a:off x="311699" y="1389599"/>
            <a:ext cx="2808001" cy="3179401"/>
          </a:xfrm>
          <a:prstGeom prst="rect">
            <a:avLst/>
          </a:prstGeom>
          <a:noFill/>
          <a:ln>
            <a:noFill/>
          </a:ln>
        </p:spPr>
        <p:txBody>
          <a:bodyPr spcFirstLastPara="1" wrap="square" lIns="91400" tIns="91400" rIns="91400" bIns="91400"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47" name="Google Shape;47;p38"/>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spAutoFit/>
          </a:bodyPr>
          <a:lstStyle>
            <a:lvl1pPr marL="0" lvl="0" indent="0" algn="r">
              <a:lnSpc>
                <a:spcPct val="100000"/>
              </a:lnSpc>
              <a:spcBef>
                <a:spcPts val="0"/>
              </a:spcBef>
              <a:spcAft>
                <a:spcPts val="0"/>
              </a:spcAft>
              <a:buClr>
                <a:srgbClr val="585858"/>
              </a:buClr>
              <a:buSzPts val="1000"/>
              <a:buFont typeface="Arial"/>
              <a:buNone/>
              <a:defRPr sz="1000">
                <a:solidFill>
                  <a:srgbClr val="585858"/>
                </a:solidFill>
              </a:defRPr>
            </a:lvl1pPr>
            <a:lvl2pPr marL="0" lvl="1" indent="0" algn="r">
              <a:lnSpc>
                <a:spcPct val="100000"/>
              </a:lnSpc>
              <a:spcBef>
                <a:spcPts val="0"/>
              </a:spcBef>
              <a:spcAft>
                <a:spcPts val="0"/>
              </a:spcAft>
              <a:buClr>
                <a:srgbClr val="585858"/>
              </a:buClr>
              <a:buSzPts val="1000"/>
              <a:buFont typeface="Arial"/>
              <a:buNone/>
              <a:defRPr sz="1000">
                <a:solidFill>
                  <a:srgbClr val="585858"/>
                </a:solidFill>
              </a:defRPr>
            </a:lvl2pPr>
            <a:lvl3pPr marL="0" lvl="2" indent="0" algn="r">
              <a:lnSpc>
                <a:spcPct val="100000"/>
              </a:lnSpc>
              <a:spcBef>
                <a:spcPts val="0"/>
              </a:spcBef>
              <a:spcAft>
                <a:spcPts val="0"/>
              </a:spcAft>
              <a:buClr>
                <a:srgbClr val="585858"/>
              </a:buClr>
              <a:buSzPts val="1000"/>
              <a:buFont typeface="Arial"/>
              <a:buNone/>
              <a:defRPr sz="1000">
                <a:solidFill>
                  <a:srgbClr val="585858"/>
                </a:solidFill>
              </a:defRPr>
            </a:lvl3pPr>
            <a:lvl4pPr marL="0" lvl="3" indent="0" algn="r">
              <a:lnSpc>
                <a:spcPct val="100000"/>
              </a:lnSpc>
              <a:spcBef>
                <a:spcPts val="0"/>
              </a:spcBef>
              <a:spcAft>
                <a:spcPts val="0"/>
              </a:spcAft>
              <a:buClr>
                <a:srgbClr val="585858"/>
              </a:buClr>
              <a:buSzPts val="1000"/>
              <a:buFont typeface="Arial"/>
              <a:buNone/>
              <a:defRPr sz="1000">
                <a:solidFill>
                  <a:srgbClr val="585858"/>
                </a:solidFill>
              </a:defRPr>
            </a:lvl4pPr>
            <a:lvl5pPr marL="0" lvl="4" indent="0" algn="r">
              <a:lnSpc>
                <a:spcPct val="100000"/>
              </a:lnSpc>
              <a:spcBef>
                <a:spcPts val="0"/>
              </a:spcBef>
              <a:spcAft>
                <a:spcPts val="0"/>
              </a:spcAft>
              <a:buClr>
                <a:srgbClr val="585858"/>
              </a:buClr>
              <a:buSzPts val="1000"/>
              <a:buFont typeface="Arial"/>
              <a:buNone/>
              <a:defRPr sz="1000">
                <a:solidFill>
                  <a:srgbClr val="585858"/>
                </a:solidFill>
              </a:defRPr>
            </a:lvl5pPr>
            <a:lvl6pPr marL="0" lvl="5" indent="0" algn="r">
              <a:lnSpc>
                <a:spcPct val="100000"/>
              </a:lnSpc>
              <a:spcBef>
                <a:spcPts val="0"/>
              </a:spcBef>
              <a:spcAft>
                <a:spcPts val="0"/>
              </a:spcAft>
              <a:buClr>
                <a:srgbClr val="585858"/>
              </a:buClr>
              <a:buSzPts val="1000"/>
              <a:buFont typeface="Arial"/>
              <a:buNone/>
              <a:defRPr sz="1000">
                <a:solidFill>
                  <a:srgbClr val="585858"/>
                </a:solidFill>
              </a:defRPr>
            </a:lvl6pPr>
            <a:lvl7pPr marL="0" lvl="6" indent="0" algn="r">
              <a:lnSpc>
                <a:spcPct val="100000"/>
              </a:lnSpc>
              <a:spcBef>
                <a:spcPts val="0"/>
              </a:spcBef>
              <a:spcAft>
                <a:spcPts val="0"/>
              </a:spcAft>
              <a:buClr>
                <a:srgbClr val="585858"/>
              </a:buClr>
              <a:buSzPts val="1000"/>
              <a:buFont typeface="Arial"/>
              <a:buNone/>
              <a:defRPr sz="1000">
                <a:solidFill>
                  <a:srgbClr val="585858"/>
                </a:solidFill>
              </a:defRPr>
            </a:lvl7pPr>
            <a:lvl8pPr marL="0" lvl="7" indent="0" algn="r">
              <a:lnSpc>
                <a:spcPct val="100000"/>
              </a:lnSpc>
              <a:spcBef>
                <a:spcPts val="0"/>
              </a:spcBef>
              <a:spcAft>
                <a:spcPts val="0"/>
              </a:spcAft>
              <a:buClr>
                <a:srgbClr val="585858"/>
              </a:buClr>
              <a:buSzPts val="1000"/>
              <a:buFont typeface="Arial"/>
              <a:buNone/>
              <a:defRPr sz="1000">
                <a:solidFill>
                  <a:srgbClr val="585858"/>
                </a:solidFill>
              </a:defRPr>
            </a:lvl8pPr>
            <a:lvl9pPr marL="0" lvl="8" indent="0" algn="r">
              <a:lnSpc>
                <a:spcPct val="100000"/>
              </a:lnSpc>
              <a:spcBef>
                <a:spcPts val="0"/>
              </a:spcBef>
              <a:spcAft>
                <a:spcPts val="0"/>
              </a:spcAft>
              <a:buClr>
                <a:srgbClr val="585858"/>
              </a:buClr>
              <a:buSzPts val="1000"/>
              <a:buFont typeface="Arial"/>
              <a:buNone/>
              <a:defRPr sz="1000">
                <a:solidFill>
                  <a:srgbClr val="58585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_POINT">
  <p:cSld name="MAIN_POINT">
    <p:spTree>
      <p:nvGrpSpPr>
        <p:cNvPr id="1" name="Shape 48"/>
        <p:cNvGrpSpPr/>
        <p:nvPr/>
      </p:nvGrpSpPr>
      <p:grpSpPr>
        <a:xfrm>
          <a:off x="0" y="0"/>
          <a:ext cx="0" cy="0"/>
          <a:chOff x="0" y="0"/>
          <a:chExt cx="0" cy="0"/>
        </a:xfrm>
      </p:grpSpPr>
      <p:sp>
        <p:nvSpPr>
          <p:cNvPr id="49" name="Google Shape;49;p39"/>
          <p:cNvSpPr txBox="1">
            <a:spLocks noGrp="1"/>
          </p:cNvSpPr>
          <p:nvPr>
            <p:ph type="title"/>
          </p:nvPr>
        </p:nvSpPr>
        <p:spPr>
          <a:xfrm>
            <a:off x="490250" y="450149"/>
            <a:ext cx="6367801" cy="4090801"/>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000000"/>
              </a:buClr>
              <a:buSzPts val="4800"/>
              <a:buFont typeface="Arial"/>
              <a:buNone/>
              <a:defRPr sz="48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50" name="Google Shape;50;p39"/>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spAutoFit/>
          </a:bodyPr>
          <a:lstStyle>
            <a:lvl1pPr marL="0" lvl="0" indent="0" algn="r">
              <a:lnSpc>
                <a:spcPct val="100000"/>
              </a:lnSpc>
              <a:spcBef>
                <a:spcPts val="0"/>
              </a:spcBef>
              <a:spcAft>
                <a:spcPts val="0"/>
              </a:spcAft>
              <a:buClr>
                <a:srgbClr val="585858"/>
              </a:buClr>
              <a:buSzPts val="1000"/>
              <a:buFont typeface="Arial"/>
              <a:buNone/>
              <a:defRPr sz="1000">
                <a:solidFill>
                  <a:srgbClr val="585858"/>
                </a:solidFill>
              </a:defRPr>
            </a:lvl1pPr>
            <a:lvl2pPr marL="0" lvl="1" indent="0" algn="r">
              <a:lnSpc>
                <a:spcPct val="100000"/>
              </a:lnSpc>
              <a:spcBef>
                <a:spcPts val="0"/>
              </a:spcBef>
              <a:spcAft>
                <a:spcPts val="0"/>
              </a:spcAft>
              <a:buClr>
                <a:srgbClr val="585858"/>
              </a:buClr>
              <a:buSzPts val="1000"/>
              <a:buFont typeface="Arial"/>
              <a:buNone/>
              <a:defRPr sz="1000">
                <a:solidFill>
                  <a:srgbClr val="585858"/>
                </a:solidFill>
              </a:defRPr>
            </a:lvl2pPr>
            <a:lvl3pPr marL="0" lvl="2" indent="0" algn="r">
              <a:lnSpc>
                <a:spcPct val="100000"/>
              </a:lnSpc>
              <a:spcBef>
                <a:spcPts val="0"/>
              </a:spcBef>
              <a:spcAft>
                <a:spcPts val="0"/>
              </a:spcAft>
              <a:buClr>
                <a:srgbClr val="585858"/>
              </a:buClr>
              <a:buSzPts val="1000"/>
              <a:buFont typeface="Arial"/>
              <a:buNone/>
              <a:defRPr sz="1000">
                <a:solidFill>
                  <a:srgbClr val="585858"/>
                </a:solidFill>
              </a:defRPr>
            </a:lvl3pPr>
            <a:lvl4pPr marL="0" lvl="3" indent="0" algn="r">
              <a:lnSpc>
                <a:spcPct val="100000"/>
              </a:lnSpc>
              <a:spcBef>
                <a:spcPts val="0"/>
              </a:spcBef>
              <a:spcAft>
                <a:spcPts val="0"/>
              </a:spcAft>
              <a:buClr>
                <a:srgbClr val="585858"/>
              </a:buClr>
              <a:buSzPts val="1000"/>
              <a:buFont typeface="Arial"/>
              <a:buNone/>
              <a:defRPr sz="1000">
                <a:solidFill>
                  <a:srgbClr val="585858"/>
                </a:solidFill>
              </a:defRPr>
            </a:lvl4pPr>
            <a:lvl5pPr marL="0" lvl="4" indent="0" algn="r">
              <a:lnSpc>
                <a:spcPct val="100000"/>
              </a:lnSpc>
              <a:spcBef>
                <a:spcPts val="0"/>
              </a:spcBef>
              <a:spcAft>
                <a:spcPts val="0"/>
              </a:spcAft>
              <a:buClr>
                <a:srgbClr val="585858"/>
              </a:buClr>
              <a:buSzPts val="1000"/>
              <a:buFont typeface="Arial"/>
              <a:buNone/>
              <a:defRPr sz="1000">
                <a:solidFill>
                  <a:srgbClr val="585858"/>
                </a:solidFill>
              </a:defRPr>
            </a:lvl5pPr>
            <a:lvl6pPr marL="0" lvl="5" indent="0" algn="r">
              <a:lnSpc>
                <a:spcPct val="100000"/>
              </a:lnSpc>
              <a:spcBef>
                <a:spcPts val="0"/>
              </a:spcBef>
              <a:spcAft>
                <a:spcPts val="0"/>
              </a:spcAft>
              <a:buClr>
                <a:srgbClr val="585858"/>
              </a:buClr>
              <a:buSzPts val="1000"/>
              <a:buFont typeface="Arial"/>
              <a:buNone/>
              <a:defRPr sz="1000">
                <a:solidFill>
                  <a:srgbClr val="585858"/>
                </a:solidFill>
              </a:defRPr>
            </a:lvl6pPr>
            <a:lvl7pPr marL="0" lvl="6" indent="0" algn="r">
              <a:lnSpc>
                <a:spcPct val="100000"/>
              </a:lnSpc>
              <a:spcBef>
                <a:spcPts val="0"/>
              </a:spcBef>
              <a:spcAft>
                <a:spcPts val="0"/>
              </a:spcAft>
              <a:buClr>
                <a:srgbClr val="585858"/>
              </a:buClr>
              <a:buSzPts val="1000"/>
              <a:buFont typeface="Arial"/>
              <a:buNone/>
              <a:defRPr sz="1000">
                <a:solidFill>
                  <a:srgbClr val="585858"/>
                </a:solidFill>
              </a:defRPr>
            </a:lvl7pPr>
            <a:lvl8pPr marL="0" lvl="7" indent="0" algn="r">
              <a:lnSpc>
                <a:spcPct val="100000"/>
              </a:lnSpc>
              <a:spcBef>
                <a:spcPts val="0"/>
              </a:spcBef>
              <a:spcAft>
                <a:spcPts val="0"/>
              </a:spcAft>
              <a:buClr>
                <a:srgbClr val="585858"/>
              </a:buClr>
              <a:buSzPts val="1000"/>
              <a:buFont typeface="Arial"/>
              <a:buNone/>
              <a:defRPr sz="1000">
                <a:solidFill>
                  <a:srgbClr val="585858"/>
                </a:solidFill>
              </a:defRPr>
            </a:lvl8pPr>
            <a:lvl9pPr marL="0" lvl="8" indent="0" algn="r">
              <a:lnSpc>
                <a:spcPct val="100000"/>
              </a:lnSpc>
              <a:spcBef>
                <a:spcPts val="0"/>
              </a:spcBef>
              <a:spcAft>
                <a:spcPts val="0"/>
              </a:spcAft>
              <a:buClr>
                <a:srgbClr val="585858"/>
              </a:buClr>
              <a:buSzPts val="1000"/>
              <a:buFont typeface="Arial"/>
              <a:buNone/>
              <a:defRPr sz="1000">
                <a:solidFill>
                  <a:srgbClr val="58585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p:spTree>
      <p:nvGrpSpPr>
        <p:cNvPr id="1" name="Shape 51"/>
        <p:cNvGrpSpPr/>
        <p:nvPr/>
      </p:nvGrpSpPr>
      <p:grpSpPr>
        <a:xfrm>
          <a:off x="0" y="0"/>
          <a:ext cx="0" cy="0"/>
          <a:chOff x="0" y="0"/>
          <a:chExt cx="0" cy="0"/>
        </a:xfrm>
      </p:grpSpPr>
      <p:sp>
        <p:nvSpPr>
          <p:cNvPr id="52" name="Google Shape;52;p40"/>
          <p:cNvSpPr/>
          <p:nvPr/>
        </p:nvSpPr>
        <p:spPr>
          <a:xfrm>
            <a:off x="4572000" y="-125"/>
            <a:ext cx="4572000" cy="5143501"/>
          </a:xfrm>
          <a:prstGeom prst="rect">
            <a:avLst/>
          </a:prstGeom>
          <a:solidFill>
            <a:srgbClr val="EEEEEE"/>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40"/>
          <p:cNvSpPr txBox="1">
            <a:spLocks noGrp="1"/>
          </p:cNvSpPr>
          <p:nvPr>
            <p:ph type="title"/>
          </p:nvPr>
        </p:nvSpPr>
        <p:spPr>
          <a:xfrm>
            <a:off x="265500" y="1233175"/>
            <a:ext cx="4045200" cy="14823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4200"/>
              <a:buFont typeface="Arial"/>
              <a:buNone/>
              <a:defRPr sz="42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54" name="Google Shape;54;p40"/>
          <p:cNvSpPr txBox="1">
            <a:spLocks noGrp="1"/>
          </p:cNvSpPr>
          <p:nvPr>
            <p:ph type="body" idx="1"/>
          </p:nvPr>
        </p:nvSpPr>
        <p:spPr>
          <a:xfrm>
            <a:off x="265500" y="2803075"/>
            <a:ext cx="4045200" cy="12351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2100"/>
              <a:buFont typeface="Arial"/>
              <a:buNone/>
              <a:defRPr sz="2100"/>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55" name="Google Shape;55;p40"/>
          <p:cNvSpPr txBox="1">
            <a:spLocks noGrp="1"/>
          </p:cNvSpPr>
          <p:nvPr>
            <p:ph type="body" idx="2"/>
          </p:nvPr>
        </p:nvSpPr>
        <p:spPr>
          <a:xfrm>
            <a:off x="4939500" y="724074"/>
            <a:ext cx="3837000" cy="3695102"/>
          </a:xfrm>
          <a:prstGeom prst="rect">
            <a:avLst/>
          </a:prstGeom>
          <a:noFill/>
          <a:ln>
            <a:noFill/>
          </a:ln>
        </p:spPr>
        <p:txBody>
          <a:bodyPr spcFirstLastPara="1" wrap="square" lIns="91400" tIns="91400" rIns="91400" bIns="91400" anchor="ctr"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56" name="Google Shape;56;p40"/>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spAutoFit/>
          </a:bodyPr>
          <a:lstStyle>
            <a:lvl1pPr marL="0" lvl="0" indent="0" algn="r">
              <a:lnSpc>
                <a:spcPct val="100000"/>
              </a:lnSpc>
              <a:spcBef>
                <a:spcPts val="0"/>
              </a:spcBef>
              <a:spcAft>
                <a:spcPts val="0"/>
              </a:spcAft>
              <a:buClr>
                <a:srgbClr val="585858"/>
              </a:buClr>
              <a:buSzPts val="1000"/>
              <a:buFont typeface="Arial"/>
              <a:buNone/>
              <a:defRPr sz="1000">
                <a:solidFill>
                  <a:srgbClr val="585858"/>
                </a:solidFill>
              </a:defRPr>
            </a:lvl1pPr>
            <a:lvl2pPr marL="0" lvl="1" indent="0" algn="r">
              <a:lnSpc>
                <a:spcPct val="100000"/>
              </a:lnSpc>
              <a:spcBef>
                <a:spcPts val="0"/>
              </a:spcBef>
              <a:spcAft>
                <a:spcPts val="0"/>
              </a:spcAft>
              <a:buClr>
                <a:srgbClr val="585858"/>
              </a:buClr>
              <a:buSzPts val="1000"/>
              <a:buFont typeface="Arial"/>
              <a:buNone/>
              <a:defRPr sz="1000">
                <a:solidFill>
                  <a:srgbClr val="585858"/>
                </a:solidFill>
              </a:defRPr>
            </a:lvl2pPr>
            <a:lvl3pPr marL="0" lvl="2" indent="0" algn="r">
              <a:lnSpc>
                <a:spcPct val="100000"/>
              </a:lnSpc>
              <a:spcBef>
                <a:spcPts val="0"/>
              </a:spcBef>
              <a:spcAft>
                <a:spcPts val="0"/>
              </a:spcAft>
              <a:buClr>
                <a:srgbClr val="585858"/>
              </a:buClr>
              <a:buSzPts val="1000"/>
              <a:buFont typeface="Arial"/>
              <a:buNone/>
              <a:defRPr sz="1000">
                <a:solidFill>
                  <a:srgbClr val="585858"/>
                </a:solidFill>
              </a:defRPr>
            </a:lvl3pPr>
            <a:lvl4pPr marL="0" lvl="3" indent="0" algn="r">
              <a:lnSpc>
                <a:spcPct val="100000"/>
              </a:lnSpc>
              <a:spcBef>
                <a:spcPts val="0"/>
              </a:spcBef>
              <a:spcAft>
                <a:spcPts val="0"/>
              </a:spcAft>
              <a:buClr>
                <a:srgbClr val="585858"/>
              </a:buClr>
              <a:buSzPts val="1000"/>
              <a:buFont typeface="Arial"/>
              <a:buNone/>
              <a:defRPr sz="1000">
                <a:solidFill>
                  <a:srgbClr val="585858"/>
                </a:solidFill>
              </a:defRPr>
            </a:lvl4pPr>
            <a:lvl5pPr marL="0" lvl="4" indent="0" algn="r">
              <a:lnSpc>
                <a:spcPct val="100000"/>
              </a:lnSpc>
              <a:spcBef>
                <a:spcPts val="0"/>
              </a:spcBef>
              <a:spcAft>
                <a:spcPts val="0"/>
              </a:spcAft>
              <a:buClr>
                <a:srgbClr val="585858"/>
              </a:buClr>
              <a:buSzPts val="1000"/>
              <a:buFont typeface="Arial"/>
              <a:buNone/>
              <a:defRPr sz="1000">
                <a:solidFill>
                  <a:srgbClr val="585858"/>
                </a:solidFill>
              </a:defRPr>
            </a:lvl5pPr>
            <a:lvl6pPr marL="0" lvl="5" indent="0" algn="r">
              <a:lnSpc>
                <a:spcPct val="100000"/>
              </a:lnSpc>
              <a:spcBef>
                <a:spcPts val="0"/>
              </a:spcBef>
              <a:spcAft>
                <a:spcPts val="0"/>
              </a:spcAft>
              <a:buClr>
                <a:srgbClr val="585858"/>
              </a:buClr>
              <a:buSzPts val="1000"/>
              <a:buFont typeface="Arial"/>
              <a:buNone/>
              <a:defRPr sz="1000">
                <a:solidFill>
                  <a:srgbClr val="585858"/>
                </a:solidFill>
              </a:defRPr>
            </a:lvl6pPr>
            <a:lvl7pPr marL="0" lvl="6" indent="0" algn="r">
              <a:lnSpc>
                <a:spcPct val="100000"/>
              </a:lnSpc>
              <a:spcBef>
                <a:spcPts val="0"/>
              </a:spcBef>
              <a:spcAft>
                <a:spcPts val="0"/>
              </a:spcAft>
              <a:buClr>
                <a:srgbClr val="585858"/>
              </a:buClr>
              <a:buSzPts val="1000"/>
              <a:buFont typeface="Arial"/>
              <a:buNone/>
              <a:defRPr sz="1000">
                <a:solidFill>
                  <a:srgbClr val="585858"/>
                </a:solidFill>
              </a:defRPr>
            </a:lvl7pPr>
            <a:lvl8pPr marL="0" lvl="7" indent="0" algn="r">
              <a:lnSpc>
                <a:spcPct val="100000"/>
              </a:lnSpc>
              <a:spcBef>
                <a:spcPts val="0"/>
              </a:spcBef>
              <a:spcAft>
                <a:spcPts val="0"/>
              </a:spcAft>
              <a:buClr>
                <a:srgbClr val="585858"/>
              </a:buClr>
              <a:buSzPts val="1000"/>
              <a:buFont typeface="Arial"/>
              <a:buNone/>
              <a:defRPr sz="1000">
                <a:solidFill>
                  <a:srgbClr val="585858"/>
                </a:solidFill>
              </a:defRPr>
            </a:lvl8pPr>
            <a:lvl9pPr marL="0" lvl="8" indent="0" algn="r">
              <a:lnSpc>
                <a:spcPct val="100000"/>
              </a:lnSpc>
              <a:spcBef>
                <a:spcPts val="0"/>
              </a:spcBef>
              <a:spcAft>
                <a:spcPts val="0"/>
              </a:spcAft>
              <a:buClr>
                <a:srgbClr val="585858"/>
              </a:buClr>
              <a:buSzPts val="1000"/>
              <a:buFont typeface="Arial"/>
              <a:buNone/>
              <a:defRPr sz="1000">
                <a:solidFill>
                  <a:srgbClr val="58585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_ONLY">
  <p:cSld name="CAPTION_ONLY">
    <p:spTree>
      <p:nvGrpSpPr>
        <p:cNvPr id="1" name="Shape 57"/>
        <p:cNvGrpSpPr/>
        <p:nvPr/>
      </p:nvGrpSpPr>
      <p:grpSpPr>
        <a:xfrm>
          <a:off x="0" y="0"/>
          <a:ext cx="0" cy="0"/>
          <a:chOff x="0" y="0"/>
          <a:chExt cx="0" cy="0"/>
        </a:xfrm>
      </p:grpSpPr>
      <p:sp>
        <p:nvSpPr>
          <p:cNvPr id="58" name="Google Shape;58;p41"/>
          <p:cNvSpPr txBox="1">
            <a:spLocks noGrp="1"/>
          </p:cNvSpPr>
          <p:nvPr>
            <p:ph type="body" idx="1"/>
          </p:nvPr>
        </p:nvSpPr>
        <p:spPr>
          <a:xfrm>
            <a:off x="311699" y="4230575"/>
            <a:ext cx="5998802" cy="605101"/>
          </a:xfrm>
          <a:prstGeom prst="rect">
            <a:avLst/>
          </a:prstGeom>
          <a:noFill/>
          <a:ln>
            <a:noFill/>
          </a:ln>
        </p:spPr>
        <p:txBody>
          <a:bodyPr spcFirstLastPara="1" wrap="square" lIns="91400" tIns="91400" rIns="91400" bIns="91400" anchor="ctr" anchorCtr="0">
            <a:normAutofit/>
          </a:bodyPr>
          <a:lstStyle>
            <a:lvl1pPr marL="457200" lvl="0" indent="-228600" algn="l">
              <a:lnSpc>
                <a:spcPct val="100000"/>
              </a:lnSpc>
              <a:spcBef>
                <a:spcPts val="0"/>
              </a:spcBef>
              <a:spcAft>
                <a:spcPts val="0"/>
              </a:spcAft>
              <a:buClr>
                <a:srgbClr val="585858"/>
              </a:buClr>
              <a:buSzPts val="1800"/>
              <a:buNone/>
              <a:defRPr/>
            </a:lvl1pPr>
          </a:lstStyle>
          <a:p>
            <a:endParaRPr/>
          </a:p>
        </p:txBody>
      </p:sp>
      <p:sp>
        <p:nvSpPr>
          <p:cNvPr id="59" name="Google Shape;59;p41"/>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spAutoFit/>
          </a:bodyPr>
          <a:lstStyle>
            <a:lvl1pPr marL="0" lvl="0" indent="0" algn="r">
              <a:lnSpc>
                <a:spcPct val="100000"/>
              </a:lnSpc>
              <a:spcBef>
                <a:spcPts val="0"/>
              </a:spcBef>
              <a:spcAft>
                <a:spcPts val="0"/>
              </a:spcAft>
              <a:buClr>
                <a:srgbClr val="585858"/>
              </a:buClr>
              <a:buSzPts val="1000"/>
              <a:buFont typeface="Arial"/>
              <a:buNone/>
              <a:defRPr sz="1000">
                <a:solidFill>
                  <a:srgbClr val="585858"/>
                </a:solidFill>
              </a:defRPr>
            </a:lvl1pPr>
            <a:lvl2pPr marL="0" lvl="1" indent="0" algn="r">
              <a:lnSpc>
                <a:spcPct val="100000"/>
              </a:lnSpc>
              <a:spcBef>
                <a:spcPts val="0"/>
              </a:spcBef>
              <a:spcAft>
                <a:spcPts val="0"/>
              </a:spcAft>
              <a:buClr>
                <a:srgbClr val="585858"/>
              </a:buClr>
              <a:buSzPts val="1000"/>
              <a:buFont typeface="Arial"/>
              <a:buNone/>
              <a:defRPr sz="1000">
                <a:solidFill>
                  <a:srgbClr val="585858"/>
                </a:solidFill>
              </a:defRPr>
            </a:lvl2pPr>
            <a:lvl3pPr marL="0" lvl="2" indent="0" algn="r">
              <a:lnSpc>
                <a:spcPct val="100000"/>
              </a:lnSpc>
              <a:spcBef>
                <a:spcPts val="0"/>
              </a:spcBef>
              <a:spcAft>
                <a:spcPts val="0"/>
              </a:spcAft>
              <a:buClr>
                <a:srgbClr val="585858"/>
              </a:buClr>
              <a:buSzPts val="1000"/>
              <a:buFont typeface="Arial"/>
              <a:buNone/>
              <a:defRPr sz="1000">
                <a:solidFill>
                  <a:srgbClr val="585858"/>
                </a:solidFill>
              </a:defRPr>
            </a:lvl3pPr>
            <a:lvl4pPr marL="0" lvl="3" indent="0" algn="r">
              <a:lnSpc>
                <a:spcPct val="100000"/>
              </a:lnSpc>
              <a:spcBef>
                <a:spcPts val="0"/>
              </a:spcBef>
              <a:spcAft>
                <a:spcPts val="0"/>
              </a:spcAft>
              <a:buClr>
                <a:srgbClr val="585858"/>
              </a:buClr>
              <a:buSzPts val="1000"/>
              <a:buFont typeface="Arial"/>
              <a:buNone/>
              <a:defRPr sz="1000">
                <a:solidFill>
                  <a:srgbClr val="585858"/>
                </a:solidFill>
              </a:defRPr>
            </a:lvl4pPr>
            <a:lvl5pPr marL="0" lvl="4" indent="0" algn="r">
              <a:lnSpc>
                <a:spcPct val="100000"/>
              </a:lnSpc>
              <a:spcBef>
                <a:spcPts val="0"/>
              </a:spcBef>
              <a:spcAft>
                <a:spcPts val="0"/>
              </a:spcAft>
              <a:buClr>
                <a:srgbClr val="585858"/>
              </a:buClr>
              <a:buSzPts val="1000"/>
              <a:buFont typeface="Arial"/>
              <a:buNone/>
              <a:defRPr sz="1000">
                <a:solidFill>
                  <a:srgbClr val="585858"/>
                </a:solidFill>
              </a:defRPr>
            </a:lvl5pPr>
            <a:lvl6pPr marL="0" lvl="5" indent="0" algn="r">
              <a:lnSpc>
                <a:spcPct val="100000"/>
              </a:lnSpc>
              <a:spcBef>
                <a:spcPts val="0"/>
              </a:spcBef>
              <a:spcAft>
                <a:spcPts val="0"/>
              </a:spcAft>
              <a:buClr>
                <a:srgbClr val="585858"/>
              </a:buClr>
              <a:buSzPts val="1000"/>
              <a:buFont typeface="Arial"/>
              <a:buNone/>
              <a:defRPr sz="1000">
                <a:solidFill>
                  <a:srgbClr val="585858"/>
                </a:solidFill>
              </a:defRPr>
            </a:lvl6pPr>
            <a:lvl7pPr marL="0" lvl="6" indent="0" algn="r">
              <a:lnSpc>
                <a:spcPct val="100000"/>
              </a:lnSpc>
              <a:spcBef>
                <a:spcPts val="0"/>
              </a:spcBef>
              <a:spcAft>
                <a:spcPts val="0"/>
              </a:spcAft>
              <a:buClr>
                <a:srgbClr val="585858"/>
              </a:buClr>
              <a:buSzPts val="1000"/>
              <a:buFont typeface="Arial"/>
              <a:buNone/>
              <a:defRPr sz="1000">
                <a:solidFill>
                  <a:srgbClr val="585858"/>
                </a:solidFill>
              </a:defRPr>
            </a:lvl7pPr>
            <a:lvl8pPr marL="0" lvl="7" indent="0" algn="r">
              <a:lnSpc>
                <a:spcPct val="100000"/>
              </a:lnSpc>
              <a:spcBef>
                <a:spcPts val="0"/>
              </a:spcBef>
              <a:spcAft>
                <a:spcPts val="0"/>
              </a:spcAft>
              <a:buClr>
                <a:srgbClr val="585858"/>
              </a:buClr>
              <a:buSzPts val="1000"/>
              <a:buFont typeface="Arial"/>
              <a:buNone/>
              <a:defRPr sz="1000">
                <a:solidFill>
                  <a:srgbClr val="585858"/>
                </a:solidFill>
              </a:defRPr>
            </a:lvl8pPr>
            <a:lvl9pPr marL="0" lvl="8" indent="0" algn="r">
              <a:lnSpc>
                <a:spcPct val="100000"/>
              </a:lnSpc>
              <a:spcBef>
                <a:spcPts val="0"/>
              </a:spcBef>
              <a:spcAft>
                <a:spcPts val="0"/>
              </a:spcAft>
              <a:buClr>
                <a:srgbClr val="585858"/>
              </a:buClr>
              <a:buSzPts val="1000"/>
              <a:buFont typeface="Arial"/>
              <a:buNone/>
              <a:defRPr sz="1000">
                <a:solidFill>
                  <a:srgbClr val="58585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_NUMBER">
  <p:cSld name="BIG_NUMBER">
    <p:spTree>
      <p:nvGrpSpPr>
        <p:cNvPr id="1" name="Shape 60"/>
        <p:cNvGrpSpPr/>
        <p:nvPr/>
      </p:nvGrpSpPr>
      <p:grpSpPr>
        <a:xfrm>
          <a:off x="0" y="0"/>
          <a:ext cx="0" cy="0"/>
          <a:chOff x="0" y="0"/>
          <a:chExt cx="0" cy="0"/>
        </a:xfrm>
      </p:grpSpPr>
      <p:sp>
        <p:nvSpPr>
          <p:cNvPr id="61" name="Google Shape;61;p42"/>
          <p:cNvSpPr txBox="1">
            <a:spLocks noGrp="1"/>
          </p:cNvSpPr>
          <p:nvPr>
            <p:ph type="title" hasCustomPrompt="1"/>
          </p:nvPr>
        </p:nvSpPr>
        <p:spPr>
          <a:xfrm>
            <a:off x="311699" y="1106125"/>
            <a:ext cx="8520602" cy="1963500"/>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12000"/>
              <a:buFont typeface="Arial"/>
              <a:buNone/>
              <a:defRPr sz="120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r>
              <a:t>xx%</a:t>
            </a:r>
          </a:p>
        </p:txBody>
      </p:sp>
      <p:sp>
        <p:nvSpPr>
          <p:cNvPr id="62" name="Google Shape;62;p42"/>
          <p:cNvSpPr txBox="1">
            <a:spLocks noGrp="1"/>
          </p:cNvSpPr>
          <p:nvPr>
            <p:ph type="body" idx="1"/>
          </p:nvPr>
        </p:nvSpPr>
        <p:spPr>
          <a:xfrm>
            <a:off x="311699" y="3152225"/>
            <a:ext cx="8520602" cy="1300800"/>
          </a:xfrm>
          <a:prstGeom prst="rect">
            <a:avLst/>
          </a:prstGeom>
          <a:noFill/>
          <a:ln>
            <a:noFill/>
          </a:ln>
        </p:spPr>
        <p:txBody>
          <a:bodyPr spcFirstLastPara="1" wrap="square" lIns="91400" tIns="91400" rIns="91400" bIns="91400" anchor="t" anchorCtr="0">
            <a:normAutofit/>
          </a:bodyPr>
          <a:lstStyle>
            <a:lvl1pPr marL="457200" lvl="0" indent="-342900" algn="ctr">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63" name="Google Shape;63;p42"/>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spAutoFit/>
          </a:bodyPr>
          <a:lstStyle>
            <a:lvl1pPr marL="0" lvl="0" indent="0" algn="r">
              <a:lnSpc>
                <a:spcPct val="100000"/>
              </a:lnSpc>
              <a:spcBef>
                <a:spcPts val="0"/>
              </a:spcBef>
              <a:spcAft>
                <a:spcPts val="0"/>
              </a:spcAft>
              <a:buClr>
                <a:srgbClr val="585858"/>
              </a:buClr>
              <a:buSzPts val="1000"/>
              <a:buFont typeface="Arial"/>
              <a:buNone/>
              <a:defRPr sz="1000">
                <a:solidFill>
                  <a:srgbClr val="585858"/>
                </a:solidFill>
              </a:defRPr>
            </a:lvl1pPr>
            <a:lvl2pPr marL="0" lvl="1" indent="0" algn="r">
              <a:lnSpc>
                <a:spcPct val="100000"/>
              </a:lnSpc>
              <a:spcBef>
                <a:spcPts val="0"/>
              </a:spcBef>
              <a:spcAft>
                <a:spcPts val="0"/>
              </a:spcAft>
              <a:buClr>
                <a:srgbClr val="585858"/>
              </a:buClr>
              <a:buSzPts val="1000"/>
              <a:buFont typeface="Arial"/>
              <a:buNone/>
              <a:defRPr sz="1000">
                <a:solidFill>
                  <a:srgbClr val="585858"/>
                </a:solidFill>
              </a:defRPr>
            </a:lvl2pPr>
            <a:lvl3pPr marL="0" lvl="2" indent="0" algn="r">
              <a:lnSpc>
                <a:spcPct val="100000"/>
              </a:lnSpc>
              <a:spcBef>
                <a:spcPts val="0"/>
              </a:spcBef>
              <a:spcAft>
                <a:spcPts val="0"/>
              </a:spcAft>
              <a:buClr>
                <a:srgbClr val="585858"/>
              </a:buClr>
              <a:buSzPts val="1000"/>
              <a:buFont typeface="Arial"/>
              <a:buNone/>
              <a:defRPr sz="1000">
                <a:solidFill>
                  <a:srgbClr val="585858"/>
                </a:solidFill>
              </a:defRPr>
            </a:lvl3pPr>
            <a:lvl4pPr marL="0" lvl="3" indent="0" algn="r">
              <a:lnSpc>
                <a:spcPct val="100000"/>
              </a:lnSpc>
              <a:spcBef>
                <a:spcPts val="0"/>
              </a:spcBef>
              <a:spcAft>
                <a:spcPts val="0"/>
              </a:spcAft>
              <a:buClr>
                <a:srgbClr val="585858"/>
              </a:buClr>
              <a:buSzPts val="1000"/>
              <a:buFont typeface="Arial"/>
              <a:buNone/>
              <a:defRPr sz="1000">
                <a:solidFill>
                  <a:srgbClr val="585858"/>
                </a:solidFill>
              </a:defRPr>
            </a:lvl4pPr>
            <a:lvl5pPr marL="0" lvl="4" indent="0" algn="r">
              <a:lnSpc>
                <a:spcPct val="100000"/>
              </a:lnSpc>
              <a:spcBef>
                <a:spcPts val="0"/>
              </a:spcBef>
              <a:spcAft>
                <a:spcPts val="0"/>
              </a:spcAft>
              <a:buClr>
                <a:srgbClr val="585858"/>
              </a:buClr>
              <a:buSzPts val="1000"/>
              <a:buFont typeface="Arial"/>
              <a:buNone/>
              <a:defRPr sz="1000">
                <a:solidFill>
                  <a:srgbClr val="585858"/>
                </a:solidFill>
              </a:defRPr>
            </a:lvl5pPr>
            <a:lvl6pPr marL="0" lvl="5" indent="0" algn="r">
              <a:lnSpc>
                <a:spcPct val="100000"/>
              </a:lnSpc>
              <a:spcBef>
                <a:spcPts val="0"/>
              </a:spcBef>
              <a:spcAft>
                <a:spcPts val="0"/>
              </a:spcAft>
              <a:buClr>
                <a:srgbClr val="585858"/>
              </a:buClr>
              <a:buSzPts val="1000"/>
              <a:buFont typeface="Arial"/>
              <a:buNone/>
              <a:defRPr sz="1000">
                <a:solidFill>
                  <a:srgbClr val="585858"/>
                </a:solidFill>
              </a:defRPr>
            </a:lvl6pPr>
            <a:lvl7pPr marL="0" lvl="6" indent="0" algn="r">
              <a:lnSpc>
                <a:spcPct val="100000"/>
              </a:lnSpc>
              <a:spcBef>
                <a:spcPts val="0"/>
              </a:spcBef>
              <a:spcAft>
                <a:spcPts val="0"/>
              </a:spcAft>
              <a:buClr>
                <a:srgbClr val="585858"/>
              </a:buClr>
              <a:buSzPts val="1000"/>
              <a:buFont typeface="Arial"/>
              <a:buNone/>
              <a:defRPr sz="1000">
                <a:solidFill>
                  <a:srgbClr val="585858"/>
                </a:solidFill>
              </a:defRPr>
            </a:lvl7pPr>
            <a:lvl8pPr marL="0" lvl="7" indent="0" algn="r">
              <a:lnSpc>
                <a:spcPct val="100000"/>
              </a:lnSpc>
              <a:spcBef>
                <a:spcPts val="0"/>
              </a:spcBef>
              <a:spcAft>
                <a:spcPts val="0"/>
              </a:spcAft>
              <a:buClr>
                <a:srgbClr val="585858"/>
              </a:buClr>
              <a:buSzPts val="1000"/>
              <a:buFont typeface="Arial"/>
              <a:buNone/>
              <a:defRPr sz="1000">
                <a:solidFill>
                  <a:srgbClr val="585858"/>
                </a:solidFill>
              </a:defRPr>
            </a:lvl8pPr>
            <a:lvl9pPr marL="0" lvl="8" indent="0" algn="r">
              <a:lnSpc>
                <a:spcPct val="100000"/>
              </a:lnSpc>
              <a:spcBef>
                <a:spcPts val="0"/>
              </a:spcBef>
              <a:spcAft>
                <a:spcPts val="0"/>
              </a:spcAft>
              <a:buClr>
                <a:srgbClr val="585858"/>
              </a:buClr>
              <a:buSzPts val="1000"/>
              <a:buFont typeface="Arial"/>
              <a:buNone/>
              <a:defRPr sz="1000">
                <a:solidFill>
                  <a:srgbClr val="58585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
        <p:nvSpPr>
          <p:cNvPr id="65" name="Google Shape;65;p43"/>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spAutoFit/>
          </a:bodyPr>
          <a:lstStyle>
            <a:lvl1pPr marL="0" lvl="0" indent="0" algn="r">
              <a:lnSpc>
                <a:spcPct val="100000"/>
              </a:lnSpc>
              <a:spcBef>
                <a:spcPts val="0"/>
              </a:spcBef>
              <a:spcAft>
                <a:spcPts val="0"/>
              </a:spcAft>
              <a:buClr>
                <a:srgbClr val="585858"/>
              </a:buClr>
              <a:buSzPts val="1000"/>
              <a:buFont typeface="Arial"/>
              <a:buNone/>
              <a:defRPr sz="1000">
                <a:solidFill>
                  <a:srgbClr val="585858"/>
                </a:solidFill>
              </a:defRPr>
            </a:lvl1pPr>
            <a:lvl2pPr marL="0" lvl="1" indent="0" algn="r">
              <a:lnSpc>
                <a:spcPct val="100000"/>
              </a:lnSpc>
              <a:spcBef>
                <a:spcPts val="0"/>
              </a:spcBef>
              <a:spcAft>
                <a:spcPts val="0"/>
              </a:spcAft>
              <a:buClr>
                <a:srgbClr val="585858"/>
              </a:buClr>
              <a:buSzPts val="1000"/>
              <a:buFont typeface="Arial"/>
              <a:buNone/>
              <a:defRPr sz="1000">
                <a:solidFill>
                  <a:srgbClr val="585858"/>
                </a:solidFill>
              </a:defRPr>
            </a:lvl2pPr>
            <a:lvl3pPr marL="0" lvl="2" indent="0" algn="r">
              <a:lnSpc>
                <a:spcPct val="100000"/>
              </a:lnSpc>
              <a:spcBef>
                <a:spcPts val="0"/>
              </a:spcBef>
              <a:spcAft>
                <a:spcPts val="0"/>
              </a:spcAft>
              <a:buClr>
                <a:srgbClr val="585858"/>
              </a:buClr>
              <a:buSzPts val="1000"/>
              <a:buFont typeface="Arial"/>
              <a:buNone/>
              <a:defRPr sz="1000">
                <a:solidFill>
                  <a:srgbClr val="585858"/>
                </a:solidFill>
              </a:defRPr>
            </a:lvl3pPr>
            <a:lvl4pPr marL="0" lvl="3" indent="0" algn="r">
              <a:lnSpc>
                <a:spcPct val="100000"/>
              </a:lnSpc>
              <a:spcBef>
                <a:spcPts val="0"/>
              </a:spcBef>
              <a:spcAft>
                <a:spcPts val="0"/>
              </a:spcAft>
              <a:buClr>
                <a:srgbClr val="585858"/>
              </a:buClr>
              <a:buSzPts val="1000"/>
              <a:buFont typeface="Arial"/>
              <a:buNone/>
              <a:defRPr sz="1000">
                <a:solidFill>
                  <a:srgbClr val="585858"/>
                </a:solidFill>
              </a:defRPr>
            </a:lvl4pPr>
            <a:lvl5pPr marL="0" lvl="4" indent="0" algn="r">
              <a:lnSpc>
                <a:spcPct val="100000"/>
              </a:lnSpc>
              <a:spcBef>
                <a:spcPts val="0"/>
              </a:spcBef>
              <a:spcAft>
                <a:spcPts val="0"/>
              </a:spcAft>
              <a:buClr>
                <a:srgbClr val="585858"/>
              </a:buClr>
              <a:buSzPts val="1000"/>
              <a:buFont typeface="Arial"/>
              <a:buNone/>
              <a:defRPr sz="1000">
                <a:solidFill>
                  <a:srgbClr val="585858"/>
                </a:solidFill>
              </a:defRPr>
            </a:lvl5pPr>
            <a:lvl6pPr marL="0" lvl="5" indent="0" algn="r">
              <a:lnSpc>
                <a:spcPct val="100000"/>
              </a:lnSpc>
              <a:spcBef>
                <a:spcPts val="0"/>
              </a:spcBef>
              <a:spcAft>
                <a:spcPts val="0"/>
              </a:spcAft>
              <a:buClr>
                <a:srgbClr val="585858"/>
              </a:buClr>
              <a:buSzPts val="1000"/>
              <a:buFont typeface="Arial"/>
              <a:buNone/>
              <a:defRPr sz="1000">
                <a:solidFill>
                  <a:srgbClr val="585858"/>
                </a:solidFill>
              </a:defRPr>
            </a:lvl6pPr>
            <a:lvl7pPr marL="0" lvl="6" indent="0" algn="r">
              <a:lnSpc>
                <a:spcPct val="100000"/>
              </a:lnSpc>
              <a:spcBef>
                <a:spcPts val="0"/>
              </a:spcBef>
              <a:spcAft>
                <a:spcPts val="0"/>
              </a:spcAft>
              <a:buClr>
                <a:srgbClr val="585858"/>
              </a:buClr>
              <a:buSzPts val="1000"/>
              <a:buFont typeface="Arial"/>
              <a:buNone/>
              <a:defRPr sz="1000">
                <a:solidFill>
                  <a:srgbClr val="585858"/>
                </a:solidFill>
              </a:defRPr>
            </a:lvl7pPr>
            <a:lvl8pPr marL="0" lvl="7" indent="0" algn="r">
              <a:lnSpc>
                <a:spcPct val="100000"/>
              </a:lnSpc>
              <a:spcBef>
                <a:spcPts val="0"/>
              </a:spcBef>
              <a:spcAft>
                <a:spcPts val="0"/>
              </a:spcAft>
              <a:buClr>
                <a:srgbClr val="585858"/>
              </a:buClr>
              <a:buSzPts val="1000"/>
              <a:buFont typeface="Arial"/>
              <a:buNone/>
              <a:defRPr sz="1000">
                <a:solidFill>
                  <a:srgbClr val="585858"/>
                </a:solidFill>
              </a:defRPr>
            </a:lvl8pPr>
            <a:lvl9pPr marL="0" lvl="8" indent="0" algn="r">
              <a:lnSpc>
                <a:spcPct val="100000"/>
              </a:lnSpc>
              <a:spcBef>
                <a:spcPts val="0"/>
              </a:spcBef>
              <a:spcAft>
                <a:spcPts val="0"/>
              </a:spcAft>
              <a:buClr>
                <a:srgbClr val="585858"/>
              </a:buClr>
              <a:buSzPts val="1000"/>
              <a:buFont typeface="Arial"/>
              <a:buNone/>
              <a:defRPr sz="1000">
                <a:solidFill>
                  <a:srgbClr val="58585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66"/>
        <p:cNvGrpSpPr/>
        <p:nvPr/>
      </p:nvGrpSpPr>
      <p:grpSpPr>
        <a:xfrm>
          <a:off x="0" y="0"/>
          <a:ext cx="0" cy="0"/>
          <a:chOff x="0" y="0"/>
          <a:chExt cx="0" cy="0"/>
        </a:xfrm>
      </p:grpSpPr>
      <p:sp>
        <p:nvSpPr>
          <p:cNvPr id="67" name="Google Shape;67;p44"/>
          <p:cNvSpPr txBox="1">
            <a:spLocks noGrp="1"/>
          </p:cNvSpPr>
          <p:nvPr>
            <p:ph type="title"/>
          </p:nvPr>
        </p:nvSpPr>
        <p:spPr>
          <a:xfrm>
            <a:off x="628650" y="273843"/>
            <a:ext cx="7886700" cy="994201"/>
          </a:xfrm>
          <a:prstGeom prst="rect">
            <a:avLst/>
          </a:prstGeom>
          <a:noFill/>
          <a:ln>
            <a:noFill/>
          </a:ln>
        </p:spPr>
        <p:txBody>
          <a:bodyPr spcFirstLastPara="1" wrap="square" lIns="34275" tIns="34275" rIns="34275" bIns="34275" anchor="ctr" anchorCtr="0">
            <a:normAutofit/>
          </a:bodyPr>
          <a:lstStyle>
            <a:lvl1pPr lvl="0" algn="l">
              <a:lnSpc>
                <a:spcPct val="90000"/>
              </a:lnSpc>
              <a:spcBef>
                <a:spcPts val="0"/>
              </a:spcBef>
              <a:spcAft>
                <a:spcPts val="0"/>
              </a:spcAft>
              <a:buClr>
                <a:srgbClr val="000000"/>
              </a:buClr>
              <a:buSzPts val="3300"/>
              <a:buFont typeface="Calibri"/>
              <a:buNone/>
              <a:defRPr sz="3300">
                <a:latin typeface="Calibri"/>
                <a:ea typeface="Calibri"/>
                <a:cs typeface="Calibri"/>
                <a:sym typeface="Calibri"/>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68" name="Google Shape;68;p44"/>
          <p:cNvSpPr txBox="1">
            <a:spLocks noGrp="1"/>
          </p:cNvSpPr>
          <p:nvPr>
            <p:ph type="body" idx="1"/>
          </p:nvPr>
        </p:nvSpPr>
        <p:spPr>
          <a:xfrm>
            <a:off x="628650" y="1369219"/>
            <a:ext cx="3886200" cy="3263401"/>
          </a:xfrm>
          <a:prstGeom prst="rect">
            <a:avLst/>
          </a:prstGeom>
          <a:noFill/>
          <a:ln>
            <a:noFill/>
          </a:ln>
        </p:spPr>
        <p:txBody>
          <a:bodyPr spcFirstLastPara="1" wrap="square" lIns="34275" tIns="34275" rIns="34275" bIns="34275" anchor="t" anchorCtr="0">
            <a:normAutofit/>
          </a:bodyPr>
          <a:lstStyle>
            <a:lvl1pPr marL="457200" lvl="0" indent="-361950" algn="l">
              <a:lnSpc>
                <a:spcPct val="90000"/>
              </a:lnSpc>
              <a:spcBef>
                <a:spcPts val="800"/>
              </a:spcBef>
              <a:spcAft>
                <a:spcPts val="0"/>
              </a:spcAft>
              <a:buClr>
                <a:srgbClr val="000000"/>
              </a:buClr>
              <a:buSzPts val="2100"/>
              <a:buChar char="•"/>
              <a:defRPr sz="2100">
                <a:solidFill>
                  <a:srgbClr val="000000"/>
                </a:solidFill>
                <a:latin typeface="Calibri"/>
                <a:ea typeface="Calibri"/>
                <a:cs typeface="Calibri"/>
                <a:sym typeface="Calibri"/>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69" name="Google Shape;69;p44"/>
          <p:cNvSpPr txBox="1">
            <a:spLocks noGrp="1"/>
          </p:cNvSpPr>
          <p:nvPr>
            <p:ph type="body" idx="2"/>
          </p:nvPr>
        </p:nvSpPr>
        <p:spPr>
          <a:xfrm>
            <a:off x="4629150" y="1369219"/>
            <a:ext cx="3886200" cy="3263401"/>
          </a:xfrm>
          <a:prstGeom prst="rect">
            <a:avLst/>
          </a:prstGeom>
          <a:noFill/>
          <a:ln>
            <a:noFill/>
          </a:ln>
        </p:spPr>
        <p:txBody>
          <a:bodyPr spcFirstLastPara="1" wrap="square" lIns="34275" tIns="34275" rIns="34275" bIns="34275"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70" name="Google Shape;70;p44"/>
          <p:cNvSpPr txBox="1">
            <a:spLocks noGrp="1"/>
          </p:cNvSpPr>
          <p:nvPr>
            <p:ph type="sldNum" idx="12"/>
          </p:nvPr>
        </p:nvSpPr>
        <p:spPr>
          <a:xfrm>
            <a:off x="8318237" y="4800087"/>
            <a:ext cx="197114"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_OBJECTS_WITH_TEXT" type="twoTxTwoObj">
  <p:cSld name="TWO_OBJECTS_WITH_TEXT">
    <p:spTree>
      <p:nvGrpSpPr>
        <p:cNvPr id="1" name="Shape 71"/>
        <p:cNvGrpSpPr/>
        <p:nvPr/>
      </p:nvGrpSpPr>
      <p:grpSpPr>
        <a:xfrm>
          <a:off x="0" y="0"/>
          <a:ext cx="0" cy="0"/>
          <a:chOff x="0" y="0"/>
          <a:chExt cx="0" cy="0"/>
        </a:xfrm>
      </p:grpSpPr>
      <p:sp>
        <p:nvSpPr>
          <p:cNvPr id="72" name="Google Shape;72;p45"/>
          <p:cNvSpPr txBox="1">
            <a:spLocks noGrp="1"/>
          </p:cNvSpPr>
          <p:nvPr>
            <p:ph type="title"/>
          </p:nvPr>
        </p:nvSpPr>
        <p:spPr>
          <a:xfrm>
            <a:off x="629841" y="273843"/>
            <a:ext cx="7886701" cy="994201"/>
          </a:xfrm>
          <a:prstGeom prst="rect">
            <a:avLst/>
          </a:prstGeom>
          <a:noFill/>
          <a:ln>
            <a:noFill/>
          </a:ln>
        </p:spPr>
        <p:txBody>
          <a:bodyPr spcFirstLastPara="1" wrap="square" lIns="34275" tIns="34275" rIns="34275" bIns="34275" anchor="ctr" anchorCtr="0">
            <a:normAutofit/>
          </a:bodyPr>
          <a:lstStyle>
            <a:lvl1pPr lvl="0" algn="l">
              <a:lnSpc>
                <a:spcPct val="90000"/>
              </a:lnSpc>
              <a:spcBef>
                <a:spcPts val="0"/>
              </a:spcBef>
              <a:spcAft>
                <a:spcPts val="0"/>
              </a:spcAft>
              <a:buClr>
                <a:srgbClr val="000000"/>
              </a:buClr>
              <a:buSzPts val="3300"/>
              <a:buFont typeface="Calibri"/>
              <a:buNone/>
              <a:defRPr sz="3300">
                <a:latin typeface="Calibri"/>
                <a:ea typeface="Calibri"/>
                <a:cs typeface="Calibri"/>
                <a:sym typeface="Calibri"/>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73" name="Google Shape;73;p45"/>
          <p:cNvSpPr txBox="1">
            <a:spLocks noGrp="1"/>
          </p:cNvSpPr>
          <p:nvPr>
            <p:ph type="body" idx="1"/>
          </p:nvPr>
        </p:nvSpPr>
        <p:spPr>
          <a:xfrm>
            <a:off x="629841" y="1260871"/>
            <a:ext cx="3868500" cy="618001"/>
          </a:xfrm>
          <a:prstGeom prst="rect">
            <a:avLst/>
          </a:prstGeom>
          <a:noFill/>
          <a:ln>
            <a:noFill/>
          </a:ln>
        </p:spPr>
        <p:txBody>
          <a:bodyPr spcFirstLastPara="1" wrap="square" lIns="34275" tIns="34275" rIns="34275" bIns="34275" anchor="b" anchorCtr="0">
            <a:normAutofit/>
          </a:bodyPr>
          <a:lstStyle>
            <a:lvl1pPr marL="457200" lvl="0" indent="-228600" algn="l">
              <a:lnSpc>
                <a:spcPct val="90000"/>
              </a:lnSpc>
              <a:spcBef>
                <a:spcPts val="800"/>
              </a:spcBef>
              <a:spcAft>
                <a:spcPts val="0"/>
              </a:spcAft>
              <a:buClr>
                <a:srgbClr val="000000"/>
              </a:buClr>
              <a:buSzPts val="1800"/>
              <a:buFont typeface="Calibri"/>
              <a:buNone/>
              <a:defRPr b="1">
                <a:solidFill>
                  <a:srgbClr val="000000"/>
                </a:solidFill>
                <a:latin typeface="Calibri"/>
                <a:ea typeface="Calibri"/>
                <a:cs typeface="Calibri"/>
                <a:sym typeface="Calibri"/>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74" name="Google Shape;74;p45"/>
          <p:cNvSpPr txBox="1">
            <a:spLocks noGrp="1"/>
          </p:cNvSpPr>
          <p:nvPr>
            <p:ph type="body" idx="2"/>
          </p:nvPr>
        </p:nvSpPr>
        <p:spPr>
          <a:xfrm>
            <a:off x="629841" y="1878805"/>
            <a:ext cx="3868500" cy="2763302"/>
          </a:xfrm>
          <a:prstGeom prst="rect">
            <a:avLst/>
          </a:prstGeom>
          <a:noFill/>
          <a:ln>
            <a:noFill/>
          </a:ln>
        </p:spPr>
        <p:txBody>
          <a:bodyPr spcFirstLastPara="1" wrap="square" lIns="34275" tIns="34275" rIns="34275" bIns="34275"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75" name="Google Shape;75;p45"/>
          <p:cNvSpPr txBox="1">
            <a:spLocks noGrp="1"/>
          </p:cNvSpPr>
          <p:nvPr>
            <p:ph type="body" idx="3"/>
          </p:nvPr>
        </p:nvSpPr>
        <p:spPr>
          <a:xfrm>
            <a:off x="4629150" y="1260871"/>
            <a:ext cx="3887400" cy="618001"/>
          </a:xfrm>
          <a:prstGeom prst="rect">
            <a:avLst/>
          </a:prstGeom>
          <a:noFill/>
          <a:ln>
            <a:noFill/>
          </a:ln>
        </p:spPr>
        <p:txBody>
          <a:bodyPr spcFirstLastPara="1" wrap="square" lIns="34275" tIns="34275" rIns="34275" bIns="34275" anchor="b"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76" name="Google Shape;76;p45"/>
          <p:cNvSpPr txBox="1">
            <a:spLocks noGrp="1"/>
          </p:cNvSpPr>
          <p:nvPr>
            <p:ph type="body" idx="4"/>
          </p:nvPr>
        </p:nvSpPr>
        <p:spPr>
          <a:xfrm>
            <a:off x="4629150" y="1878805"/>
            <a:ext cx="3887400" cy="2763302"/>
          </a:xfrm>
          <a:prstGeom prst="rect">
            <a:avLst/>
          </a:prstGeom>
          <a:noFill/>
          <a:ln>
            <a:noFill/>
          </a:ln>
        </p:spPr>
        <p:txBody>
          <a:bodyPr spcFirstLastPara="1" wrap="square" lIns="34275" tIns="34275" rIns="34275" bIns="34275"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77" name="Google Shape;77;p45"/>
          <p:cNvSpPr txBox="1">
            <a:spLocks noGrp="1"/>
          </p:cNvSpPr>
          <p:nvPr>
            <p:ph type="sldNum" idx="12"/>
          </p:nvPr>
        </p:nvSpPr>
        <p:spPr>
          <a:xfrm>
            <a:off x="8318237" y="4800087"/>
            <a:ext cx="197114"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_ONLY">
  <p:cSld name="TITLE_ONLY 2">
    <p:spTree>
      <p:nvGrpSpPr>
        <p:cNvPr id="1" name="Shape 78"/>
        <p:cNvGrpSpPr/>
        <p:nvPr/>
      </p:nvGrpSpPr>
      <p:grpSpPr>
        <a:xfrm>
          <a:off x="0" y="0"/>
          <a:ext cx="0" cy="0"/>
          <a:chOff x="0" y="0"/>
          <a:chExt cx="0" cy="0"/>
        </a:xfrm>
      </p:grpSpPr>
      <p:sp>
        <p:nvSpPr>
          <p:cNvPr id="79" name="Google Shape;79;p46"/>
          <p:cNvSpPr txBox="1">
            <a:spLocks noGrp="1"/>
          </p:cNvSpPr>
          <p:nvPr>
            <p:ph type="title"/>
          </p:nvPr>
        </p:nvSpPr>
        <p:spPr>
          <a:xfrm>
            <a:off x="628650" y="273843"/>
            <a:ext cx="7886700" cy="994201"/>
          </a:xfrm>
          <a:prstGeom prst="rect">
            <a:avLst/>
          </a:prstGeom>
          <a:noFill/>
          <a:ln>
            <a:noFill/>
          </a:ln>
        </p:spPr>
        <p:txBody>
          <a:bodyPr spcFirstLastPara="1" wrap="square" lIns="34275" tIns="34275" rIns="34275" bIns="34275" anchor="ctr" anchorCtr="0">
            <a:normAutofit/>
          </a:bodyPr>
          <a:lstStyle>
            <a:lvl1pPr lvl="0" algn="l">
              <a:lnSpc>
                <a:spcPct val="90000"/>
              </a:lnSpc>
              <a:spcBef>
                <a:spcPts val="0"/>
              </a:spcBef>
              <a:spcAft>
                <a:spcPts val="0"/>
              </a:spcAft>
              <a:buClr>
                <a:srgbClr val="000000"/>
              </a:buClr>
              <a:buSzPts val="3300"/>
              <a:buFont typeface="Calibri"/>
              <a:buNone/>
              <a:defRPr sz="3300">
                <a:latin typeface="Calibri"/>
                <a:ea typeface="Calibri"/>
                <a:cs typeface="Calibri"/>
                <a:sym typeface="Calibri"/>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80" name="Google Shape;80;p46"/>
          <p:cNvSpPr txBox="1">
            <a:spLocks noGrp="1"/>
          </p:cNvSpPr>
          <p:nvPr>
            <p:ph type="sldNum" idx="12"/>
          </p:nvPr>
        </p:nvSpPr>
        <p:spPr>
          <a:xfrm>
            <a:off x="8318237" y="4800087"/>
            <a:ext cx="197114"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p:cSld name="BLANK 2">
    <p:spTree>
      <p:nvGrpSpPr>
        <p:cNvPr id="1" name="Shape 81"/>
        <p:cNvGrpSpPr/>
        <p:nvPr/>
      </p:nvGrpSpPr>
      <p:grpSpPr>
        <a:xfrm>
          <a:off x="0" y="0"/>
          <a:ext cx="0" cy="0"/>
          <a:chOff x="0" y="0"/>
          <a:chExt cx="0" cy="0"/>
        </a:xfrm>
      </p:grpSpPr>
      <p:sp>
        <p:nvSpPr>
          <p:cNvPr id="82" name="Google Shape;82;p47"/>
          <p:cNvSpPr txBox="1">
            <a:spLocks noGrp="1"/>
          </p:cNvSpPr>
          <p:nvPr>
            <p:ph type="sldNum" idx="12"/>
          </p:nvPr>
        </p:nvSpPr>
        <p:spPr>
          <a:xfrm>
            <a:off x="8318237" y="4800087"/>
            <a:ext cx="197114"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83"/>
        <p:cNvGrpSpPr/>
        <p:nvPr/>
      </p:nvGrpSpPr>
      <p:grpSpPr>
        <a:xfrm>
          <a:off x="0" y="0"/>
          <a:ext cx="0" cy="0"/>
          <a:chOff x="0" y="0"/>
          <a:chExt cx="0" cy="0"/>
        </a:xfrm>
      </p:grpSpPr>
      <p:sp>
        <p:nvSpPr>
          <p:cNvPr id="84" name="Google Shape;84;p48"/>
          <p:cNvSpPr txBox="1">
            <a:spLocks noGrp="1"/>
          </p:cNvSpPr>
          <p:nvPr>
            <p:ph type="title"/>
          </p:nvPr>
        </p:nvSpPr>
        <p:spPr>
          <a:xfrm>
            <a:off x="629841" y="342900"/>
            <a:ext cx="2949001" cy="1200300"/>
          </a:xfrm>
          <a:prstGeom prst="rect">
            <a:avLst/>
          </a:prstGeom>
          <a:noFill/>
          <a:ln>
            <a:noFill/>
          </a:ln>
        </p:spPr>
        <p:txBody>
          <a:bodyPr spcFirstLastPara="1" wrap="square" lIns="34275" tIns="34275" rIns="34275" bIns="34275" anchor="b" anchorCtr="0">
            <a:normAutofit/>
          </a:bodyPr>
          <a:lstStyle>
            <a:lvl1pPr lvl="0" algn="l">
              <a:lnSpc>
                <a:spcPct val="90000"/>
              </a:lnSpc>
              <a:spcBef>
                <a:spcPts val="0"/>
              </a:spcBef>
              <a:spcAft>
                <a:spcPts val="0"/>
              </a:spcAft>
              <a:buClr>
                <a:srgbClr val="000000"/>
              </a:buClr>
              <a:buSzPts val="2400"/>
              <a:buFont typeface="Calibri"/>
              <a:buNone/>
              <a:defRPr sz="2400">
                <a:latin typeface="Calibri"/>
                <a:ea typeface="Calibri"/>
                <a:cs typeface="Calibri"/>
                <a:sym typeface="Calibri"/>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85" name="Google Shape;85;p48"/>
          <p:cNvSpPr txBox="1">
            <a:spLocks noGrp="1"/>
          </p:cNvSpPr>
          <p:nvPr>
            <p:ph type="body" idx="1"/>
          </p:nvPr>
        </p:nvSpPr>
        <p:spPr>
          <a:xfrm>
            <a:off x="3887391" y="740568"/>
            <a:ext cx="4629301" cy="3655202"/>
          </a:xfrm>
          <a:prstGeom prst="rect">
            <a:avLst/>
          </a:prstGeom>
          <a:noFill/>
          <a:ln>
            <a:noFill/>
          </a:ln>
        </p:spPr>
        <p:txBody>
          <a:bodyPr spcFirstLastPara="1" wrap="square" lIns="34275" tIns="34275" rIns="34275" bIns="34275" anchor="t" anchorCtr="0">
            <a:normAutofit/>
          </a:bodyPr>
          <a:lstStyle>
            <a:lvl1pPr marL="457200" lvl="0" indent="-381000" algn="l">
              <a:lnSpc>
                <a:spcPct val="90000"/>
              </a:lnSpc>
              <a:spcBef>
                <a:spcPts val="800"/>
              </a:spcBef>
              <a:spcAft>
                <a:spcPts val="0"/>
              </a:spcAft>
              <a:buClr>
                <a:srgbClr val="000000"/>
              </a:buClr>
              <a:buSzPts val="2400"/>
              <a:buChar char="•"/>
              <a:defRPr sz="2400">
                <a:solidFill>
                  <a:srgbClr val="000000"/>
                </a:solidFill>
                <a:latin typeface="Calibri"/>
                <a:ea typeface="Calibri"/>
                <a:cs typeface="Calibri"/>
                <a:sym typeface="Calibri"/>
              </a:defRPr>
            </a:lvl1pPr>
            <a:lvl2pPr marL="914400" lvl="1" indent="-381000" algn="l">
              <a:lnSpc>
                <a:spcPct val="90000"/>
              </a:lnSpc>
              <a:spcBef>
                <a:spcPts val="800"/>
              </a:spcBef>
              <a:spcAft>
                <a:spcPts val="0"/>
              </a:spcAft>
              <a:buClr>
                <a:srgbClr val="000000"/>
              </a:buClr>
              <a:buSzPts val="2400"/>
              <a:buChar char="•"/>
              <a:defRPr sz="2400">
                <a:solidFill>
                  <a:srgbClr val="000000"/>
                </a:solidFill>
                <a:latin typeface="Calibri"/>
                <a:ea typeface="Calibri"/>
                <a:cs typeface="Calibri"/>
                <a:sym typeface="Calibri"/>
              </a:defRPr>
            </a:lvl2pPr>
            <a:lvl3pPr marL="1371600" lvl="2" indent="-381000" algn="l">
              <a:lnSpc>
                <a:spcPct val="90000"/>
              </a:lnSpc>
              <a:spcBef>
                <a:spcPts val="800"/>
              </a:spcBef>
              <a:spcAft>
                <a:spcPts val="0"/>
              </a:spcAft>
              <a:buClr>
                <a:srgbClr val="000000"/>
              </a:buClr>
              <a:buSzPts val="2400"/>
              <a:buChar char="•"/>
              <a:defRPr sz="2400">
                <a:solidFill>
                  <a:srgbClr val="000000"/>
                </a:solidFill>
                <a:latin typeface="Calibri"/>
                <a:ea typeface="Calibri"/>
                <a:cs typeface="Calibri"/>
                <a:sym typeface="Calibri"/>
              </a:defRPr>
            </a:lvl3pPr>
            <a:lvl4pPr marL="1828800" lvl="3" indent="-381000" algn="l">
              <a:lnSpc>
                <a:spcPct val="90000"/>
              </a:lnSpc>
              <a:spcBef>
                <a:spcPts val="800"/>
              </a:spcBef>
              <a:spcAft>
                <a:spcPts val="0"/>
              </a:spcAft>
              <a:buClr>
                <a:srgbClr val="000000"/>
              </a:buClr>
              <a:buSzPts val="2400"/>
              <a:buChar char="•"/>
              <a:defRPr sz="2400">
                <a:solidFill>
                  <a:srgbClr val="000000"/>
                </a:solidFill>
                <a:latin typeface="Calibri"/>
                <a:ea typeface="Calibri"/>
                <a:cs typeface="Calibri"/>
                <a:sym typeface="Calibri"/>
              </a:defRPr>
            </a:lvl4pPr>
            <a:lvl5pPr marL="2286000" lvl="4" indent="-381000" algn="l">
              <a:lnSpc>
                <a:spcPct val="90000"/>
              </a:lnSpc>
              <a:spcBef>
                <a:spcPts val="800"/>
              </a:spcBef>
              <a:spcAft>
                <a:spcPts val="0"/>
              </a:spcAft>
              <a:buClr>
                <a:srgbClr val="000000"/>
              </a:buClr>
              <a:buSzPts val="2400"/>
              <a:buChar char="•"/>
              <a:defRPr sz="2400">
                <a:solidFill>
                  <a:srgbClr val="000000"/>
                </a:solidFill>
                <a:latin typeface="Calibri"/>
                <a:ea typeface="Calibri"/>
                <a:cs typeface="Calibri"/>
                <a:sym typeface="Calibri"/>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86" name="Google Shape;86;p48"/>
          <p:cNvSpPr txBox="1">
            <a:spLocks noGrp="1"/>
          </p:cNvSpPr>
          <p:nvPr>
            <p:ph type="body" idx="2"/>
          </p:nvPr>
        </p:nvSpPr>
        <p:spPr>
          <a:xfrm>
            <a:off x="629841" y="1543049"/>
            <a:ext cx="2949001" cy="2858702"/>
          </a:xfrm>
          <a:prstGeom prst="rect">
            <a:avLst/>
          </a:prstGeom>
          <a:noFill/>
          <a:ln>
            <a:noFill/>
          </a:ln>
        </p:spPr>
        <p:txBody>
          <a:bodyPr spcFirstLastPara="1" wrap="square" lIns="34275" tIns="34275" rIns="34275" bIns="34275"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87" name="Google Shape;87;p48"/>
          <p:cNvSpPr txBox="1">
            <a:spLocks noGrp="1"/>
          </p:cNvSpPr>
          <p:nvPr>
            <p:ph type="sldNum" idx="12"/>
          </p:nvPr>
        </p:nvSpPr>
        <p:spPr>
          <a:xfrm>
            <a:off x="8318237" y="4800088"/>
            <a:ext cx="197114"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88"/>
        <p:cNvGrpSpPr/>
        <p:nvPr/>
      </p:nvGrpSpPr>
      <p:grpSpPr>
        <a:xfrm>
          <a:off x="0" y="0"/>
          <a:ext cx="0" cy="0"/>
          <a:chOff x="0" y="0"/>
          <a:chExt cx="0" cy="0"/>
        </a:xfrm>
      </p:grpSpPr>
      <p:sp>
        <p:nvSpPr>
          <p:cNvPr id="89" name="Google Shape;89;p49"/>
          <p:cNvSpPr txBox="1">
            <a:spLocks noGrp="1"/>
          </p:cNvSpPr>
          <p:nvPr>
            <p:ph type="title"/>
          </p:nvPr>
        </p:nvSpPr>
        <p:spPr>
          <a:xfrm>
            <a:off x="629841" y="342900"/>
            <a:ext cx="2949001" cy="1200300"/>
          </a:xfrm>
          <a:prstGeom prst="rect">
            <a:avLst/>
          </a:prstGeom>
          <a:noFill/>
          <a:ln>
            <a:noFill/>
          </a:ln>
        </p:spPr>
        <p:txBody>
          <a:bodyPr spcFirstLastPara="1" wrap="square" lIns="34275" tIns="34275" rIns="34275" bIns="34275" anchor="b" anchorCtr="0">
            <a:normAutofit/>
          </a:bodyPr>
          <a:lstStyle>
            <a:lvl1pPr lvl="0" algn="l">
              <a:lnSpc>
                <a:spcPct val="90000"/>
              </a:lnSpc>
              <a:spcBef>
                <a:spcPts val="0"/>
              </a:spcBef>
              <a:spcAft>
                <a:spcPts val="0"/>
              </a:spcAft>
              <a:buClr>
                <a:srgbClr val="000000"/>
              </a:buClr>
              <a:buSzPts val="2400"/>
              <a:buFont typeface="Calibri"/>
              <a:buNone/>
              <a:defRPr sz="2400">
                <a:latin typeface="Calibri"/>
                <a:ea typeface="Calibri"/>
                <a:cs typeface="Calibri"/>
                <a:sym typeface="Calibri"/>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90" name="Google Shape;90;p49"/>
          <p:cNvSpPr>
            <a:spLocks noGrp="1"/>
          </p:cNvSpPr>
          <p:nvPr>
            <p:ph type="pic" idx="2"/>
          </p:nvPr>
        </p:nvSpPr>
        <p:spPr>
          <a:xfrm>
            <a:off x="3887391" y="740568"/>
            <a:ext cx="4629301" cy="3655202"/>
          </a:xfrm>
          <a:prstGeom prst="rect">
            <a:avLst/>
          </a:prstGeom>
          <a:noFill/>
          <a:ln>
            <a:noFill/>
          </a:ln>
        </p:spPr>
        <p:txBody>
          <a:bodyPr spcFirstLastPara="1" wrap="square" lIns="91425" tIns="45700" rIns="91425" bIns="45700" anchor="t" anchorCtr="0">
            <a:noAutofit/>
          </a:bodyPr>
          <a:lstStyle>
            <a:lvl1pPr marR="0" lvl="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1pPr>
            <a:lvl2pPr marR="0" lvl="1"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2pPr>
            <a:lvl3pPr marR="0" lvl="2"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3pPr>
            <a:lvl4pPr marR="0" lvl="3"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4pPr>
            <a:lvl5pPr marR="0" lvl="4"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5pPr>
            <a:lvl6pPr marR="0" lvl="5"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6pPr>
            <a:lvl7pPr marR="0" lvl="6"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7pPr>
            <a:lvl8pPr marR="0" lvl="7"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8pPr>
            <a:lvl9pPr marR="0" lvl="8"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9pPr>
          </a:lstStyle>
          <a:p>
            <a:endParaRPr/>
          </a:p>
        </p:txBody>
      </p:sp>
      <p:sp>
        <p:nvSpPr>
          <p:cNvPr id="91" name="Google Shape;91;p49"/>
          <p:cNvSpPr txBox="1">
            <a:spLocks noGrp="1"/>
          </p:cNvSpPr>
          <p:nvPr>
            <p:ph type="body" idx="1"/>
          </p:nvPr>
        </p:nvSpPr>
        <p:spPr>
          <a:xfrm>
            <a:off x="629841" y="1543050"/>
            <a:ext cx="2949001" cy="2858700"/>
          </a:xfrm>
          <a:prstGeom prst="rect">
            <a:avLst/>
          </a:prstGeom>
          <a:noFill/>
          <a:ln>
            <a:noFill/>
          </a:ln>
        </p:spPr>
        <p:txBody>
          <a:bodyPr spcFirstLastPara="1" wrap="square" lIns="34275" tIns="34275" rIns="34275" bIns="34275" anchor="t" anchorCtr="0">
            <a:normAutofit/>
          </a:bodyPr>
          <a:lstStyle>
            <a:lvl1pPr marL="457200" lvl="0" indent="-228600" algn="l">
              <a:lnSpc>
                <a:spcPct val="90000"/>
              </a:lnSpc>
              <a:spcBef>
                <a:spcPts val="800"/>
              </a:spcBef>
              <a:spcAft>
                <a:spcPts val="0"/>
              </a:spcAft>
              <a:buClr>
                <a:srgbClr val="000000"/>
              </a:buClr>
              <a:buSzPts val="1200"/>
              <a:buFont typeface="Calibri"/>
              <a:buNone/>
              <a:defRPr sz="1200">
                <a:solidFill>
                  <a:srgbClr val="000000"/>
                </a:solidFill>
                <a:latin typeface="Calibri"/>
                <a:ea typeface="Calibri"/>
                <a:cs typeface="Calibri"/>
                <a:sym typeface="Calibri"/>
              </a:defRPr>
            </a:lvl1pPr>
            <a:lvl2pPr marL="914400" lvl="1" indent="-228600" algn="l">
              <a:lnSpc>
                <a:spcPct val="90000"/>
              </a:lnSpc>
              <a:spcBef>
                <a:spcPts val="800"/>
              </a:spcBef>
              <a:spcAft>
                <a:spcPts val="0"/>
              </a:spcAft>
              <a:buClr>
                <a:srgbClr val="000000"/>
              </a:buClr>
              <a:buSzPts val="1200"/>
              <a:buFont typeface="Calibri"/>
              <a:buNone/>
              <a:defRPr sz="1200">
                <a:solidFill>
                  <a:srgbClr val="000000"/>
                </a:solidFill>
                <a:latin typeface="Calibri"/>
                <a:ea typeface="Calibri"/>
                <a:cs typeface="Calibri"/>
                <a:sym typeface="Calibri"/>
              </a:defRPr>
            </a:lvl2pPr>
            <a:lvl3pPr marL="1371600" lvl="2" indent="-228600" algn="l">
              <a:lnSpc>
                <a:spcPct val="90000"/>
              </a:lnSpc>
              <a:spcBef>
                <a:spcPts val="800"/>
              </a:spcBef>
              <a:spcAft>
                <a:spcPts val="0"/>
              </a:spcAft>
              <a:buClr>
                <a:srgbClr val="000000"/>
              </a:buClr>
              <a:buSzPts val="1200"/>
              <a:buFont typeface="Calibri"/>
              <a:buNone/>
              <a:defRPr sz="1200">
                <a:solidFill>
                  <a:srgbClr val="000000"/>
                </a:solidFill>
                <a:latin typeface="Calibri"/>
                <a:ea typeface="Calibri"/>
                <a:cs typeface="Calibri"/>
                <a:sym typeface="Calibri"/>
              </a:defRPr>
            </a:lvl3pPr>
            <a:lvl4pPr marL="1828800" lvl="3" indent="-228600" algn="l">
              <a:lnSpc>
                <a:spcPct val="90000"/>
              </a:lnSpc>
              <a:spcBef>
                <a:spcPts val="800"/>
              </a:spcBef>
              <a:spcAft>
                <a:spcPts val="0"/>
              </a:spcAft>
              <a:buClr>
                <a:srgbClr val="000000"/>
              </a:buClr>
              <a:buSzPts val="1200"/>
              <a:buFont typeface="Calibri"/>
              <a:buNone/>
              <a:defRPr sz="1200">
                <a:solidFill>
                  <a:srgbClr val="000000"/>
                </a:solidFill>
                <a:latin typeface="Calibri"/>
                <a:ea typeface="Calibri"/>
                <a:cs typeface="Calibri"/>
                <a:sym typeface="Calibri"/>
              </a:defRPr>
            </a:lvl4pPr>
            <a:lvl5pPr marL="2286000" lvl="4" indent="-228600" algn="l">
              <a:lnSpc>
                <a:spcPct val="90000"/>
              </a:lnSpc>
              <a:spcBef>
                <a:spcPts val="800"/>
              </a:spcBef>
              <a:spcAft>
                <a:spcPts val="0"/>
              </a:spcAft>
              <a:buClr>
                <a:srgbClr val="000000"/>
              </a:buClr>
              <a:buSzPts val="1200"/>
              <a:buFont typeface="Calibri"/>
              <a:buNone/>
              <a:defRPr sz="1200">
                <a:solidFill>
                  <a:srgbClr val="000000"/>
                </a:solidFill>
                <a:latin typeface="Calibri"/>
                <a:ea typeface="Calibri"/>
                <a:cs typeface="Calibri"/>
                <a:sym typeface="Calibri"/>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92" name="Google Shape;92;p49"/>
          <p:cNvSpPr txBox="1">
            <a:spLocks noGrp="1"/>
          </p:cNvSpPr>
          <p:nvPr>
            <p:ph type="sldNum" idx="12"/>
          </p:nvPr>
        </p:nvSpPr>
        <p:spPr>
          <a:xfrm>
            <a:off x="8318237" y="4800088"/>
            <a:ext cx="197114"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93"/>
        <p:cNvGrpSpPr/>
        <p:nvPr/>
      </p:nvGrpSpPr>
      <p:grpSpPr>
        <a:xfrm>
          <a:off x="0" y="0"/>
          <a:ext cx="0" cy="0"/>
          <a:chOff x="0" y="0"/>
          <a:chExt cx="0" cy="0"/>
        </a:xfrm>
      </p:grpSpPr>
      <p:sp>
        <p:nvSpPr>
          <p:cNvPr id="94" name="Google Shape;94;p50"/>
          <p:cNvSpPr txBox="1">
            <a:spLocks noGrp="1"/>
          </p:cNvSpPr>
          <p:nvPr>
            <p:ph type="title"/>
          </p:nvPr>
        </p:nvSpPr>
        <p:spPr>
          <a:xfrm>
            <a:off x="628650" y="273843"/>
            <a:ext cx="7886700" cy="994201"/>
          </a:xfrm>
          <a:prstGeom prst="rect">
            <a:avLst/>
          </a:prstGeom>
          <a:noFill/>
          <a:ln>
            <a:noFill/>
          </a:ln>
        </p:spPr>
        <p:txBody>
          <a:bodyPr spcFirstLastPara="1" wrap="square" lIns="34275" tIns="34275" rIns="34275" bIns="34275" anchor="ctr" anchorCtr="0">
            <a:normAutofit/>
          </a:bodyPr>
          <a:lstStyle>
            <a:lvl1pPr lvl="0" algn="l">
              <a:lnSpc>
                <a:spcPct val="90000"/>
              </a:lnSpc>
              <a:spcBef>
                <a:spcPts val="0"/>
              </a:spcBef>
              <a:spcAft>
                <a:spcPts val="0"/>
              </a:spcAft>
              <a:buClr>
                <a:srgbClr val="000000"/>
              </a:buClr>
              <a:buSzPts val="3300"/>
              <a:buFont typeface="Calibri"/>
              <a:buNone/>
              <a:defRPr sz="3300">
                <a:latin typeface="Calibri"/>
                <a:ea typeface="Calibri"/>
                <a:cs typeface="Calibri"/>
                <a:sym typeface="Calibri"/>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95" name="Google Shape;95;p50"/>
          <p:cNvSpPr txBox="1">
            <a:spLocks noGrp="1"/>
          </p:cNvSpPr>
          <p:nvPr>
            <p:ph type="body" idx="1"/>
          </p:nvPr>
        </p:nvSpPr>
        <p:spPr>
          <a:xfrm rot="5400000">
            <a:off x="2940299" y="-942432"/>
            <a:ext cx="3263402" cy="7886701"/>
          </a:xfrm>
          <a:prstGeom prst="rect">
            <a:avLst/>
          </a:prstGeom>
          <a:noFill/>
          <a:ln>
            <a:noFill/>
          </a:ln>
        </p:spPr>
        <p:txBody>
          <a:bodyPr spcFirstLastPara="1" wrap="square" lIns="34275" tIns="34275" rIns="34275" bIns="34275" anchor="t" anchorCtr="0">
            <a:normAutofit/>
          </a:bodyPr>
          <a:lstStyle>
            <a:lvl1pPr marL="457200" lvl="0" indent="-361950" algn="l">
              <a:lnSpc>
                <a:spcPct val="90000"/>
              </a:lnSpc>
              <a:spcBef>
                <a:spcPts val="800"/>
              </a:spcBef>
              <a:spcAft>
                <a:spcPts val="0"/>
              </a:spcAft>
              <a:buClr>
                <a:srgbClr val="000000"/>
              </a:buClr>
              <a:buSzPts val="2100"/>
              <a:buChar char="•"/>
              <a:defRPr sz="2100">
                <a:solidFill>
                  <a:srgbClr val="000000"/>
                </a:solidFill>
                <a:latin typeface="Calibri"/>
                <a:ea typeface="Calibri"/>
                <a:cs typeface="Calibri"/>
                <a:sym typeface="Calibri"/>
              </a:defRPr>
            </a:lvl1pPr>
            <a:lvl2pPr marL="914400" lvl="1" indent="-361950" algn="l">
              <a:lnSpc>
                <a:spcPct val="90000"/>
              </a:lnSpc>
              <a:spcBef>
                <a:spcPts val="800"/>
              </a:spcBef>
              <a:spcAft>
                <a:spcPts val="0"/>
              </a:spcAft>
              <a:buClr>
                <a:srgbClr val="000000"/>
              </a:buClr>
              <a:buSzPts val="2100"/>
              <a:buChar char="•"/>
              <a:defRPr sz="2100">
                <a:solidFill>
                  <a:srgbClr val="000000"/>
                </a:solidFill>
                <a:latin typeface="Calibri"/>
                <a:ea typeface="Calibri"/>
                <a:cs typeface="Calibri"/>
                <a:sym typeface="Calibri"/>
              </a:defRPr>
            </a:lvl2pPr>
            <a:lvl3pPr marL="1371600" lvl="2" indent="-361950" algn="l">
              <a:lnSpc>
                <a:spcPct val="90000"/>
              </a:lnSpc>
              <a:spcBef>
                <a:spcPts val="800"/>
              </a:spcBef>
              <a:spcAft>
                <a:spcPts val="0"/>
              </a:spcAft>
              <a:buClr>
                <a:srgbClr val="000000"/>
              </a:buClr>
              <a:buSzPts val="2100"/>
              <a:buChar char="•"/>
              <a:defRPr sz="2100">
                <a:solidFill>
                  <a:srgbClr val="000000"/>
                </a:solidFill>
                <a:latin typeface="Calibri"/>
                <a:ea typeface="Calibri"/>
                <a:cs typeface="Calibri"/>
                <a:sym typeface="Calibri"/>
              </a:defRPr>
            </a:lvl3pPr>
            <a:lvl4pPr marL="1828800" lvl="3" indent="-361950" algn="l">
              <a:lnSpc>
                <a:spcPct val="90000"/>
              </a:lnSpc>
              <a:spcBef>
                <a:spcPts val="800"/>
              </a:spcBef>
              <a:spcAft>
                <a:spcPts val="0"/>
              </a:spcAft>
              <a:buClr>
                <a:srgbClr val="000000"/>
              </a:buClr>
              <a:buSzPts val="2100"/>
              <a:buChar char="•"/>
              <a:defRPr sz="2100">
                <a:solidFill>
                  <a:srgbClr val="000000"/>
                </a:solidFill>
                <a:latin typeface="Calibri"/>
                <a:ea typeface="Calibri"/>
                <a:cs typeface="Calibri"/>
                <a:sym typeface="Calibri"/>
              </a:defRPr>
            </a:lvl4pPr>
            <a:lvl5pPr marL="2286000" lvl="4" indent="-361950" algn="l">
              <a:lnSpc>
                <a:spcPct val="90000"/>
              </a:lnSpc>
              <a:spcBef>
                <a:spcPts val="800"/>
              </a:spcBef>
              <a:spcAft>
                <a:spcPts val="0"/>
              </a:spcAft>
              <a:buClr>
                <a:srgbClr val="000000"/>
              </a:buClr>
              <a:buSzPts val="2100"/>
              <a:buChar char="•"/>
              <a:defRPr sz="2100">
                <a:solidFill>
                  <a:srgbClr val="000000"/>
                </a:solidFill>
                <a:latin typeface="Calibri"/>
                <a:ea typeface="Calibri"/>
                <a:cs typeface="Calibri"/>
                <a:sym typeface="Calibri"/>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96" name="Google Shape;96;p50"/>
          <p:cNvSpPr txBox="1">
            <a:spLocks noGrp="1"/>
          </p:cNvSpPr>
          <p:nvPr>
            <p:ph type="sldNum" idx="12"/>
          </p:nvPr>
        </p:nvSpPr>
        <p:spPr>
          <a:xfrm>
            <a:off x="8318237" y="4800088"/>
            <a:ext cx="197114"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97"/>
        <p:cNvGrpSpPr/>
        <p:nvPr/>
      </p:nvGrpSpPr>
      <p:grpSpPr>
        <a:xfrm>
          <a:off x="0" y="0"/>
          <a:ext cx="0" cy="0"/>
          <a:chOff x="0" y="0"/>
          <a:chExt cx="0" cy="0"/>
        </a:xfrm>
      </p:grpSpPr>
      <p:sp>
        <p:nvSpPr>
          <p:cNvPr id="98" name="Google Shape;98;p51"/>
          <p:cNvSpPr txBox="1">
            <a:spLocks noGrp="1"/>
          </p:cNvSpPr>
          <p:nvPr>
            <p:ph type="title"/>
          </p:nvPr>
        </p:nvSpPr>
        <p:spPr>
          <a:xfrm rot="5400000">
            <a:off x="5350050" y="1467544"/>
            <a:ext cx="4359001" cy="1971601"/>
          </a:xfrm>
          <a:prstGeom prst="rect">
            <a:avLst/>
          </a:prstGeom>
          <a:noFill/>
          <a:ln>
            <a:noFill/>
          </a:ln>
        </p:spPr>
        <p:txBody>
          <a:bodyPr spcFirstLastPara="1" wrap="square" lIns="34275" tIns="34275" rIns="34275" bIns="34275" anchor="ctr" anchorCtr="0">
            <a:normAutofit/>
          </a:bodyPr>
          <a:lstStyle>
            <a:lvl1pPr lvl="0" algn="l">
              <a:lnSpc>
                <a:spcPct val="90000"/>
              </a:lnSpc>
              <a:spcBef>
                <a:spcPts val="0"/>
              </a:spcBef>
              <a:spcAft>
                <a:spcPts val="0"/>
              </a:spcAft>
              <a:buClr>
                <a:srgbClr val="000000"/>
              </a:buClr>
              <a:buSzPts val="3300"/>
              <a:buFont typeface="Calibri"/>
              <a:buNone/>
              <a:defRPr sz="3300">
                <a:latin typeface="Calibri"/>
                <a:ea typeface="Calibri"/>
                <a:cs typeface="Calibri"/>
                <a:sym typeface="Calibri"/>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99" name="Google Shape;99;p51"/>
          <p:cNvSpPr txBox="1">
            <a:spLocks noGrp="1"/>
          </p:cNvSpPr>
          <p:nvPr>
            <p:ph type="body" idx="1"/>
          </p:nvPr>
        </p:nvSpPr>
        <p:spPr>
          <a:xfrm rot="5400000">
            <a:off x="1349474" y="-447056"/>
            <a:ext cx="4359001" cy="5800801"/>
          </a:xfrm>
          <a:prstGeom prst="rect">
            <a:avLst/>
          </a:prstGeom>
          <a:noFill/>
          <a:ln>
            <a:noFill/>
          </a:ln>
        </p:spPr>
        <p:txBody>
          <a:bodyPr spcFirstLastPara="1" wrap="square" lIns="34275" tIns="34275" rIns="34275" bIns="34275" anchor="t" anchorCtr="0">
            <a:normAutofit/>
          </a:bodyPr>
          <a:lstStyle>
            <a:lvl1pPr marL="457200" lvl="0" indent="-361950" algn="l">
              <a:lnSpc>
                <a:spcPct val="90000"/>
              </a:lnSpc>
              <a:spcBef>
                <a:spcPts val="800"/>
              </a:spcBef>
              <a:spcAft>
                <a:spcPts val="0"/>
              </a:spcAft>
              <a:buClr>
                <a:srgbClr val="000000"/>
              </a:buClr>
              <a:buSzPts val="2100"/>
              <a:buChar char="•"/>
              <a:defRPr sz="2100">
                <a:solidFill>
                  <a:srgbClr val="000000"/>
                </a:solidFill>
                <a:latin typeface="Calibri"/>
                <a:ea typeface="Calibri"/>
                <a:cs typeface="Calibri"/>
                <a:sym typeface="Calibri"/>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100" name="Google Shape;100;p51"/>
          <p:cNvSpPr txBox="1">
            <a:spLocks noGrp="1"/>
          </p:cNvSpPr>
          <p:nvPr>
            <p:ph type="sldNum" idx="12"/>
          </p:nvPr>
        </p:nvSpPr>
        <p:spPr>
          <a:xfrm>
            <a:off x="8318237" y="4800087"/>
            <a:ext cx="197114"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_HEADER">
  <p:cSld name="1_SECTION_HEADER">
    <p:spTree>
      <p:nvGrpSpPr>
        <p:cNvPr id="1" name="Shape 33"/>
        <p:cNvGrpSpPr/>
        <p:nvPr/>
      </p:nvGrpSpPr>
      <p:grpSpPr>
        <a:xfrm>
          <a:off x="0" y="0"/>
          <a:ext cx="0" cy="0"/>
          <a:chOff x="0" y="0"/>
          <a:chExt cx="0" cy="0"/>
        </a:xfrm>
      </p:grpSpPr>
      <p:sp>
        <p:nvSpPr>
          <p:cNvPr id="34" name="Google Shape;34;p35"/>
          <p:cNvSpPr txBox="1">
            <a:spLocks noGrp="1"/>
          </p:cNvSpPr>
          <p:nvPr>
            <p:ph type="title"/>
          </p:nvPr>
        </p:nvSpPr>
        <p:spPr>
          <a:xfrm>
            <a:off x="311699" y="2150849"/>
            <a:ext cx="8520602" cy="841801"/>
          </a:xfrm>
          <a:prstGeom prst="rect">
            <a:avLst/>
          </a:prstGeom>
          <a:noFill/>
          <a:ln>
            <a:noFill/>
          </a:ln>
        </p:spPr>
        <p:txBody>
          <a:bodyPr spcFirstLastPara="1" wrap="square" lIns="91400" tIns="91400" rIns="91400" bIns="91400" anchor="ctr" anchorCtr="0">
            <a:normAutofit/>
          </a:bodyPr>
          <a:lstStyle>
            <a:lvl1pPr lvl="0" algn="ctr">
              <a:lnSpc>
                <a:spcPct val="100000"/>
              </a:lnSpc>
              <a:spcBef>
                <a:spcPts val="0"/>
              </a:spcBef>
              <a:spcAft>
                <a:spcPts val="0"/>
              </a:spcAft>
              <a:buClr>
                <a:srgbClr val="000000"/>
              </a:buClr>
              <a:buSzPts val="3600"/>
              <a:buFont typeface="Arial"/>
              <a:buNone/>
              <a:defRPr sz="36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35" name="Google Shape;35;p35"/>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spAutoFit/>
          </a:bodyPr>
          <a:lstStyle>
            <a:lvl1pPr marL="0" lvl="0" indent="0" algn="r">
              <a:lnSpc>
                <a:spcPct val="100000"/>
              </a:lnSpc>
              <a:spcBef>
                <a:spcPts val="0"/>
              </a:spcBef>
              <a:spcAft>
                <a:spcPts val="0"/>
              </a:spcAft>
              <a:buClr>
                <a:srgbClr val="585858"/>
              </a:buClr>
              <a:buSzPts val="1000"/>
              <a:buFont typeface="Arial"/>
              <a:buNone/>
              <a:defRPr sz="1000">
                <a:solidFill>
                  <a:srgbClr val="585858"/>
                </a:solidFill>
              </a:defRPr>
            </a:lvl1pPr>
            <a:lvl2pPr marL="0" lvl="1" indent="0" algn="r">
              <a:lnSpc>
                <a:spcPct val="100000"/>
              </a:lnSpc>
              <a:spcBef>
                <a:spcPts val="0"/>
              </a:spcBef>
              <a:spcAft>
                <a:spcPts val="0"/>
              </a:spcAft>
              <a:buClr>
                <a:srgbClr val="585858"/>
              </a:buClr>
              <a:buSzPts val="1000"/>
              <a:buFont typeface="Arial"/>
              <a:buNone/>
              <a:defRPr sz="1000">
                <a:solidFill>
                  <a:srgbClr val="585858"/>
                </a:solidFill>
              </a:defRPr>
            </a:lvl2pPr>
            <a:lvl3pPr marL="0" lvl="2" indent="0" algn="r">
              <a:lnSpc>
                <a:spcPct val="100000"/>
              </a:lnSpc>
              <a:spcBef>
                <a:spcPts val="0"/>
              </a:spcBef>
              <a:spcAft>
                <a:spcPts val="0"/>
              </a:spcAft>
              <a:buClr>
                <a:srgbClr val="585858"/>
              </a:buClr>
              <a:buSzPts val="1000"/>
              <a:buFont typeface="Arial"/>
              <a:buNone/>
              <a:defRPr sz="1000">
                <a:solidFill>
                  <a:srgbClr val="585858"/>
                </a:solidFill>
              </a:defRPr>
            </a:lvl3pPr>
            <a:lvl4pPr marL="0" lvl="3" indent="0" algn="r">
              <a:lnSpc>
                <a:spcPct val="100000"/>
              </a:lnSpc>
              <a:spcBef>
                <a:spcPts val="0"/>
              </a:spcBef>
              <a:spcAft>
                <a:spcPts val="0"/>
              </a:spcAft>
              <a:buClr>
                <a:srgbClr val="585858"/>
              </a:buClr>
              <a:buSzPts val="1000"/>
              <a:buFont typeface="Arial"/>
              <a:buNone/>
              <a:defRPr sz="1000">
                <a:solidFill>
                  <a:srgbClr val="585858"/>
                </a:solidFill>
              </a:defRPr>
            </a:lvl4pPr>
            <a:lvl5pPr marL="0" lvl="4" indent="0" algn="r">
              <a:lnSpc>
                <a:spcPct val="100000"/>
              </a:lnSpc>
              <a:spcBef>
                <a:spcPts val="0"/>
              </a:spcBef>
              <a:spcAft>
                <a:spcPts val="0"/>
              </a:spcAft>
              <a:buClr>
                <a:srgbClr val="585858"/>
              </a:buClr>
              <a:buSzPts val="1000"/>
              <a:buFont typeface="Arial"/>
              <a:buNone/>
              <a:defRPr sz="1000">
                <a:solidFill>
                  <a:srgbClr val="585858"/>
                </a:solidFill>
              </a:defRPr>
            </a:lvl5pPr>
            <a:lvl6pPr marL="0" lvl="5" indent="0" algn="r">
              <a:lnSpc>
                <a:spcPct val="100000"/>
              </a:lnSpc>
              <a:spcBef>
                <a:spcPts val="0"/>
              </a:spcBef>
              <a:spcAft>
                <a:spcPts val="0"/>
              </a:spcAft>
              <a:buClr>
                <a:srgbClr val="585858"/>
              </a:buClr>
              <a:buSzPts val="1000"/>
              <a:buFont typeface="Arial"/>
              <a:buNone/>
              <a:defRPr sz="1000">
                <a:solidFill>
                  <a:srgbClr val="585858"/>
                </a:solidFill>
              </a:defRPr>
            </a:lvl6pPr>
            <a:lvl7pPr marL="0" lvl="6" indent="0" algn="r">
              <a:lnSpc>
                <a:spcPct val="100000"/>
              </a:lnSpc>
              <a:spcBef>
                <a:spcPts val="0"/>
              </a:spcBef>
              <a:spcAft>
                <a:spcPts val="0"/>
              </a:spcAft>
              <a:buClr>
                <a:srgbClr val="585858"/>
              </a:buClr>
              <a:buSzPts val="1000"/>
              <a:buFont typeface="Arial"/>
              <a:buNone/>
              <a:defRPr sz="1000">
                <a:solidFill>
                  <a:srgbClr val="585858"/>
                </a:solidFill>
              </a:defRPr>
            </a:lvl7pPr>
            <a:lvl8pPr marL="0" lvl="7" indent="0" algn="r">
              <a:lnSpc>
                <a:spcPct val="100000"/>
              </a:lnSpc>
              <a:spcBef>
                <a:spcPts val="0"/>
              </a:spcBef>
              <a:spcAft>
                <a:spcPts val="0"/>
              </a:spcAft>
              <a:buClr>
                <a:srgbClr val="585858"/>
              </a:buClr>
              <a:buSzPts val="1000"/>
              <a:buFont typeface="Arial"/>
              <a:buNone/>
              <a:defRPr sz="1000">
                <a:solidFill>
                  <a:srgbClr val="585858"/>
                </a:solidFill>
              </a:defRPr>
            </a:lvl8pPr>
            <a:lvl9pPr marL="0" lvl="8" indent="0" algn="r">
              <a:lnSpc>
                <a:spcPct val="100000"/>
              </a:lnSpc>
              <a:spcBef>
                <a:spcPts val="0"/>
              </a:spcBef>
              <a:spcAft>
                <a:spcPts val="0"/>
              </a:spcAft>
              <a:buClr>
                <a:srgbClr val="585858"/>
              </a:buClr>
              <a:buSzPts val="1000"/>
              <a:buFont typeface="Arial"/>
              <a:buNone/>
              <a:defRPr sz="1000">
                <a:solidFill>
                  <a:srgbClr val="58585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24331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8"/>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marR="0" lvl="0"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9pPr>
          </a:lstStyle>
          <a:p>
            <a:endParaRPr/>
          </a:p>
        </p:txBody>
      </p:sp>
      <p:sp>
        <p:nvSpPr>
          <p:cNvPr id="7" name="Google Shape;7;p28"/>
          <p:cNvSpPr txBox="1">
            <a:spLocks noGrp="1"/>
          </p:cNvSpPr>
          <p:nvPr>
            <p:ph type="body" idx="1"/>
          </p:nvPr>
        </p:nvSpPr>
        <p:spPr>
          <a:xfrm>
            <a:off x="311699" y="1152475"/>
            <a:ext cx="8520602" cy="3416400"/>
          </a:xfrm>
          <a:prstGeom prst="rect">
            <a:avLst/>
          </a:prstGeom>
          <a:noFill/>
          <a:ln>
            <a:noFill/>
          </a:ln>
        </p:spPr>
        <p:txBody>
          <a:bodyPr spcFirstLastPara="1" wrap="square" lIns="91400" tIns="91400" rIns="91400" bIns="91400" anchor="t" anchorCtr="0">
            <a:normAutofit/>
          </a:bodyPr>
          <a:lstStyle>
            <a:lvl1pPr marL="457200" marR="0" lvl="0"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1pPr>
            <a:lvl2pPr marL="914400" marR="0" lvl="1"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2pPr>
            <a:lvl3pPr marL="1371600" marR="0" lvl="2"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3pPr>
            <a:lvl4pPr marL="1828800" marR="0" lvl="3"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4pPr>
            <a:lvl5pPr marL="2286000" marR="0" lvl="4"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5pPr>
            <a:lvl6pPr marL="2743200" marR="0" lvl="5"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6pPr>
            <a:lvl7pPr marL="3200400" marR="0" lvl="6"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7pPr>
            <a:lvl8pPr marL="3657600" marR="0" lvl="7"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8pPr>
            <a:lvl9pPr marL="4114800" marR="0" lvl="8"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9pPr>
          </a:lstStyle>
          <a:p>
            <a:endParaRPr/>
          </a:p>
        </p:txBody>
      </p:sp>
      <p:sp>
        <p:nvSpPr>
          <p:cNvPr id="8" name="Google Shape;8;p28"/>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spAutoFit/>
          </a:bodyPr>
          <a:lstStyle>
            <a:lvl1pPr marL="0" marR="0" lvl="0"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5.emf"/><Relationship Id="rId7" Type="http://schemas.openxmlformats.org/officeDocument/2006/relationships/image" Target="../media/image9.emf"/><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s/_rels/slide2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23.xml.rels><?xml version="1.0" encoding="UTF-8" standalone="yes"?>
<Relationships xmlns="http://schemas.openxmlformats.org/package/2006/relationships"><Relationship Id="rId3" Type="http://schemas.openxmlformats.org/officeDocument/2006/relationships/hyperlink" Target="http://github.com/hku-systems/fulva"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a:spLocks noGrp="1"/>
          </p:cNvSpPr>
          <p:nvPr>
            <p:ph type="ctrTitle" idx="4294967295"/>
          </p:nvPr>
        </p:nvSpPr>
        <p:spPr>
          <a:xfrm>
            <a:off x="311707" y="744575"/>
            <a:ext cx="8520602" cy="2052599"/>
          </a:xfrm>
          <a:prstGeom prst="rect">
            <a:avLst/>
          </a:prstGeom>
          <a:noFill/>
          <a:ln>
            <a:noFill/>
          </a:ln>
        </p:spPr>
        <p:txBody>
          <a:bodyPr spcFirstLastPara="1" wrap="square" lIns="91400" tIns="91400" rIns="91400" bIns="91400" anchor="b" anchorCtr="0">
            <a:normAutofit/>
          </a:bodyPr>
          <a:lstStyle/>
          <a:p>
            <a:pPr marL="0" marR="0" lvl="0" indent="0" algn="ctr" rtl="0">
              <a:lnSpc>
                <a:spcPct val="100000"/>
              </a:lnSpc>
              <a:spcBef>
                <a:spcPts val="0"/>
              </a:spcBef>
              <a:spcAft>
                <a:spcPts val="0"/>
              </a:spcAft>
              <a:buClr>
                <a:srgbClr val="000000"/>
              </a:buClr>
              <a:buSzPts val="4316"/>
              <a:buFont typeface="Arial"/>
              <a:buNone/>
            </a:pPr>
            <a:r>
              <a:rPr lang="en-US" sz="3200" b="0" i="0" u="none" strike="noStrike" cap="none" dirty="0">
                <a:solidFill>
                  <a:srgbClr val="000000"/>
                </a:solidFill>
                <a:latin typeface="Arial"/>
                <a:ea typeface="Arial"/>
                <a:cs typeface="Arial"/>
                <a:sym typeface="Arial"/>
              </a:rPr>
              <a:t>Fulva: Efficient Live Migration for In-memory Key-Value Stores with Zero Downtime</a:t>
            </a:r>
            <a:endParaRPr sz="3200" dirty="0"/>
          </a:p>
        </p:txBody>
      </p:sp>
      <p:sp>
        <p:nvSpPr>
          <p:cNvPr id="106" name="Google Shape;106;p1"/>
          <p:cNvSpPr txBox="1">
            <a:spLocks noGrp="1"/>
          </p:cNvSpPr>
          <p:nvPr>
            <p:ph type="subTitle" idx="4294967295"/>
          </p:nvPr>
        </p:nvSpPr>
        <p:spPr>
          <a:xfrm>
            <a:off x="311699" y="2834125"/>
            <a:ext cx="8520602" cy="792601"/>
          </a:xfrm>
          <a:prstGeom prst="rect">
            <a:avLst/>
          </a:prstGeom>
          <a:noFill/>
          <a:ln>
            <a:noFill/>
          </a:ln>
        </p:spPr>
        <p:txBody>
          <a:bodyPr spcFirstLastPara="1" wrap="square" lIns="91400" tIns="91400" rIns="91400" bIns="91400" anchor="t" anchorCtr="0">
            <a:normAutofit fontScale="77500" lnSpcReduction="20000"/>
          </a:bodyPr>
          <a:lstStyle/>
          <a:p>
            <a:pPr marL="0" marR="0" lvl="0" indent="0" algn="ctr" rtl="0">
              <a:lnSpc>
                <a:spcPct val="100000"/>
              </a:lnSpc>
              <a:spcBef>
                <a:spcPts val="0"/>
              </a:spcBef>
              <a:spcAft>
                <a:spcPts val="0"/>
              </a:spcAft>
              <a:buClr>
                <a:srgbClr val="585858"/>
              </a:buClr>
              <a:buSzPts val="2016"/>
              <a:buFont typeface="Arial"/>
              <a:buNone/>
            </a:pPr>
            <a:r>
              <a:rPr lang="en-US" sz="2016" b="0" i="0" u="none" strike="noStrike" cap="none" dirty="0" err="1">
                <a:solidFill>
                  <a:srgbClr val="585858"/>
                </a:solidFill>
                <a:latin typeface="Arial"/>
                <a:ea typeface="Arial"/>
                <a:cs typeface="Arial"/>
                <a:sym typeface="Arial"/>
              </a:rPr>
              <a:t>Jiewen</a:t>
            </a:r>
            <a:r>
              <a:rPr lang="en-US" sz="2016" b="0" i="0" u="none" strike="noStrike" cap="none" dirty="0">
                <a:solidFill>
                  <a:srgbClr val="585858"/>
                </a:solidFill>
                <a:latin typeface="Arial"/>
                <a:ea typeface="Arial"/>
                <a:cs typeface="Arial"/>
                <a:sym typeface="Arial"/>
              </a:rPr>
              <a:t> Hai</a:t>
            </a:r>
            <a:r>
              <a:rPr lang="en-US" sz="2016" b="0" i="0" u="none" strike="noStrike" cap="none" baseline="30000" dirty="0">
                <a:solidFill>
                  <a:srgbClr val="585858"/>
                </a:solidFill>
                <a:latin typeface="Arial"/>
                <a:ea typeface="Arial"/>
                <a:cs typeface="Arial"/>
                <a:sym typeface="Arial"/>
              </a:rPr>
              <a:t>1</a:t>
            </a:r>
            <a:r>
              <a:rPr lang="en-US" sz="2016" b="0" i="0" u="none" strike="noStrike" cap="none" dirty="0">
                <a:solidFill>
                  <a:srgbClr val="585858"/>
                </a:solidFill>
                <a:latin typeface="Arial"/>
                <a:ea typeface="Arial"/>
                <a:cs typeface="Arial"/>
                <a:sym typeface="Arial"/>
              </a:rPr>
              <a:t>, Cheng Wang</a:t>
            </a:r>
            <a:r>
              <a:rPr lang="en-US" sz="2016" b="0" i="0" u="none" strike="noStrike" cap="none" baseline="30000" dirty="0">
                <a:solidFill>
                  <a:srgbClr val="585858"/>
                </a:solidFill>
                <a:latin typeface="Arial"/>
                <a:ea typeface="Arial"/>
                <a:cs typeface="Arial"/>
                <a:sym typeface="Arial"/>
              </a:rPr>
              <a:t>1</a:t>
            </a:r>
            <a:r>
              <a:rPr lang="en-US" sz="2016" b="0" i="0" u="none" strike="noStrike" cap="none" dirty="0">
                <a:solidFill>
                  <a:srgbClr val="585858"/>
                </a:solidFill>
                <a:latin typeface="Arial"/>
                <a:ea typeface="Arial"/>
                <a:cs typeface="Arial"/>
                <a:sym typeface="Arial"/>
              </a:rPr>
              <a:t>, </a:t>
            </a:r>
            <a:r>
              <a:rPr lang="en-US" sz="2016" b="0" i="0" u="none" strike="noStrike" cap="none" dirty="0" err="1">
                <a:solidFill>
                  <a:srgbClr val="585858"/>
                </a:solidFill>
                <a:latin typeface="Arial"/>
                <a:ea typeface="Arial"/>
                <a:cs typeface="Arial"/>
                <a:sym typeface="Arial"/>
              </a:rPr>
              <a:t>Xusheng</a:t>
            </a:r>
            <a:r>
              <a:rPr lang="en-US" sz="2016" b="0" i="0" u="none" strike="noStrike" cap="none" dirty="0">
                <a:solidFill>
                  <a:srgbClr val="585858"/>
                </a:solidFill>
                <a:latin typeface="Arial"/>
                <a:ea typeface="Arial"/>
                <a:cs typeface="Arial"/>
                <a:sym typeface="Arial"/>
              </a:rPr>
              <a:t> Chen</a:t>
            </a:r>
            <a:r>
              <a:rPr lang="en-US" sz="2016" b="0" i="0" u="none" strike="noStrike" cap="none" baseline="30000" dirty="0">
                <a:solidFill>
                  <a:srgbClr val="585858"/>
                </a:solidFill>
                <a:latin typeface="Arial"/>
                <a:ea typeface="Arial"/>
                <a:cs typeface="Arial"/>
                <a:sym typeface="Arial"/>
              </a:rPr>
              <a:t>1</a:t>
            </a:r>
            <a:r>
              <a:rPr lang="en-US" sz="2016" b="0" i="0" u="none" strike="noStrike" cap="none" dirty="0">
                <a:solidFill>
                  <a:srgbClr val="585858"/>
                </a:solidFill>
                <a:latin typeface="Arial"/>
                <a:ea typeface="Arial"/>
                <a:cs typeface="Arial"/>
                <a:sym typeface="Arial"/>
              </a:rPr>
              <a:t>, </a:t>
            </a:r>
            <a:r>
              <a:rPr lang="en-US" sz="2016" b="0" i="0" u="sng" strike="noStrike" cap="none" dirty="0">
                <a:solidFill>
                  <a:srgbClr val="585858"/>
                </a:solidFill>
                <a:latin typeface="Arial"/>
                <a:ea typeface="Arial"/>
                <a:cs typeface="Arial"/>
                <a:sym typeface="Arial"/>
              </a:rPr>
              <a:t>Tsz On Li</a:t>
            </a:r>
            <a:r>
              <a:rPr lang="en-US" sz="2016" b="0" i="0" u="none" strike="noStrike" cap="none" baseline="30000" dirty="0">
                <a:solidFill>
                  <a:srgbClr val="585858"/>
                </a:solidFill>
                <a:latin typeface="Arial"/>
                <a:ea typeface="Arial"/>
                <a:cs typeface="Arial"/>
                <a:sym typeface="Arial"/>
              </a:rPr>
              <a:t>1</a:t>
            </a:r>
            <a:r>
              <a:rPr lang="en-US" sz="2016" b="0" i="0" u="none" strike="noStrike" cap="none" dirty="0">
                <a:solidFill>
                  <a:srgbClr val="585858"/>
                </a:solidFill>
                <a:latin typeface="Arial"/>
                <a:ea typeface="Arial"/>
                <a:cs typeface="Arial"/>
                <a:sym typeface="Arial"/>
              </a:rPr>
              <a:t>, Heming Cui</a:t>
            </a:r>
            <a:r>
              <a:rPr lang="en-US" sz="2016" b="0" i="0" u="none" strike="noStrike" cap="none" baseline="30000" dirty="0">
                <a:solidFill>
                  <a:srgbClr val="585858"/>
                </a:solidFill>
                <a:latin typeface="Arial"/>
                <a:ea typeface="Arial"/>
                <a:cs typeface="Arial"/>
                <a:sym typeface="Arial"/>
              </a:rPr>
              <a:t>1</a:t>
            </a:r>
            <a:r>
              <a:rPr lang="en-US" sz="2016" b="0" i="0" u="none" strike="noStrike" cap="none" dirty="0">
                <a:solidFill>
                  <a:srgbClr val="585858"/>
                </a:solidFill>
                <a:latin typeface="Arial"/>
                <a:ea typeface="Arial"/>
                <a:cs typeface="Arial"/>
                <a:sym typeface="Arial"/>
              </a:rPr>
              <a:t>, Sen Wang</a:t>
            </a:r>
            <a:r>
              <a:rPr lang="en-US" sz="2016" b="0" i="0" u="none" strike="noStrike" cap="none" baseline="30000" dirty="0">
                <a:solidFill>
                  <a:srgbClr val="585858"/>
                </a:solidFill>
                <a:latin typeface="Arial"/>
                <a:ea typeface="Arial"/>
                <a:cs typeface="Arial"/>
                <a:sym typeface="Arial"/>
              </a:rPr>
              <a:t>2</a:t>
            </a:r>
          </a:p>
          <a:p>
            <a:pPr marL="0" marR="0" lvl="0" indent="0" algn="ctr" rtl="0">
              <a:lnSpc>
                <a:spcPct val="100000"/>
              </a:lnSpc>
              <a:spcBef>
                <a:spcPts val="0"/>
              </a:spcBef>
              <a:spcAft>
                <a:spcPts val="0"/>
              </a:spcAft>
              <a:buClr>
                <a:srgbClr val="585858"/>
              </a:buClr>
              <a:buSzPts val="2016"/>
              <a:buFont typeface="Arial"/>
              <a:buNone/>
            </a:pPr>
            <a:endParaRPr lang="en-US" sz="2016" dirty="0"/>
          </a:p>
          <a:p>
            <a:pPr marL="0" marR="0" lvl="0" indent="0" algn="ctr" rtl="0">
              <a:lnSpc>
                <a:spcPct val="100000"/>
              </a:lnSpc>
              <a:spcBef>
                <a:spcPts val="0"/>
              </a:spcBef>
              <a:spcAft>
                <a:spcPts val="0"/>
              </a:spcAft>
              <a:buClr>
                <a:srgbClr val="585858"/>
              </a:buClr>
              <a:buSzPts val="2016"/>
              <a:buFont typeface="Arial"/>
              <a:buNone/>
            </a:pPr>
            <a:r>
              <a:rPr lang="en-US" sz="2016" dirty="0"/>
              <a:t>The University of Hong Kong</a:t>
            </a:r>
            <a:r>
              <a:rPr lang="en-US" sz="2016" baseline="30000" dirty="0"/>
              <a:t>1</a:t>
            </a:r>
            <a:r>
              <a:rPr lang="en-US" sz="2016" dirty="0"/>
              <a:t>, Huawei</a:t>
            </a:r>
            <a:r>
              <a:rPr lang="en-US" sz="2016" baseline="30000" dirty="0"/>
              <a:t>2</a:t>
            </a:r>
          </a:p>
          <a:p>
            <a:pPr marL="0" marR="0" lvl="0" indent="0" algn="ctr" rtl="0">
              <a:lnSpc>
                <a:spcPct val="100000"/>
              </a:lnSpc>
              <a:spcBef>
                <a:spcPts val="0"/>
              </a:spcBef>
              <a:spcAft>
                <a:spcPts val="0"/>
              </a:spcAft>
              <a:buClr>
                <a:srgbClr val="585858"/>
              </a:buClr>
              <a:buSzPts val="2016"/>
              <a:buFont typeface="Arial"/>
              <a:buNone/>
            </a:pPr>
            <a:endParaRPr dirty="0"/>
          </a:p>
        </p:txBody>
      </p:sp>
      <p:sp>
        <p:nvSpPr>
          <p:cNvPr id="2" name="Slide Number Placeholder 1">
            <a:extLst>
              <a:ext uri="{FF2B5EF4-FFF2-40B4-BE49-F238E27FC236}">
                <a16:creationId xmlns:a16="http://schemas.microsoft.com/office/drawing/2014/main" id="{4B00C097-3466-AE46-81E1-71D3D4FB47D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p:nvPr/>
        </p:nvSpPr>
        <p:spPr>
          <a:xfrm>
            <a:off x="1721307" y="2967846"/>
            <a:ext cx="1396447" cy="1952432"/>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12" name="Google Shape;112;p4"/>
          <p:cNvSpPr/>
          <p:nvPr/>
        </p:nvSpPr>
        <p:spPr>
          <a:xfrm>
            <a:off x="1858995" y="3264217"/>
            <a:ext cx="1149933" cy="1607777"/>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13" name="Google Shape;113;p4"/>
          <p:cNvSpPr/>
          <p:nvPr/>
        </p:nvSpPr>
        <p:spPr>
          <a:xfrm>
            <a:off x="1904725" y="2966746"/>
            <a:ext cx="1149934" cy="268465"/>
          </a:xfrm>
          <a:prstGeom prst="rect">
            <a:avLst/>
          </a:prstGeom>
          <a:noFill/>
          <a:ln>
            <a:noFill/>
          </a:ln>
        </p:spPr>
        <p:txBody>
          <a:bodyPr spcFirstLastPara="1" wrap="square" lIns="34275" tIns="34275" rIns="34275" bIns="34275" anchor="t" anchorCtr="0">
            <a:noAutofit/>
          </a:bodyPr>
          <a:lstStyle/>
          <a:p>
            <a:pPr marL="0" marR="0" lvl="0" indent="0" algn="ctr" rtl="0">
              <a:lnSpc>
                <a:spcPct val="100000"/>
              </a:lnSpc>
              <a:spcBef>
                <a:spcPts val="0"/>
              </a:spcBef>
              <a:spcAft>
                <a:spcPts val="0"/>
              </a:spcAft>
              <a:buClr>
                <a:srgbClr val="000000"/>
              </a:buClr>
              <a:buSzPts val="1800"/>
              <a:buFont typeface="Calibri"/>
              <a:buNone/>
            </a:pPr>
            <a:r>
              <a:rPr lang="en-US" sz="1600" b="1">
                <a:latin typeface="Calibri"/>
                <a:ea typeface="Calibri"/>
                <a:cs typeface="Calibri"/>
                <a:sym typeface="Calibri"/>
              </a:rPr>
              <a:t>Computer</a:t>
            </a:r>
            <a:r>
              <a:rPr lang="en-US" sz="1600" b="1" i="0" u="none" strike="noStrike" cap="none">
                <a:solidFill>
                  <a:srgbClr val="000000"/>
                </a:solidFill>
                <a:latin typeface="Calibri"/>
                <a:ea typeface="Calibri"/>
                <a:cs typeface="Calibri"/>
                <a:sym typeface="Calibri"/>
              </a:rPr>
              <a:t> 1</a:t>
            </a:r>
            <a:endParaRPr sz="1600"/>
          </a:p>
        </p:txBody>
      </p:sp>
      <p:sp>
        <p:nvSpPr>
          <p:cNvPr id="114" name="Google Shape;114;p4"/>
          <p:cNvSpPr/>
          <p:nvPr/>
        </p:nvSpPr>
        <p:spPr>
          <a:xfrm>
            <a:off x="1882262" y="3295475"/>
            <a:ext cx="1200300" cy="2292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key-value store</a:t>
            </a:r>
            <a:endParaRPr/>
          </a:p>
        </p:txBody>
      </p:sp>
      <p:grpSp>
        <p:nvGrpSpPr>
          <p:cNvPr id="115" name="Google Shape;115;p4"/>
          <p:cNvGrpSpPr/>
          <p:nvPr/>
        </p:nvGrpSpPr>
        <p:grpSpPr>
          <a:xfrm>
            <a:off x="2011243" y="3594509"/>
            <a:ext cx="731209" cy="229271"/>
            <a:chOff x="0" y="0"/>
            <a:chExt cx="731208" cy="229269"/>
          </a:xfrm>
        </p:grpSpPr>
        <p:sp>
          <p:nvSpPr>
            <p:cNvPr id="116" name="Google Shape;116;p4"/>
            <p:cNvSpPr/>
            <p:nvPr/>
          </p:nvSpPr>
          <p:spPr>
            <a:xfrm>
              <a:off x="0" y="52138"/>
              <a:ext cx="731208" cy="12499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17" name="Google Shape;117;p4"/>
            <p:cNvSpPr/>
            <p:nvPr/>
          </p:nvSpPr>
          <p:spPr>
            <a:xfrm>
              <a:off x="0" y="0"/>
              <a:ext cx="731208" cy="229269"/>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&lt;1, V&gt;</a:t>
              </a:r>
              <a:endParaRPr/>
            </a:p>
          </p:txBody>
        </p:sp>
      </p:grpSp>
      <p:grpSp>
        <p:nvGrpSpPr>
          <p:cNvPr id="118" name="Google Shape;118;p4"/>
          <p:cNvGrpSpPr/>
          <p:nvPr/>
        </p:nvGrpSpPr>
        <p:grpSpPr>
          <a:xfrm>
            <a:off x="2007854" y="3881492"/>
            <a:ext cx="731209" cy="229271"/>
            <a:chOff x="0" y="0"/>
            <a:chExt cx="731208" cy="229269"/>
          </a:xfrm>
        </p:grpSpPr>
        <p:sp>
          <p:nvSpPr>
            <p:cNvPr id="119" name="Google Shape;119;p4"/>
            <p:cNvSpPr/>
            <p:nvPr/>
          </p:nvSpPr>
          <p:spPr>
            <a:xfrm>
              <a:off x="0" y="52138"/>
              <a:ext cx="731208" cy="12499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20" name="Google Shape;120;p4"/>
            <p:cNvSpPr/>
            <p:nvPr/>
          </p:nvSpPr>
          <p:spPr>
            <a:xfrm>
              <a:off x="0" y="0"/>
              <a:ext cx="731208" cy="229269"/>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dirty="0">
                  <a:solidFill>
                    <a:srgbClr val="000000"/>
                  </a:solidFill>
                  <a:latin typeface="Calibri"/>
                  <a:ea typeface="Calibri"/>
                  <a:cs typeface="Calibri"/>
                  <a:sym typeface="Calibri"/>
                </a:rPr>
                <a:t>&lt;200, V&gt;</a:t>
              </a:r>
              <a:endParaRPr dirty="0"/>
            </a:p>
          </p:txBody>
        </p:sp>
      </p:grpSp>
      <p:sp>
        <p:nvSpPr>
          <p:cNvPr id="121" name="Google Shape;121;p4"/>
          <p:cNvSpPr/>
          <p:nvPr/>
        </p:nvSpPr>
        <p:spPr>
          <a:xfrm>
            <a:off x="2270421" y="3702694"/>
            <a:ext cx="492796" cy="219471"/>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122" name="Google Shape;122;p4"/>
          <p:cNvGrpSpPr/>
          <p:nvPr/>
        </p:nvGrpSpPr>
        <p:grpSpPr>
          <a:xfrm>
            <a:off x="2007854" y="4255530"/>
            <a:ext cx="731209" cy="229271"/>
            <a:chOff x="0" y="0"/>
            <a:chExt cx="731208" cy="229269"/>
          </a:xfrm>
        </p:grpSpPr>
        <p:sp>
          <p:nvSpPr>
            <p:cNvPr id="123" name="Google Shape;123;p4"/>
            <p:cNvSpPr/>
            <p:nvPr/>
          </p:nvSpPr>
          <p:spPr>
            <a:xfrm>
              <a:off x="0" y="52138"/>
              <a:ext cx="731208" cy="12499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24" name="Google Shape;124;p4"/>
            <p:cNvSpPr/>
            <p:nvPr/>
          </p:nvSpPr>
          <p:spPr>
            <a:xfrm>
              <a:off x="0" y="0"/>
              <a:ext cx="731208" cy="229269"/>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&lt;300, V&gt;</a:t>
              </a:r>
              <a:endParaRPr/>
            </a:p>
          </p:txBody>
        </p:sp>
      </p:grpSp>
      <p:sp>
        <p:nvSpPr>
          <p:cNvPr id="125" name="Google Shape;125;p4"/>
          <p:cNvSpPr/>
          <p:nvPr/>
        </p:nvSpPr>
        <p:spPr>
          <a:xfrm>
            <a:off x="2269482" y="4065060"/>
            <a:ext cx="492796" cy="219471"/>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126" name="Google Shape;126;p4"/>
          <p:cNvGrpSpPr/>
          <p:nvPr/>
        </p:nvGrpSpPr>
        <p:grpSpPr>
          <a:xfrm>
            <a:off x="2006496" y="4567194"/>
            <a:ext cx="731209" cy="229271"/>
            <a:chOff x="0" y="0"/>
            <a:chExt cx="731208" cy="229269"/>
          </a:xfrm>
        </p:grpSpPr>
        <p:sp>
          <p:nvSpPr>
            <p:cNvPr id="127" name="Google Shape;127;p4"/>
            <p:cNvSpPr/>
            <p:nvPr/>
          </p:nvSpPr>
          <p:spPr>
            <a:xfrm>
              <a:off x="0" y="52138"/>
              <a:ext cx="731208" cy="12499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28" name="Google Shape;128;p4"/>
            <p:cNvSpPr/>
            <p:nvPr/>
          </p:nvSpPr>
          <p:spPr>
            <a:xfrm>
              <a:off x="0" y="0"/>
              <a:ext cx="731208" cy="229269"/>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&lt;400, V&gt;</a:t>
              </a:r>
              <a:endParaRPr/>
            </a:p>
          </p:txBody>
        </p:sp>
      </p:grpSp>
      <p:sp>
        <p:nvSpPr>
          <p:cNvPr id="129" name="Google Shape;129;p4"/>
          <p:cNvSpPr/>
          <p:nvPr/>
        </p:nvSpPr>
        <p:spPr>
          <a:xfrm>
            <a:off x="2269481" y="4380657"/>
            <a:ext cx="492796" cy="219471"/>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130" name="Google Shape;130;p4"/>
          <p:cNvSpPr/>
          <p:nvPr/>
        </p:nvSpPr>
        <p:spPr>
          <a:xfrm>
            <a:off x="206331" y="1617028"/>
            <a:ext cx="1013367" cy="425246"/>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Client 1</a:t>
            </a:r>
            <a:endParaRPr/>
          </a:p>
        </p:txBody>
      </p:sp>
      <p:sp>
        <p:nvSpPr>
          <p:cNvPr id="131" name="Google Shape;131;p4"/>
          <p:cNvSpPr/>
          <p:nvPr/>
        </p:nvSpPr>
        <p:spPr>
          <a:xfrm>
            <a:off x="3644324" y="2967296"/>
            <a:ext cx="1441582" cy="1952432"/>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32" name="Google Shape;132;p4"/>
          <p:cNvSpPr/>
          <p:nvPr/>
        </p:nvSpPr>
        <p:spPr>
          <a:xfrm>
            <a:off x="3770168" y="3263667"/>
            <a:ext cx="1149933" cy="1607777"/>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33" name="Google Shape;133;p4"/>
          <p:cNvSpPr/>
          <p:nvPr/>
        </p:nvSpPr>
        <p:spPr>
          <a:xfrm>
            <a:off x="3814778" y="2966218"/>
            <a:ext cx="1105200" cy="268500"/>
          </a:xfrm>
          <a:prstGeom prst="rect">
            <a:avLst/>
          </a:prstGeom>
          <a:noFill/>
          <a:ln>
            <a:noFill/>
          </a:ln>
        </p:spPr>
        <p:txBody>
          <a:bodyPr spcFirstLastPara="1" wrap="square" lIns="34275" tIns="34275" rIns="34275" bIns="34275" anchor="t" anchorCtr="0">
            <a:noAutofit/>
          </a:bodyPr>
          <a:lstStyle/>
          <a:p>
            <a:pPr marL="0" marR="0" lvl="0" indent="0" algn="ctr" rtl="0">
              <a:lnSpc>
                <a:spcPct val="100000"/>
              </a:lnSpc>
              <a:spcBef>
                <a:spcPts val="0"/>
              </a:spcBef>
              <a:spcAft>
                <a:spcPts val="0"/>
              </a:spcAft>
              <a:buClr>
                <a:srgbClr val="000000"/>
              </a:buClr>
              <a:buSzPts val="1800"/>
              <a:buFont typeface="Calibri"/>
              <a:buNone/>
            </a:pPr>
            <a:r>
              <a:rPr lang="en-US" sz="1600" b="1">
                <a:latin typeface="Calibri"/>
                <a:ea typeface="Calibri"/>
                <a:cs typeface="Calibri"/>
                <a:sym typeface="Calibri"/>
              </a:rPr>
              <a:t>Computer</a:t>
            </a:r>
            <a:r>
              <a:rPr lang="en-US" sz="1600" b="1" i="0" u="none" strike="noStrike" cap="none">
                <a:solidFill>
                  <a:srgbClr val="000000"/>
                </a:solidFill>
                <a:latin typeface="Calibri"/>
                <a:ea typeface="Calibri"/>
                <a:cs typeface="Calibri"/>
                <a:sym typeface="Calibri"/>
              </a:rPr>
              <a:t> 2</a:t>
            </a:r>
            <a:endParaRPr sz="1600"/>
          </a:p>
        </p:txBody>
      </p:sp>
      <p:sp>
        <p:nvSpPr>
          <p:cNvPr id="134" name="Google Shape;134;p4"/>
          <p:cNvSpPr/>
          <p:nvPr/>
        </p:nvSpPr>
        <p:spPr>
          <a:xfrm>
            <a:off x="3888025" y="3289610"/>
            <a:ext cx="1200393" cy="22927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key-value store</a:t>
            </a:r>
            <a:endParaRPr/>
          </a:p>
        </p:txBody>
      </p:sp>
      <p:grpSp>
        <p:nvGrpSpPr>
          <p:cNvPr id="135" name="Google Shape;135;p4"/>
          <p:cNvGrpSpPr/>
          <p:nvPr/>
        </p:nvGrpSpPr>
        <p:grpSpPr>
          <a:xfrm>
            <a:off x="3991501" y="3573819"/>
            <a:ext cx="731209" cy="229271"/>
            <a:chOff x="0" y="0"/>
            <a:chExt cx="731208" cy="229269"/>
          </a:xfrm>
        </p:grpSpPr>
        <p:sp>
          <p:nvSpPr>
            <p:cNvPr id="136" name="Google Shape;136;p4"/>
            <p:cNvSpPr/>
            <p:nvPr/>
          </p:nvSpPr>
          <p:spPr>
            <a:xfrm>
              <a:off x="0" y="52138"/>
              <a:ext cx="731208" cy="12499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37" name="Google Shape;137;p4"/>
            <p:cNvSpPr/>
            <p:nvPr/>
          </p:nvSpPr>
          <p:spPr>
            <a:xfrm>
              <a:off x="0" y="0"/>
              <a:ext cx="731208" cy="229269"/>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&lt;400, V&gt;</a:t>
              </a:r>
              <a:endParaRPr/>
            </a:p>
          </p:txBody>
        </p:sp>
      </p:grpSp>
      <p:grpSp>
        <p:nvGrpSpPr>
          <p:cNvPr id="138" name="Google Shape;138;p4"/>
          <p:cNvGrpSpPr/>
          <p:nvPr/>
        </p:nvGrpSpPr>
        <p:grpSpPr>
          <a:xfrm>
            <a:off x="3988111" y="3860802"/>
            <a:ext cx="731210" cy="229270"/>
            <a:chOff x="0" y="0"/>
            <a:chExt cx="731208" cy="229269"/>
          </a:xfrm>
        </p:grpSpPr>
        <p:sp>
          <p:nvSpPr>
            <p:cNvPr id="139" name="Google Shape;139;p4"/>
            <p:cNvSpPr/>
            <p:nvPr/>
          </p:nvSpPr>
          <p:spPr>
            <a:xfrm>
              <a:off x="0" y="52138"/>
              <a:ext cx="731208" cy="12499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40" name="Google Shape;140;p4"/>
            <p:cNvSpPr/>
            <p:nvPr/>
          </p:nvSpPr>
          <p:spPr>
            <a:xfrm>
              <a:off x="0" y="0"/>
              <a:ext cx="731208" cy="229269"/>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&lt;500, V&gt;</a:t>
              </a:r>
              <a:endParaRPr/>
            </a:p>
          </p:txBody>
        </p:sp>
      </p:grpSp>
      <p:sp>
        <p:nvSpPr>
          <p:cNvPr id="141" name="Google Shape;141;p4"/>
          <p:cNvSpPr/>
          <p:nvPr/>
        </p:nvSpPr>
        <p:spPr>
          <a:xfrm>
            <a:off x="4250679" y="3682004"/>
            <a:ext cx="492796" cy="219471"/>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142" name="Google Shape;142;p4"/>
          <p:cNvGrpSpPr/>
          <p:nvPr/>
        </p:nvGrpSpPr>
        <p:grpSpPr>
          <a:xfrm>
            <a:off x="3988111" y="4234840"/>
            <a:ext cx="731210" cy="229271"/>
            <a:chOff x="0" y="0"/>
            <a:chExt cx="731208" cy="229269"/>
          </a:xfrm>
        </p:grpSpPr>
        <p:sp>
          <p:nvSpPr>
            <p:cNvPr id="143" name="Google Shape;143;p4"/>
            <p:cNvSpPr/>
            <p:nvPr/>
          </p:nvSpPr>
          <p:spPr>
            <a:xfrm>
              <a:off x="0" y="52138"/>
              <a:ext cx="731208" cy="12499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44" name="Google Shape;144;p4"/>
            <p:cNvSpPr/>
            <p:nvPr/>
          </p:nvSpPr>
          <p:spPr>
            <a:xfrm>
              <a:off x="0" y="0"/>
              <a:ext cx="731208" cy="229269"/>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&lt;600, V&gt;</a:t>
              </a:r>
              <a:endParaRPr/>
            </a:p>
          </p:txBody>
        </p:sp>
      </p:grpSp>
      <p:sp>
        <p:nvSpPr>
          <p:cNvPr id="145" name="Google Shape;145;p4"/>
          <p:cNvSpPr/>
          <p:nvPr/>
        </p:nvSpPr>
        <p:spPr>
          <a:xfrm>
            <a:off x="4249740" y="4044370"/>
            <a:ext cx="492796" cy="219471"/>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146" name="Google Shape;146;p4"/>
          <p:cNvGrpSpPr/>
          <p:nvPr/>
        </p:nvGrpSpPr>
        <p:grpSpPr>
          <a:xfrm>
            <a:off x="3986754" y="4546503"/>
            <a:ext cx="731209" cy="229271"/>
            <a:chOff x="0" y="0"/>
            <a:chExt cx="731208" cy="229269"/>
          </a:xfrm>
        </p:grpSpPr>
        <p:sp>
          <p:nvSpPr>
            <p:cNvPr id="147" name="Google Shape;147;p4"/>
            <p:cNvSpPr/>
            <p:nvPr/>
          </p:nvSpPr>
          <p:spPr>
            <a:xfrm>
              <a:off x="0" y="52138"/>
              <a:ext cx="731208" cy="12499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48" name="Google Shape;148;p4"/>
            <p:cNvSpPr/>
            <p:nvPr/>
          </p:nvSpPr>
          <p:spPr>
            <a:xfrm>
              <a:off x="0" y="0"/>
              <a:ext cx="731208" cy="229269"/>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&lt;700, V&gt;</a:t>
              </a:r>
              <a:endParaRPr/>
            </a:p>
          </p:txBody>
        </p:sp>
      </p:grpSp>
      <p:sp>
        <p:nvSpPr>
          <p:cNvPr id="149" name="Google Shape;149;p4"/>
          <p:cNvSpPr/>
          <p:nvPr/>
        </p:nvSpPr>
        <p:spPr>
          <a:xfrm>
            <a:off x="4249739" y="4359966"/>
            <a:ext cx="492796" cy="219471"/>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150" name="Google Shape;150;p4"/>
          <p:cNvSpPr/>
          <p:nvPr/>
        </p:nvSpPr>
        <p:spPr>
          <a:xfrm>
            <a:off x="1346098" y="1617028"/>
            <a:ext cx="1013368" cy="425246"/>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Client 2</a:t>
            </a:r>
            <a:endParaRPr/>
          </a:p>
        </p:txBody>
      </p:sp>
      <p:sp>
        <p:nvSpPr>
          <p:cNvPr id="151" name="Google Shape;151;p4"/>
          <p:cNvSpPr/>
          <p:nvPr/>
        </p:nvSpPr>
        <p:spPr>
          <a:xfrm>
            <a:off x="4488220" y="1617028"/>
            <a:ext cx="1013368" cy="425246"/>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Client 5</a:t>
            </a:r>
            <a:endParaRPr/>
          </a:p>
        </p:txBody>
      </p:sp>
      <p:sp>
        <p:nvSpPr>
          <p:cNvPr id="152" name="Google Shape;152;p4"/>
          <p:cNvSpPr/>
          <p:nvPr/>
        </p:nvSpPr>
        <p:spPr>
          <a:xfrm>
            <a:off x="5470596" y="1628937"/>
            <a:ext cx="1013367" cy="425246"/>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Client 6</a:t>
            </a:r>
            <a:endParaRPr/>
          </a:p>
        </p:txBody>
      </p:sp>
      <p:sp>
        <p:nvSpPr>
          <p:cNvPr id="153" name="Google Shape;153;p4"/>
          <p:cNvSpPr/>
          <p:nvPr/>
        </p:nvSpPr>
        <p:spPr>
          <a:xfrm>
            <a:off x="5638361" y="2967296"/>
            <a:ext cx="1396447" cy="1952432"/>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54" name="Google Shape;154;p4"/>
          <p:cNvSpPr/>
          <p:nvPr/>
        </p:nvSpPr>
        <p:spPr>
          <a:xfrm>
            <a:off x="-246845" y="2967315"/>
            <a:ext cx="1441583" cy="1952433"/>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55" name="Google Shape;155;p4"/>
          <p:cNvSpPr/>
          <p:nvPr/>
        </p:nvSpPr>
        <p:spPr>
          <a:xfrm>
            <a:off x="6099426" y="2910991"/>
            <a:ext cx="1396447" cy="2114923"/>
          </a:xfrm>
          <a:prstGeom prst="rect">
            <a:avLst/>
          </a:prstGeom>
          <a:solidFill>
            <a:srgbClr val="FFFFFF"/>
          </a:solidFill>
          <a:ln w="25400" cap="flat" cmpd="sng">
            <a:solidFill>
              <a:srgbClr val="FFFFFF"/>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57" name="Google Shape;157;p4"/>
          <p:cNvSpPr/>
          <p:nvPr/>
        </p:nvSpPr>
        <p:spPr>
          <a:xfrm>
            <a:off x="-713523" y="2851176"/>
            <a:ext cx="1396447" cy="2114923"/>
          </a:xfrm>
          <a:prstGeom prst="rect">
            <a:avLst/>
          </a:prstGeom>
          <a:solidFill>
            <a:srgbClr val="FFFFFF"/>
          </a:solidFill>
          <a:ln w="25400" cap="flat" cmpd="sng">
            <a:solidFill>
              <a:srgbClr val="FFFFFF"/>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58" name="Google Shape;158;p4"/>
          <p:cNvSpPr/>
          <p:nvPr/>
        </p:nvSpPr>
        <p:spPr>
          <a:xfrm>
            <a:off x="3295142" y="3867758"/>
            <a:ext cx="492796" cy="219471"/>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159" name="Google Shape;159;p4"/>
          <p:cNvSpPr/>
          <p:nvPr/>
        </p:nvSpPr>
        <p:spPr>
          <a:xfrm>
            <a:off x="5204578" y="3894569"/>
            <a:ext cx="492796" cy="219471"/>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160" name="Google Shape;160;p4"/>
          <p:cNvSpPr/>
          <p:nvPr/>
        </p:nvSpPr>
        <p:spPr>
          <a:xfrm>
            <a:off x="1346105" y="3867758"/>
            <a:ext cx="492796" cy="219471"/>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cxnSp>
        <p:nvCxnSpPr>
          <p:cNvPr id="161" name="Google Shape;161;p4"/>
          <p:cNvCxnSpPr/>
          <p:nvPr/>
        </p:nvCxnSpPr>
        <p:spPr>
          <a:xfrm>
            <a:off x="713014" y="2093389"/>
            <a:ext cx="1263816" cy="845322"/>
          </a:xfrm>
          <a:prstGeom prst="straightConnector1">
            <a:avLst/>
          </a:prstGeom>
          <a:noFill/>
          <a:ln w="9525" cap="flat" cmpd="sng">
            <a:solidFill>
              <a:srgbClr val="44546A"/>
            </a:solidFill>
            <a:prstDash val="solid"/>
            <a:round/>
            <a:headEnd type="none" w="sm" len="sm"/>
            <a:tailEnd type="triangle" w="med" len="med"/>
          </a:ln>
        </p:spPr>
      </p:cxnSp>
      <p:cxnSp>
        <p:nvCxnSpPr>
          <p:cNvPr id="162" name="Google Shape;162;p4"/>
          <p:cNvCxnSpPr>
            <a:endCxn id="113" idx="0"/>
          </p:cNvCxnSpPr>
          <p:nvPr/>
        </p:nvCxnSpPr>
        <p:spPr>
          <a:xfrm>
            <a:off x="2042292" y="2001346"/>
            <a:ext cx="437400" cy="965400"/>
          </a:xfrm>
          <a:prstGeom prst="straightConnector1">
            <a:avLst/>
          </a:prstGeom>
          <a:noFill/>
          <a:ln w="9525" cap="flat" cmpd="sng">
            <a:solidFill>
              <a:srgbClr val="44546A"/>
            </a:solidFill>
            <a:prstDash val="solid"/>
            <a:round/>
            <a:headEnd type="none" w="sm" len="sm"/>
            <a:tailEnd type="triangle" w="med" len="med"/>
          </a:ln>
        </p:spPr>
      </p:cxnSp>
      <p:cxnSp>
        <p:nvCxnSpPr>
          <p:cNvPr id="163" name="Google Shape;163;p4"/>
          <p:cNvCxnSpPr/>
          <p:nvPr/>
        </p:nvCxnSpPr>
        <p:spPr>
          <a:xfrm flipH="1">
            <a:off x="4132161" y="2052901"/>
            <a:ext cx="853192" cy="909901"/>
          </a:xfrm>
          <a:prstGeom prst="straightConnector1">
            <a:avLst/>
          </a:prstGeom>
          <a:noFill/>
          <a:ln w="9525" cap="flat" cmpd="sng">
            <a:solidFill>
              <a:srgbClr val="44546A"/>
            </a:solidFill>
            <a:prstDash val="solid"/>
            <a:round/>
            <a:headEnd type="none" w="sm" len="sm"/>
            <a:tailEnd type="triangle" w="med" len="med"/>
          </a:ln>
        </p:spPr>
      </p:cxnSp>
      <p:cxnSp>
        <p:nvCxnSpPr>
          <p:cNvPr id="164" name="Google Shape;164;p4"/>
          <p:cNvCxnSpPr>
            <a:cxnSpLocks/>
            <a:stCxn id="152" idx="2"/>
          </p:cNvCxnSpPr>
          <p:nvPr/>
        </p:nvCxnSpPr>
        <p:spPr>
          <a:xfrm flipH="1">
            <a:off x="4705314" y="2054183"/>
            <a:ext cx="1271966" cy="908619"/>
          </a:xfrm>
          <a:prstGeom prst="straightConnector1">
            <a:avLst/>
          </a:prstGeom>
          <a:noFill/>
          <a:ln w="9525" cap="flat" cmpd="sng">
            <a:solidFill>
              <a:srgbClr val="44546A"/>
            </a:solidFill>
            <a:prstDash val="solid"/>
            <a:round/>
            <a:headEnd type="none" w="sm" len="sm"/>
            <a:tailEnd type="triangle" w="med" len="med"/>
          </a:ln>
        </p:spPr>
      </p:cxnSp>
      <p:sp>
        <p:nvSpPr>
          <p:cNvPr id="165" name="Google Shape;165;p4"/>
          <p:cNvSpPr/>
          <p:nvPr/>
        </p:nvSpPr>
        <p:spPr>
          <a:xfrm>
            <a:off x="2406973" y="1616989"/>
            <a:ext cx="1013368" cy="425246"/>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Client 3</a:t>
            </a:r>
            <a:endParaRPr/>
          </a:p>
        </p:txBody>
      </p:sp>
      <p:sp>
        <p:nvSpPr>
          <p:cNvPr id="166" name="Google Shape;166;p4"/>
          <p:cNvSpPr/>
          <p:nvPr/>
        </p:nvSpPr>
        <p:spPr>
          <a:xfrm>
            <a:off x="3442821" y="1617028"/>
            <a:ext cx="1013368" cy="425246"/>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Client 4</a:t>
            </a:r>
            <a:endParaRPr/>
          </a:p>
        </p:txBody>
      </p:sp>
      <p:cxnSp>
        <p:nvCxnSpPr>
          <p:cNvPr id="167" name="Google Shape;167;p4"/>
          <p:cNvCxnSpPr/>
          <p:nvPr/>
        </p:nvCxnSpPr>
        <p:spPr>
          <a:xfrm>
            <a:off x="2913657" y="2093350"/>
            <a:ext cx="1032810" cy="869395"/>
          </a:xfrm>
          <a:prstGeom prst="straightConnector1">
            <a:avLst/>
          </a:prstGeom>
          <a:noFill/>
          <a:ln w="9525" cap="flat" cmpd="sng">
            <a:solidFill>
              <a:srgbClr val="44546A"/>
            </a:solidFill>
            <a:prstDash val="solid"/>
            <a:round/>
            <a:headEnd type="none" w="sm" len="sm"/>
            <a:tailEnd type="triangle" w="med" len="med"/>
          </a:ln>
        </p:spPr>
      </p:cxnSp>
      <p:cxnSp>
        <p:nvCxnSpPr>
          <p:cNvPr id="168" name="Google Shape;168;p4"/>
          <p:cNvCxnSpPr/>
          <p:nvPr/>
        </p:nvCxnSpPr>
        <p:spPr>
          <a:xfrm flipH="1">
            <a:off x="2800267" y="2093389"/>
            <a:ext cx="1149239" cy="869394"/>
          </a:xfrm>
          <a:prstGeom prst="straightConnector1">
            <a:avLst/>
          </a:prstGeom>
          <a:noFill/>
          <a:ln w="9525" cap="flat" cmpd="sng">
            <a:solidFill>
              <a:srgbClr val="44546A"/>
            </a:solidFill>
            <a:prstDash val="solid"/>
            <a:round/>
            <a:headEnd type="none" w="sm" len="sm"/>
            <a:tailEnd type="triangle" w="med" len="med"/>
          </a:ln>
        </p:spPr>
      </p:cxnSp>
      <p:sp>
        <p:nvSpPr>
          <p:cNvPr id="169" name="Google Shape;169;p4"/>
          <p:cNvSpPr txBox="1">
            <a:spLocks noGrp="1"/>
          </p:cNvSpPr>
          <p:nvPr>
            <p:ph type="title"/>
          </p:nvPr>
        </p:nvSpPr>
        <p:spPr>
          <a:xfrm>
            <a:off x="217342" y="161220"/>
            <a:ext cx="8520601" cy="572702"/>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latin typeface="Arial"/>
                <a:ea typeface="Arial"/>
                <a:cs typeface="Arial"/>
                <a:sym typeface="Arial"/>
              </a:rPr>
              <a:t>Background: Distributed In-memory Key-value Stores</a:t>
            </a:r>
            <a:endParaRPr/>
          </a:p>
        </p:txBody>
      </p:sp>
      <p:sp>
        <p:nvSpPr>
          <p:cNvPr id="170" name="Google Shape;170;p4"/>
          <p:cNvSpPr/>
          <p:nvPr/>
        </p:nvSpPr>
        <p:spPr>
          <a:xfrm>
            <a:off x="181674" y="1173723"/>
            <a:ext cx="1824822"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1" i="0" u="none" strike="noStrike" cap="none">
                <a:solidFill>
                  <a:srgbClr val="000000"/>
                </a:solidFill>
                <a:latin typeface="Calibri"/>
                <a:ea typeface="Calibri"/>
                <a:cs typeface="Calibri"/>
                <a:sym typeface="Calibri"/>
              </a:rPr>
              <a:t>A Data Center</a:t>
            </a:r>
            <a:endParaRPr/>
          </a:p>
        </p:txBody>
      </p:sp>
      <p:sp>
        <p:nvSpPr>
          <p:cNvPr id="2" name="Rectangle 1">
            <a:extLst>
              <a:ext uri="{FF2B5EF4-FFF2-40B4-BE49-F238E27FC236}">
                <a16:creationId xmlns:a16="http://schemas.microsoft.com/office/drawing/2014/main" id="{DB921E2D-B874-5544-8D59-07841E54F6E7}"/>
              </a:ext>
            </a:extLst>
          </p:cNvPr>
          <p:cNvSpPr/>
          <p:nvPr/>
        </p:nvSpPr>
        <p:spPr>
          <a:xfrm>
            <a:off x="206331" y="1173723"/>
            <a:ext cx="6277632" cy="3852191"/>
          </a:xfrm>
          <a:prstGeom prst="rect">
            <a:avLst/>
          </a:prstGeom>
          <a:noFill/>
          <a:ln>
            <a:solidFill>
              <a:schemeClr val="tx1">
                <a:lumMod val="50000"/>
                <a:lumOff val="50000"/>
              </a:schemeClr>
            </a:solidFill>
            <a:prstDash val="dash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3" name="Google Shape;235;p5">
            <a:extLst>
              <a:ext uri="{FF2B5EF4-FFF2-40B4-BE49-F238E27FC236}">
                <a16:creationId xmlns:a16="http://schemas.microsoft.com/office/drawing/2014/main" id="{7F83300F-52DE-3F4D-AC2B-233F6F6B13C2}"/>
              </a:ext>
            </a:extLst>
          </p:cNvPr>
          <p:cNvSpPr txBox="1"/>
          <p:nvPr/>
        </p:nvSpPr>
        <p:spPr>
          <a:xfrm>
            <a:off x="6506443" y="1960635"/>
            <a:ext cx="4232400" cy="49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t>Applications:</a:t>
            </a:r>
          </a:p>
          <a:p>
            <a:pPr marL="457200" indent="-317500">
              <a:buSzPts val="1400"/>
              <a:buFont typeface="Arial"/>
              <a:buChar char="●"/>
            </a:pPr>
            <a:r>
              <a:rPr lang="en-US" dirty="0">
                <a:solidFill>
                  <a:schemeClr val="tx1"/>
                </a:solidFill>
              </a:rPr>
              <a:t>E-commerce</a:t>
            </a:r>
            <a:r>
              <a:rPr lang="en-US" altLang="zh-TW" dirty="0">
                <a:solidFill>
                  <a:schemeClr val="tx1"/>
                </a:solidFill>
              </a:rPr>
              <a:t>’s</a:t>
            </a:r>
            <a:r>
              <a:rPr lang="zh-TW" altLang="en-US" dirty="0">
                <a:solidFill>
                  <a:schemeClr val="tx1"/>
                </a:solidFill>
              </a:rPr>
              <a:t> </a:t>
            </a:r>
            <a:r>
              <a:rPr lang="en-US" altLang="zh-TW" dirty="0">
                <a:solidFill>
                  <a:schemeClr val="tx1"/>
                </a:solidFill>
              </a:rPr>
              <a:t>backend</a:t>
            </a:r>
            <a:endParaRPr lang="en-US" dirty="0">
              <a:solidFill>
                <a:schemeClr val="tx1"/>
              </a:solidFill>
            </a:endParaRPr>
          </a:p>
          <a:p>
            <a:pPr marL="457200" lvl="0" indent="-317500" algn="l" rtl="0">
              <a:spcBef>
                <a:spcPts val="0"/>
              </a:spcBef>
              <a:spcAft>
                <a:spcPts val="0"/>
              </a:spcAft>
              <a:buSzPts val="1400"/>
              <a:buChar char="●"/>
            </a:pPr>
            <a:r>
              <a:rPr lang="en-US" dirty="0"/>
              <a:t>Graph computing</a:t>
            </a:r>
          </a:p>
        </p:txBody>
      </p:sp>
      <p:sp>
        <p:nvSpPr>
          <p:cNvPr id="65" name="Slide Number Placeholder 1">
            <a:extLst>
              <a:ext uri="{FF2B5EF4-FFF2-40B4-BE49-F238E27FC236}">
                <a16:creationId xmlns:a16="http://schemas.microsoft.com/office/drawing/2014/main" id="{DC919C09-6873-E04F-B31A-6FC755B2AC81}"/>
              </a:ext>
            </a:extLst>
          </p:cNvPr>
          <p:cNvSpPr>
            <a:spLocks noGrp="1"/>
          </p:cNvSpPr>
          <p:nvPr>
            <p:ph type="sldNum" idx="12"/>
          </p:nvPr>
        </p:nvSpPr>
        <p:spPr>
          <a:xfrm>
            <a:off x="8684345" y="4700819"/>
            <a:ext cx="336814" cy="318396"/>
          </a:xfrm>
        </p:spPr>
        <p:txBody>
          <a:bodyPr/>
          <a:lstStyle/>
          <a:p>
            <a:pPr marL="0" lvl="0" indent="0" algn="r" rtl="0">
              <a:spcBef>
                <a:spcPts val="0"/>
              </a:spcBef>
              <a:spcAft>
                <a:spcPts val="0"/>
              </a:spcAft>
              <a:buNone/>
            </a:pPr>
            <a:fld id="{00000000-1234-1234-1234-123412341234}" type="slidenum">
              <a:rPr lang="en-US" smtClean="0"/>
              <a:t>2</a:t>
            </a:fld>
            <a:endParaRPr lang="en-US" dirty="0"/>
          </a:p>
        </p:txBody>
      </p:sp>
      <p:sp>
        <p:nvSpPr>
          <p:cNvPr id="66" name="Google Shape;235;p5">
            <a:extLst>
              <a:ext uri="{FF2B5EF4-FFF2-40B4-BE49-F238E27FC236}">
                <a16:creationId xmlns:a16="http://schemas.microsoft.com/office/drawing/2014/main" id="{8CB52BF8-4F17-9246-8139-9E5104E066C8}"/>
              </a:ext>
            </a:extLst>
          </p:cNvPr>
          <p:cNvSpPr txBox="1"/>
          <p:nvPr/>
        </p:nvSpPr>
        <p:spPr>
          <a:xfrm>
            <a:off x="6599158" y="3243636"/>
            <a:ext cx="2486770" cy="49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tx1"/>
                </a:solidFill>
              </a:rPr>
              <a:t>e.g., </a:t>
            </a:r>
            <a:r>
              <a:rPr lang="en-US" dirty="0" err="1">
                <a:solidFill>
                  <a:schemeClr val="tx1"/>
                </a:solidFill>
              </a:rPr>
              <a:t>RAMCloud</a:t>
            </a:r>
            <a:r>
              <a:rPr lang="en-US" dirty="0">
                <a:solidFill>
                  <a:schemeClr val="tx1"/>
                </a:solidFill>
              </a:rPr>
              <a:t> (with DPDK between servers and clients in a datacenter) achieves:</a:t>
            </a:r>
          </a:p>
          <a:p>
            <a:pPr marL="285750" lvl="0" indent="-285750" algn="l" rtl="0">
              <a:spcBef>
                <a:spcPts val="0"/>
              </a:spcBef>
              <a:spcAft>
                <a:spcPts val="0"/>
              </a:spcAft>
              <a:buFont typeface="Arial" panose="020B0604020202020204" pitchFamily="34" charset="0"/>
              <a:buChar char="•"/>
            </a:pPr>
            <a:r>
              <a:rPr lang="en-US" dirty="0">
                <a:solidFill>
                  <a:schemeClr val="tx1"/>
                </a:solidFill>
              </a:rPr>
              <a:t>Millions of requests/sec</a:t>
            </a:r>
          </a:p>
          <a:p>
            <a:pPr marL="285750" lvl="0" indent="-285750">
              <a:buFont typeface="Arial" panose="020B0604020202020204" pitchFamily="34" charset="0"/>
              <a:buChar char="•"/>
            </a:pPr>
            <a:r>
              <a:rPr lang="en-US" dirty="0">
                <a:solidFill>
                  <a:schemeClr val="tx1"/>
                </a:solidFill>
              </a:rPr>
              <a:t>Low latency of ~9.4 </a:t>
            </a:r>
            <a:r>
              <a:rPr lang="en-US" dirty="0"/>
              <a:t>µs</a:t>
            </a:r>
            <a:endParaRPr lang="en-U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txBox="1">
            <a:spLocks noGrp="1"/>
          </p:cNvSpPr>
          <p:nvPr>
            <p:ph type="title"/>
          </p:nvPr>
        </p:nvSpPr>
        <p:spPr>
          <a:xfrm>
            <a:off x="225638" y="163506"/>
            <a:ext cx="8520601" cy="572702"/>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dirty="0">
                <a:latin typeface="Arial"/>
                <a:ea typeface="Arial"/>
                <a:cs typeface="Arial"/>
                <a:sym typeface="Arial"/>
              </a:rPr>
              <a:t>Background: Skewed Workload</a:t>
            </a:r>
            <a:endParaRPr dirty="0"/>
          </a:p>
        </p:txBody>
      </p:sp>
      <p:sp>
        <p:nvSpPr>
          <p:cNvPr id="177" name="Google Shape;177;p5"/>
          <p:cNvSpPr/>
          <p:nvPr/>
        </p:nvSpPr>
        <p:spPr>
          <a:xfrm>
            <a:off x="1222532" y="2740209"/>
            <a:ext cx="1513750" cy="2116439"/>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78" name="Google Shape;178;p5"/>
          <p:cNvSpPr/>
          <p:nvPr/>
        </p:nvSpPr>
        <p:spPr>
          <a:xfrm>
            <a:off x="1309861" y="3060876"/>
            <a:ext cx="1246536" cy="1742850"/>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79" name="Google Shape;179;p5"/>
          <p:cNvSpPr/>
          <p:nvPr/>
        </p:nvSpPr>
        <p:spPr>
          <a:xfrm>
            <a:off x="1421357" y="2739017"/>
            <a:ext cx="1246530" cy="291016"/>
          </a:xfrm>
          <a:prstGeom prst="rect">
            <a:avLst/>
          </a:prstGeom>
          <a:noFill/>
          <a:ln>
            <a:noFill/>
          </a:ln>
        </p:spPr>
        <p:txBody>
          <a:bodyPr spcFirstLastPara="1" wrap="square" lIns="34275" tIns="34275" rIns="34275" bIns="34275" anchor="t" anchorCtr="0">
            <a:noAutofit/>
          </a:bodyPr>
          <a:lstStyle/>
          <a:p>
            <a:pPr marL="0" marR="0" lvl="0" indent="0" algn="ctr" rtl="0">
              <a:lnSpc>
                <a:spcPct val="100000"/>
              </a:lnSpc>
              <a:spcBef>
                <a:spcPts val="0"/>
              </a:spcBef>
              <a:spcAft>
                <a:spcPts val="0"/>
              </a:spcAft>
              <a:buClr>
                <a:srgbClr val="000000"/>
              </a:buClr>
              <a:buSzPts val="1800"/>
              <a:buFont typeface="Calibri"/>
              <a:buNone/>
            </a:pPr>
            <a:r>
              <a:rPr lang="en-US" sz="1600" b="1">
                <a:latin typeface="Calibri"/>
                <a:ea typeface="Calibri"/>
                <a:cs typeface="Calibri"/>
                <a:sym typeface="Calibri"/>
              </a:rPr>
              <a:t>Computer </a:t>
            </a:r>
            <a:r>
              <a:rPr lang="en-US" sz="1600" b="1" i="0" u="none" strike="noStrike" cap="none">
                <a:solidFill>
                  <a:srgbClr val="000000"/>
                </a:solidFill>
                <a:latin typeface="Calibri"/>
                <a:ea typeface="Calibri"/>
                <a:cs typeface="Calibri"/>
                <a:sym typeface="Calibri"/>
              </a:rPr>
              <a:t>1</a:t>
            </a:r>
            <a:endParaRPr sz="1600"/>
          </a:p>
        </p:txBody>
      </p:sp>
      <p:sp>
        <p:nvSpPr>
          <p:cNvPr id="180" name="Google Shape;180;p5"/>
          <p:cNvSpPr/>
          <p:nvPr/>
        </p:nvSpPr>
        <p:spPr>
          <a:xfrm>
            <a:off x="1465896" y="3100509"/>
            <a:ext cx="1301228" cy="248528"/>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key-value store</a:t>
            </a:r>
            <a:endParaRPr/>
          </a:p>
        </p:txBody>
      </p:sp>
      <p:grpSp>
        <p:nvGrpSpPr>
          <p:cNvPr id="181" name="Google Shape;181;p5"/>
          <p:cNvGrpSpPr/>
          <p:nvPr/>
        </p:nvGrpSpPr>
        <p:grpSpPr>
          <a:xfrm>
            <a:off x="1531674" y="3730641"/>
            <a:ext cx="794106" cy="248402"/>
            <a:chOff x="-1475" y="38"/>
            <a:chExt cx="794105" cy="248400"/>
          </a:xfrm>
        </p:grpSpPr>
        <p:sp>
          <p:nvSpPr>
            <p:cNvPr id="182" name="Google Shape;182;p5"/>
            <p:cNvSpPr/>
            <p:nvPr/>
          </p:nvSpPr>
          <p:spPr>
            <a:xfrm>
              <a:off x="0" y="56517"/>
              <a:ext cx="792630" cy="135494"/>
            </a:xfrm>
            <a:prstGeom prst="rect">
              <a:avLst/>
            </a:prstGeom>
            <a:solidFill>
              <a:srgbClr val="FF0000">
                <a:alpha val="69804"/>
              </a:srgbClr>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Arial"/>
                <a:ea typeface="Arial"/>
                <a:cs typeface="Arial"/>
                <a:sym typeface="Arial"/>
              </a:endParaRPr>
            </a:p>
          </p:txBody>
        </p:sp>
        <p:sp>
          <p:nvSpPr>
            <p:cNvPr id="183" name="Google Shape;183;p5"/>
            <p:cNvSpPr/>
            <p:nvPr/>
          </p:nvSpPr>
          <p:spPr>
            <a:xfrm>
              <a:off x="-1475" y="38"/>
              <a:ext cx="792600" cy="2484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dirty="0">
                  <a:solidFill>
                    <a:srgbClr val="000000"/>
                  </a:solidFill>
                  <a:latin typeface="Calibri"/>
                  <a:ea typeface="Calibri"/>
                  <a:cs typeface="Calibri"/>
                  <a:sym typeface="Calibri"/>
                </a:rPr>
                <a:t>&lt;200, V&gt;</a:t>
              </a:r>
              <a:endParaRPr dirty="0"/>
            </a:p>
          </p:txBody>
        </p:sp>
      </p:grpSp>
      <p:sp>
        <p:nvSpPr>
          <p:cNvPr id="184" name="Google Shape;184;p5"/>
          <p:cNvSpPr/>
          <p:nvPr/>
        </p:nvSpPr>
        <p:spPr>
          <a:xfrm>
            <a:off x="1817772" y="3536785"/>
            <a:ext cx="534300" cy="237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185" name="Google Shape;185;p5"/>
          <p:cNvGrpSpPr/>
          <p:nvPr/>
        </p:nvGrpSpPr>
        <p:grpSpPr>
          <a:xfrm>
            <a:off x="1536823" y="3415625"/>
            <a:ext cx="792613" cy="248400"/>
            <a:chOff x="0" y="-3887"/>
            <a:chExt cx="792613" cy="248400"/>
          </a:xfrm>
        </p:grpSpPr>
        <p:sp>
          <p:nvSpPr>
            <p:cNvPr id="186" name="Google Shape;186;p5"/>
            <p:cNvSpPr/>
            <p:nvPr/>
          </p:nvSpPr>
          <p:spPr>
            <a:xfrm>
              <a:off x="0" y="56517"/>
              <a:ext cx="792600" cy="135600"/>
            </a:xfrm>
            <a:prstGeom prst="rect">
              <a:avLst/>
            </a:prstGeom>
            <a:solidFill>
              <a:srgbClr val="FF0000">
                <a:alpha val="69804"/>
              </a:srgbClr>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Arial"/>
                <a:ea typeface="Arial"/>
                <a:cs typeface="Arial"/>
                <a:sym typeface="Arial"/>
              </a:endParaRPr>
            </a:p>
          </p:txBody>
        </p:sp>
        <p:sp>
          <p:nvSpPr>
            <p:cNvPr id="187" name="Google Shape;187;p5"/>
            <p:cNvSpPr/>
            <p:nvPr/>
          </p:nvSpPr>
          <p:spPr>
            <a:xfrm>
              <a:off x="13" y="-3887"/>
              <a:ext cx="792600" cy="2484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dirty="0">
                  <a:solidFill>
                    <a:srgbClr val="000000"/>
                  </a:solidFill>
                  <a:latin typeface="Calibri"/>
                  <a:ea typeface="Calibri"/>
                  <a:cs typeface="Calibri"/>
                  <a:sym typeface="Calibri"/>
                </a:rPr>
                <a:t>&lt;1, V&gt;</a:t>
              </a:r>
              <a:endParaRPr dirty="0"/>
            </a:p>
          </p:txBody>
        </p:sp>
      </p:grpSp>
      <p:grpSp>
        <p:nvGrpSpPr>
          <p:cNvPr id="188" name="Google Shape;188;p5"/>
          <p:cNvGrpSpPr/>
          <p:nvPr/>
        </p:nvGrpSpPr>
        <p:grpSpPr>
          <a:xfrm>
            <a:off x="1533149" y="4136060"/>
            <a:ext cx="792631" cy="248530"/>
            <a:chOff x="0" y="0"/>
            <a:chExt cx="792630" cy="248528"/>
          </a:xfrm>
        </p:grpSpPr>
        <p:sp>
          <p:nvSpPr>
            <p:cNvPr id="189" name="Google Shape;189;p5"/>
            <p:cNvSpPr/>
            <p:nvPr/>
          </p:nvSpPr>
          <p:spPr>
            <a:xfrm>
              <a:off x="0" y="56517"/>
              <a:ext cx="792630" cy="135494"/>
            </a:xfrm>
            <a:prstGeom prst="rect">
              <a:avLst/>
            </a:prstGeom>
            <a:solidFill>
              <a:srgbClr val="FF0000">
                <a:alpha val="69804"/>
              </a:srgbClr>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Arial"/>
                <a:ea typeface="Arial"/>
                <a:cs typeface="Arial"/>
                <a:sym typeface="Arial"/>
              </a:endParaRPr>
            </a:p>
          </p:txBody>
        </p:sp>
        <p:sp>
          <p:nvSpPr>
            <p:cNvPr id="190" name="Google Shape;190;p5"/>
            <p:cNvSpPr/>
            <p:nvPr/>
          </p:nvSpPr>
          <p:spPr>
            <a:xfrm>
              <a:off x="0" y="0"/>
              <a:ext cx="792630" cy="248528"/>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dirty="0">
                  <a:solidFill>
                    <a:srgbClr val="000000"/>
                  </a:solidFill>
                  <a:latin typeface="Calibri"/>
                  <a:ea typeface="Calibri"/>
                  <a:cs typeface="Calibri"/>
                  <a:sym typeface="Calibri"/>
                </a:rPr>
                <a:t>&lt;300, V&gt;</a:t>
              </a:r>
              <a:endParaRPr dirty="0"/>
            </a:p>
          </p:txBody>
        </p:sp>
      </p:grpSp>
      <p:sp>
        <p:nvSpPr>
          <p:cNvPr id="191" name="Google Shape;191;p5"/>
          <p:cNvSpPr/>
          <p:nvPr/>
        </p:nvSpPr>
        <p:spPr>
          <a:xfrm>
            <a:off x="1816754" y="3853391"/>
            <a:ext cx="534300" cy="237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192" name="Google Shape;192;p5"/>
          <p:cNvGrpSpPr/>
          <p:nvPr/>
        </p:nvGrpSpPr>
        <p:grpSpPr>
          <a:xfrm>
            <a:off x="1531678" y="4473904"/>
            <a:ext cx="792631" cy="248530"/>
            <a:chOff x="0" y="0"/>
            <a:chExt cx="792630" cy="248528"/>
          </a:xfrm>
        </p:grpSpPr>
        <p:sp>
          <p:nvSpPr>
            <p:cNvPr id="193" name="Google Shape;193;p5"/>
            <p:cNvSpPr/>
            <p:nvPr/>
          </p:nvSpPr>
          <p:spPr>
            <a:xfrm>
              <a:off x="0" y="56517"/>
              <a:ext cx="792630" cy="135494"/>
            </a:xfrm>
            <a:prstGeom prst="rect">
              <a:avLst/>
            </a:prstGeom>
            <a:solidFill>
              <a:srgbClr val="FF0000">
                <a:alpha val="69804"/>
              </a:srgbClr>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94" name="Google Shape;194;p5"/>
            <p:cNvSpPr/>
            <p:nvPr/>
          </p:nvSpPr>
          <p:spPr>
            <a:xfrm>
              <a:off x="0" y="0"/>
              <a:ext cx="792630" cy="248528"/>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dirty="0">
                  <a:solidFill>
                    <a:srgbClr val="000000"/>
                  </a:solidFill>
                  <a:latin typeface="Calibri"/>
                  <a:ea typeface="Calibri"/>
                  <a:cs typeface="Calibri"/>
                  <a:sym typeface="Calibri"/>
                </a:rPr>
                <a:t>&lt;400, V&gt;</a:t>
              </a:r>
              <a:endParaRPr dirty="0"/>
            </a:p>
          </p:txBody>
        </p:sp>
      </p:grpSp>
      <p:sp>
        <p:nvSpPr>
          <p:cNvPr id="195" name="Google Shape;195;p5"/>
          <p:cNvSpPr/>
          <p:nvPr/>
        </p:nvSpPr>
        <p:spPr>
          <a:xfrm>
            <a:off x="1816753" y="4271698"/>
            <a:ext cx="534192" cy="237906"/>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196" name="Google Shape;196;p5"/>
          <p:cNvSpPr/>
          <p:nvPr/>
        </p:nvSpPr>
        <p:spPr>
          <a:xfrm>
            <a:off x="225638" y="1309821"/>
            <a:ext cx="1098491"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Client 1</a:t>
            </a:r>
            <a:endParaRPr/>
          </a:p>
        </p:txBody>
      </p:sp>
      <p:sp>
        <p:nvSpPr>
          <p:cNvPr id="197" name="Google Shape;197;p5"/>
          <p:cNvSpPr/>
          <p:nvPr/>
        </p:nvSpPr>
        <p:spPr>
          <a:xfrm>
            <a:off x="3175887" y="2773350"/>
            <a:ext cx="1562677" cy="2116440"/>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98" name="Google Shape;198;p5"/>
          <p:cNvSpPr/>
          <p:nvPr/>
        </p:nvSpPr>
        <p:spPr>
          <a:xfrm>
            <a:off x="3312302" y="3094617"/>
            <a:ext cx="1246530" cy="1742833"/>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99" name="Google Shape;199;p5"/>
          <p:cNvSpPr/>
          <p:nvPr/>
        </p:nvSpPr>
        <p:spPr>
          <a:xfrm>
            <a:off x="3360662" y="2772169"/>
            <a:ext cx="1098492" cy="291017"/>
          </a:xfrm>
          <a:prstGeom prst="rect">
            <a:avLst/>
          </a:prstGeom>
          <a:noFill/>
          <a:ln>
            <a:noFill/>
          </a:ln>
        </p:spPr>
        <p:txBody>
          <a:bodyPr spcFirstLastPara="1" wrap="square" lIns="34275" tIns="34275" rIns="34275" bIns="34275" anchor="t" anchorCtr="0">
            <a:noAutofit/>
          </a:bodyPr>
          <a:lstStyle/>
          <a:p>
            <a:pPr marL="0" marR="0" lvl="0" indent="0" algn="ctr" rtl="0">
              <a:lnSpc>
                <a:spcPct val="100000"/>
              </a:lnSpc>
              <a:spcBef>
                <a:spcPts val="0"/>
              </a:spcBef>
              <a:spcAft>
                <a:spcPts val="0"/>
              </a:spcAft>
              <a:buClr>
                <a:srgbClr val="000000"/>
              </a:buClr>
              <a:buSzPts val="1800"/>
              <a:buFont typeface="Calibri"/>
              <a:buNone/>
            </a:pPr>
            <a:r>
              <a:rPr lang="en-US" sz="1600" b="1">
                <a:latin typeface="Calibri"/>
                <a:ea typeface="Calibri"/>
                <a:cs typeface="Calibri"/>
                <a:sym typeface="Calibri"/>
              </a:rPr>
              <a:t>Computer </a:t>
            </a:r>
            <a:r>
              <a:rPr lang="en-US" sz="1600" b="1" i="0" u="none" strike="noStrike" cap="none">
                <a:solidFill>
                  <a:srgbClr val="000000"/>
                </a:solidFill>
                <a:latin typeface="Calibri"/>
                <a:ea typeface="Calibri"/>
                <a:cs typeface="Calibri"/>
                <a:sym typeface="Calibri"/>
              </a:rPr>
              <a:t>2</a:t>
            </a:r>
            <a:endParaRPr sz="1600"/>
          </a:p>
        </p:txBody>
      </p:sp>
      <p:sp>
        <p:nvSpPr>
          <p:cNvPr id="200" name="Google Shape;200;p5"/>
          <p:cNvSpPr/>
          <p:nvPr/>
        </p:nvSpPr>
        <p:spPr>
          <a:xfrm>
            <a:off x="3440059" y="3122740"/>
            <a:ext cx="1301228" cy="248528"/>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key-value store</a:t>
            </a:r>
            <a:endParaRPr/>
          </a:p>
        </p:txBody>
      </p:sp>
      <p:grpSp>
        <p:nvGrpSpPr>
          <p:cNvPr id="201" name="Google Shape;201;p5"/>
          <p:cNvGrpSpPr/>
          <p:nvPr/>
        </p:nvGrpSpPr>
        <p:grpSpPr>
          <a:xfrm>
            <a:off x="3552228" y="3430822"/>
            <a:ext cx="792631" cy="248530"/>
            <a:chOff x="0" y="0"/>
            <a:chExt cx="792630" cy="248528"/>
          </a:xfrm>
        </p:grpSpPr>
        <p:sp>
          <p:nvSpPr>
            <p:cNvPr id="202" name="Google Shape;202;p5"/>
            <p:cNvSpPr/>
            <p:nvPr/>
          </p:nvSpPr>
          <p:spPr>
            <a:xfrm>
              <a:off x="0" y="56517"/>
              <a:ext cx="792630" cy="135494"/>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03" name="Google Shape;203;p5"/>
            <p:cNvSpPr/>
            <p:nvPr/>
          </p:nvSpPr>
          <p:spPr>
            <a:xfrm>
              <a:off x="0" y="0"/>
              <a:ext cx="792630" cy="248528"/>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dirty="0">
                  <a:solidFill>
                    <a:srgbClr val="000000"/>
                  </a:solidFill>
                  <a:latin typeface="Calibri"/>
                  <a:ea typeface="Calibri"/>
                  <a:cs typeface="Calibri"/>
                  <a:sym typeface="Calibri"/>
                </a:rPr>
                <a:t>&lt;400, V&gt;</a:t>
              </a:r>
              <a:endParaRPr dirty="0"/>
            </a:p>
          </p:txBody>
        </p:sp>
      </p:grpSp>
      <p:grpSp>
        <p:nvGrpSpPr>
          <p:cNvPr id="204" name="Google Shape;204;p5"/>
          <p:cNvGrpSpPr/>
          <p:nvPr/>
        </p:nvGrpSpPr>
        <p:grpSpPr>
          <a:xfrm>
            <a:off x="3548554" y="3741912"/>
            <a:ext cx="792631" cy="248530"/>
            <a:chOff x="0" y="0"/>
            <a:chExt cx="792630" cy="248528"/>
          </a:xfrm>
        </p:grpSpPr>
        <p:sp>
          <p:nvSpPr>
            <p:cNvPr id="205" name="Google Shape;205;p5"/>
            <p:cNvSpPr/>
            <p:nvPr/>
          </p:nvSpPr>
          <p:spPr>
            <a:xfrm>
              <a:off x="0" y="56517"/>
              <a:ext cx="792630" cy="135494"/>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06" name="Google Shape;206;p5"/>
            <p:cNvSpPr/>
            <p:nvPr/>
          </p:nvSpPr>
          <p:spPr>
            <a:xfrm>
              <a:off x="0" y="0"/>
              <a:ext cx="792630" cy="248528"/>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dirty="0">
                  <a:solidFill>
                    <a:srgbClr val="000000"/>
                  </a:solidFill>
                  <a:latin typeface="Calibri"/>
                  <a:ea typeface="Calibri"/>
                  <a:cs typeface="Calibri"/>
                  <a:sym typeface="Calibri"/>
                </a:rPr>
                <a:t>&lt;500, V&gt;</a:t>
              </a:r>
              <a:endParaRPr dirty="0"/>
            </a:p>
          </p:txBody>
        </p:sp>
      </p:grpSp>
      <p:sp>
        <p:nvSpPr>
          <p:cNvPr id="207" name="Google Shape;207;p5"/>
          <p:cNvSpPr/>
          <p:nvPr/>
        </p:nvSpPr>
        <p:spPr>
          <a:xfrm>
            <a:off x="3833177" y="3548095"/>
            <a:ext cx="534192" cy="237907"/>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208" name="Google Shape;208;p5"/>
          <p:cNvGrpSpPr/>
          <p:nvPr/>
        </p:nvGrpSpPr>
        <p:grpSpPr>
          <a:xfrm>
            <a:off x="3548554" y="4147370"/>
            <a:ext cx="792631" cy="248530"/>
            <a:chOff x="0" y="0"/>
            <a:chExt cx="792630" cy="248528"/>
          </a:xfrm>
        </p:grpSpPr>
        <p:sp>
          <p:nvSpPr>
            <p:cNvPr id="209" name="Google Shape;209;p5"/>
            <p:cNvSpPr/>
            <p:nvPr/>
          </p:nvSpPr>
          <p:spPr>
            <a:xfrm>
              <a:off x="0" y="56517"/>
              <a:ext cx="792630" cy="135494"/>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10" name="Google Shape;210;p5"/>
            <p:cNvSpPr/>
            <p:nvPr/>
          </p:nvSpPr>
          <p:spPr>
            <a:xfrm>
              <a:off x="0" y="0"/>
              <a:ext cx="792630" cy="248528"/>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&lt;600, V&gt;</a:t>
              </a:r>
              <a:endParaRPr/>
            </a:p>
          </p:txBody>
        </p:sp>
      </p:grpSp>
      <p:sp>
        <p:nvSpPr>
          <p:cNvPr id="211" name="Google Shape;211;p5"/>
          <p:cNvSpPr/>
          <p:nvPr/>
        </p:nvSpPr>
        <p:spPr>
          <a:xfrm>
            <a:off x="3832159" y="3940900"/>
            <a:ext cx="534192" cy="237907"/>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212" name="Google Shape;212;p5"/>
          <p:cNvGrpSpPr/>
          <p:nvPr/>
        </p:nvGrpSpPr>
        <p:grpSpPr>
          <a:xfrm>
            <a:off x="3547083" y="4485213"/>
            <a:ext cx="792631" cy="248530"/>
            <a:chOff x="0" y="0"/>
            <a:chExt cx="792630" cy="248528"/>
          </a:xfrm>
        </p:grpSpPr>
        <p:sp>
          <p:nvSpPr>
            <p:cNvPr id="213" name="Google Shape;213;p5"/>
            <p:cNvSpPr/>
            <p:nvPr/>
          </p:nvSpPr>
          <p:spPr>
            <a:xfrm>
              <a:off x="0" y="56517"/>
              <a:ext cx="792630" cy="135494"/>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14" name="Google Shape;214;p5"/>
            <p:cNvSpPr/>
            <p:nvPr/>
          </p:nvSpPr>
          <p:spPr>
            <a:xfrm>
              <a:off x="0" y="0"/>
              <a:ext cx="792630" cy="248528"/>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&lt;700, V&gt;</a:t>
              </a:r>
              <a:endParaRPr/>
            </a:p>
          </p:txBody>
        </p:sp>
      </p:grpSp>
      <p:sp>
        <p:nvSpPr>
          <p:cNvPr id="215" name="Google Shape;215;p5"/>
          <p:cNvSpPr/>
          <p:nvPr/>
        </p:nvSpPr>
        <p:spPr>
          <a:xfrm>
            <a:off x="3832158" y="4283007"/>
            <a:ext cx="534192" cy="237907"/>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216" name="Google Shape;216;p5"/>
          <p:cNvSpPr/>
          <p:nvPr/>
        </p:nvSpPr>
        <p:spPr>
          <a:xfrm>
            <a:off x="1167956" y="1308329"/>
            <a:ext cx="1098492"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Client 2</a:t>
            </a:r>
            <a:endParaRPr/>
          </a:p>
        </p:txBody>
      </p:sp>
      <p:sp>
        <p:nvSpPr>
          <p:cNvPr id="217" name="Google Shape;217;p5"/>
          <p:cNvSpPr/>
          <p:nvPr/>
        </p:nvSpPr>
        <p:spPr>
          <a:xfrm>
            <a:off x="4212946" y="1320425"/>
            <a:ext cx="1098491"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Client 5</a:t>
            </a:r>
            <a:endParaRPr/>
          </a:p>
        </p:txBody>
      </p:sp>
      <p:sp>
        <p:nvSpPr>
          <p:cNvPr id="218" name="Google Shape;218;p5"/>
          <p:cNvSpPr/>
          <p:nvPr/>
        </p:nvSpPr>
        <p:spPr>
          <a:xfrm>
            <a:off x="5194651" y="1309173"/>
            <a:ext cx="1098492"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0" i="0" u="none" strike="noStrike" cap="none" dirty="0">
                <a:solidFill>
                  <a:srgbClr val="000000"/>
                </a:solidFill>
                <a:latin typeface="Calibri"/>
                <a:ea typeface="Calibri"/>
                <a:cs typeface="Calibri"/>
                <a:sym typeface="Calibri"/>
              </a:rPr>
              <a:t>Client 6</a:t>
            </a:r>
            <a:endParaRPr dirty="0"/>
          </a:p>
        </p:txBody>
      </p:sp>
      <p:sp>
        <p:nvSpPr>
          <p:cNvPr id="219" name="Google Shape;219;p5"/>
          <p:cNvSpPr/>
          <p:nvPr/>
        </p:nvSpPr>
        <p:spPr>
          <a:xfrm>
            <a:off x="5196972" y="2784492"/>
            <a:ext cx="1513750" cy="2116440"/>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20" name="Google Shape;220;p5"/>
          <p:cNvSpPr/>
          <p:nvPr/>
        </p:nvSpPr>
        <p:spPr>
          <a:xfrm>
            <a:off x="-762425" y="2773350"/>
            <a:ext cx="1562677" cy="2116440"/>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21" name="Google Shape;221;p5"/>
          <p:cNvSpPr/>
          <p:nvPr/>
        </p:nvSpPr>
        <p:spPr>
          <a:xfrm>
            <a:off x="5696767" y="2723458"/>
            <a:ext cx="1513750" cy="2292579"/>
          </a:xfrm>
          <a:prstGeom prst="rect">
            <a:avLst/>
          </a:prstGeom>
          <a:solidFill>
            <a:srgbClr val="FFFFFF"/>
          </a:solidFill>
          <a:ln w="25400" cap="flat" cmpd="sng">
            <a:solidFill>
              <a:srgbClr val="FFFFFF"/>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23" name="Google Shape;223;p5"/>
          <p:cNvSpPr/>
          <p:nvPr/>
        </p:nvSpPr>
        <p:spPr>
          <a:xfrm>
            <a:off x="-843986" y="2687414"/>
            <a:ext cx="1513751" cy="2292580"/>
          </a:xfrm>
          <a:prstGeom prst="rect">
            <a:avLst/>
          </a:prstGeom>
          <a:solidFill>
            <a:srgbClr val="FFFFFF"/>
          </a:solidFill>
          <a:ln w="25400" cap="flat" cmpd="sng">
            <a:solidFill>
              <a:srgbClr val="FFFFFF"/>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24" name="Google Shape;224;p5"/>
          <p:cNvSpPr/>
          <p:nvPr/>
        </p:nvSpPr>
        <p:spPr>
          <a:xfrm>
            <a:off x="2808489" y="3755479"/>
            <a:ext cx="534192" cy="237907"/>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225" name="Google Shape;225;p5"/>
          <p:cNvSpPr/>
          <p:nvPr/>
        </p:nvSpPr>
        <p:spPr>
          <a:xfrm>
            <a:off x="4867221" y="3777409"/>
            <a:ext cx="534191" cy="237907"/>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cxnSp>
        <p:nvCxnSpPr>
          <p:cNvPr id="226" name="Google Shape;226;p5"/>
          <p:cNvCxnSpPr>
            <a:cxnSpLocks/>
            <a:stCxn id="196" idx="2"/>
          </p:cNvCxnSpPr>
          <p:nvPr/>
        </p:nvCxnSpPr>
        <p:spPr>
          <a:xfrm>
            <a:off x="774884" y="1770788"/>
            <a:ext cx="813063" cy="955794"/>
          </a:xfrm>
          <a:prstGeom prst="straightConnector1">
            <a:avLst/>
          </a:prstGeom>
          <a:noFill/>
          <a:ln w="9525" cap="flat" cmpd="sng">
            <a:solidFill>
              <a:srgbClr val="FF0000"/>
            </a:solidFill>
            <a:prstDash val="solid"/>
            <a:round/>
            <a:headEnd type="none" w="sm" len="sm"/>
            <a:tailEnd type="triangle" w="med" len="med"/>
          </a:ln>
        </p:spPr>
      </p:cxnSp>
      <p:cxnSp>
        <p:nvCxnSpPr>
          <p:cNvPr id="228" name="Google Shape;228;p5"/>
          <p:cNvCxnSpPr>
            <a:cxnSpLocks/>
            <a:stCxn id="217" idx="2"/>
          </p:cNvCxnSpPr>
          <p:nvPr/>
        </p:nvCxnSpPr>
        <p:spPr>
          <a:xfrm flipH="1">
            <a:off x="2359159" y="1781392"/>
            <a:ext cx="2403033" cy="934259"/>
          </a:xfrm>
          <a:prstGeom prst="straightConnector1">
            <a:avLst/>
          </a:prstGeom>
          <a:noFill/>
          <a:ln w="9525" cap="flat" cmpd="sng">
            <a:solidFill>
              <a:srgbClr val="FF2600"/>
            </a:solidFill>
            <a:prstDash val="solid"/>
            <a:round/>
            <a:headEnd type="none" w="sm" len="sm"/>
            <a:tailEnd type="triangle" w="med" len="med"/>
          </a:ln>
        </p:spPr>
      </p:cxnSp>
      <p:cxnSp>
        <p:nvCxnSpPr>
          <p:cNvPr id="229" name="Google Shape;229;p5"/>
          <p:cNvCxnSpPr>
            <a:cxnSpLocks/>
            <a:stCxn id="218" idx="2"/>
          </p:cNvCxnSpPr>
          <p:nvPr/>
        </p:nvCxnSpPr>
        <p:spPr>
          <a:xfrm flipH="1">
            <a:off x="2626221" y="1770140"/>
            <a:ext cx="3117676" cy="969357"/>
          </a:xfrm>
          <a:prstGeom prst="straightConnector1">
            <a:avLst/>
          </a:prstGeom>
          <a:noFill/>
          <a:ln w="9525" cap="flat" cmpd="sng">
            <a:solidFill>
              <a:srgbClr val="FF2600"/>
            </a:solidFill>
            <a:prstDash val="solid"/>
            <a:round/>
            <a:headEnd type="none" w="sm" len="sm"/>
            <a:tailEnd type="triangle" w="med" len="med"/>
          </a:ln>
        </p:spPr>
      </p:cxnSp>
      <p:sp>
        <p:nvSpPr>
          <p:cNvPr id="230" name="Google Shape;230;p5"/>
          <p:cNvSpPr/>
          <p:nvPr/>
        </p:nvSpPr>
        <p:spPr>
          <a:xfrm>
            <a:off x="2176748" y="1319931"/>
            <a:ext cx="1098492"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Client 3</a:t>
            </a:r>
            <a:endParaRPr/>
          </a:p>
        </p:txBody>
      </p:sp>
      <p:sp>
        <p:nvSpPr>
          <p:cNvPr id="231" name="Google Shape;231;p5"/>
          <p:cNvSpPr/>
          <p:nvPr/>
        </p:nvSpPr>
        <p:spPr>
          <a:xfrm>
            <a:off x="3182033" y="1320425"/>
            <a:ext cx="1098492"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Client 4</a:t>
            </a:r>
            <a:endParaRPr/>
          </a:p>
        </p:txBody>
      </p:sp>
      <p:cxnSp>
        <p:nvCxnSpPr>
          <p:cNvPr id="232" name="Google Shape;232;p5"/>
          <p:cNvCxnSpPr>
            <a:cxnSpLocks/>
            <a:stCxn id="230" idx="2"/>
          </p:cNvCxnSpPr>
          <p:nvPr/>
        </p:nvCxnSpPr>
        <p:spPr>
          <a:xfrm flipH="1">
            <a:off x="1933276" y="1780898"/>
            <a:ext cx="792718" cy="948765"/>
          </a:xfrm>
          <a:prstGeom prst="straightConnector1">
            <a:avLst/>
          </a:prstGeom>
          <a:noFill/>
          <a:ln w="9525" cap="flat" cmpd="sng">
            <a:solidFill>
              <a:srgbClr val="FF2600"/>
            </a:solidFill>
            <a:prstDash val="solid"/>
            <a:round/>
            <a:headEnd type="none" w="sm" len="sm"/>
            <a:tailEnd type="triangle" w="med" len="med"/>
          </a:ln>
        </p:spPr>
      </p:cxnSp>
      <p:cxnSp>
        <p:nvCxnSpPr>
          <p:cNvPr id="233" name="Google Shape;233;p5"/>
          <p:cNvCxnSpPr>
            <a:cxnSpLocks/>
            <a:stCxn id="231" idx="2"/>
          </p:cNvCxnSpPr>
          <p:nvPr/>
        </p:nvCxnSpPr>
        <p:spPr>
          <a:xfrm flipH="1">
            <a:off x="2144587" y="1781392"/>
            <a:ext cx="1586692" cy="945190"/>
          </a:xfrm>
          <a:prstGeom prst="straightConnector1">
            <a:avLst/>
          </a:prstGeom>
          <a:noFill/>
          <a:ln w="9525" cap="flat" cmpd="sng">
            <a:solidFill>
              <a:srgbClr val="FF0000"/>
            </a:solidFill>
            <a:prstDash val="solid"/>
            <a:round/>
            <a:headEnd type="none" w="sm" len="sm"/>
            <a:tailEnd type="triangle" w="med" len="med"/>
          </a:ln>
        </p:spPr>
      </p:cxnSp>
      <p:sp>
        <p:nvSpPr>
          <p:cNvPr id="234" name="Google Shape;234;p5"/>
          <p:cNvSpPr/>
          <p:nvPr/>
        </p:nvSpPr>
        <p:spPr>
          <a:xfrm>
            <a:off x="244952" y="1004930"/>
            <a:ext cx="1824822"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1" i="0" u="none" strike="noStrike" cap="none">
                <a:solidFill>
                  <a:srgbClr val="000000"/>
                </a:solidFill>
                <a:latin typeface="Calibri"/>
                <a:ea typeface="Calibri"/>
                <a:cs typeface="Calibri"/>
                <a:sym typeface="Calibri"/>
              </a:rPr>
              <a:t>A Data Center</a:t>
            </a:r>
            <a:endParaRPr/>
          </a:p>
        </p:txBody>
      </p:sp>
      <p:sp>
        <p:nvSpPr>
          <p:cNvPr id="235" name="Google Shape;235;p5"/>
          <p:cNvSpPr txBox="1"/>
          <p:nvPr/>
        </p:nvSpPr>
        <p:spPr>
          <a:xfrm>
            <a:off x="6361673" y="1497391"/>
            <a:ext cx="4232400" cy="49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t>Example of skewed workloads:</a:t>
            </a:r>
            <a:endParaRPr dirty="0"/>
          </a:p>
          <a:p>
            <a:pPr marL="457200" lvl="0" indent="-317500" algn="l" rtl="0">
              <a:spcBef>
                <a:spcPts val="0"/>
              </a:spcBef>
              <a:spcAft>
                <a:spcPts val="0"/>
              </a:spcAft>
              <a:buSzPts val="1400"/>
              <a:buChar char="●"/>
            </a:pPr>
            <a:r>
              <a:rPr lang="en-US" dirty="0"/>
              <a:t>E-commerce daily deals</a:t>
            </a:r>
            <a:endParaRPr dirty="0"/>
          </a:p>
          <a:p>
            <a:pPr marL="457200" lvl="0" indent="-317500" algn="l" rtl="0">
              <a:spcBef>
                <a:spcPts val="0"/>
              </a:spcBef>
              <a:spcAft>
                <a:spcPts val="0"/>
              </a:spcAft>
              <a:buSzPts val="1400"/>
              <a:buChar char="●"/>
            </a:pPr>
            <a:r>
              <a:rPr lang="en-US" dirty="0"/>
              <a:t>Flash Sales</a:t>
            </a:r>
            <a:endParaRPr dirty="0"/>
          </a:p>
          <a:p>
            <a:pPr marL="457200" lvl="0" indent="-317500" algn="l" rtl="0">
              <a:spcBef>
                <a:spcPts val="0"/>
              </a:spcBef>
              <a:spcAft>
                <a:spcPts val="0"/>
              </a:spcAft>
              <a:buSzPts val="1400"/>
              <a:buChar char="●"/>
            </a:pPr>
            <a:r>
              <a:rPr lang="en-US" dirty="0"/>
              <a:t>First/last 10 minutes </a:t>
            </a:r>
          </a:p>
          <a:p>
            <a:pPr marL="139700" lvl="0" algn="l" rtl="0">
              <a:spcBef>
                <a:spcPts val="0"/>
              </a:spcBef>
              <a:spcAft>
                <a:spcPts val="0"/>
              </a:spcAft>
              <a:buSzPts val="1400"/>
            </a:pPr>
            <a:r>
              <a:rPr lang="en-US" dirty="0"/>
              <a:t>       of stock trading date</a:t>
            </a:r>
            <a:endParaRPr dirty="0"/>
          </a:p>
          <a:p>
            <a:pPr marL="0" lvl="0" indent="0" algn="l" rtl="0">
              <a:spcBef>
                <a:spcPts val="0"/>
              </a:spcBef>
              <a:spcAft>
                <a:spcPts val="0"/>
              </a:spcAft>
              <a:buNone/>
            </a:pPr>
            <a:endParaRPr dirty="0"/>
          </a:p>
        </p:txBody>
      </p:sp>
      <p:sp>
        <p:nvSpPr>
          <p:cNvPr id="120" name="Rectangle 119">
            <a:extLst>
              <a:ext uri="{FF2B5EF4-FFF2-40B4-BE49-F238E27FC236}">
                <a16:creationId xmlns:a16="http://schemas.microsoft.com/office/drawing/2014/main" id="{169F8765-0FD9-0747-B69C-7E7B8C2DE3DD}"/>
              </a:ext>
            </a:extLst>
          </p:cNvPr>
          <p:cNvSpPr/>
          <p:nvPr/>
        </p:nvSpPr>
        <p:spPr>
          <a:xfrm>
            <a:off x="128815" y="1014383"/>
            <a:ext cx="6164327" cy="3990512"/>
          </a:xfrm>
          <a:prstGeom prst="rect">
            <a:avLst/>
          </a:prstGeom>
          <a:noFill/>
          <a:ln>
            <a:solidFill>
              <a:schemeClr val="tx1">
                <a:lumMod val="50000"/>
                <a:lumOff val="50000"/>
              </a:schemeClr>
            </a:solidFill>
            <a:prstDash val="dash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26" name="Google Shape;226;p5">
            <a:extLst>
              <a:ext uri="{FF2B5EF4-FFF2-40B4-BE49-F238E27FC236}">
                <a16:creationId xmlns:a16="http://schemas.microsoft.com/office/drawing/2014/main" id="{F7AC86BC-34BA-E141-8F2F-8DDBCC5126F2}"/>
              </a:ext>
            </a:extLst>
          </p:cNvPr>
          <p:cNvCxnSpPr>
            <a:cxnSpLocks/>
            <a:stCxn id="216" idx="2"/>
          </p:cNvCxnSpPr>
          <p:nvPr/>
        </p:nvCxnSpPr>
        <p:spPr>
          <a:xfrm>
            <a:off x="1717202" y="1769296"/>
            <a:ext cx="104787" cy="968044"/>
          </a:xfrm>
          <a:prstGeom prst="straightConnector1">
            <a:avLst/>
          </a:prstGeom>
          <a:noFill/>
          <a:ln w="9525" cap="flat" cmpd="sng">
            <a:solidFill>
              <a:srgbClr val="FF0000"/>
            </a:solidFill>
            <a:prstDash val="solid"/>
            <a:round/>
            <a:headEnd type="none" w="sm" len="sm"/>
            <a:tailEnd type="triangle" w="med" len="med"/>
          </a:ln>
        </p:spPr>
      </p:cxnSp>
      <p:sp>
        <p:nvSpPr>
          <p:cNvPr id="64" name="Slide Number Placeholder 1">
            <a:extLst>
              <a:ext uri="{FF2B5EF4-FFF2-40B4-BE49-F238E27FC236}">
                <a16:creationId xmlns:a16="http://schemas.microsoft.com/office/drawing/2014/main" id="{148B4A9E-D1A6-7049-BF1A-610BB459F4E6}"/>
              </a:ext>
            </a:extLst>
          </p:cNvPr>
          <p:cNvSpPr>
            <a:spLocks noGrp="1"/>
          </p:cNvSpPr>
          <p:nvPr>
            <p:ph type="sldNum" idx="12"/>
          </p:nvPr>
        </p:nvSpPr>
        <p:spPr>
          <a:xfrm>
            <a:off x="8684345" y="4700819"/>
            <a:ext cx="336814" cy="318396"/>
          </a:xfrm>
        </p:spPr>
        <p:txBody>
          <a:bodyPr/>
          <a:lstStyle/>
          <a:p>
            <a:pPr marL="0" lvl="0" indent="0" algn="r" rtl="0">
              <a:spcBef>
                <a:spcPts val="0"/>
              </a:spcBef>
              <a:spcAft>
                <a:spcPts val="0"/>
              </a:spcAft>
              <a:buNone/>
            </a:pPr>
            <a:fld id="{00000000-1234-1234-1234-123412341234}" type="slidenum">
              <a:rPr lang="en-US" smtClean="0"/>
              <a:t>3</a:t>
            </a:fld>
            <a:endParaRPr lang="en-US"/>
          </a:p>
        </p:txBody>
      </p:sp>
      <p:cxnSp>
        <p:nvCxnSpPr>
          <p:cNvPr id="65" name="Google Shape;163;p4">
            <a:extLst>
              <a:ext uri="{FF2B5EF4-FFF2-40B4-BE49-F238E27FC236}">
                <a16:creationId xmlns:a16="http://schemas.microsoft.com/office/drawing/2014/main" id="{6919ABF8-20C2-4E43-9DB4-7CC43A2B4F59}"/>
              </a:ext>
            </a:extLst>
          </p:cNvPr>
          <p:cNvCxnSpPr>
            <a:cxnSpLocks/>
            <a:endCxn id="199" idx="0"/>
          </p:cNvCxnSpPr>
          <p:nvPr/>
        </p:nvCxnSpPr>
        <p:spPr>
          <a:xfrm flipH="1">
            <a:off x="3909908" y="1764551"/>
            <a:ext cx="851160" cy="1007618"/>
          </a:xfrm>
          <a:prstGeom prst="straightConnector1">
            <a:avLst/>
          </a:prstGeom>
          <a:noFill/>
          <a:ln w="9525" cap="flat" cmpd="sng">
            <a:solidFill>
              <a:srgbClr val="44546A"/>
            </a:solidFill>
            <a:prstDash val="solid"/>
            <a:round/>
            <a:headEnd type="none" w="sm" len="sm"/>
            <a:tailEnd type="triangle" w="med" len="med"/>
          </a:ln>
        </p:spPr>
      </p:cxnSp>
      <p:cxnSp>
        <p:nvCxnSpPr>
          <p:cNvPr id="66" name="Google Shape;164;p4">
            <a:extLst>
              <a:ext uri="{FF2B5EF4-FFF2-40B4-BE49-F238E27FC236}">
                <a16:creationId xmlns:a16="http://schemas.microsoft.com/office/drawing/2014/main" id="{C2101FB7-8FC7-B84C-93D4-599FB9EEE22C}"/>
              </a:ext>
            </a:extLst>
          </p:cNvPr>
          <p:cNvCxnSpPr>
            <a:cxnSpLocks/>
          </p:cNvCxnSpPr>
          <p:nvPr/>
        </p:nvCxnSpPr>
        <p:spPr>
          <a:xfrm flipH="1">
            <a:off x="4252332" y="1765833"/>
            <a:ext cx="1500663" cy="1021997"/>
          </a:xfrm>
          <a:prstGeom prst="straightConnector1">
            <a:avLst/>
          </a:prstGeom>
          <a:noFill/>
          <a:ln w="9525" cap="flat" cmpd="sng">
            <a:solidFill>
              <a:srgbClr val="44546A"/>
            </a:solidFill>
            <a:prstDash val="solid"/>
            <a:round/>
            <a:headEnd type="none" w="sm" len="sm"/>
            <a:tailEnd type="triangle" w="med" len="med"/>
          </a:ln>
        </p:spPr>
      </p:cxnSp>
      <p:cxnSp>
        <p:nvCxnSpPr>
          <p:cNvPr id="67" name="Google Shape;167;p4">
            <a:extLst>
              <a:ext uri="{FF2B5EF4-FFF2-40B4-BE49-F238E27FC236}">
                <a16:creationId xmlns:a16="http://schemas.microsoft.com/office/drawing/2014/main" id="{96F3B5DE-0721-4149-8813-624E12A69D6F}"/>
              </a:ext>
            </a:extLst>
          </p:cNvPr>
          <p:cNvCxnSpPr>
            <a:cxnSpLocks/>
          </p:cNvCxnSpPr>
          <p:nvPr/>
        </p:nvCxnSpPr>
        <p:spPr>
          <a:xfrm>
            <a:off x="2689372" y="1805000"/>
            <a:ext cx="999696" cy="959577"/>
          </a:xfrm>
          <a:prstGeom prst="straightConnector1">
            <a:avLst/>
          </a:prstGeom>
          <a:noFill/>
          <a:ln w="9525" cap="flat" cmpd="sng">
            <a:solidFill>
              <a:srgbClr val="44546A"/>
            </a:solidFill>
            <a:prstDash val="solid"/>
            <a:round/>
            <a:headEnd type="none" w="sm" len="sm"/>
            <a:tailEnd type="triangle" w="med" len="med"/>
          </a:ln>
        </p:spPr>
      </p:cxnSp>
      <p:sp>
        <p:nvSpPr>
          <p:cNvPr id="68" name="Google Shape;235;p5">
            <a:extLst>
              <a:ext uri="{FF2B5EF4-FFF2-40B4-BE49-F238E27FC236}">
                <a16:creationId xmlns:a16="http://schemas.microsoft.com/office/drawing/2014/main" id="{36778826-C457-D948-BE01-E5EFBC49D787}"/>
              </a:ext>
            </a:extLst>
          </p:cNvPr>
          <p:cNvSpPr txBox="1"/>
          <p:nvPr/>
        </p:nvSpPr>
        <p:spPr>
          <a:xfrm>
            <a:off x="6449177" y="2968693"/>
            <a:ext cx="2646981" cy="493800"/>
          </a:xfrm>
          <a:prstGeom prst="rect">
            <a:avLst/>
          </a:prstGeom>
          <a:noFill/>
          <a:ln>
            <a:noFill/>
          </a:ln>
        </p:spPr>
        <p:txBody>
          <a:bodyPr spcFirstLastPara="1" wrap="square" lIns="91425" tIns="91425" rIns="91425" bIns="91425" anchor="t" anchorCtr="0">
            <a:noAutofit/>
          </a:bodyPr>
          <a:lstStyle/>
          <a:p>
            <a:pPr lvl="0"/>
            <a:r>
              <a:rPr lang="en-US" dirty="0"/>
              <a:t>In typical YCBS workloads, when 80% clients’ requests go to the tuples stored on one computer (e.g., Computer 1), the latency of the computer increases from 9.4 µs to 19.5 µs.</a:t>
            </a:r>
            <a:endParaRPr dirty="0"/>
          </a:p>
          <a:p>
            <a:pPr marL="0" lvl="0" indent="0" algn="l" rtl="0">
              <a:spcBef>
                <a:spcPts val="0"/>
              </a:spcBef>
              <a:spcAft>
                <a:spcPts val="0"/>
              </a:spcAft>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67"/>
                                        </p:tgtEl>
                                      </p:cBhvr>
                                    </p:animEffect>
                                    <p:set>
                                      <p:cBhvr>
                                        <p:cTn id="7" dur="1" fill="hold">
                                          <p:stCondLst>
                                            <p:cond delay="499"/>
                                          </p:stCondLst>
                                        </p:cTn>
                                        <p:tgtEl>
                                          <p:spTgt spid="67"/>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65"/>
                                        </p:tgtEl>
                                      </p:cBhvr>
                                    </p:animEffect>
                                    <p:set>
                                      <p:cBhvr>
                                        <p:cTn id="10" dur="1" fill="hold">
                                          <p:stCondLst>
                                            <p:cond delay="499"/>
                                          </p:stCondLst>
                                        </p:cTn>
                                        <p:tgtEl>
                                          <p:spTgt spid="65"/>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66"/>
                                        </p:tgtEl>
                                      </p:cBhvr>
                                    </p:animEffect>
                                    <p:set>
                                      <p:cBhvr>
                                        <p:cTn id="13" dur="1" fill="hold">
                                          <p:stCondLst>
                                            <p:cond delay="499"/>
                                          </p:stCondLst>
                                        </p:cTn>
                                        <p:tgtEl>
                                          <p:spTgt spid="66"/>
                                        </p:tgtEl>
                                        <p:attrNameLst>
                                          <p:attrName>style.visibility</p:attrName>
                                        </p:attrNameLst>
                                      </p:cBhvr>
                                      <p:to>
                                        <p:strVal val="hidden"/>
                                      </p:to>
                                    </p:se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232"/>
                                        </p:tgtEl>
                                        <p:attrNameLst>
                                          <p:attrName>style.visibility</p:attrName>
                                        </p:attrNameLst>
                                      </p:cBhvr>
                                      <p:to>
                                        <p:strVal val="visible"/>
                                      </p:to>
                                    </p:set>
                                    <p:animEffect transition="in" filter="fade">
                                      <p:cBhvr>
                                        <p:cTn id="17" dur="500"/>
                                        <p:tgtEl>
                                          <p:spTgt spid="232"/>
                                        </p:tgtEl>
                                      </p:cBhvr>
                                    </p:animEffect>
                                  </p:childTnLst>
                                </p:cTn>
                              </p:par>
                              <p:par>
                                <p:cTn id="18" presetID="10" presetClass="entr" presetSubtype="0" fill="hold" nodeType="withEffect">
                                  <p:stCondLst>
                                    <p:cond delay="0"/>
                                  </p:stCondLst>
                                  <p:childTnLst>
                                    <p:set>
                                      <p:cBhvr>
                                        <p:cTn id="19" dur="1" fill="hold">
                                          <p:stCondLst>
                                            <p:cond delay="0"/>
                                          </p:stCondLst>
                                        </p:cTn>
                                        <p:tgtEl>
                                          <p:spTgt spid="228"/>
                                        </p:tgtEl>
                                        <p:attrNameLst>
                                          <p:attrName>style.visibility</p:attrName>
                                        </p:attrNameLst>
                                      </p:cBhvr>
                                      <p:to>
                                        <p:strVal val="visible"/>
                                      </p:to>
                                    </p:set>
                                    <p:animEffect transition="in" filter="fade">
                                      <p:cBhvr>
                                        <p:cTn id="20" dur="500"/>
                                        <p:tgtEl>
                                          <p:spTgt spid="228"/>
                                        </p:tgtEl>
                                      </p:cBhvr>
                                    </p:animEffect>
                                  </p:childTnLst>
                                </p:cTn>
                              </p:par>
                              <p:par>
                                <p:cTn id="21" presetID="10" presetClass="entr" presetSubtype="0" fill="hold" nodeType="withEffect">
                                  <p:stCondLst>
                                    <p:cond delay="0"/>
                                  </p:stCondLst>
                                  <p:childTnLst>
                                    <p:set>
                                      <p:cBhvr>
                                        <p:cTn id="22" dur="1" fill="hold">
                                          <p:stCondLst>
                                            <p:cond delay="0"/>
                                          </p:stCondLst>
                                        </p:cTn>
                                        <p:tgtEl>
                                          <p:spTgt spid="229"/>
                                        </p:tgtEl>
                                        <p:attrNameLst>
                                          <p:attrName>style.visibility</p:attrName>
                                        </p:attrNameLst>
                                      </p:cBhvr>
                                      <p:to>
                                        <p:strVal val="visible"/>
                                      </p:to>
                                    </p:set>
                                    <p:animEffect transition="in" filter="fade">
                                      <p:cBhvr>
                                        <p:cTn id="23"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6"/>
          <p:cNvSpPr txBox="1">
            <a:spLocks noGrp="1"/>
          </p:cNvSpPr>
          <p:nvPr>
            <p:ph type="title"/>
          </p:nvPr>
        </p:nvSpPr>
        <p:spPr>
          <a:xfrm>
            <a:off x="217342" y="161220"/>
            <a:ext cx="8520601" cy="572702"/>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dirty="0">
                <a:latin typeface="Arial"/>
                <a:ea typeface="Arial"/>
                <a:cs typeface="Arial"/>
                <a:sym typeface="Arial"/>
              </a:rPr>
              <a:t>Background: Live migration – a powerful technique to re-balance load across computers</a:t>
            </a:r>
            <a:endParaRPr dirty="0"/>
          </a:p>
        </p:txBody>
      </p:sp>
      <p:sp>
        <p:nvSpPr>
          <p:cNvPr id="241" name="Google Shape;241;p6"/>
          <p:cNvSpPr/>
          <p:nvPr/>
        </p:nvSpPr>
        <p:spPr>
          <a:xfrm>
            <a:off x="1558364" y="2953626"/>
            <a:ext cx="1513750" cy="2116439"/>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42" name="Google Shape;242;p6"/>
          <p:cNvSpPr/>
          <p:nvPr/>
        </p:nvSpPr>
        <p:spPr>
          <a:xfrm>
            <a:off x="1707618" y="3274893"/>
            <a:ext cx="1246529" cy="1742832"/>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43" name="Google Shape;243;p6"/>
          <p:cNvSpPr/>
          <p:nvPr/>
        </p:nvSpPr>
        <p:spPr>
          <a:xfrm>
            <a:off x="1883883" y="2939717"/>
            <a:ext cx="1246529" cy="291017"/>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a:solidFill>
                  <a:srgbClr val="000000"/>
                </a:solidFill>
                <a:latin typeface="Calibri"/>
                <a:ea typeface="Calibri"/>
                <a:cs typeface="Calibri"/>
                <a:sym typeface="Calibri"/>
              </a:rPr>
              <a:t>Source</a:t>
            </a:r>
            <a:endParaRPr/>
          </a:p>
        </p:txBody>
      </p:sp>
      <p:sp>
        <p:nvSpPr>
          <p:cNvPr id="244" name="Google Shape;244;p6"/>
          <p:cNvSpPr/>
          <p:nvPr/>
        </p:nvSpPr>
        <p:spPr>
          <a:xfrm>
            <a:off x="1801728" y="3313926"/>
            <a:ext cx="1301228" cy="248528"/>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key-value store</a:t>
            </a:r>
            <a:endParaRPr/>
          </a:p>
        </p:txBody>
      </p:sp>
      <p:grpSp>
        <p:nvGrpSpPr>
          <p:cNvPr id="245" name="Google Shape;245;p6"/>
          <p:cNvGrpSpPr/>
          <p:nvPr/>
        </p:nvGrpSpPr>
        <p:grpSpPr>
          <a:xfrm>
            <a:off x="1868981" y="4349477"/>
            <a:ext cx="792631" cy="248530"/>
            <a:chOff x="0" y="0"/>
            <a:chExt cx="792630" cy="248528"/>
          </a:xfrm>
        </p:grpSpPr>
        <p:sp>
          <p:nvSpPr>
            <p:cNvPr id="246" name="Google Shape;246;p6"/>
            <p:cNvSpPr/>
            <p:nvPr/>
          </p:nvSpPr>
          <p:spPr>
            <a:xfrm>
              <a:off x="0" y="56517"/>
              <a:ext cx="792630" cy="135494"/>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Arial"/>
                <a:ea typeface="Arial"/>
                <a:cs typeface="Arial"/>
                <a:sym typeface="Arial"/>
              </a:endParaRPr>
            </a:p>
          </p:txBody>
        </p:sp>
        <p:sp>
          <p:nvSpPr>
            <p:cNvPr id="247" name="Google Shape;247;p6"/>
            <p:cNvSpPr/>
            <p:nvPr/>
          </p:nvSpPr>
          <p:spPr>
            <a:xfrm>
              <a:off x="0" y="0"/>
              <a:ext cx="792630" cy="248528"/>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dirty="0">
                  <a:solidFill>
                    <a:srgbClr val="000000"/>
                  </a:solidFill>
                  <a:latin typeface="Calibri"/>
                  <a:ea typeface="Calibri"/>
                  <a:cs typeface="Calibri"/>
                  <a:sym typeface="Calibri"/>
                </a:rPr>
                <a:t>&lt;300, V&gt;</a:t>
              </a:r>
              <a:endParaRPr dirty="0"/>
            </a:p>
          </p:txBody>
        </p:sp>
      </p:grpSp>
      <p:sp>
        <p:nvSpPr>
          <p:cNvPr id="248" name="Google Shape;248;p6"/>
          <p:cNvSpPr/>
          <p:nvPr/>
        </p:nvSpPr>
        <p:spPr>
          <a:xfrm>
            <a:off x="2152586" y="4143008"/>
            <a:ext cx="534192" cy="237906"/>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249" name="Google Shape;249;p6"/>
          <p:cNvGrpSpPr/>
          <p:nvPr/>
        </p:nvGrpSpPr>
        <p:grpSpPr>
          <a:xfrm>
            <a:off x="1867510" y="4687321"/>
            <a:ext cx="792631" cy="248530"/>
            <a:chOff x="0" y="0"/>
            <a:chExt cx="792630" cy="248528"/>
          </a:xfrm>
        </p:grpSpPr>
        <p:sp>
          <p:nvSpPr>
            <p:cNvPr id="250" name="Google Shape;250;p6"/>
            <p:cNvSpPr/>
            <p:nvPr/>
          </p:nvSpPr>
          <p:spPr>
            <a:xfrm>
              <a:off x="0" y="56517"/>
              <a:ext cx="792630" cy="135494"/>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51" name="Google Shape;251;p6"/>
            <p:cNvSpPr/>
            <p:nvPr/>
          </p:nvSpPr>
          <p:spPr>
            <a:xfrm>
              <a:off x="0" y="0"/>
              <a:ext cx="792630" cy="248528"/>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&lt;400, V&gt;</a:t>
              </a:r>
              <a:endParaRPr/>
            </a:p>
          </p:txBody>
        </p:sp>
      </p:grpSp>
      <p:sp>
        <p:nvSpPr>
          <p:cNvPr id="252" name="Google Shape;252;p6"/>
          <p:cNvSpPr/>
          <p:nvPr/>
        </p:nvSpPr>
        <p:spPr>
          <a:xfrm>
            <a:off x="2152585" y="4485115"/>
            <a:ext cx="534192" cy="237906"/>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253" name="Google Shape;253;p6"/>
          <p:cNvSpPr/>
          <p:nvPr/>
        </p:nvSpPr>
        <p:spPr>
          <a:xfrm>
            <a:off x="121773" y="1476082"/>
            <a:ext cx="1098491"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Client 1</a:t>
            </a:r>
            <a:endParaRPr/>
          </a:p>
        </p:txBody>
      </p:sp>
      <p:sp>
        <p:nvSpPr>
          <p:cNvPr id="254" name="Google Shape;254;p6"/>
          <p:cNvSpPr/>
          <p:nvPr/>
        </p:nvSpPr>
        <p:spPr>
          <a:xfrm>
            <a:off x="3642916" y="2953029"/>
            <a:ext cx="1562677" cy="2116440"/>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55" name="Google Shape;255;p6"/>
          <p:cNvSpPr/>
          <p:nvPr/>
        </p:nvSpPr>
        <p:spPr>
          <a:xfrm>
            <a:off x="3779331" y="3274296"/>
            <a:ext cx="1246530" cy="1742833"/>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56" name="Google Shape;256;p6"/>
          <p:cNvSpPr/>
          <p:nvPr/>
        </p:nvSpPr>
        <p:spPr>
          <a:xfrm>
            <a:off x="3769806" y="2954803"/>
            <a:ext cx="1172410" cy="291017"/>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a:solidFill>
                  <a:srgbClr val="000000"/>
                </a:solidFill>
                <a:latin typeface="Calibri"/>
                <a:ea typeface="Calibri"/>
                <a:cs typeface="Calibri"/>
                <a:sym typeface="Calibri"/>
              </a:rPr>
              <a:t>Destination </a:t>
            </a:r>
            <a:endParaRPr/>
          </a:p>
        </p:txBody>
      </p:sp>
      <p:sp>
        <p:nvSpPr>
          <p:cNvPr id="257" name="Google Shape;257;p6"/>
          <p:cNvSpPr/>
          <p:nvPr/>
        </p:nvSpPr>
        <p:spPr>
          <a:xfrm>
            <a:off x="3907088" y="3302419"/>
            <a:ext cx="1301228" cy="248528"/>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key-value store</a:t>
            </a:r>
            <a:endParaRPr/>
          </a:p>
        </p:txBody>
      </p:sp>
      <p:sp>
        <p:nvSpPr>
          <p:cNvPr id="258" name="Google Shape;258;p6"/>
          <p:cNvSpPr/>
          <p:nvPr/>
        </p:nvSpPr>
        <p:spPr>
          <a:xfrm>
            <a:off x="1151637" y="1489337"/>
            <a:ext cx="1098492"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Client 2</a:t>
            </a:r>
            <a:endParaRPr/>
          </a:p>
        </p:txBody>
      </p:sp>
      <p:sp>
        <p:nvSpPr>
          <p:cNvPr id="259" name="Google Shape;259;p6"/>
          <p:cNvSpPr/>
          <p:nvPr/>
        </p:nvSpPr>
        <p:spPr>
          <a:xfrm>
            <a:off x="4557702" y="1489337"/>
            <a:ext cx="1098491"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Client 5</a:t>
            </a:r>
            <a:endParaRPr/>
          </a:p>
        </p:txBody>
      </p:sp>
      <p:sp>
        <p:nvSpPr>
          <p:cNvPr id="260" name="Google Shape;260;p6"/>
          <p:cNvSpPr/>
          <p:nvPr/>
        </p:nvSpPr>
        <p:spPr>
          <a:xfrm>
            <a:off x="5648772" y="1488352"/>
            <a:ext cx="1098492"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Client 6</a:t>
            </a:r>
            <a:endParaRPr/>
          </a:p>
        </p:txBody>
      </p:sp>
      <p:sp>
        <p:nvSpPr>
          <p:cNvPr id="261" name="Google Shape;261;p6"/>
          <p:cNvSpPr/>
          <p:nvPr/>
        </p:nvSpPr>
        <p:spPr>
          <a:xfrm>
            <a:off x="5804456" y="2953029"/>
            <a:ext cx="1513750" cy="2116440"/>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62" name="Google Shape;262;p6"/>
          <p:cNvSpPr/>
          <p:nvPr/>
        </p:nvSpPr>
        <p:spPr>
          <a:xfrm>
            <a:off x="-575115" y="2953050"/>
            <a:ext cx="1562677" cy="2116440"/>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63" name="Google Shape;263;p6"/>
          <p:cNvSpPr/>
          <p:nvPr/>
        </p:nvSpPr>
        <p:spPr>
          <a:xfrm>
            <a:off x="6304251" y="2891995"/>
            <a:ext cx="1513750" cy="2292579"/>
          </a:xfrm>
          <a:prstGeom prst="rect">
            <a:avLst/>
          </a:prstGeom>
          <a:solidFill>
            <a:srgbClr val="FFFFFF"/>
          </a:solidFill>
          <a:ln w="25400" cap="flat" cmpd="sng">
            <a:solidFill>
              <a:srgbClr val="FFFFFF"/>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64" name="Google Shape;264;p6"/>
          <p:cNvSpPr/>
          <p:nvPr/>
        </p:nvSpPr>
        <p:spPr>
          <a:xfrm>
            <a:off x="6431714" y="3019458"/>
            <a:ext cx="1513750" cy="2292579"/>
          </a:xfrm>
          <a:prstGeom prst="rect">
            <a:avLst/>
          </a:prstGeom>
          <a:solidFill>
            <a:srgbClr val="FFFFFF"/>
          </a:solidFill>
          <a:ln w="25400" cap="flat" cmpd="sng">
            <a:solidFill>
              <a:srgbClr val="FFFFFF"/>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65" name="Google Shape;265;p6"/>
          <p:cNvSpPr/>
          <p:nvPr/>
        </p:nvSpPr>
        <p:spPr>
          <a:xfrm>
            <a:off x="-1080995" y="2827155"/>
            <a:ext cx="1513751" cy="2292580"/>
          </a:xfrm>
          <a:prstGeom prst="rect">
            <a:avLst/>
          </a:prstGeom>
          <a:solidFill>
            <a:srgbClr val="FFFFFF"/>
          </a:solidFill>
          <a:ln w="25400" cap="flat" cmpd="sng">
            <a:solidFill>
              <a:srgbClr val="FFFFFF"/>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66" name="Google Shape;266;p6"/>
          <p:cNvSpPr/>
          <p:nvPr/>
        </p:nvSpPr>
        <p:spPr>
          <a:xfrm>
            <a:off x="3264403" y="3929131"/>
            <a:ext cx="534192" cy="237907"/>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267" name="Google Shape;267;p6"/>
          <p:cNvSpPr/>
          <p:nvPr/>
        </p:nvSpPr>
        <p:spPr>
          <a:xfrm>
            <a:off x="5334235" y="3958195"/>
            <a:ext cx="534191" cy="237907"/>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268" name="Google Shape;268;p6"/>
          <p:cNvSpPr/>
          <p:nvPr/>
        </p:nvSpPr>
        <p:spPr>
          <a:xfrm>
            <a:off x="1151645" y="3929131"/>
            <a:ext cx="534191" cy="237907"/>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cxnSp>
        <p:nvCxnSpPr>
          <p:cNvPr id="269" name="Google Shape;269;p6"/>
          <p:cNvCxnSpPr>
            <a:cxnSpLocks/>
            <a:stCxn id="253" idx="2"/>
          </p:cNvCxnSpPr>
          <p:nvPr/>
        </p:nvCxnSpPr>
        <p:spPr>
          <a:xfrm>
            <a:off x="671019" y="1937049"/>
            <a:ext cx="1164408" cy="998207"/>
          </a:xfrm>
          <a:prstGeom prst="straightConnector1">
            <a:avLst/>
          </a:prstGeom>
          <a:noFill/>
          <a:ln w="9525" cap="flat" cmpd="sng">
            <a:solidFill>
              <a:srgbClr val="FF0000"/>
            </a:solidFill>
            <a:prstDash val="solid"/>
            <a:round/>
            <a:headEnd type="none" w="sm" len="sm"/>
            <a:tailEnd type="triangle" w="med" len="med"/>
          </a:ln>
        </p:spPr>
      </p:cxnSp>
      <p:sp>
        <p:nvSpPr>
          <p:cNvPr id="270" name="Google Shape;270;p6"/>
          <p:cNvSpPr/>
          <p:nvPr/>
        </p:nvSpPr>
        <p:spPr>
          <a:xfrm>
            <a:off x="1759548" y="1950303"/>
            <a:ext cx="308925" cy="1002640"/>
          </a:xfrm>
          <a:custGeom>
            <a:avLst/>
            <a:gdLst/>
            <a:ahLst/>
            <a:cxnLst/>
            <a:rect l="l" t="t" r="r" b="b"/>
            <a:pathLst>
              <a:path w="21600" h="21600" extrusionOk="0">
                <a:moveTo>
                  <a:pt x="0" y="0"/>
                </a:moveTo>
                <a:cubicBezTo>
                  <a:pt x="7200" y="7200"/>
                  <a:pt x="14400" y="14400"/>
                  <a:pt x="21600" y="21600"/>
                </a:cubicBezTo>
              </a:path>
            </a:pathLst>
          </a:custGeom>
          <a:noFill/>
          <a:ln w="9525" cap="flat" cmpd="sng">
            <a:solidFill>
              <a:srgbClr val="FF0000"/>
            </a:solidFill>
            <a:prstDash val="solid"/>
            <a:round/>
            <a:headEnd type="none" w="med" len="med"/>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71" name="Google Shape;271;p6"/>
          <p:cNvCxnSpPr/>
          <p:nvPr/>
        </p:nvCxnSpPr>
        <p:spPr>
          <a:xfrm flipH="1">
            <a:off x="4566656" y="1961824"/>
            <a:ext cx="529938" cy="985219"/>
          </a:xfrm>
          <a:prstGeom prst="straightConnector1">
            <a:avLst/>
          </a:prstGeom>
          <a:noFill/>
          <a:ln w="9525" cap="flat" cmpd="sng">
            <a:solidFill>
              <a:srgbClr val="8E7CC3"/>
            </a:solidFill>
            <a:prstDash val="solid"/>
            <a:round/>
            <a:headEnd type="none" w="sm" len="sm"/>
            <a:tailEnd type="triangle" w="med" len="med"/>
          </a:ln>
        </p:spPr>
      </p:cxnSp>
      <p:cxnSp>
        <p:nvCxnSpPr>
          <p:cNvPr id="272" name="Google Shape;272;p6"/>
          <p:cNvCxnSpPr>
            <a:cxnSpLocks/>
            <a:stCxn id="260" idx="2"/>
          </p:cNvCxnSpPr>
          <p:nvPr/>
        </p:nvCxnSpPr>
        <p:spPr>
          <a:xfrm flipH="1">
            <a:off x="4790748" y="1949319"/>
            <a:ext cx="1407270" cy="983800"/>
          </a:xfrm>
          <a:prstGeom prst="straightConnector1">
            <a:avLst/>
          </a:prstGeom>
          <a:noFill/>
          <a:ln w="9525" cap="flat" cmpd="sng">
            <a:solidFill>
              <a:srgbClr val="674EA7"/>
            </a:solidFill>
            <a:prstDash val="solid"/>
            <a:round/>
            <a:headEnd type="none" w="sm" len="sm"/>
            <a:tailEnd type="triangle" w="med" len="med"/>
          </a:ln>
        </p:spPr>
      </p:cxnSp>
      <p:sp>
        <p:nvSpPr>
          <p:cNvPr id="273" name="Google Shape;273;p6"/>
          <p:cNvSpPr/>
          <p:nvPr/>
        </p:nvSpPr>
        <p:spPr>
          <a:xfrm>
            <a:off x="2301627" y="1489295"/>
            <a:ext cx="1098492"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Client 3</a:t>
            </a:r>
            <a:endParaRPr/>
          </a:p>
        </p:txBody>
      </p:sp>
      <p:sp>
        <p:nvSpPr>
          <p:cNvPr id="274" name="Google Shape;274;p6"/>
          <p:cNvSpPr/>
          <p:nvPr/>
        </p:nvSpPr>
        <p:spPr>
          <a:xfrm>
            <a:off x="3424488" y="1489337"/>
            <a:ext cx="1098492"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Client 4</a:t>
            </a:r>
            <a:endParaRPr/>
          </a:p>
        </p:txBody>
      </p:sp>
      <p:cxnSp>
        <p:nvCxnSpPr>
          <p:cNvPr id="275" name="Google Shape;275;p6"/>
          <p:cNvCxnSpPr/>
          <p:nvPr/>
        </p:nvCxnSpPr>
        <p:spPr>
          <a:xfrm>
            <a:off x="2850873" y="2005671"/>
            <a:ext cx="1243661" cy="926490"/>
          </a:xfrm>
          <a:prstGeom prst="straightConnector1">
            <a:avLst/>
          </a:prstGeom>
          <a:noFill/>
          <a:ln w="9525" cap="flat" cmpd="sng">
            <a:solidFill>
              <a:srgbClr val="8E7CC3"/>
            </a:solidFill>
            <a:prstDash val="solid"/>
            <a:round/>
            <a:headEnd type="none" w="sm" len="sm"/>
            <a:tailEnd type="triangle" w="med" len="med"/>
          </a:ln>
        </p:spPr>
      </p:cxnSp>
      <p:cxnSp>
        <p:nvCxnSpPr>
          <p:cNvPr id="276" name="Google Shape;276;p6"/>
          <p:cNvCxnSpPr/>
          <p:nvPr/>
        </p:nvCxnSpPr>
        <p:spPr>
          <a:xfrm flipH="1">
            <a:off x="2576203" y="2005713"/>
            <a:ext cx="1397531" cy="926573"/>
          </a:xfrm>
          <a:prstGeom prst="straightConnector1">
            <a:avLst/>
          </a:prstGeom>
          <a:noFill/>
          <a:ln w="9525" cap="flat" cmpd="sng">
            <a:solidFill>
              <a:srgbClr val="FF0000"/>
            </a:solidFill>
            <a:prstDash val="solid"/>
            <a:round/>
            <a:headEnd type="none" w="sm" len="sm"/>
            <a:tailEnd type="triangle" w="med" len="med"/>
          </a:ln>
        </p:spPr>
      </p:cxnSp>
      <p:sp>
        <p:nvSpPr>
          <p:cNvPr id="277" name="Google Shape;277;p6"/>
          <p:cNvSpPr/>
          <p:nvPr/>
        </p:nvSpPr>
        <p:spPr>
          <a:xfrm>
            <a:off x="152860" y="1068051"/>
            <a:ext cx="1824822" cy="460967"/>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200"/>
              <a:buFont typeface="Calibri"/>
              <a:buNone/>
            </a:pPr>
            <a:r>
              <a:rPr lang="en-US" sz="2200" b="1" i="0" u="none" strike="noStrike" cap="none">
                <a:solidFill>
                  <a:srgbClr val="000000"/>
                </a:solidFill>
                <a:latin typeface="Calibri"/>
                <a:ea typeface="Calibri"/>
                <a:cs typeface="Calibri"/>
                <a:sym typeface="Calibri"/>
              </a:rPr>
              <a:t>A Data Center</a:t>
            </a:r>
            <a:endParaRPr/>
          </a:p>
        </p:txBody>
      </p:sp>
      <p:grpSp>
        <p:nvGrpSpPr>
          <p:cNvPr id="278" name="Google Shape;278;p6"/>
          <p:cNvGrpSpPr/>
          <p:nvPr/>
        </p:nvGrpSpPr>
        <p:grpSpPr>
          <a:xfrm>
            <a:off x="4014033" y="4287220"/>
            <a:ext cx="801401" cy="251279"/>
            <a:chOff x="0" y="0"/>
            <a:chExt cx="801399" cy="251278"/>
          </a:xfrm>
        </p:grpSpPr>
        <p:sp>
          <p:nvSpPr>
            <p:cNvPr id="279" name="Google Shape;279;p6"/>
            <p:cNvSpPr/>
            <p:nvPr/>
          </p:nvSpPr>
          <p:spPr>
            <a:xfrm>
              <a:off x="0" y="57143"/>
              <a:ext cx="801399" cy="136992"/>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80" name="Google Shape;280;p6"/>
            <p:cNvSpPr/>
            <p:nvPr/>
          </p:nvSpPr>
          <p:spPr>
            <a:xfrm>
              <a:off x="0" y="0"/>
              <a:ext cx="801399" cy="251278"/>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&lt;400, V&gt;</a:t>
              </a:r>
              <a:endParaRPr/>
            </a:p>
          </p:txBody>
        </p:sp>
      </p:grpSp>
      <p:grpSp>
        <p:nvGrpSpPr>
          <p:cNvPr id="281" name="Google Shape;281;p6"/>
          <p:cNvGrpSpPr/>
          <p:nvPr/>
        </p:nvGrpSpPr>
        <p:grpSpPr>
          <a:xfrm>
            <a:off x="4010318" y="4601752"/>
            <a:ext cx="801401" cy="251279"/>
            <a:chOff x="0" y="0"/>
            <a:chExt cx="801399" cy="251278"/>
          </a:xfrm>
        </p:grpSpPr>
        <p:sp>
          <p:nvSpPr>
            <p:cNvPr id="282" name="Google Shape;282;p6"/>
            <p:cNvSpPr/>
            <p:nvPr/>
          </p:nvSpPr>
          <p:spPr>
            <a:xfrm>
              <a:off x="0" y="57143"/>
              <a:ext cx="801399" cy="136992"/>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83" name="Google Shape;283;p6"/>
            <p:cNvSpPr/>
            <p:nvPr/>
          </p:nvSpPr>
          <p:spPr>
            <a:xfrm>
              <a:off x="0" y="0"/>
              <a:ext cx="801399" cy="251278"/>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a:solidFill>
                    <a:srgbClr val="000000"/>
                  </a:solidFill>
                  <a:latin typeface="Calibri"/>
                  <a:ea typeface="Calibri"/>
                  <a:cs typeface="Calibri"/>
                  <a:sym typeface="Calibri"/>
                </a:rPr>
                <a:t>&lt;500, V&gt;</a:t>
              </a:r>
              <a:endParaRPr/>
            </a:p>
          </p:txBody>
        </p:sp>
      </p:grpSp>
      <p:sp>
        <p:nvSpPr>
          <p:cNvPr id="284" name="Google Shape;284;p6"/>
          <p:cNvSpPr/>
          <p:nvPr/>
        </p:nvSpPr>
        <p:spPr>
          <a:xfrm>
            <a:off x="4298090" y="4405790"/>
            <a:ext cx="540102" cy="240539"/>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285" name="Google Shape;285;p6"/>
          <p:cNvSpPr/>
          <p:nvPr/>
        </p:nvSpPr>
        <p:spPr>
          <a:xfrm>
            <a:off x="4297061" y="4738504"/>
            <a:ext cx="540102" cy="24054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286" name="Google Shape;286;p6"/>
          <p:cNvSpPr/>
          <p:nvPr/>
        </p:nvSpPr>
        <p:spPr>
          <a:xfrm>
            <a:off x="4282030" y="4112985"/>
            <a:ext cx="540102" cy="240539"/>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287" name="Google Shape;287;p6"/>
          <p:cNvGrpSpPr/>
          <p:nvPr/>
        </p:nvGrpSpPr>
        <p:grpSpPr>
          <a:xfrm>
            <a:off x="1867506" y="3944058"/>
            <a:ext cx="794075" cy="248400"/>
            <a:chOff x="-1475" y="38"/>
            <a:chExt cx="794075" cy="248400"/>
          </a:xfrm>
        </p:grpSpPr>
        <p:sp>
          <p:nvSpPr>
            <p:cNvPr id="288" name="Google Shape;288;p6"/>
            <p:cNvSpPr/>
            <p:nvPr/>
          </p:nvSpPr>
          <p:spPr>
            <a:xfrm>
              <a:off x="0" y="56517"/>
              <a:ext cx="792600" cy="135600"/>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89" name="Google Shape;289;p6"/>
            <p:cNvSpPr/>
            <p:nvPr/>
          </p:nvSpPr>
          <p:spPr>
            <a:xfrm>
              <a:off x="-1475" y="38"/>
              <a:ext cx="792600" cy="2484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dirty="0">
                  <a:solidFill>
                    <a:srgbClr val="000000"/>
                  </a:solidFill>
                  <a:latin typeface="Calibri"/>
                  <a:ea typeface="Calibri"/>
                  <a:cs typeface="Calibri"/>
                  <a:sym typeface="Calibri"/>
                </a:rPr>
                <a:t>&lt;200, V&gt;</a:t>
              </a:r>
              <a:endParaRPr dirty="0"/>
            </a:p>
          </p:txBody>
        </p:sp>
      </p:grpSp>
      <p:sp>
        <p:nvSpPr>
          <p:cNvPr id="290" name="Google Shape;290;p6"/>
          <p:cNvSpPr/>
          <p:nvPr/>
        </p:nvSpPr>
        <p:spPr>
          <a:xfrm>
            <a:off x="2152529" y="3690852"/>
            <a:ext cx="534300" cy="237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291" name="Google Shape;291;p6"/>
          <p:cNvGrpSpPr/>
          <p:nvPr/>
        </p:nvGrpSpPr>
        <p:grpSpPr>
          <a:xfrm>
            <a:off x="1872655" y="3629042"/>
            <a:ext cx="792613" cy="248400"/>
            <a:chOff x="0" y="-3887"/>
            <a:chExt cx="792613" cy="248400"/>
          </a:xfrm>
        </p:grpSpPr>
        <p:sp>
          <p:nvSpPr>
            <p:cNvPr id="292" name="Google Shape;292;p6"/>
            <p:cNvSpPr/>
            <p:nvPr/>
          </p:nvSpPr>
          <p:spPr>
            <a:xfrm>
              <a:off x="0" y="56517"/>
              <a:ext cx="792600" cy="135600"/>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93" name="Google Shape;293;p6"/>
            <p:cNvSpPr/>
            <p:nvPr/>
          </p:nvSpPr>
          <p:spPr>
            <a:xfrm>
              <a:off x="13" y="-3887"/>
              <a:ext cx="792600" cy="2484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dirty="0">
                  <a:solidFill>
                    <a:srgbClr val="000000"/>
                  </a:solidFill>
                  <a:latin typeface="Calibri"/>
                  <a:ea typeface="Calibri"/>
                  <a:cs typeface="Calibri"/>
                  <a:sym typeface="Calibri"/>
                </a:rPr>
                <a:t>&lt;1, V&gt;</a:t>
              </a:r>
              <a:endParaRPr dirty="0"/>
            </a:p>
          </p:txBody>
        </p:sp>
      </p:grpSp>
      <p:cxnSp>
        <p:nvCxnSpPr>
          <p:cNvPr id="294" name="Google Shape;294;p6"/>
          <p:cNvCxnSpPr/>
          <p:nvPr/>
        </p:nvCxnSpPr>
        <p:spPr>
          <a:xfrm>
            <a:off x="2812831" y="3879799"/>
            <a:ext cx="1155000" cy="0"/>
          </a:xfrm>
          <a:prstGeom prst="straightConnector1">
            <a:avLst/>
          </a:prstGeom>
          <a:noFill/>
          <a:ln w="9525" cap="flat" cmpd="sng">
            <a:solidFill>
              <a:srgbClr val="8E7CC3"/>
            </a:solidFill>
            <a:prstDash val="solid"/>
            <a:round/>
            <a:headEnd type="none" w="med" len="med"/>
            <a:tailEnd type="triangle" w="med" len="med"/>
          </a:ln>
        </p:spPr>
      </p:cxnSp>
      <p:grpSp>
        <p:nvGrpSpPr>
          <p:cNvPr id="295" name="Google Shape;295;p6"/>
          <p:cNvGrpSpPr/>
          <p:nvPr/>
        </p:nvGrpSpPr>
        <p:grpSpPr>
          <a:xfrm>
            <a:off x="1865055" y="3625331"/>
            <a:ext cx="804550" cy="251400"/>
            <a:chOff x="0" y="-4437"/>
            <a:chExt cx="804550" cy="251400"/>
          </a:xfrm>
        </p:grpSpPr>
        <p:sp>
          <p:nvSpPr>
            <p:cNvPr id="296" name="Google Shape;296;p6"/>
            <p:cNvSpPr/>
            <p:nvPr/>
          </p:nvSpPr>
          <p:spPr>
            <a:xfrm>
              <a:off x="0" y="57143"/>
              <a:ext cx="801300" cy="137100"/>
            </a:xfrm>
            <a:prstGeom prst="rect">
              <a:avLst/>
            </a:prstGeom>
            <a:solidFill>
              <a:srgbClr val="8E7CC3"/>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97" name="Google Shape;297;p6"/>
            <p:cNvSpPr/>
            <p:nvPr/>
          </p:nvSpPr>
          <p:spPr>
            <a:xfrm>
              <a:off x="3250" y="-4437"/>
              <a:ext cx="801300" cy="2514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dirty="0">
                  <a:solidFill>
                    <a:srgbClr val="000000"/>
                  </a:solidFill>
                  <a:latin typeface="Calibri"/>
                  <a:ea typeface="Calibri"/>
                  <a:cs typeface="Calibri"/>
                  <a:sym typeface="Calibri"/>
                </a:rPr>
                <a:t>&lt;</a:t>
              </a:r>
              <a:r>
                <a:rPr lang="en-US" sz="1300" dirty="0">
                  <a:latin typeface="Calibri"/>
                  <a:ea typeface="Calibri"/>
                  <a:cs typeface="Calibri"/>
                  <a:sym typeface="Calibri"/>
                </a:rPr>
                <a:t>1</a:t>
              </a:r>
              <a:r>
                <a:rPr lang="en-US" sz="1300" b="0" i="0" u="none" strike="noStrike" cap="none" dirty="0">
                  <a:solidFill>
                    <a:srgbClr val="000000"/>
                  </a:solidFill>
                  <a:latin typeface="Calibri"/>
                  <a:ea typeface="Calibri"/>
                  <a:cs typeface="Calibri"/>
                  <a:sym typeface="Calibri"/>
                </a:rPr>
                <a:t>, V&gt;</a:t>
              </a:r>
              <a:endParaRPr dirty="0"/>
            </a:p>
          </p:txBody>
        </p:sp>
      </p:grpSp>
      <p:grpSp>
        <p:nvGrpSpPr>
          <p:cNvPr id="298" name="Google Shape;298;p6"/>
          <p:cNvGrpSpPr/>
          <p:nvPr/>
        </p:nvGrpSpPr>
        <p:grpSpPr>
          <a:xfrm>
            <a:off x="1862337" y="3946598"/>
            <a:ext cx="802937" cy="251400"/>
            <a:chOff x="-642106" y="-242326"/>
            <a:chExt cx="802938" cy="251400"/>
          </a:xfrm>
        </p:grpSpPr>
        <p:sp>
          <p:nvSpPr>
            <p:cNvPr id="299" name="Google Shape;299;p6"/>
            <p:cNvSpPr/>
            <p:nvPr/>
          </p:nvSpPr>
          <p:spPr>
            <a:xfrm>
              <a:off x="-642106" y="-185121"/>
              <a:ext cx="801399" cy="136992"/>
            </a:xfrm>
            <a:prstGeom prst="rect">
              <a:avLst/>
            </a:prstGeom>
            <a:solidFill>
              <a:srgbClr val="8E7CC3"/>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300" name="Google Shape;300;p6"/>
            <p:cNvSpPr/>
            <p:nvPr/>
          </p:nvSpPr>
          <p:spPr>
            <a:xfrm>
              <a:off x="-640468" y="-242326"/>
              <a:ext cx="801300" cy="2514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Calibri"/>
                <a:buNone/>
              </a:pPr>
              <a:r>
                <a:rPr lang="en-US" sz="1300" b="0" i="0" u="none" strike="noStrike" cap="none" dirty="0">
                  <a:solidFill>
                    <a:srgbClr val="000000"/>
                  </a:solidFill>
                  <a:latin typeface="Calibri"/>
                  <a:ea typeface="Calibri"/>
                  <a:cs typeface="Calibri"/>
                  <a:sym typeface="Calibri"/>
                </a:rPr>
                <a:t>&lt;200, V&gt;</a:t>
              </a:r>
              <a:endParaRPr dirty="0"/>
            </a:p>
          </p:txBody>
        </p:sp>
      </p:grpSp>
      <p:cxnSp>
        <p:nvCxnSpPr>
          <p:cNvPr id="75" name="Google Shape;228;p5"/>
          <p:cNvCxnSpPr/>
          <p:nvPr/>
        </p:nvCxnSpPr>
        <p:spPr>
          <a:xfrm flipH="1">
            <a:off x="2849032" y="1961824"/>
            <a:ext cx="2247562" cy="968923"/>
          </a:xfrm>
          <a:prstGeom prst="straightConnector1">
            <a:avLst/>
          </a:prstGeom>
          <a:noFill/>
          <a:ln w="9525" cap="flat" cmpd="sng">
            <a:solidFill>
              <a:srgbClr val="FF2600"/>
            </a:solidFill>
            <a:prstDash val="solid"/>
            <a:round/>
            <a:headEnd type="none" w="sm" len="sm"/>
            <a:tailEnd type="triangle" w="med" len="med"/>
          </a:ln>
        </p:spPr>
      </p:cxnSp>
      <p:cxnSp>
        <p:nvCxnSpPr>
          <p:cNvPr id="76" name="Google Shape;229;p5"/>
          <p:cNvCxnSpPr>
            <a:cxnSpLocks/>
            <a:stCxn id="260" idx="2"/>
          </p:cNvCxnSpPr>
          <p:nvPr/>
        </p:nvCxnSpPr>
        <p:spPr>
          <a:xfrm flipH="1">
            <a:off x="3067494" y="1949319"/>
            <a:ext cx="3130524" cy="991802"/>
          </a:xfrm>
          <a:prstGeom prst="straightConnector1">
            <a:avLst/>
          </a:prstGeom>
          <a:noFill/>
          <a:ln w="9525" cap="flat" cmpd="sng">
            <a:solidFill>
              <a:srgbClr val="FF2600"/>
            </a:solidFill>
            <a:prstDash val="solid"/>
            <a:round/>
            <a:headEnd type="none" w="sm" len="sm"/>
            <a:tailEnd type="triangle" w="med" len="med"/>
          </a:ln>
        </p:spPr>
      </p:cxnSp>
      <p:cxnSp>
        <p:nvCxnSpPr>
          <p:cNvPr id="77" name="Google Shape;232;p5"/>
          <p:cNvCxnSpPr/>
          <p:nvPr/>
        </p:nvCxnSpPr>
        <p:spPr>
          <a:xfrm flipH="1">
            <a:off x="2320886" y="2005671"/>
            <a:ext cx="529988" cy="941119"/>
          </a:xfrm>
          <a:prstGeom prst="straightConnector1">
            <a:avLst/>
          </a:prstGeom>
          <a:noFill/>
          <a:ln w="9525" cap="flat" cmpd="sng">
            <a:solidFill>
              <a:srgbClr val="FF2600"/>
            </a:solidFill>
            <a:prstDash val="solid"/>
            <a:round/>
            <a:headEnd type="none" w="sm" len="sm"/>
            <a:tailEnd type="triangle" w="med" len="med"/>
          </a:ln>
        </p:spPr>
      </p:cxnSp>
      <p:sp>
        <p:nvSpPr>
          <p:cNvPr id="66" name="Rectangle 65">
            <a:extLst>
              <a:ext uri="{FF2B5EF4-FFF2-40B4-BE49-F238E27FC236}">
                <a16:creationId xmlns:a16="http://schemas.microsoft.com/office/drawing/2014/main" id="{8BCCC138-4470-CA40-A688-B439AA97F5CD}"/>
              </a:ext>
            </a:extLst>
          </p:cNvPr>
          <p:cNvSpPr/>
          <p:nvPr/>
        </p:nvSpPr>
        <p:spPr>
          <a:xfrm>
            <a:off x="121773" y="1109699"/>
            <a:ext cx="6660252" cy="4033801"/>
          </a:xfrm>
          <a:prstGeom prst="rect">
            <a:avLst/>
          </a:prstGeom>
          <a:noFill/>
          <a:ln>
            <a:solidFill>
              <a:schemeClr val="tx1">
                <a:lumMod val="50000"/>
                <a:lumOff val="50000"/>
              </a:schemeClr>
            </a:solidFill>
            <a:prstDash val="dash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B6D0F9E6-70F4-7242-80AD-C6C5B0BDE484}"/>
              </a:ext>
            </a:extLst>
          </p:cNvPr>
          <p:cNvSpPr txBox="1"/>
          <p:nvPr/>
        </p:nvSpPr>
        <p:spPr>
          <a:xfrm>
            <a:off x="6851943" y="2065351"/>
            <a:ext cx="2301604" cy="1169551"/>
          </a:xfrm>
          <a:prstGeom prst="rect">
            <a:avLst/>
          </a:prstGeom>
          <a:noFill/>
        </p:spPr>
        <p:txBody>
          <a:bodyPr wrap="square" rtlCol="0">
            <a:spAutoFit/>
          </a:bodyPr>
          <a:lstStyle/>
          <a:p>
            <a:endParaRPr lang="en-US" dirty="0"/>
          </a:p>
          <a:p>
            <a:pPr marL="285750" indent="-285750">
              <a:buFont typeface="Arial" panose="020B0604020202020204" pitchFamily="34" charset="0"/>
              <a:buChar char="•"/>
            </a:pPr>
            <a:r>
              <a:rPr lang="en-US" dirty="0"/>
              <a:t>The overall performance of the two computers will be improved.</a:t>
            </a:r>
          </a:p>
        </p:txBody>
      </p:sp>
      <p:sp>
        <p:nvSpPr>
          <p:cNvPr id="69" name="Slide Number Placeholder 1">
            <a:extLst>
              <a:ext uri="{FF2B5EF4-FFF2-40B4-BE49-F238E27FC236}">
                <a16:creationId xmlns:a16="http://schemas.microsoft.com/office/drawing/2014/main" id="{EE757F09-771D-FF46-9EF8-60F044B7125F}"/>
              </a:ext>
            </a:extLst>
          </p:cNvPr>
          <p:cNvSpPr>
            <a:spLocks noGrp="1"/>
          </p:cNvSpPr>
          <p:nvPr>
            <p:ph type="sldNum" idx="12"/>
          </p:nvPr>
        </p:nvSpPr>
        <p:spPr>
          <a:xfrm>
            <a:off x="8684345" y="4700819"/>
            <a:ext cx="336814" cy="318396"/>
          </a:xfrm>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5"/>
                                        </p:tgtEl>
                                        <p:attrNameLst>
                                          <p:attrName>style.visibility</p:attrName>
                                        </p:attrNameLst>
                                      </p:cBhvr>
                                      <p:to>
                                        <p:strVal val="visible"/>
                                      </p:to>
                                    </p:set>
                                    <p:animEffect transition="in" filter="fade">
                                      <p:cBhvr>
                                        <p:cTn id="7" dur="1000"/>
                                        <p:tgtEl>
                                          <p:spTgt spid="295"/>
                                        </p:tgtEl>
                                      </p:cBhvr>
                                    </p:animEffect>
                                  </p:childTnLst>
                                </p:cTn>
                              </p:par>
                              <p:par>
                                <p:cTn id="8" presetID="10" presetClass="entr" presetSubtype="0" fill="hold" nodeType="withEffect">
                                  <p:stCondLst>
                                    <p:cond delay="0"/>
                                  </p:stCondLst>
                                  <p:childTnLst>
                                    <p:set>
                                      <p:cBhvr>
                                        <p:cTn id="9" dur="1" fill="hold">
                                          <p:stCondLst>
                                            <p:cond delay="0"/>
                                          </p:stCondLst>
                                        </p:cTn>
                                        <p:tgtEl>
                                          <p:spTgt spid="298"/>
                                        </p:tgtEl>
                                        <p:attrNameLst>
                                          <p:attrName>style.visibility</p:attrName>
                                        </p:attrNameLst>
                                      </p:cBhvr>
                                      <p:to>
                                        <p:strVal val="visible"/>
                                      </p:to>
                                    </p:set>
                                    <p:animEffect transition="in" filter="fade">
                                      <p:cBhvr>
                                        <p:cTn id="10" dur="1000"/>
                                        <p:tgtEl>
                                          <p:spTgt spid="298"/>
                                        </p:tgtEl>
                                      </p:cBhvr>
                                    </p:animEffect>
                                  </p:childTnLst>
                                </p:cTn>
                              </p:par>
                              <p:par>
                                <p:cTn id="11" presetID="10" presetClass="entr" presetSubtype="0" fill="hold" nodeType="withEffect">
                                  <p:stCondLst>
                                    <p:cond delay="0"/>
                                  </p:stCondLst>
                                  <p:childTnLst>
                                    <p:set>
                                      <p:cBhvr>
                                        <p:cTn id="12" dur="1" fill="hold">
                                          <p:stCondLst>
                                            <p:cond delay="0"/>
                                          </p:stCondLst>
                                        </p:cTn>
                                        <p:tgtEl>
                                          <p:spTgt spid="298"/>
                                        </p:tgtEl>
                                        <p:attrNameLst>
                                          <p:attrName>style.visibility</p:attrName>
                                        </p:attrNameLst>
                                      </p:cBhvr>
                                      <p:to>
                                        <p:strVal val="visible"/>
                                      </p:to>
                                    </p:set>
                                    <p:animEffect transition="in" filter="fade">
                                      <p:cBhvr>
                                        <p:cTn id="13" dur="1000"/>
                                        <p:tgtEl>
                                          <p:spTgt spid="298"/>
                                        </p:tgtEl>
                                      </p:cBhvr>
                                    </p:animEffect>
                                  </p:childTnLst>
                                </p:cTn>
                              </p:par>
                              <p:par>
                                <p:cTn id="14" presetID="10" presetClass="entr" presetSubtype="0" fill="hold" nodeType="withEffect">
                                  <p:stCondLst>
                                    <p:cond delay="0"/>
                                  </p:stCondLst>
                                  <p:childTnLst>
                                    <p:set>
                                      <p:cBhvr>
                                        <p:cTn id="15" dur="1" fill="hold">
                                          <p:stCondLst>
                                            <p:cond delay="0"/>
                                          </p:stCondLst>
                                        </p:cTn>
                                        <p:tgtEl>
                                          <p:spTgt spid="294"/>
                                        </p:tgtEl>
                                        <p:attrNameLst>
                                          <p:attrName>style.visibility</p:attrName>
                                        </p:attrNameLst>
                                      </p:cBhvr>
                                      <p:to>
                                        <p:strVal val="visible"/>
                                      </p:to>
                                    </p:set>
                                    <p:animEffect transition="in" filter="fade">
                                      <p:cBhvr>
                                        <p:cTn id="16" dur="1000"/>
                                        <p:tgtEl>
                                          <p:spTgt spid="294"/>
                                        </p:tgtEl>
                                      </p:cBhvr>
                                    </p:animEffect>
                                  </p:childTnLst>
                                </p:cTn>
                              </p:par>
                            </p:childTnLst>
                          </p:cTn>
                        </p:par>
                        <p:par>
                          <p:cTn id="17" fill="hold">
                            <p:stCondLst>
                              <p:cond delay="1000"/>
                            </p:stCondLst>
                            <p:childTnLst>
                              <p:par>
                                <p:cTn id="18" presetID="42" presetClass="path" presetSubtype="0" accel="50000" decel="50000" fill="hold" nodeType="afterEffect">
                                  <p:stCondLst>
                                    <p:cond delay="0"/>
                                  </p:stCondLst>
                                  <p:childTnLst>
                                    <p:animMotion origin="layout" path="M 3.33333E-6 -9.87654E-7 L 0.23628 0.00124 " pathEditMode="relative" rAng="0" ptsTypes="AA">
                                      <p:cBhvr>
                                        <p:cTn id="19" dur="2000" fill="hold"/>
                                        <p:tgtEl>
                                          <p:spTgt spid="295"/>
                                        </p:tgtEl>
                                        <p:attrNameLst>
                                          <p:attrName>ppt_x</p:attrName>
                                          <p:attrName>ppt_y</p:attrName>
                                        </p:attrNameLst>
                                      </p:cBhvr>
                                      <p:rCtr x="11806" y="62"/>
                                    </p:animMotion>
                                  </p:childTnLst>
                                </p:cTn>
                              </p:par>
                              <p:par>
                                <p:cTn id="20" presetID="42" presetClass="path" presetSubtype="0" accel="50000" decel="50000" fill="hold" nodeType="withEffect">
                                  <p:stCondLst>
                                    <p:cond delay="0"/>
                                  </p:stCondLst>
                                  <p:childTnLst>
                                    <p:animMotion origin="layout" path="M 5.55556E-7 3.33333E-6 L 0.23663 0.00247 " pathEditMode="relative" rAng="0" ptsTypes="AA">
                                      <p:cBhvr>
                                        <p:cTn id="21" dur="2000" fill="hold"/>
                                        <p:tgtEl>
                                          <p:spTgt spid="298"/>
                                        </p:tgtEl>
                                        <p:attrNameLst>
                                          <p:attrName>ppt_x</p:attrName>
                                          <p:attrName>ppt_y</p:attrName>
                                        </p:attrNameLst>
                                      </p:cBhvr>
                                      <p:rCtr x="11823" y="123"/>
                                    </p:animMotion>
                                  </p:childTnLst>
                                </p:cTn>
                              </p:par>
                              <p:par>
                                <p:cTn id="22" presetID="42" presetClass="path" presetSubtype="0" accel="50000" decel="50000" fill="hold" grpId="0" nodeType="withEffect">
                                  <p:stCondLst>
                                    <p:cond delay="0"/>
                                  </p:stCondLst>
                                  <p:childTnLst>
                                    <p:animMotion origin="layout" path="M -3.33333E-6 -7.40741E-7 L 0.22032 0.00648 " pathEditMode="relative" rAng="0" ptsTypes="AA">
                                      <p:cBhvr>
                                        <p:cTn id="23" dur="2000" fill="hold"/>
                                        <p:tgtEl>
                                          <p:spTgt spid="290"/>
                                        </p:tgtEl>
                                        <p:attrNameLst>
                                          <p:attrName>ppt_x</p:attrName>
                                          <p:attrName>ppt_y</p:attrName>
                                        </p:attrNameLst>
                                      </p:cBhvr>
                                      <p:rCtr x="11007" y="309"/>
                                    </p:animMotion>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xit" presetSubtype="0" fill="hold" nodeType="withEffect">
                                  <p:stCondLst>
                                    <p:cond delay="0"/>
                                  </p:stCondLst>
                                  <p:childTnLst>
                                    <p:animEffect transition="out" filter="fade">
                                      <p:cBhvr>
                                        <p:cTn id="28" dur="500"/>
                                        <p:tgtEl>
                                          <p:spTgt spid="77"/>
                                        </p:tgtEl>
                                      </p:cBhvr>
                                    </p:animEffect>
                                    <p:set>
                                      <p:cBhvr>
                                        <p:cTn id="29" dur="1" fill="hold">
                                          <p:stCondLst>
                                            <p:cond delay="499"/>
                                          </p:stCondLst>
                                        </p:cTn>
                                        <p:tgtEl>
                                          <p:spTgt spid="77"/>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75"/>
                                        </p:tgtEl>
                                      </p:cBhvr>
                                    </p:animEffect>
                                    <p:set>
                                      <p:cBhvr>
                                        <p:cTn id="32" dur="1" fill="hold">
                                          <p:stCondLst>
                                            <p:cond delay="499"/>
                                          </p:stCondLst>
                                        </p:cTn>
                                        <p:tgtEl>
                                          <p:spTgt spid="75"/>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500"/>
                                        <p:tgtEl>
                                          <p:spTgt spid="76"/>
                                        </p:tgtEl>
                                      </p:cBhvr>
                                    </p:animEffect>
                                    <p:set>
                                      <p:cBhvr>
                                        <p:cTn id="35" dur="1" fill="hold">
                                          <p:stCondLst>
                                            <p:cond delay="499"/>
                                          </p:stCondLst>
                                        </p:cTn>
                                        <p:tgtEl>
                                          <p:spTgt spid="76"/>
                                        </p:tgtEl>
                                        <p:attrNameLst>
                                          <p:attrName>style.visibility</p:attrName>
                                        </p:attrNameLst>
                                      </p:cBhvr>
                                      <p:to>
                                        <p:strVal val="hidden"/>
                                      </p:to>
                                    </p:set>
                                  </p:childTnLst>
                                </p:cTn>
                              </p:par>
                              <p:par>
                                <p:cTn id="36" presetID="10" presetClass="entr" presetSubtype="0" fill="hold" nodeType="withEffect">
                                  <p:stCondLst>
                                    <p:cond delay="0"/>
                                  </p:stCondLst>
                                  <p:childTnLst>
                                    <p:set>
                                      <p:cBhvr>
                                        <p:cTn id="37" dur="1" fill="hold">
                                          <p:stCondLst>
                                            <p:cond delay="0"/>
                                          </p:stCondLst>
                                        </p:cTn>
                                        <p:tgtEl>
                                          <p:spTgt spid="275"/>
                                        </p:tgtEl>
                                        <p:attrNameLst>
                                          <p:attrName>style.visibility</p:attrName>
                                        </p:attrNameLst>
                                      </p:cBhvr>
                                      <p:to>
                                        <p:strVal val="visible"/>
                                      </p:to>
                                    </p:set>
                                    <p:animEffect transition="in" filter="fade">
                                      <p:cBhvr>
                                        <p:cTn id="38" dur="500"/>
                                        <p:tgtEl>
                                          <p:spTgt spid="275"/>
                                        </p:tgtEl>
                                      </p:cBhvr>
                                    </p:animEffect>
                                  </p:childTnLst>
                                </p:cTn>
                              </p:par>
                              <p:par>
                                <p:cTn id="39" presetID="10" presetClass="entr" presetSubtype="0" fill="hold" nodeType="withEffect">
                                  <p:stCondLst>
                                    <p:cond delay="0"/>
                                  </p:stCondLst>
                                  <p:childTnLst>
                                    <p:set>
                                      <p:cBhvr>
                                        <p:cTn id="40" dur="1" fill="hold">
                                          <p:stCondLst>
                                            <p:cond delay="0"/>
                                          </p:stCondLst>
                                        </p:cTn>
                                        <p:tgtEl>
                                          <p:spTgt spid="271"/>
                                        </p:tgtEl>
                                        <p:attrNameLst>
                                          <p:attrName>style.visibility</p:attrName>
                                        </p:attrNameLst>
                                      </p:cBhvr>
                                      <p:to>
                                        <p:strVal val="visible"/>
                                      </p:to>
                                    </p:set>
                                    <p:animEffect transition="in" filter="fade">
                                      <p:cBhvr>
                                        <p:cTn id="41" dur="500"/>
                                        <p:tgtEl>
                                          <p:spTgt spid="271"/>
                                        </p:tgtEl>
                                      </p:cBhvr>
                                    </p:animEffect>
                                  </p:childTnLst>
                                </p:cTn>
                              </p:par>
                              <p:par>
                                <p:cTn id="42" presetID="10" presetClass="entr" presetSubtype="0" fill="hold" nodeType="withEffect">
                                  <p:stCondLst>
                                    <p:cond delay="0"/>
                                  </p:stCondLst>
                                  <p:childTnLst>
                                    <p:set>
                                      <p:cBhvr>
                                        <p:cTn id="43" dur="1" fill="hold">
                                          <p:stCondLst>
                                            <p:cond delay="0"/>
                                          </p:stCondLst>
                                        </p:cTn>
                                        <p:tgtEl>
                                          <p:spTgt spid="272"/>
                                        </p:tgtEl>
                                        <p:attrNameLst>
                                          <p:attrName>style.visibility</p:attrName>
                                        </p:attrNameLst>
                                      </p:cBhvr>
                                      <p:to>
                                        <p:strVal val="visible"/>
                                      </p:to>
                                    </p:set>
                                    <p:animEffect transition="in" filter="fade">
                                      <p:cBhvr>
                                        <p:cTn id="44" dur="500"/>
                                        <p:tgtEl>
                                          <p:spTgt spid="272"/>
                                        </p:tgtEl>
                                      </p:cBhvr>
                                    </p:animEffect>
                                  </p:childTnLst>
                                </p:cTn>
                              </p:par>
                            </p:childTnLst>
                          </p:cTn>
                        </p:par>
                        <p:par>
                          <p:cTn id="45" fill="hold">
                            <p:stCondLst>
                              <p:cond delay="3000"/>
                            </p:stCondLst>
                            <p:childTnLst>
                              <p:par>
                                <p:cTn id="46" presetID="10" presetClass="exit" presetSubtype="0" fill="hold" nodeType="afterEffect">
                                  <p:stCondLst>
                                    <p:cond delay="0"/>
                                  </p:stCondLst>
                                  <p:childTnLst>
                                    <p:animEffect transition="out" filter="fade">
                                      <p:cBhvr>
                                        <p:cTn id="47" dur="500"/>
                                        <p:tgtEl>
                                          <p:spTgt spid="291"/>
                                        </p:tgtEl>
                                      </p:cBhvr>
                                    </p:animEffect>
                                    <p:set>
                                      <p:cBhvr>
                                        <p:cTn id="48" dur="1" fill="hold">
                                          <p:stCondLst>
                                            <p:cond delay="499"/>
                                          </p:stCondLst>
                                        </p:cTn>
                                        <p:tgtEl>
                                          <p:spTgt spid="291"/>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500"/>
                                        <p:tgtEl>
                                          <p:spTgt spid="287"/>
                                        </p:tgtEl>
                                      </p:cBhvr>
                                    </p:animEffect>
                                    <p:set>
                                      <p:cBhvr>
                                        <p:cTn id="51" dur="1" fill="hold">
                                          <p:stCondLst>
                                            <p:cond delay="499"/>
                                          </p:stCondLst>
                                        </p:cTn>
                                        <p:tgtEl>
                                          <p:spTgt spid="28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6"/>
          <p:cNvSpPr txBox="1">
            <a:spLocks noGrp="1"/>
          </p:cNvSpPr>
          <p:nvPr>
            <p:ph type="title"/>
          </p:nvPr>
        </p:nvSpPr>
        <p:spPr>
          <a:xfrm>
            <a:off x="217342" y="161220"/>
            <a:ext cx="8520601" cy="572702"/>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dirty="0">
                <a:latin typeface="Arial"/>
                <a:ea typeface="Arial"/>
                <a:cs typeface="Arial"/>
                <a:sym typeface="Arial"/>
              </a:rPr>
              <a:t>Existing live migration approaches and Fulva</a:t>
            </a:r>
            <a:endParaRPr dirty="0"/>
          </a:p>
        </p:txBody>
      </p:sp>
      <p:sp>
        <p:nvSpPr>
          <p:cNvPr id="17" name="TextBox 16">
            <a:extLst>
              <a:ext uri="{FF2B5EF4-FFF2-40B4-BE49-F238E27FC236}">
                <a16:creationId xmlns:a16="http://schemas.microsoft.com/office/drawing/2014/main" id="{0A913F5E-AF02-F343-8A65-7D58DD6C3261}"/>
              </a:ext>
            </a:extLst>
          </p:cNvPr>
          <p:cNvSpPr txBox="1"/>
          <p:nvPr/>
        </p:nvSpPr>
        <p:spPr>
          <a:xfrm>
            <a:off x="5390487" y="733922"/>
            <a:ext cx="3613818" cy="1169551"/>
          </a:xfrm>
          <a:prstGeom prst="rect">
            <a:avLst/>
          </a:prstGeom>
          <a:noFill/>
        </p:spPr>
        <p:txBody>
          <a:bodyPr wrap="square" rtlCol="0">
            <a:spAutoFit/>
          </a:bodyPr>
          <a:lstStyle/>
          <a:p>
            <a:r>
              <a:rPr lang="en-US" b="1" dirty="0">
                <a:solidFill>
                  <a:srgbClr val="FF7F0B"/>
                </a:solidFill>
              </a:rPr>
              <a:t>Source-driven approach (orange line)</a:t>
            </a:r>
          </a:p>
          <a:p>
            <a:pPr marL="285750" indent="-285750">
              <a:buFont typeface="Arial" panose="020B0604020202020204" pitchFamily="34" charset="0"/>
              <a:buChar char="•"/>
            </a:pPr>
            <a:r>
              <a:rPr lang="en-US" dirty="0">
                <a:solidFill>
                  <a:schemeClr val="tx2">
                    <a:lumMod val="60000"/>
                    <a:lumOff val="40000"/>
                  </a:schemeClr>
                </a:solidFill>
              </a:rPr>
              <a:t>Albatross (VLDB’11)</a:t>
            </a:r>
          </a:p>
          <a:p>
            <a:pPr marL="285750" indent="-285750">
              <a:buFont typeface="Arial" panose="020B0604020202020204" pitchFamily="34" charset="0"/>
              <a:buChar char="•"/>
            </a:pPr>
            <a:r>
              <a:rPr lang="en-US" dirty="0">
                <a:solidFill>
                  <a:schemeClr val="tx2">
                    <a:lumMod val="60000"/>
                    <a:lumOff val="40000"/>
                  </a:schemeClr>
                </a:solidFill>
              </a:rPr>
              <a:t>Slacker (EDBT’12)</a:t>
            </a:r>
          </a:p>
          <a:p>
            <a:pPr marL="285750" indent="-285750">
              <a:buFont typeface="Arial" panose="020B0604020202020204" pitchFamily="34" charset="0"/>
              <a:buChar char="•"/>
            </a:pPr>
            <a:r>
              <a:rPr lang="en-US" dirty="0" err="1">
                <a:solidFill>
                  <a:schemeClr val="tx2">
                    <a:lumMod val="60000"/>
                    <a:lumOff val="40000"/>
                  </a:schemeClr>
                </a:solidFill>
              </a:rPr>
              <a:t>Drtmb</a:t>
            </a:r>
            <a:r>
              <a:rPr lang="en-US" dirty="0">
                <a:solidFill>
                  <a:schemeClr val="tx2">
                    <a:lumMod val="60000"/>
                    <a:lumOff val="40000"/>
                  </a:schemeClr>
                </a:solidFill>
              </a:rPr>
              <a:t> (ATC’17)</a:t>
            </a:r>
          </a:p>
          <a:p>
            <a:pPr marL="285750" indent="-285750">
              <a:buFont typeface="Arial" panose="020B0604020202020204" pitchFamily="34" charset="0"/>
              <a:buChar char="•"/>
            </a:pPr>
            <a:r>
              <a:rPr lang="en-US" dirty="0" err="1">
                <a:solidFill>
                  <a:schemeClr val="tx2">
                    <a:lumMod val="60000"/>
                    <a:lumOff val="40000"/>
                  </a:schemeClr>
                </a:solidFill>
              </a:rPr>
              <a:t>RAMCloud</a:t>
            </a:r>
            <a:r>
              <a:rPr lang="en-US" dirty="0">
                <a:solidFill>
                  <a:schemeClr val="tx2">
                    <a:lumMod val="60000"/>
                    <a:lumOff val="40000"/>
                  </a:schemeClr>
                </a:solidFill>
              </a:rPr>
              <a:t>-migration (SIGOPS’10)</a:t>
            </a:r>
          </a:p>
        </p:txBody>
      </p:sp>
      <p:sp>
        <p:nvSpPr>
          <p:cNvPr id="107" name="TextBox 106">
            <a:extLst>
              <a:ext uri="{FF2B5EF4-FFF2-40B4-BE49-F238E27FC236}">
                <a16:creationId xmlns:a16="http://schemas.microsoft.com/office/drawing/2014/main" id="{21A52E89-261C-0049-AAE3-9F93A6D35EBC}"/>
              </a:ext>
            </a:extLst>
          </p:cNvPr>
          <p:cNvSpPr txBox="1"/>
          <p:nvPr/>
        </p:nvSpPr>
        <p:spPr>
          <a:xfrm>
            <a:off x="5390485" y="1949219"/>
            <a:ext cx="4063481" cy="1169551"/>
          </a:xfrm>
          <a:prstGeom prst="rect">
            <a:avLst/>
          </a:prstGeom>
          <a:noFill/>
        </p:spPr>
        <p:txBody>
          <a:bodyPr wrap="square" rtlCol="0">
            <a:spAutoFit/>
          </a:bodyPr>
          <a:lstStyle/>
          <a:p>
            <a:r>
              <a:rPr lang="en-US" b="1" dirty="0">
                <a:solidFill>
                  <a:srgbClr val="29A12B"/>
                </a:solidFill>
              </a:rPr>
              <a:t>Destination-driven approach (green line)</a:t>
            </a:r>
          </a:p>
          <a:p>
            <a:pPr marL="285750" indent="-285750">
              <a:buFont typeface="Arial" panose="020B0604020202020204" pitchFamily="34" charset="0"/>
              <a:buChar char="•"/>
            </a:pPr>
            <a:r>
              <a:rPr lang="en-US" dirty="0">
                <a:solidFill>
                  <a:schemeClr val="accent2">
                    <a:lumMod val="50000"/>
                    <a:lumOff val="50000"/>
                  </a:schemeClr>
                </a:solidFill>
              </a:rPr>
              <a:t>Zephyr (SIGMOD’11) </a:t>
            </a:r>
          </a:p>
          <a:p>
            <a:pPr marL="285750" indent="-285750">
              <a:buFont typeface="Arial" panose="020B0604020202020204" pitchFamily="34" charset="0"/>
              <a:buChar char="•"/>
            </a:pPr>
            <a:r>
              <a:rPr lang="en-US" dirty="0" err="1">
                <a:solidFill>
                  <a:schemeClr val="accent2">
                    <a:lumMod val="50000"/>
                    <a:lumOff val="50000"/>
                  </a:schemeClr>
                </a:solidFill>
              </a:rPr>
              <a:t>ProRea</a:t>
            </a:r>
            <a:r>
              <a:rPr lang="en-US" dirty="0">
                <a:solidFill>
                  <a:schemeClr val="accent2">
                    <a:lumMod val="50000"/>
                    <a:lumOff val="50000"/>
                  </a:schemeClr>
                </a:solidFill>
              </a:rPr>
              <a:t> (EDBT’12) </a:t>
            </a:r>
          </a:p>
          <a:p>
            <a:pPr marL="285750" indent="-285750">
              <a:buFont typeface="Arial" panose="020B0604020202020204" pitchFamily="34" charset="0"/>
              <a:buChar char="•"/>
            </a:pPr>
            <a:r>
              <a:rPr lang="en-US" dirty="0">
                <a:solidFill>
                  <a:schemeClr val="accent2">
                    <a:lumMod val="50000"/>
                    <a:lumOff val="50000"/>
                  </a:schemeClr>
                </a:solidFill>
              </a:rPr>
              <a:t>Squall (VLDB’14) </a:t>
            </a:r>
          </a:p>
          <a:p>
            <a:pPr marL="285750" indent="-285750">
              <a:buFont typeface="Arial" panose="020B0604020202020204" pitchFamily="34" charset="0"/>
              <a:buChar char="•"/>
            </a:pPr>
            <a:r>
              <a:rPr lang="en-US" dirty="0">
                <a:solidFill>
                  <a:schemeClr val="accent2">
                    <a:lumMod val="50000"/>
                    <a:lumOff val="50000"/>
                  </a:schemeClr>
                </a:solidFill>
              </a:rPr>
              <a:t>Rocksteady (SOSP’17)</a:t>
            </a:r>
          </a:p>
        </p:txBody>
      </p:sp>
      <p:sp>
        <p:nvSpPr>
          <p:cNvPr id="24" name="TextBox 23">
            <a:extLst>
              <a:ext uri="{FF2B5EF4-FFF2-40B4-BE49-F238E27FC236}">
                <a16:creationId xmlns:a16="http://schemas.microsoft.com/office/drawing/2014/main" id="{264825D8-F77A-C94D-93DA-896BD6029803}"/>
              </a:ext>
            </a:extLst>
          </p:cNvPr>
          <p:cNvSpPr txBox="1"/>
          <p:nvPr/>
        </p:nvSpPr>
        <p:spPr>
          <a:xfrm>
            <a:off x="5390485" y="3190615"/>
            <a:ext cx="3071237" cy="307777"/>
          </a:xfrm>
          <a:prstGeom prst="rect">
            <a:avLst/>
          </a:prstGeom>
          <a:noFill/>
        </p:spPr>
        <p:txBody>
          <a:bodyPr wrap="square" rtlCol="0">
            <a:spAutoFit/>
          </a:bodyPr>
          <a:lstStyle/>
          <a:p>
            <a:r>
              <a:rPr lang="en-US" b="1" dirty="0">
                <a:solidFill>
                  <a:srgbClr val="0070C0"/>
                </a:solidFill>
              </a:rPr>
              <a:t>Fulva (blue line)</a:t>
            </a:r>
          </a:p>
        </p:txBody>
      </p:sp>
      <p:sp>
        <p:nvSpPr>
          <p:cNvPr id="26" name="Slide Number Placeholder 1">
            <a:extLst>
              <a:ext uri="{FF2B5EF4-FFF2-40B4-BE49-F238E27FC236}">
                <a16:creationId xmlns:a16="http://schemas.microsoft.com/office/drawing/2014/main" id="{81BB50DF-AFE3-3A4C-B698-98B18F3FD5FE}"/>
              </a:ext>
            </a:extLst>
          </p:cNvPr>
          <p:cNvSpPr>
            <a:spLocks noGrp="1"/>
          </p:cNvSpPr>
          <p:nvPr>
            <p:ph type="sldNum" idx="12"/>
          </p:nvPr>
        </p:nvSpPr>
        <p:spPr>
          <a:xfrm>
            <a:off x="8684345" y="4700819"/>
            <a:ext cx="336814" cy="318396"/>
          </a:xfrm>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2" name="TextBox 1">
            <a:extLst>
              <a:ext uri="{FF2B5EF4-FFF2-40B4-BE49-F238E27FC236}">
                <a16:creationId xmlns:a16="http://schemas.microsoft.com/office/drawing/2014/main" id="{20972D59-50D2-C344-99EF-ED49E229D353}"/>
              </a:ext>
            </a:extLst>
          </p:cNvPr>
          <p:cNvSpPr txBox="1"/>
          <p:nvPr/>
        </p:nvSpPr>
        <p:spPr>
          <a:xfrm>
            <a:off x="5402759" y="3429163"/>
            <a:ext cx="3708982" cy="1169551"/>
          </a:xfrm>
          <a:prstGeom prst="rect">
            <a:avLst/>
          </a:prstGeom>
          <a:noFill/>
        </p:spPr>
        <p:txBody>
          <a:bodyPr wrap="square" rtlCol="0">
            <a:spAutoFit/>
          </a:bodyPr>
          <a:lstStyle/>
          <a:p>
            <a:pPr marL="285750" indent="-285750">
              <a:buFont typeface="Arial" panose="020B0604020202020204" pitchFamily="34" charset="0"/>
              <a:buChar char="•"/>
            </a:pPr>
            <a:r>
              <a:rPr lang="en-US" dirty="0"/>
              <a:t>Fulva’s latency decreases when migration starts</a:t>
            </a:r>
          </a:p>
          <a:p>
            <a:pPr marL="285750" indent="-285750">
              <a:buFont typeface="Arial" panose="020B0604020202020204" pitchFamily="34" charset="0"/>
              <a:buChar char="•"/>
            </a:pPr>
            <a:r>
              <a:rPr lang="en-US" dirty="0"/>
              <a:t>Fulva does not have service downtime</a:t>
            </a:r>
          </a:p>
          <a:p>
            <a:pPr marL="285750" indent="-285750">
              <a:buFont typeface="Arial" panose="020B0604020202020204" pitchFamily="34" charset="0"/>
              <a:buChar char="•"/>
            </a:pPr>
            <a:r>
              <a:rPr lang="en-US" dirty="0"/>
              <a:t>Fulva is a near-optimal live migration technique</a:t>
            </a:r>
          </a:p>
        </p:txBody>
      </p:sp>
      <p:pic>
        <p:nvPicPr>
          <p:cNvPr id="11" name="Picture 10">
            <a:extLst>
              <a:ext uri="{FF2B5EF4-FFF2-40B4-BE49-F238E27FC236}">
                <a16:creationId xmlns:a16="http://schemas.microsoft.com/office/drawing/2014/main" id="{80268318-999C-BA4D-A2C2-BBDA7A0E3473}"/>
              </a:ext>
            </a:extLst>
          </p:cNvPr>
          <p:cNvPicPr>
            <a:picLocks noChangeAspect="1"/>
          </p:cNvPicPr>
          <p:nvPr/>
        </p:nvPicPr>
        <p:blipFill>
          <a:blip r:embed="rId3"/>
          <a:stretch>
            <a:fillRect/>
          </a:stretch>
        </p:blipFill>
        <p:spPr>
          <a:xfrm>
            <a:off x="136064" y="2851222"/>
            <a:ext cx="5219790" cy="2130773"/>
          </a:xfrm>
          <a:prstGeom prst="rect">
            <a:avLst/>
          </a:prstGeom>
        </p:spPr>
      </p:pic>
      <p:cxnSp>
        <p:nvCxnSpPr>
          <p:cNvPr id="21" name="Straight Connector 20">
            <a:extLst>
              <a:ext uri="{FF2B5EF4-FFF2-40B4-BE49-F238E27FC236}">
                <a16:creationId xmlns:a16="http://schemas.microsoft.com/office/drawing/2014/main" id="{9F8677BD-EA21-8C43-B280-0768A3155E62}"/>
              </a:ext>
            </a:extLst>
          </p:cNvPr>
          <p:cNvCxnSpPr>
            <a:cxnSpLocks/>
          </p:cNvCxnSpPr>
          <p:nvPr/>
        </p:nvCxnSpPr>
        <p:spPr>
          <a:xfrm>
            <a:off x="918056" y="3133594"/>
            <a:ext cx="206582" cy="0"/>
          </a:xfrm>
          <a:prstGeom prst="line">
            <a:avLst/>
          </a:prstGeom>
          <a:ln w="38100">
            <a:solidFill>
              <a:srgbClr val="1F77B5"/>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38AAA03-EAD2-FD49-A685-397BF18BE08C}"/>
              </a:ext>
            </a:extLst>
          </p:cNvPr>
          <p:cNvSpPr txBox="1"/>
          <p:nvPr/>
        </p:nvSpPr>
        <p:spPr>
          <a:xfrm>
            <a:off x="1139152" y="2991872"/>
            <a:ext cx="518091" cy="246221"/>
          </a:xfrm>
          <a:prstGeom prst="rect">
            <a:avLst/>
          </a:prstGeom>
          <a:noFill/>
        </p:spPr>
        <p:txBody>
          <a:bodyPr wrap="none" rtlCol="0">
            <a:spAutoFit/>
          </a:bodyPr>
          <a:lstStyle/>
          <a:p>
            <a:r>
              <a:rPr lang="en-US" sz="1000" b="1" dirty="0">
                <a:solidFill>
                  <a:srgbClr val="1F77B5"/>
                </a:solidFill>
              </a:rPr>
              <a:t>Fulva</a:t>
            </a:r>
          </a:p>
        </p:txBody>
      </p:sp>
      <p:cxnSp>
        <p:nvCxnSpPr>
          <p:cNvPr id="27" name="Straight Connector 26">
            <a:extLst>
              <a:ext uri="{FF2B5EF4-FFF2-40B4-BE49-F238E27FC236}">
                <a16:creationId xmlns:a16="http://schemas.microsoft.com/office/drawing/2014/main" id="{FC2B0489-7D52-9947-82B3-5587F864660C}"/>
              </a:ext>
            </a:extLst>
          </p:cNvPr>
          <p:cNvCxnSpPr>
            <a:cxnSpLocks/>
          </p:cNvCxnSpPr>
          <p:nvPr/>
        </p:nvCxnSpPr>
        <p:spPr>
          <a:xfrm>
            <a:off x="924103" y="3280231"/>
            <a:ext cx="233510" cy="0"/>
          </a:xfrm>
          <a:prstGeom prst="line">
            <a:avLst/>
          </a:prstGeom>
          <a:ln w="38100">
            <a:solidFill>
              <a:srgbClr val="29A12B"/>
            </a:solidFill>
            <a:prstDash val="das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09276EC-B1C0-214F-AE8A-ED858349587B}"/>
              </a:ext>
            </a:extLst>
          </p:cNvPr>
          <p:cNvSpPr txBox="1"/>
          <p:nvPr/>
        </p:nvSpPr>
        <p:spPr>
          <a:xfrm>
            <a:off x="1134326" y="3150136"/>
            <a:ext cx="1919115" cy="246221"/>
          </a:xfrm>
          <a:prstGeom prst="rect">
            <a:avLst/>
          </a:prstGeom>
          <a:noFill/>
        </p:spPr>
        <p:txBody>
          <a:bodyPr wrap="none" rtlCol="0">
            <a:spAutoFit/>
          </a:bodyPr>
          <a:lstStyle/>
          <a:p>
            <a:r>
              <a:rPr lang="en-US" sz="1000" b="1" dirty="0">
                <a:solidFill>
                  <a:srgbClr val="29A12B"/>
                </a:solidFill>
              </a:rPr>
              <a:t>Destination-driven approach</a:t>
            </a:r>
          </a:p>
        </p:txBody>
      </p:sp>
      <p:cxnSp>
        <p:nvCxnSpPr>
          <p:cNvPr id="29" name="Straight Connector 28">
            <a:extLst>
              <a:ext uri="{FF2B5EF4-FFF2-40B4-BE49-F238E27FC236}">
                <a16:creationId xmlns:a16="http://schemas.microsoft.com/office/drawing/2014/main" id="{3B224704-9DF7-C246-B348-5B34EDFF483B}"/>
              </a:ext>
            </a:extLst>
          </p:cNvPr>
          <p:cNvCxnSpPr>
            <a:cxnSpLocks/>
          </p:cNvCxnSpPr>
          <p:nvPr/>
        </p:nvCxnSpPr>
        <p:spPr>
          <a:xfrm>
            <a:off x="929931" y="3421341"/>
            <a:ext cx="239112" cy="0"/>
          </a:xfrm>
          <a:prstGeom prst="line">
            <a:avLst/>
          </a:prstGeom>
          <a:ln w="38100">
            <a:solidFill>
              <a:srgbClr val="FF7F0B"/>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17F152F-F86B-B64A-AC99-4F6576C22111}"/>
              </a:ext>
            </a:extLst>
          </p:cNvPr>
          <p:cNvSpPr txBox="1"/>
          <p:nvPr/>
        </p:nvSpPr>
        <p:spPr>
          <a:xfrm>
            <a:off x="1124638" y="3306053"/>
            <a:ext cx="1654620" cy="246221"/>
          </a:xfrm>
          <a:prstGeom prst="rect">
            <a:avLst/>
          </a:prstGeom>
          <a:noFill/>
        </p:spPr>
        <p:txBody>
          <a:bodyPr wrap="none" rtlCol="0">
            <a:spAutoFit/>
          </a:bodyPr>
          <a:lstStyle/>
          <a:p>
            <a:r>
              <a:rPr lang="en-US" sz="1000" b="1" dirty="0">
                <a:solidFill>
                  <a:srgbClr val="FF7F0B"/>
                </a:solidFill>
              </a:rPr>
              <a:t>Source-driven approach</a:t>
            </a:r>
          </a:p>
        </p:txBody>
      </p:sp>
      <p:pic>
        <p:nvPicPr>
          <p:cNvPr id="13" name="Picture 12">
            <a:extLst>
              <a:ext uri="{FF2B5EF4-FFF2-40B4-BE49-F238E27FC236}">
                <a16:creationId xmlns:a16="http://schemas.microsoft.com/office/drawing/2014/main" id="{09D82AA8-F15A-E540-A4CE-BEF02317A17C}"/>
              </a:ext>
            </a:extLst>
          </p:cNvPr>
          <p:cNvPicPr>
            <a:picLocks noChangeAspect="1"/>
          </p:cNvPicPr>
          <p:nvPr/>
        </p:nvPicPr>
        <p:blipFill>
          <a:blip r:embed="rId4"/>
          <a:stretch>
            <a:fillRect/>
          </a:stretch>
        </p:blipFill>
        <p:spPr>
          <a:xfrm>
            <a:off x="101431" y="720744"/>
            <a:ext cx="5219793" cy="2130773"/>
          </a:xfrm>
          <a:prstGeom prst="rect">
            <a:avLst/>
          </a:prstGeom>
        </p:spPr>
      </p:pic>
      <p:sp>
        <p:nvSpPr>
          <p:cNvPr id="10" name="Google Shape;1431;g41c341d872_1_10">
            <a:extLst>
              <a:ext uri="{FF2B5EF4-FFF2-40B4-BE49-F238E27FC236}">
                <a16:creationId xmlns:a16="http://schemas.microsoft.com/office/drawing/2014/main" id="{666D4FB1-887B-9347-9364-B86E30277805}"/>
              </a:ext>
            </a:extLst>
          </p:cNvPr>
          <p:cNvSpPr txBox="1"/>
          <p:nvPr/>
        </p:nvSpPr>
        <p:spPr>
          <a:xfrm>
            <a:off x="1393150" y="4845519"/>
            <a:ext cx="3736741" cy="28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t>Workload: YCSB-B (95% read and 5% write)</a:t>
            </a:r>
          </a:p>
        </p:txBody>
      </p:sp>
      <p:sp>
        <p:nvSpPr>
          <p:cNvPr id="3" name="Oval 2">
            <a:extLst>
              <a:ext uri="{FF2B5EF4-FFF2-40B4-BE49-F238E27FC236}">
                <a16:creationId xmlns:a16="http://schemas.microsoft.com/office/drawing/2014/main" id="{F21D666C-22F3-2E43-88AC-3E421CB6F1B3}"/>
              </a:ext>
            </a:extLst>
          </p:cNvPr>
          <p:cNvSpPr/>
          <p:nvPr/>
        </p:nvSpPr>
        <p:spPr>
          <a:xfrm>
            <a:off x="3513300" y="2937188"/>
            <a:ext cx="964342" cy="14250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6172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2D969-69F4-0F44-B535-23801928DED5}"/>
              </a:ext>
            </a:extLst>
          </p:cNvPr>
          <p:cNvSpPr>
            <a:spLocks noGrp="1"/>
          </p:cNvSpPr>
          <p:nvPr>
            <p:ph type="title"/>
          </p:nvPr>
        </p:nvSpPr>
        <p:spPr/>
        <p:txBody>
          <a:bodyPr>
            <a:normAutofit fontScale="90000"/>
          </a:bodyPr>
          <a:lstStyle/>
          <a:p>
            <a:r>
              <a:rPr lang="en-US" dirty="0"/>
              <a:t>Outline</a:t>
            </a:r>
          </a:p>
        </p:txBody>
      </p:sp>
      <p:sp>
        <p:nvSpPr>
          <p:cNvPr id="3" name="Text Placeholder 2">
            <a:extLst>
              <a:ext uri="{FF2B5EF4-FFF2-40B4-BE49-F238E27FC236}">
                <a16:creationId xmlns:a16="http://schemas.microsoft.com/office/drawing/2014/main" id="{50C0D43F-18C5-2C49-A34A-53E7CA9E559A}"/>
              </a:ext>
            </a:extLst>
          </p:cNvPr>
          <p:cNvSpPr>
            <a:spLocks noGrp="1"/>
          </p:cNvSpPr>
          <p:nvPr>
            <p:ph type="body" idx="1"/>
          </p:nvPr>
        </p:nvSpPr>
        <p:spPr/>
        <p:txBody>
          <a:bodyPr/>
          <a:lstStyle/>
          <a:p>
            <a:r>
              <a:rPr lang="en-US" dirty="0"/>
              <a:t>The workflow and limitations of source-driven approach</a:t>
            </a:r>
          </a:p>
          <a:p>
            <a:r>
              <a:rPr lang="en-US" dirty="0"/>
              <a:t>The workflow and limitations of destination-driven approach</a:t>
            </a:r>
          </a:p>
          <a:p>
            <a:r>
              <a:rPr lang="en-US" dirty="0"/>
              <a:t>The workflow and challenge of Fulva</a:t>
            </a:r>
          </a:p>
          <a:p>
            <a:r>
              <a:rPr lang="en-US" dirty="0"/>
              <a:t>Fulva’s architecture</a:t>
            </a:r>
          </a:p>
          <a:p>
            <a:r>
              <a:rPr lang="en-US" dirty="0"/>
              <a:t>Fulva’s two detailed techniques</a:t>
            </a:r>
          </a:p>
          <a:p>
            <a:r>
              <a:rPr lang="en-US" dirty="0"/>
              <a:t>Evaluation</a:t>
            </a:r>
          </a:p>
          <a:p>
            <a:r>
              <a:rPr lang="en-US" dirty="0"/>
              <a:t>Conclusion and future work</a:t>
            </a:r>
          </a:p>
        </p:txBody>
      </p:sp>
      <p:sp>
        <p:nvSpPr>
          <p:cNvPr id="4" name="Slide Number Placeholder 3">
            <a:extLst>
              <a:ext uri="{FF2B5EF4-FFF2-40B4-BE49-F238E27FC236}">
                <a16:creationId xmlns:a16="http://schemas.microsoft.com/office/drawing/2014/main" id="{EE786996-727A-5A4F-A17E-0E46D81EAB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634821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15"/>
          <p:cNvSpPr txBox="1">
            <a:spLocks noGrp="1"/>
          </p:cNvSpPr>
          <p:nvPr>
            <p:ph type="title"/>
          </p:nvPr>
        </p:nvSpPr>
        <p:spPr>
          <a:xfrm>
            <a:off x="628650" y="273844"/>
            <a:ext cx="7886700" cy="994200"/>
          </a:xfrm>
          <a:prstGeom prst="rect">
            <a:avLst/>
          </a:prstGeom>
          <a:noFill/>
          <a:ln>
            <a:noFill/>
          </a:ln>
        </p:spPr>
        <p:txBody>
          <a:bodyPr spcFirstLastPara="1" wrap="square" lIns="34275" tIns="34275" rIns="34275" bIns="34275" anchor="ctr" anchorCtr="0">
            <a:normAutofit/>
          </a:bodyPr>
          <a:lstStyle/>
          <a:p>
            <a:pPr lvl="0">
              <a:buSzPts val="3135"/>
            </a:pPr>
            <a:r>
              <a:rPr lang="en-US" sz="3135" dirty="0"/>
              <a:t>The workflow and limitations of source-driven approach</a:t>
            </a:r>
            <a:endParaRPr dirty="0"/>
          </a:p>
        </p:txBody>
      </p:sp>
      <p:sp>
        <p:nvSpPr>
          <p:cNvPr id="739" name="Google Shape;739;p15"/>
          <p:cNvSpPr txBox="1">
            <a:spLocks noGrp="1"/>
          </p:cNvSpPr>
          <p:nvPr>
            <p:ph type="body" idx="1"/>
          </p:nvPr>
        </p:nvSpPr>
        <p:spPr>
          <a:xfrm>
            <a:off x="506495" y="1288741"/>
            <a:ext cx="7886700" cy="780419"/>
          </a:xfrm>
          <a:prstGeom prst="rect">
            <a:avLst/>
          </a:prstGeom>
          <a:noFill/>
          <a:ln>
            <a:noFill/>
          </a:ln>
        </p:spPr>
        <p:txBody>
          <a:bodyPr spcFirstLastPara="1" wrap="square" lIns="34275" tIns="34275" rIns="34275" bIns="34275" anchor="t" anchorCtr="0">
            <a:normAutofit fontScale="92500" lnSpcReduction="20000"/>
          </a:bodyPr>
          <a:lstStyle/>
          <a:p>
            <a:pPr marL="457200" lvl="0" indent="-317500" algn="l" rtl="0">
              <a:lnSpc>
                <a:spcPct val="110000"/>
              </a:lnSpc>
              <a:spcBef>
                <a:spcPts val="0"/>
              </a:spcBef>
              <a:spcAft>
                <a:spcPts val="0"/>
              </a:spcAft>
              <a:buSzPts val="2100"/>
              <a:buChar char="•"/>
            </a:pPr>
            <a:r>
              <a:rPr lang="en-US" sz="1800" dirty="0">
                <a:solidFill>
                  <a:srgbClr val="000000"/>
                </a:solidFill>
                <a:latin typeface="Calibri"/>
                <a:ea typeface="Calibri"/>
                <a:cs typeface="Calibri"/>
                <a:sym typeface="Calibri"/>
              </a:rPr>
              <a:t>Workflow: </a:t>
            </a:r>
          </a:p>
          <a:p>
            <a:pPr lvl="1" indent="-317500">
              <a:lnSpc>
                <a:spcPct val="110000"/>
              </a:lnSpc>
            </a:pPr>
            <a:r>
              <a:rPr lang="en-US" sz="1600" dirty="0">
                <a:solidFill>
                  <a:schemeClr val="tx1"/>
                </a:solidFill>
                <a:latin typeface="Calibri"/>
                <a:ea typeface="Calibri"/>
                <a:cs typeface="Calibri"/>
                <a:sym typeface="Calibri"/>
              </a:rPr>
              <a:t>Source handles client’s requests during migration</a:t>
            </a:r>
          </a:p>
          <a:p>
            <a:pPr lvl="1" indent="-317500">
              <a:lnSpc>
                <a:spcPct val="110000"/>
              </a:lnSpc>
            </a:pPr>
            <a:r>
              <a:rPr lang="en-US" sz="1600" dirty="0">
                <a:solidFill>
                  <a:schemeClr val="tx1"/>
                </a:solidFill>
                <a:latin typeface="Calibri" panose="020F0502020204030204" pitchFamily="34" charset="0"/>
                <a:cs typeface="Calibri" panose="020F0502020204030204" pitchFamily="34" charset="0"/>
              </a:rPr>
              <a:t>Sources </a:t>
            </a:r>
            <a:r>
              <a:rPr lang="en-US" sz="1600" dirty="0">
                <a:solidFill>
                  <a:schemeClr val="tx1"/>
                </a:solidFill>
                <a:latin typeface="Calibri" panose="020F0502020204030204" pitchFamily="34" charset="0"/>
                <a:ea typeface="Calibri"/>
                <a:cs typeface="Calibri" panose="020F0502020204030204" pitchFamily="34" charset="0"/>
                <a:sym typeface="Calibri"/>
              </a:rPr>
              <a:t>iteratively copies updated tuple to destination</a:t>
            </a:r>
          </a:p>
        </p:txBody>
      </p:sp>
      <p:sp>
        <p:nvSpPr>
          <p:cNvPr id="5" name="Google Shape;306;p7">
            <a:extLst>
              <a:ext uri="{FF2B5EF4-FFF2-40B4-BE49-F238E27FC236}">
                <a16:creationId xmlns:a16="http://schemas.microsoft.com/office/drawing/2014/main" id="{36CF14CF-A2FE-244E-B4E0-DD4E72355837}"/>
              </a:ext>
            </a:extLst>
          </p:cNvPr>
          <p:cNvSpPr/>
          <p:nvPr/>
        </p:nvSpPr>
        <p:spPr>
          <a:xfrm>
            <a:off x="4985039" y="3440145"/>
            <a:ext cx="1279838" cy="1688477"/>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dirty="0">
              <a:solidFill>
                <a:srgbClr val="FFFFFF"/>
              </a:solidFill>
              <a:latin typeface="Calibri"/>
              <a:ea typeface="Calibri"/>
              <a:cs typeface="Calibri"/>
              <a:sym typeface="Calibri"/>
            </a:endParaRPr>
          </a:p>
        </p:txBody>
      </p:sp>
      <p:sp>
        <p:nvSpPr>
          <p:cNvPr id="6" name="Google Shape;307;p7">
            <a:extLst>
              <a:ext uri="{FF2B5EF4-FFF2-40B4-BE49-F238E27FC236}">
                <a16:creationId xmlns:a16="http://schemas.microsoft.com/office/drawing/2014/main" id="{054BDB13-1819-E349-97A3-568F332793B5}"/>
              </a:ext>
            </a:extLst>
          </p:cNvPr>
          <p:cNvSpPr/>
          <p:nvPr/>
        </p:nvSpPr>
        <p:spPr>
          <a:xfrm>
            <a:off x="2486227" y="3454534"/>
            <a:ext cx="1313572" cy="1677488"/>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7" name="Google Shape;308;p7">
            <a:extLst>
              <a:ext uri="{FF2B5EF4-FFF2-40B4-BE49-F238E27FC236}">
                <a16:creationId xmlns:a16="http://schemas.microsoft.com/office/drawing/2014/main" id="{4010E549-98E3-2A4B-8E3C-EC4FEC00BC33}"/>
              </a:ext>
            </a:extLst>
          </p:cNvPr>
          <p:cNvSpPr/>
          <p:nvPr/>
        </p:nvSpPr>
        <p:spPr>
          <a:xfrm>
            <a:off x="2549282" y="3697102"/>
            <a:ext cx="1142945" cy="1415754"/>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8" name="Google Shape;309;p7">
            <a:extLst>
              <a:ext uri="{FF2B5EF4-FFF2-40B4-BE49-F238E27FC236}">
                <a16:creationId xmlns:a16="http://schemas.microsoft.com/office/drawing/2014/main" id="{9C98F25C-D853-1945-8679-B85D152F9B78}"/>
              </a:ext>
            </a:extLst>
          </p:cNvPr>
          <p:cNvSpPr/>
          <p:nvPr/>
        </p:nvSpPr>
        <p:spPr>
          <a:xfrm>
            <a:off x="2901955" y="3454534"/>
            <a:ext cx="14904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000" b="1" i="0" u="none" strike="noStrike" cap="none">
                <a:solidFill>
                  <a:srgbClr val="000000"/>
                </a:solidFill>
                <a:latin typeface="Calibri"/>
                <a:ea typeface="Calibri"/>
                <a:cs typeface="Calibri"/>
                <a:sym typeface="Calibri"/>
              </a:rPr>
              <a:t>Source</a:t>
            </a:r>
            <a:endParaRPr sz="1000"/>
          </a:p>
        </p:txBody>
      </p:sp>
      <p:sp>
        <p:nvSpPr>
          <p:cNvPr id="9" name="Google Shape;310;p7">
            <a:extLst>
              <a:ext uri="{FF2B5EF4-FFF2-40B4-BE49-F238E27FC236}">
                <a16:creationId xmlns:a16="http://schemas.microsoft.com/office/drawing/2014/main" id="{5AD5B6D7-31AA-964E-9B33-5DCA02B887B0}"/>
              </a:ext>
            </a:extLst>
          </p:cNvPr>
          <p:cNvSpPr/>
          <p:nvPr/>
        </p:nvSpPr>
        <p:spPr>
          <a:xfrm>
            <a:off x="2722975" y="3698093"/>
            <a:ext cx="15558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key-value store</a:t>
            </a:r>
            <a:endParaRPr sz="1000"/>
          </a:p>
        </p:txBody>
      </p:sp>
      <p:sp>
        <p:nvSpPr>
          <p:cNvPr id="11" name="Google Shape;312;p7">
            <a:extLst>
              <a:ext uri="{FF2B5EF4-FFF2-40B4-BE49-F238E27FC236}">
                <a16:creationId xmlns:a16="http://schemas.microsoft.com/office/drawing/2014/main" id="{F8642A6C-F68A-A649-9432-14282D32A11F}"/>
              </a:ext>
            </a:extLst>
          </p:cNvPr>
          <p:cNvSpPr/>
          <p:nvPr/>
        </p:nvSpPr>
        <p:spPr>
          <a:xfrm>
            <a:off x="2622503" y="4008497"/>
            <a:ext cx="947702" cy="162003"/>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2" name="Google Shape;313;p7">
            <a:extLst>
              <a:ext uri="{FF2B5EF4-FFF2-40B4-BE49-F238E27FC236}">
                <a16:creationId xmlns:a16="http://schemas.microsoft.com/office/drawing/2014/main" id="{B276F713-4297-8041-BCBD-DB2A8977B88E}"/>
              </a:ext>
            </a:extLst>
          </p:cNvPr>
          <p:cNvSpPr/>
          <p:nvPr/>
        </p:nvSpPr>
        <p:spPr>
          <a:xfrm>
            <a:off x="2622503" y="3977945"/>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&lt;1, V&gt;</a:t>
            </a:r>
            <a:endParaRPr sz="1000"/>
          </a:p>
        </p:txBody>
      </p:sp>
      <p:sp>
        <p:nvSpPr>
          <p:cNvPr id="14" name="Google Shape;315;p7">
            <a:extLst>
              <a:ext uri="{FF2B5EF4-FFF2-40B4-BE49-F238E27FC236}">
                <a16:creationId xmlns:a16="http://schemas.microsoft.com/office/drawing/2014/main" id="{1DAB0253-697B-8B4C-BED2-5BC0885068A2}"/>
              </a:ext>
            </a:extLst>
          </p:cNvPr>
          <p:cNvSpPr/>
          <p:nvPr/>
        </p:nvSpPr>
        <p:spPr>
          <a:xfrm>
            <a:off x="2629684" y="4284384"/>
            <a:ext cx="947702" cy="162003"/>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5" name="Google Shape;316;p7">
            <a:extLst>
              <a:ext uri="{FF2B5EF4-FFF2-40B4-BE49-F238E27FC236}">
                <a16:creationId xmlns:a16="http://schemas.microsoft.com/office/drawing/2014/main" id="{C1EBCFF1-5979-244E-AF0C-424481B3BC2F}"/>
              </a:ext>
            </a:extLst>
          </p:cNvPr>
          <p:cNvSpPr/>
          <p:nvPr/>
        </p:nvSpPr>
        <p:spPr>
          <a:xfrm>
            <a:off x="2629684" y="4253832"/>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&lt;200, V&gt;</a:t>
            </a:r>
            <a:endParaRPr sz="1000" dirty="0"/>
          </a:p>
        </p:txBody>
      </p:sp>
      <p:sp>
        <p:nvSpPr>
          <p:cNvPr id="16" name="Google Shape;317;p7">
            <a:extLst>
              <a:ext uri="{FF2B5EF4-FFF2-40B4-BE49-F238E27FC236}">
                <a16:creationId xmlns:a16="http://schemas.microsoft.com/office/drawing/2014/main" id="{DBEC5234-D1B3-B741-8451-5E9A508DE348}"/>
              </a:ext>
            </a:extLst>
          </p:cNvPr>
          <p:cNvSpPr/>
          <p:nvPr/>
        </p:nvSpPr>
        <p:spPr>
          <a:xfrm>
            <a:off x="2954595" y="4071768"/>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18" name="Google Shape;319;p7">
            <a:extLst>
              <a:ext uri="{FF2B5EF4-FFF2-40B4-BE49-F238E27FC236}">
                <a16:creationId xmlns:a16="http://schemas.microsoft.com/office/drawing/2014/main" id="{ACA242E0-10F7-5F4B-A91A-7A8B55156D85}"/>
              </a:ext>
            </a:extLst>
          </p:cNvPr>
          <p:cNvSpPr/>
          <p:nvPr/>
        </p:nvSpPr>
        <p:spPr>
          <a:xfrm>
            <a:off x="2629684" y="4567043"/>
            <a:ext cx="947702" cy="16200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Arial"/>
              <a:ea typeface="Arial"/>
              <a:cs typeface="Arial"/>
              <a:sym typeface="Arial"/>
            </a:endParaRPr>
          </a:p>
        </p:txBody>
      </p:sp>
      <p:sp>
        <p:nvSpPr>
          <p:cNvPr id="19" name="Google Shape;320;p7">
            <a:extLst>
              <a:ext uri="{FF2B5EF4-FFF2-40B4-BE49-F238E27FC236}">
                <a16:creationId xmlns:a16="http://schemas.microsoft.com/office/drawing/2014/main" id="{E669C525-469E-454E-AA30-07DD0A1BA8CC}"/>
              </a:ext>
            </a:extLst>
          </p:cNvPr>
          <p:cNvSpPr/>
          <p:nvPr/>
        </p:nvSpPr>
        <p:spPr>
          <a:xfrm>
            <a:off x="2629684" y="4536491"/>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&lt;300, V&gt;</a:t>
            </a:r>
            <a:endParaRPr sz="1000" dirty="0"/>
          </a:p>
        </p:txBody>
      </p:sp>
      <p:sp>
        <p:nvSpPr>
          <p:cNvPr id="20" name="Google Shape;321;p7">
            <a:extLst>
              <a:ext uri="{FF2B5EF4-FFF2-40B4-BE49-F238E27FC236}">
                <a16:creationId xmlns:a16="http://schemas.microsoft.com/office/drawing/2014/main" id="{7E8DD652-352C-7E47-AE6A-0ED19EFE3295}"/>
              </a:ext>
            </a:extLst>
          </p:cNvPr>
          <p:cNvSpPr/>
          <p:nvPr/>
        </p:nvSpPr>
        <p:spPr>
          <a:xfrm>
            <a:off x="2957144" y="4351236"/>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22" name="Google Shape;323;p7">
            <a:extLst>
              <a:ext uri="{FF2B5EF4-FFF2-40B4-BE49-F238E27FC236}">
                <a16:creationId xmlns:a16="http://schemas.microsoft.com/office/drawing/2014/main" id="{80F70ED0-81C5-984A-86F8-4A18E5CBD144}"/>
              </a:ext>
            </a:extLst>
          </p:cNvPr>
          <p:cNvSpPr/>
          <p:nvPr/>
        </p:nvSpPr>
        <p:spPr>
          <a:xfrm>
            <a:off x="2629684" y="4845868"/>
            <a:ext cx="947702" cy="16200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3" name="Google Shape;324;p7">
            <a:extLst>
              <a:ext uri="{FF2B5EF4-FFF2-40B4-BE49-F238E27FC236}">
                <a16:creationId xmlns:a16="http://schemas.microsoft.com/office/drawing/2014/main" id="{BD1847A6-ED4E-2F4B-BE84-34E55BC6E06C}"/>
              </a:ext>
            </a:extLst>
          </p:cNvPr>
          <p:cNvSpPr/>
          <p:nvPr/>
        </p:nvSpPr>
        <p:spPr>
          <a:xfrm>
            <a:off x="2629684" y="4815316"/>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&lt;400, V&gt;</a:t>
            </a:r>
            <a:endParaRPr sz="1000"/>
          </a:p>
        </p:txBody>
      </p:sp>
      <p:sp>
        <p:nvSpPr>
          <p:cNvPr id="24" name="Google Shape;325;p7">
            <a:extLst>
              <a:ext uri="{FF2B5EF4-FFF2-40B4-BE49-F238E27FC236}">
                <a16:creationId xmlns:a16="http://schemas.microsoft.com/office/drawing/2014/main" id="{8F46ED62-D7E9-024B-A3C8-9CB99C48A0C2}"/>
              </a:ext>
            </a:extLst>
          </p:cNvPr>
          <p:cNvSpPr/>
          <p:nvPr/>
        </p:nvSpPr>
        <p:spPr>
          <a:xfrm>
            <a:off x="2938685" y="4632997"/>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25" name="Google Shape;326;p7">
            <a:extLst>
              <a:ext uri="{FF2B5EF4-FFF2-40B4-BE49-F238E27FC236}">
                <a16:creationId xmlns:a16="http://schemas.microsoft.com/office/drawing/2014/main" id="{D263BD3C-65B7-524E-AB6A-4BA386FA9753}"/>
              </a:ext>
            </a:extLst>
          </p:cNvPr>
          <p:cNvSpPr/>
          <p:nvPr/>
        </p:nvSpPr>
        <p:spPr>
          <a:xfrm>
            <a:off x="5044779" y="3601882"/>
            <a:ext cx="1150249" cy="1496585"/>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6" name="Google Shape;327;p7">
            <a:extLst>
              <a:ext uri="{FF2B5EF4-FFF2-40B4-BE49-F238E27FC236}">
                <a16:creationId xmlns:a16="http://schemas.microsoft.com/office/drawing/2014/main" id="{A3C58E8D-09F4-D748-BCE5-6F0B0CC7FB5C}"/>
              </a:ext>
            </a:extLst>
          </p:cNvPr>
          <p:cNvSpPr/>
          <p:nvPr/>
        </p:nvSpPr>
        <p:spPr>
          <a:xfrm>
            <a:off x="5335708" y="3387567"/>
            <a:ext cx="13134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000" b="1" i="0" u="none" strike="noStrike" cap="none">
                <a:solidFill>
                  <a:srgbClr val="000000"/>
                </a:solidFill>
                <a:latin typeface="Calibri"/>
                <a:ea typeface="Calibri"/>
                <a:cs typeface="Calibri"/>
                <a:sym typeface="Calibri"/>
              </a:rPr>
              <a:t>Destination</a:t>
            </a:r>
            <a:endParaRPr sz="1000"/>
          </a:p>
        </p:txBody>
      </p:sp>
      <p:sp>
        <p:nvSpPr>
          <p:cNvPr id="27" name="Google Shape;328;p7">
            <a:extLst>
              <a:ext uri="{FF2B5EF4-FFF2-40B4-BE49-F238E27FC236}">
                <a16:creationId xmlns:a16="http://schemas.microsoft.com/office/drawing/2014/main" id="{4B4AF53A-6E57-FE43-A28D-66242F8759F8}"/>
              </a:ext>
            </a:extLst>
          </p:cNvPr>
          <p:cNvSpPr/>
          <p:nvPr/>
        </p:nvSpPr>
        <p:spPr>
          <a:xfrm>
            <a:off x="5134083" y="3619458"/>
            <a:ext cx="15558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key-value store</a:t>
            </a:r>
            <a:endParaRPr sz="1000"/>
          </a:p>
        </p:txBody>
      </p:sp>
      <p:sp>
        <p:nvSpPr>
          <p:cNvPr id="29" name="Google Shape;330;p7">
            <a:extLst>
              <a:ext uri="{FF2B5EF4-FFF2-40B4-BE49-F238E27FC236}">
                <a16:creationId xmlns:a16="http://schemas.microsoft.com/office/drawing/2014/main" id="{F6B7B9B0-45EE-0344-98E8-D2573FBA471B}"/>
              </a:ext>
            </a:extLst>
          </p:cNvPr>
          <p:cNvSpPr/>
          <p:nvPr/>
        </p:nvSpPr>
        <p:spPr>
          <a:xfrm>
            <a:off x="5102519" y="4501073"/>
            <a:ext cx="947702" cy="16200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30" name="Google Shape;331;p7">
            <a:extLst>
              <a:ext uri="{FF2B5EF4-FFF2-40B4-BE49-F238E27FC236}">
                <a16:creationId xmlns:a16="http://schemas.microsoft.com/office/drawing/2014/main" id="{7FAD0E08-605C-354D-AD84-FF79D516E3F9}"/>
              </a:ext>
            </a:extLst>
          </p:cNvPr>
          <p:cNvSpPr/>
          <p:nvPr/>
        </p:nvSpPr>
        <p:spPr>
          <a:xfrm>
            <a:off x="5102519" y="4470521"/>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&lt;400, V&gt;</a:t>
            </a:r>
            <a:endParaRPr sz="1000"/>
          </a:p>
        </p:txBody>
      </p:sp>
      <p:sp>
        <p:nvSpPr>
          <p:cNvPr id="32" name="Google Shape;333;p7">
            <a:extLst>
              <a:ext uri="{FF2B5EF4-FFF2-40B4-BE49-F238E27FC236}">
                <a16:creationId xmlns:a16="http://schemas.microsoft.com/office/drawing/2014/main" id="{9938AEE8-088D-754D-AC03-5693B4EBB1D5}"/>
              </a:ext>
            </a:extLst>
          </p:cNvPr>
          <p:cNvSpPr/>
          <p:nvPr/>
        </p:nvSpPr>
        <p:spPr>
          <a:xfrm>
            <a:off x="5102519" y="4795282"/>
            <a:ext cx="947702" cy="16200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33" name="Google Shape;334;p7">
            <a:extLst>
              <a:ext uri="{FF2B5EF4-FFF2-40B4-BE49-F238E27FC236}">
                <a16:creationId xmlns:a16="http://schemas.microsoft.com/office/drawing/2014/main" id="{E9EEAE7D-CF11-CF49-9E4C-8981E9D58883}"/>
              </a:ext>
            </a:extLst>
          </p:cNvPr>
          <p:cNvSpPr/>
          <p:nvPr/>
        </p:nvSpPr>
        <p:spPr>
          <a:xfrm>
            <a:off x="5102519" y="4764730"/>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&lt;500, V&gt;</a:t>
            </a:r>
            <a:endParaRPr sz="1000"/>
          </a:p>
        </p:txBody>
      </p:sp>
      <p:sp>
        <p:nvSpPr>
          <p:cNvPr id="34" name="Google Shape;335;p7">
            <a:extLst>
              <a:ext uri="{FF2B5EF4-FFF2-40B4-BE49-F238E27FC236}">
                <a16:creationId xmlns:a16="http://schemas.microsoft.com/office/drawing/2014/main" id="{F2F98271-FCD2-C242-9669-87545EA82CDC}"/>
              </a:ext>
            </a:extLst>
          </p:cNvPr>
          <p:cNvSpPr/>
          <p:nvPr/>
        </p:nvSpPr>
        <p:spPr>
          <a:xfrm>
            <a:off x="5411520" y="4585498"/>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35" name="Google Shape;336;p7">
            <a:extLst>
              <a:ext uri="{FF2B5EF4-FFF2-40B4-BE49-F238E27FC236}">
                <a16:creationId xmlns:a16="http://schemas.microsoft.com/office/drawing/2014/main" id="{AAE92D7F-98F4-6842-A302-2D424EC5F500}"/>
              </a:ext>
            </a:extLst>
          </p:cNvPr>
          <p:cNvSpPr/>
          <p:nvPr/>
        </p:nvSpPr>
        <p:spPr>
          <a:xfrm>
            <a:off x="5443527" y="4864560"/>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40" name="Google Shape;341;p7">
            <a:extLst>
              <a:ext uri="{FF2B5EF4-FFF2-40B4-BE49-F238E27FC236}">
                <a16:creationId xmlns:a16="http://schemas.microsoft.com/office/drawing/2014/main" id="{CDB909AE-7800-9942-968F-186B62203A07}"/>
              </a:ext>
            </a:extLst>
          </p:cNvPr>
          <p:cNvSpPr/>
          <p:nvPr/>
        </p:nvSpPr>
        <p:spPr>
          <a:xfrm>
            <a:off x="5078789" y="3931647"/>
            <a:ext cx="947702" cy="162003"/>
          </a:xfrm>
          <a:prstGeom prst="rect">
            <a:avLst/>
          </a:prstGeom>
          <a:solidFill>
            <a:srgbClr val="B4A7D6"/>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41" name="Google Shape;342;p7">
            <a:extLst>
              <a:ext uri="{FF2B5EF4-FFF2-40B4-BE49-F238E27FC236}">
                <a16:creationId xmlns:a16="http://schemas.microsoft.com/office/drawing/2014/main" id="{62DAF69A-0F93-C043-980E-4D48ADF290B5}"/>
              </a:ext>
            </a:extLst>
          </p:cNvPr>
          <p:cNvSpPr/>
          <p:nvPr/>
        </p:nvSpPr>
        <p:spPr>
          <a:xfrm>
            <a:off x="5078789" y="3901095"/>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&lt;1, V&gt;</a:t>
            </a:r>
            <a:endParaRPr sz="1000" dirty="0"/>
          </a:p>
        </p:txBody>
      </p:sp>
      <p:sp>
        <p:nvSpPr>
          <p:cNvPr id="43" name="Google Shape;344;p7">
            <a:extLst>
              <a:ext uri="{FF2B5EF4-FFF2-40B4-BE49-F238E27FC236}">
                <a16:creationId xmlns:a16="http://schemas.microsoft.com/office/drawing/2014/main" id="{E80A8A62-6D89-004F-BE67-04BFB29ED27A}"/>
              </a:ext>
            </a:extLst>
          </p:cNvPr>
          <p:cNvSpPr/>
          <p:nvPr/>
        </p:nvSpPr>
        <p:spPr>
          <a:xfrm>
            <a:off x="5092716" y="4249988"/>
            <a:ext cx="947702" cy="162003"/>
          </a:xfrm>
          <a:prstGeom prst="rect">
            <a:avLst/>
          </a:prstGeom>
          <a:solidFill>
            <a:srgbClr val="B4A7D6"/>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44" name="Google Shape;345;p7">
            <a:extLst>
              <a:ext uri="{FF2B5EF4-FFF2-40B4-BE49-F238E27FC236}">
                <a16:creationId xmlns:a16="http://schemas.microsoft.com/office/drawing/2014/main" id="{CE5C442D-C6FF-8244-BF14-53E7D484EAB1}"/>
              </a:ext>
            </a:extLst>
          </p:cNvPr>
          <p:cNvSpPr/>
          <p:nvPr/>
        </p:nvSpPr>
        <p:spPr>
          <a:xfrm>
            <a:off x="5092716" y="4219436"/>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&lt;100, V&gt;</a:t>
            </a:r>
            <a:endParaRPr sz="1000" dirty="0"/>
          </a:p>
        </p:txBody>
      </p:sp>
      <p:cxnSp>
        <p:nvCxnSpPr>
          <p:cNvPr id="45" name="Google Shape;346;p7">
            <a:extLst>
              <a:ext uri="{FF2B5EF4-FFF2-40B4-BE49-F238E27FC236}">
                <a16:creationId xmlns:a16="http://schemas.microsoft.com/office/drawing/2014/main" id="{660B397B-8CA4-D740-9DD2-15D8C62F8FB4}"/>
              </a:ext>
            </a:extLst>
          </p:cNvPr>
          <p:cNvCxnSpPr>
            <a:cxnSpLocks/>
          </p:cNvCxnSpPr>
          <p:nvPr/>
        </p:nvCxnSpPr>
        <p:spPr>
          <a:xfrm>
            <a:off x="3825514" y="4845868"/>
            <a:ext cx="1159525" cy="0"/>
          </a:xfrm>
          <a:prstGeom prst="straightConnector1">
            <a:avLst/>
          </a:prstGeom>
          <a:noFill/>
          <a:ln w="28575" cap="flat" cmpd="sng">
            <a:solidFill>
              <a:srgbClr val="8E7CC3"/>
            </a:solidFill>
            <a:prstDash val="solid"/>
            <a:round/>
            <a:headEnd type="none" w="sm" len="sm"/>
            <a:tailEnd type="triangle" w="med" len="med"/>
          </a:ln>
        </p:spPr>
      </p:cxnSp>
      <p:sp>
        <p:nvSpPr>
          <p:cNvPr id="46" name="Google Shape;347;p7">
            <a:extLst>
              <a:ext uri="{FF2B5EF4-FFF2-40B4-BE49-F238E27FC236}">
                <a16:creationId xmlns:a16="http://schemas.microsoft.com/office/drawing/2014/main" id="{D010266B-D34D-874D-981A-FEC1B8F3C538}"/>
              </a:ext>
            </a:extLst>
          </p:cNvPr>
          <p:cNvSpPr/>
          <p:nvPr/>
        </p:nvSpPr>
        <p:spPr>
          <a:xfrm>
            <a:off x="5387790" y="4009643"/>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49" name="Google Shape;350;p7">
            <a:extLst>
              <a:ext uri="{FF2B5EF4-FFF2-40B4-BE49-F238E27FC236}">
                <a16:creationId xmlns:a16="http://schemas.microsoft.com/office/drawing/2014/main" id="{2286052E-631C-E948-A8A9-AB7651CEFB89}"/>
              </a:ext>
            </a:extLst>
          </p:cNvPr>
          <p:cNvSpPr/>
          <p:nvPr/>
        </p:nvSpPr>
        <p:spPr>
          <a:xfrm>
            <a:off x="3683268" y="4219436"/>
            <a:ext cx="660480" cy="238723"/>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endParaRPr/>
          </a:p>
        </p:txBody>
      </p:sp>
      <p:sp>
        <p:nvSpPr>
          <p:cNvPr id="52" name="Google Shape;353;p7">
            <a:extLst>
              <a:ext uri="{FF2B5EF4-FFF2-40B4-BE49-F238E27FC236}">
                <a16:creationId xmlns:a16="http://schemas.microsoft.com/office/drawing/2014/main" id="{53869141-F635-6C46-8E2A-5D82C2F788C1}"/>
              </a:ext>
            </a:extLst>
          </p:cNvPr>
          <p:cNvSpPr/>
          <p:nvPr/>
        </p:nvSpPr>
        <p:spPr>
          <a:xfrm>
            <a:off x="3685847" y="4580785"/>
            <a:ext cx="660480" cy="238723"/>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endParaRPr/>
          </a:p>
        </p:txBody>
      </p:sp>
      <p:sp>
        <p:nvSpPr>
          <p:cNvPr id="58" name="Google Shape;350;p7">
            <a:extLst>
              <a:ext uri="{FF2B5EF4-FFF2-40B4-BE49-F238E27FC236}">
                <a16:creationId xmlns:a16="http://schemas.microsoft.com/office/drawing/2014/main" id="{CE043E71-1EE5-3948-B153-1140350FB34E}"/>
              </a:ext>
            </a:extLst>
          </p:cNvPr>
          <p:cNvSpPr/>
          <p:nvPr/>
        </p:nvSpPr>
        <p:spPr>
          <a:xfrm>
            <a:off x="3683268" y="4227728"/>
            <a:ext cx="660480" cy="238723"/>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endParaRPr/>
          </a:p>
        </p:txBody>
      </p:sp>
      <p:sp>
        <p:nvSpPr>
          <p:cNvPr id="61" name="Google Shape;353;p7">
            <a:extLst>
              <a:ext uri="{FF2B5EF4-FFF2-40B4-BE49-F238E27FC236}">
                <a16:creationId xmlns:a16="http://schemas.microsoft.com/office/drawing/2014/main" id="{FBDB3FDC-F0C2-B345-B559-571FF71473BB}"/>
              </a:ext>
            </a:extLst>
          </p:cNvPr>
          <p:cNvSpPr/>
          <p:nvPr/>
        </p:nvSpPr>
        <p:spPr>
          <a:xfrm>
            <a:off x="3685847" y="4589078"/>
            <a:ext cx="660480" cy="238723"/>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endParaRPr/>
          </a:p>
        </p:txBody>
      </p:sp>
      <p:sp>
        <p:nvSpPr>
          <p:cNvPr id="75" name="TextBox 74">
            <a:extLst>
              <a:ext uri="{FF2B5EF4-FFF2-40B4-BE49-F238E27FC236}">
                <a16:creationId xmlns:a16="http://schemas.microsoft.com/office/drawing/2014/main" id="{3FD6D147-AAC4-E244-A136-94BEB7256D64}"/>
              </a:ext>
            </a:extLst>
          </p:cNvPr>
          <p:cNvSpPr txBox="1"/>
          <p:nvPr/>
        </p:nvSpPr>
        <p:spPr>
          <a:xfrm>
            <a:off x="4414475" y="2697115"/>
            <a:ext cx="792205" cy="307777"/>
          </a:xfrm>
          <a:prstGeom prst="rect">
            <a:avLst/>
          </a:prstGeom>
          <a:noFill/>
        </p:spPr>
        <p:txBody>
          <a:bodyPr wrap="none" rtlCol="0">
            <a:spAutoFit/>
          </a:bodyPr>
          <a:lstStyle/>
          <a:p>
            <a:r>
              <a:rPr lang="en-US" dirty="0"/>
              <a:t>Client 3</a:t>
            </a:r>
          </a:p>
        </p:txBody>
      </p:sp>
      <p:cxnSp>
        <p:nvCxnSpPr>
          <p:cNvPr id="139" name="Straight Arrow Connector 138">
            <a:extLst>
              <a:ext uri="{FF2B5EF4-FFF2-40B4-BE49-F238E27FC236}">
                <a16:creationId xmlns:a16="http://schemas.microsoft.com/office/drawing/2014/main" id="{C3430DF1-7781-0048-AC2E-C70DF77D0CE1}"/>
              </a:ext>
            </a:extLst>
          </p:cNvPr>
          <p:cNvCxnSpPr>
            <a:cxnSpLocks/>
          </p:cNvCxnSpPr>
          <p:nvPr/>
        </p:nvCxnSpPr>
        <p:spPr>
          <a:xfrm flipH="1">
            <a:off x="3539116" y="3005883"/>
            <a:ext cx="1311898" cy="453395"/>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0641D09A-54F4-A64D-987C-89CBC6D25EA6}"/>
              </a:ext>
            </a:extLst>
          </p:cNvPr>
          <p:cNvSpPr txBox="1"/>
          <p:nvPr/>
        </p:nvSpPr>
        <p:spPr>
          <a:xfrm>
            <a:off x="1070912" y="3143168"/>
            <a:ext cx="723275" cy="246221"/>
          </a:xfrm>
          <a:prstGeom prst="rect">
            <a:avLst/>
          </a:prstGeom>
          <a:noFill/>
        </p:spPr>
        <p:txBody>
          <a:bodyPr wrap="square" rtlCol="0">
            <a:spAutoFit/>
          </a:bodyPr>
          <a:lstStyle/>
          <a:p>
            <a:r>
              <a:rPr lang="en-US" sz="1000" dirty="0"/>
              <a:t>Set(1,V1)</a:t>
            </a:r>
          </a:p>
        </p:txBody>
      </p:sp>
      <p:grpSp>
        <p:nvGrpSpPr>
          <p:cNvPr id="178" name="Group 177">
            <a:extLst>
              <a:ext uri="{FF2B5EF4-FFF2-40B4-BE49-F238E27FC236}">
                <a16:creationId xmlns:a16="http://schemas.microsoft.com/office/drawing/2014/main" id="{54C286A5-1A46-F748-B746-6D1F0831F99E}"/>
              </a:ext>
            </a:extLst>
          </p:cNvPr>
          <p:cNvGrpSpPr/>
          <p:nvPr/>
        </p:nvGrpSpPr>
        <p:grpSpPr>
          <a:xfrm>
            <a:off x="2629684" y="3965956"/>
            <a:ext cx="964552" cy="223108"/>
            <a:chOff x="8177491" y="2431039"/>
            <a:chExt cx="964552" cy="223108"/>
          </a:xfrm>
        </p:grpSpPr>
        <p:sp>
          <p:nvSpPr>
            <p:cNvPr id="154" name="Google Shape;315;p7">
              <a:extLst>
                <a:ext uri="{FF2B5EF4-FFF2-40B4-BE49-F238E27FC236}">
                  <a16:creationId xmlns:a16="http://schemas.microsoft.com/office/drawing/2014/main" id="{B42DC6A5-4FEB-7145-8566-6949C0AF0FB2}"/>
                </a:ext>
              </a:extLst>
            </p:cNvPr>
            <p:cNvSpPr/>
            <p:nvPr/>
          </p:nvSpPr>
          <p:spPr>
            <a:xfrm>
              <a:off x="8177491" y="2472331"/>
              <a:ext cx="947702" cy="162003"/>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55" name="Google Shape;316;p7">
              <a:extLst>
                <a:ext uri="{FF2B5EF4-FFF2-40B4-BE49-F238E27FC236}">
                  <a16:creationId xmlns:a16="http://schemas.microsoft.com/office/drawing/2014/main" id="{467A82D2-FB67-C74B-8E1D-75F4CED6AB4D}"/>
                </a:ext>
              </a:extLst>
            </p:cNvPr>
            <p:cNvSpPr/>
            <p:nvPr/>
          </p:nvSpPr>
          <p:spPr>
            <a:xfrm>
              <a:off x="8194341" y="2431039"/>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&lt;1, V1&gt;</a:t>
              </a:r>
              <a:endParaRPr sz="1000" dirty="0"/>
            </a:p>
          </p:txBody>
        </p:sp>
      </p:grpSp>
      <p:sp>
        <p:nvSpPr>
          <p:cNvPr id="179" name="Google Shape;739;p15">
            <a:extLst>
              <a:ext uri="{FF2B5EF4-FFF2-40B4-BE49-F238E27FC236}">
                <a16:creationId xmlns:a16="http://schemas.microsoft.com/office/drawing/2014/main" id="{BFB71180-FBE4-BF41-AC65-41AF8A81C577}"/>
              </a:ext>
            </a:extLst>
          </p:cNvPr>
          <p:cNvSpPr txBox="1">
            <a:spLocks/>
          </p:cNvSpPr>
          <p:nvPr/>
        </p:nvSpPr>
        <p:spPr>
          <a:xfrm>
            <a:off x="512527" y="1963086"/>
            <a:ext cx="7886700" cy="780419"/>
          </a:xfrm>
          <a:prstGeom prst="rect">
            <a:avLst/>
          </a:prstGeom>
          <a:noFill/>
          <a:ln>
            <a:noFill/>
          </a:ln>
        </p:spPr>
        <p:txBody>
          <a:bodyPr spcFirstLastPara="1" wrap="square" lIns="34275" tIns="34275" rIns="34275" bIns="34275" anchor="t" anchorCtr="0">
            <a:normAutofit fontScale="85000" lnSpcReduction="20000"/>
          </a:bodyPr>
          <a:lstStyle>
            <a:defPPr marR="0" lvl="0" algn="l" rtl="0">
              <a:lnSpc>
                <a:spcPct val="100000"/>
              </a:lnSpc>
              <a:spcBef>
                <a:spcPts val="0"/>
              </a:spcBef>
              <a:spcAft>
                <a:spcPts val="0"/>
              </a:spcAft>
            </a:defPPr>
            <a:lvl1pPr marL="457200" marR="0" lvl="0" indent="-361950" algn="l" rtl="0">
              <a:lnSpc>
                <a:spcPct val="90000"/>
              </a:lnSpc>
              <a:spcBef>
                <a:spcPts val="8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1pPr>
            <a:lvl2pPr marL="914400" marR="0" lvl="1"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2pPr>
            <a:lvl3pPr marL="1371600" marR="0" lvl="2"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3pPr>
            <a:lvl4pPr marL="1828800" marR="0" lvl="3"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4pPr>
            <a:lvl5pPr marL="2286000" marR="0" lvl="4"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5pPr>
            <a:lvl6pPr marL="2743200" marR="0" lvl="5"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6pPr>
            <a:lvl7pPr marL="3200400" marR="0" lvl="6"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7pPr>
            <a:lvl8pPr marL="3657600" marR="0" lvl="7"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8pPr>
            <a:lvl9pPr marL="4114800" marR="0" lvl="8"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9pPr>
          </a:lstStyle>
          <a:p>
            <a:pPr indent="-317500">
              <a:lnSpc>
                <a:spcPct val="110000"/>
              </a:lnSpc>
              <a:spcBef>
                <a:spcPts val="0"/>
              </a:spcBef>
            </a:pPr>
            <a:r>
              <a:rPr lang="en-US" dirty="0"/>
              <a:t>Limitations: </a:t>
            </a:r>
          </a:p>
          <a:p>
            <a:pPr lvl="1" indent="-317500">
              <a:lnSpc>
                <a:spcPct val="110000"/>
              </a:lnSpc>
            </a:pPr>
            <a:r>
              <a:rPr lang="en-US" dirty="0">
                <a:solidFill>
                  <a:schemeClr val="tx1"/>
                </a:solidFill>
                <a:latin typeface="Calibri" panose="020F0502020204030204" pitchFamily="34" charset="0"/>
                <a:cs typeface="Calibri" panose="020F0502020204030204" pitchFamily="34" charset="0"/>
              </a:rPr>
              <a:t>Source is even more overloaded during migration</a:t>
            </a:r>
          </a:p>
          <a:p>
            <a:pPr lvl="1" indent="-317500">
              <a:lnSpc>
                <a:spcPct val="110000"/>
              </a:lnSpc>
            </a:pPr>
            <a:r>
              <a:rPr lang="en-US" dirty="0">
                <a:solidFill>
                  <a:schemeClr val="tx1"/>
                </a:solidFill>
                <a:latin typeface="Calibri" panose="020F0502020204030204" pitchFamily="34" charset="0"/>
                <a:cs typeface="Calibri" panose="020F0502020204030204" pitchFamily="34" charset="0"/>
              </a:rPr>
              <a:t>A service downtime has to be triggered near the end of migration</a:t>
            </a:r>
          </a:p>
        </p:txBody>
      </p:sp>
      <p:grpSp>
        <p:nvGrpSpPr>
          <p:cNvPr id="185" name="Group 184">
            <a:extLst>
              <a:ext uri="{FF2B5EF4-FFF2-40B4-BE49-F238E27FC236}">
                <a16:creationId xmlns:a16="http://schemas.microsoft.com/office/drawing/2014/main" id="{BA9AADD4-A2E7-3F4C-B9E8-3910AB32AA24}"/>
              </a:ext>
            </a:extLst>
          </p:cNvPr>
          <p:cNvGrpSpPr/>
          <p:nvPr/>
        </p:nvGrpSpPr>
        <p:grpSpPr>
          <a:xfrm>
            <a:off x="2633955" y="3965956"/>
            <a:ext cx="964552" cy="223108"/>
            <a:chOff x="8177491" y="2431039"/>
            <a:chExt cx="964552" cy="223108"/>
          </a:xfrm>
        </p:grpSpPr>
        <p:sp>
          <p:nvSpPr>
            <p:cNvPr id="186" name="Google Shape;315;p7">
              <a:extLst>
                <a:ext uri="{FF2B5EF4-FFF2-40B4-BE49-F238E27FC236}">
                  <a16:creationId xmlns:a16="http://schemas.microsoft.com/office/drawing/2014/main" id="{AD8A656E-B4CD-E741-A64A-443638CACED6}"/>
                </a:ext>
              </a:extLst>
            </p:cNvPr>
            <p:cNvSpPr/>
            <p:nvPr/>
          </p:nvSpPr>
          <p:spPr>
            <a:xfrm>
              <a:off x="8177491" y="2472331"/>
              <a:ext cx="947702" cy="162003"/>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Arial"/>
                <a:ea typeface="Arial"/>
                <a:cs typeface="Arial"/>
                <a:sym typeface="Arial"/>
              </a:endParaRPr>
            </a:p>
          </p:txBody>
        </p:sp>
        <p:sp>
          <p:nvSpPr>
            <p:cNvPr id="187" name="Google Shape;316;p7">
              <a:extLst>
                <a:ext uri="{FF2B5EF4-FFF2-40B4-BE49-F238E27FC236}">
                  <a16:creationId xmlns:a16="http://schemas.microsoft.com/office/drawing/2014/main" id="{9B469F9F-FFB8-5E47-8C6B-CB0AD20415DC}"/>
                </a:ext>
              </a:extLst>
            </p:cNvPr>
            <p:cNvSpPr/>
            <p:nvPr/>
          </p:nvSpPr>
          <p:spPr>
            <a:xfrm>
              <a:off x="8194341" y="2431039"/>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&lt;1, V1&gt;</a:t>
              </a:r>
              <a:endParaRPr sz="1000" dirty="0"/>
            </a:p>
          </p:txBody>
        </p:sp>
      </p:grpSp>
      <p:sp>
        <p:nvSpPr>
          <p:cNvPr id="108" name="TextBox 107">
            <a:extLst>
              <a:ext uri="{FF2B5EF4-FFF2-40B4-BE49-F238E27FC236}">
                <a16:creationId xmlns:a16="http://schemas.microsoft.com/office/drawing/2014/main" id="{0E323E30-8CAC-1448-914D-A344F42F3916}"/>
              </a:ext>
            </a:extLst>
          </p:cNvPr>
          <p:cNvSpPr txBox="1"/>
          <p:nvPr/>
        </p:nvSpPr>
        <p:spPr>
          <a:xfrm>
            <a:off x="2185381" y="3058813"/>
            <a:ext cx="723275" cy="246221"/>
          </a:xfrm>
          <a:prstGeom prst="rect">
            <a:avLst/>
          </a:prstGeom>
          <a:noFill/>
        </p:spPr>
        <p:txBody>
          <a:bodyPr wrap="square" rtlCol="0">
            <a:spAutoFit/>
          </a:bodyPr>
          <a:lstStyle/>
          <a:p>
            <a:r>
              <a:rPr lang="en-US" sz="1000" dirty="0"/>
              <a:t>Set(1,V2)</a:t>
            </a:r>
          </a:p>
        </p:txBody>
      </p:sp>
      <p:grpSp>
        <p:nvGrpSpPr>
          <p:cNvPr id="111" name="Group 110">
            <a:extLst>
              <a:ext uri="{FF2B5EF4-FFF2-40B4-BE49-F238E27FC236}">
                <a16:creationId xmlns:a16="http://schemas.microsoft.com/office/drawing/2014/main" id="{0D5DA11D-AAEF-814E-9430-B07296642C83}"/>
              </a:ext>
            </a:extLst>
          </p:cNvPr>
          <p:cNvGrpSpPr/>
          <p:nvPr/>
        </p:nvGrpSpPr>
        <p:grpSpPr>
          <a:xfrm>
            <a:off x="2631821" y="3965956"/>
            <a:ext cx="964552" cy="223108"/>
            <a:chOff x="8177491" y="2431039"/>
            <a:chExt cx="964552" cy="223108"/>
          </a:xfrm>
        </p:grpSpPr>
        <p:sp>
          <p:nvSpPr>
            <p:cNvPr id="116" name="Google Shape;315;p7">
              <a:extLst>
                <a:ext uri="{FF2B5EF4-FFF2-40B4-BE49-F238E27FC236}">
                  <a16:creationId xmlns:a16="http://schemas.microsoft.com/office/drawing/2014/main" id="{A25BF6B0-9407-0B41-AED7-83C8ABA93134}"/>
                </a:ext>
              </a:extLst>
            </p:cNvPr>
            <p:cNvSpPr/>
            <p:nvPr/>
          </p:nvSpPr>
          <p:spPr>
            <a:xfrm>
              <a:off x="8177491" y="2472331"/>
              <a:ext cx="947702" cy="162003"/>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19" name="Google Shape;316;p7">
              <a:extLst>
                <a:ext uri="{FF2B5EF4-FFF2-40B4-BE49-F238E27FC236}">
                  <a16:creationId xmlns:a16="http://schemas.microsoft.com/office/drawing/2014/main" id="{CA9B9073-691A-0E4D-8362-E353CFC4C336}"/>
                </a:ext>
              </a:extLst>
            </p:cNvPr>
            <p:cNvSpPr/>
            <p:nvPr/>
          </p:nvSpPr>
          <p:spPr>
            <a:xfrm>
              <a:off x="8194341" y="2431039"/>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&lt;1, V2&gt;</a:t>
              </a:r>
              <a:endParaRPr sz="1000" dirty="0"/>
            </a:p>
          </p:txBody>
        </p:sp>
      </p:grpSp>
      <p:grpSp>
        <p:nvGrpSpPr>
          <p:cNvPr id="127" name="Group 126">
            <a:extLst>
              <a:ext uri="{FF2B5EF4-FFF2-40B4-BE49-F238E27FC236}">
                <a16:creationId xmlns:a16="http://schemas.microsoft.com/office/drawing/2014/main" id="{D5D6F9EF-087D-1D40-A868-02A8A16C108A}"/>
              </a:ext>
            </a:extLst>
          </p:cNvPr>
          <p:cNvGrpSpPr/>
          <p:nvPr/>
        </p:nvGrpSpPr>
        <p:grpSpPr>
          <a:xfrm>
            <a:off x="2633559" y="3964469"/>
            <a:ext cx="964552" cy="223108"/>
            <a:chOff x="8177491" y="2431039"/>
            <a:chExt cx="964552" cy="223108"/>
          </a:xfrm>
        </p:grpSpPr>
        <p:sp>
          <p:nvSpPr>
            <p:cNvPr id="129" name="Google Shape;315;p7">
              <a:extLst>
                <a:ext uri="{FF2B5EF4-FFF2-40B4-BE49-F238E27FC236}">
                  <a16:creationId xmlns:a16="http://schemas.microsoft.com/office/drawing/2014/main" id="{A5BE44B3-B706-F34F-B8BF-B5085183C78A}"/>
                </a:ext>
              </a:extLst>
            </p:cNvPr>
            <p:cNvSpPr/>
            <p:nvPr/>
          </p:nvSpPr>
          <p:spPr>
            <a:xfrm>
              <a:off x="8177491" y="2472331"/>
              <a:ext cx="947702" cy="162003"/>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30" name="Google Shape;316;p7">
              <a:extLst>
                <a:ext uri="{FF2B5EF4-FFF2-40B4-BE49-F238E27FC236}">
                  <a16:creationId xmlns:a16="http://schemas.microsoft.com/office/drawing/2014/main" id="{93E76348-1D0D-5547-9D52-85E42D62FAE9}"/>
                </a:ext>
              </a:extLst>
            </p:cNvPr>
            <p:cNvSpPr/>
            <p:nvPr/>
          </p:nvSpPr>
          <p:spPr>
            <a:xfrm>
              <a:off x="8194341" y="2431039"/>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&lt;1, V2&gt;</a:t>
              </a:r>
              <a:endParaRPr sz="1000" dirty="0"/>
            </a:p>
          </p:txBody>
        </p:sp>
      </p:grpSp>
      <p:grpSp>
        <p:nvGrpSpPr>
          <p:cNvPr id="131" name="Group 130">
            <a:extLst>
              <a:ext uri="{FF2B5EF4-FFF2-40B4-BE49-F238E27FC236}">
                <a16:creationId xmlns:a16="http://schemas.microsoft.com/office/drawing/2014/main" id="{3481F611-CAA9-A244-82D2-FB84AD5FD459}"/>
              </a:ext>
            </a:extLst>
          </p:cNvPr>
          <p:cNvGrpSpPr/>
          <p:nvPr/>
        </p:nvGrpSpPr>
        <p:grpSpPr>
          <a:xfrm>
            <a:off x="2630675" y="3970861"/>
            <a:ext cx="964552" cy="223108"/>
            <a:chOff x="8177491" y="2431039"/>
            <a:chExt cx="964552" cy="223108"/>
          </a:xfrm>
        </p:grpSpPr>
        <p:sp>
          <p:nvSpPr>
            <p:cNvPr id="133" name="Google Shape;315;p7">
              <a:extLst>
                <a:ext uri="{FF2B5EF4-FFF2-40B4-BE49-F238E27FC236}">
                  <a16:creationId xmlns:a16="http://schemas.microsoft.com/office/drawing/2014/main" id="{BB16BE9C-8FB5-0D40-9742-C7D88ABC37BD}"/>
                </a:ext>
              </a:extLst>
            </p:cNvPr>
            <p:cNvSpPr/>
            <p:nvPr/>
          </p:nvSpPr>
          <p:spPr>
            <a:xfrm>
              <a:off x="8177491" y="2472331"/>
              <a:ext cx="947702" cy="162003"/>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34" name="Google Shape;316;p7">
              <a:extLst>
                <a:ext uri="{FF2B5EF4-FFF2-40B4-BE49-F238E27FC236}">
                  <a16:creationId xmlns:a16="http://schemas.microsoft.com/office/drawing/2014/main" id="{39253CFA-93D1-6348-92FD-19BB066AD3BF}"/>
                </a:ext>
              </a:extLst>
            </p:cNvPr>
            <p:cNvSpPr/>
            <p:nvPr/>
          </p:nvSpPr>
          <p:spPr>
            <a:xfrm>
              <a:off x="8194341" y="2431039"/>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&lt;1, V3&gt;</a:t>
              </a:r>
              <a:endParaRPr sz="1000" dirty="0"/>
            </a:p>
          </p:txBody>
        </p:sp>
      </p:grpSp>
      <p:grpSp>
        <p:nvGrpSpPr>
          <p:cNvPr id="136" name="Group 135">
            <a:extLst>
              <a:ext uri="{FF2B5EF4-FFF2-40B4-BE49-F238E27FC236}">
                <a16:creationId xmlns:a16="http://schemas.microsoft.com/office/drawing/2014/main" id="{57B6BD4E-6870-DA42-BB33-B1D345C7F8E5}"/>
              </a:ext>
            </a:extLst>
          </p:cNvPr>
          <p:cNvGrpSpPr/>
          <p:nvPr/>
        </p:nvGrpSpPr>
        <p:grpSpPr>
          <a:xfrm>
            <a:off x="2635297" y="3969789"/>
            <a:ext cx="964552" cy="223108"/>
            <a:chOff x="8177491" y="2431039"/>
            <a:chExt cx="964552" cy="223108"/>
          </a:xfrm>
        </p:grpSpPr>
        <p:sp>
          <p:nvSpPr>
            <p:cNvPr id="138" name="Google Shape;315;p7">
              <a:extLst>
                <a:ext uri="{FF2B5EF4-FFF2-40B4-BE49-F238E27FC236}">
                  <a16:creationId xmlns:a16="http://schemas.microsoft.com/office/drawing/2014/main" id="{9CB9A704-92EC-7E47-B1AF-73AB192A1B0C}"/>
                </a:ext>
              </a:extLst>
            </p:cNvPr>
            <p:cNvSpPr/>
            <p:nvPr/>
          </p:nvSpPr>
          <p:spPr>
            <a:xfrm>
              <a:off x="8177491" y="2472331"/>
              <a:ext cx="947702" cy="162003"/>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40" name="Google Shape;316;p7">
              <a:extLst>
                <a:ext uri="{FF2B5EF4-FFF2-40B4-BE49-F238E27FC236}">
                  <a16:creationId xmlns:a16="http://schemas.microsoft.com/office/drawing/2014/main" id="{42DAD9ED-12FB-6E47-A2F5-0A7DD499B014}"/>
                </a:ext>
              </a:extLst>
            </p:cNvPr>
            <p:cNvSpPr/>
            <p:nvPr/>
          </p:nvSpPr>
          <p:spPr>
            <a:xfrm>
              <a:off x="8194341" y="2431039"/>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&lt;1, V3&gt;</a:t>
              </a:r>
              <a:endParaRPr sz="1000" dirty="0"/>
            </a:p>
          </p:txBody>
        </p:sp>
      </p:grpSp>
      <p:sp>
        <p:nvSpPr>
          <p:cNvPr id="141" name="TextBox 140">
            <a:extLst>
              <a:ext uri="{FF2B5EF4-FFF2-40B4-BE49-F238E27FC236}">
                <a16:creationId xmlns:a16="http://schemas.microsoft.com/office/drawing/2014/main" id="{256E83BA-FF8F-F649-82C8-146C764EB03C}"/>
              </a:ext>
            </a:extLst>
          </p:cNvPr>
          <p:cNvSpPr txBox="1"/>
          <p:nvPr/>
        </p:nvSpPr>
        <p:spPr>
          <a:xfrm>
            <a:off x="3630184" y="3027202"/>
            <a:ext cx="723275" cy="246221"/>
          </a:xfrm>
          <a:prstGeom prst="rect">
            <a:avLst/>
          </a:prstGeom>
          <a:noFill/>
        </p:spPr>
        <p:txBody>
          <a:bodyPr wrap="square" rtlCol="0">
            <a:spAutoFit/>
          </a:bodyPr>
          <a:lstStyle/>
          <a:p>
            <a:r>
              <a:rPr lang="en-US" sz="1000" dirty="0"/>
              <a:t>Set(1,V3)</a:t>
            </a:r>
          </a:p>
        </p:txBody>
      </p:sp>
      <p:sp>
        <p:nvSpPr>
          <p:cNvPr id="123" name="TextBox 122">
            <a:extLst>
              <a:ext uri="{FF2B5EF4-FFF2-40B4-BE49-F238E27FC236}">
                <a16:creationId xmlns:a16="http://schemas.microsoft.com/office/drawing/2014/main" id="{4C159522-183F-7E49-8969-F2A4641F8D02}"/>
              </a:ext>
            </a:extLst>
          </p:cNvPr>
          <p:cNvSpPr txBox="1"/>
          <p:nvPr/>
        </p:nvSpPr>
        <p:spPr>
          <a:xfrm>
            <a:off x="744773" y="2697115"/>
            <a:ext cx="792205" cy="307777"/>
          </a:xfrm>
          <a:prstGeom prst="rect">
            <a:avLst/>
          </a:prstGeom>
          <a:noFill/>
        </p:spPr>
        <p:txBody>
          <a:bodyPr wrap="none" rtlCol="0">
            <a:spAutoFit/>
          </a:bodyPr>
          <a:lstStyle/>
          <a:p>
            <a:r>
              <a:rPr lang="en-US" dirty="0"/>
              <a:t>Client 1</a:t>
            </a:r>
          </a:p>
        </p:txBody>
      </p:sp>
      <p:sp>
        <p:nvSpPr>
          <p:cNvPr id="124" name="TextBox 123">
            <a:extLst>
              <a:ext uri="{FF2B5EF4-FFF2-40B4-BE49-F238E27FC236}">
                <a16:creationId xmlns:a16="http://schemas.microsoft.com/office/drawing/2014/main" id="{D420C4EF-1AF2-E94B-9FA0-2B58E80637C6}"/>
              </a:ext>
            </a:extLst>
          </p:cNvPr>
          <p:cNvSpPr txBox="1"/>
          <p:nvPr/>
        </p:nvSpPr>
        <p:spPr>
          <a:xfrm>
            <a:off x="2327240" y="2709796"/>
            <a:ext cx="792205" cy="307777"/>
          </a:xfrm>
          <a:prstGeom prst="rect">
            <a:avLst/>
          </a:prstGeom>
          <a:noFill/>
        </p:spPr>
        <p:txBody>
          <a:bodyPr wrap="none" rtlCol="0">
            <a:spAutoFit/>
          </a:bodyPr>
          <a:lstStyle/>
          <a:p>
            <a:r>
              <a:rPr lang="en-US" dirty="0"/>
              <a:t>Client 2</a:t>
            </a:r>
          </a:p>
        </p:txBody>
      </p:sp>
      <p:cxnSp>
        <p:nvCxnSpPr>
          <p:cNvPr id="4" name="Straight Arrow Connector 3">
            <a:extLst>
              <a:ext uri="{FF2B5EF4-FFF2-40B4-BE49-F238E27FC236}">
                <a16:creationId xmlns:a16="http://schemas.microsoft.com/office/drawing/2014/main" id="{11D4D213-8AAE-DE4E-B038-A37C66B9EA43}"/>
              </a:ext>
            </a:extLst>
          </p:cNvPr>
          <p:cNvCxnSpPr>
            <a:cxnSpLocks/>
            <a:stCxn id="123" idx="2"/>
          </p:cNvCxnSpPr>
          <p:nvPr/>
        </p:nvCxnSpPr>
        <p:spPr>
          <a:xfrm>
            <a:off x="1140876" y="3004892"/>
            <a:ext cx="1579828" cy="444276"/>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EF3A223A-EFFA-E54B-8447-4D78F19AF4E8}"/>
              </a:ext>
            </a:extLst>
          </p:cNvPr>
          <p:cNvCxnSpPr>
            <a:cxnSpLocks/>
            <a:stCxn id="124" idx="2"/>
            <a:endCxn id="6" idx="0"/>
          </p:cNvCxnSpPr>
          <p:nvPr/>
        </p:nvCxnSpPr>
        <p:spPr>
          <a:xfrm>
            <a:off x="2723343" y="3017573"/>
            <a:ext cx="419670" cy="436961"/>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A59937A3-65D8-4E41-A264-7325BC33C148}"/>
              </a:ext>
            </a:extLst>
          </p:cNvPr>
          <p:cNvCxnSpPr>
            <a:cxnSpLocks/>
          </p:cNvCxnSpPr>
          <p:nvPr/>
        </p:nvCxnSpPr>
        <p:spPr>
          <a:xfrm>
            <a:off x="1138258" y="3003866"/>
            <a:ext cx="1579828" cy="444276"/>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09DF09B5-CBA0-D14F-AF6A-6022759B8BA5}"/>
              </a:ext>
            </a:extLst>
          </p:cNvPr>
          <p:cNvCxnSpPr>
            <a:cxnSpLocks/>
          </p:cNvCxnSpPr>
          <p:nvPr/>
        </p:nvCxnSpPr>
        <p:spPr>
          <a:xfrm>
            <a:off x="2728474" y="3017361"/>
            <a:ext cx="419670" cy="436961"/>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EA939331-F4B7-9845-BF77-BF3EF28A1715}"/>
              </a:ext>
            </a:extLst>
          </p:cNvPr>
          <p:cNvCxnSpPr>
            <a:cxnSpLocks/>
          </p:cNvCxnSpPr>
          <p:nvPr/>
        </p:nvCxnSpPr>
        <p:spPr>
          <a:xfrm flipH="1">
            <a:off x="3525531" y="3012802"/>
            <a:ext cx="1311898" cy="453395"/>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73" name="Slide Number Placeholder 3">
            <a:extLst>
              <a:ext uri="{FF2B5EF4-FFF2-40B4-BE49-F238E27FC236}">
                <a16:creationId xmlns:a16="http://schemas.microsoft.com/office/drawing/2014/main" id="{1D6E0FB0-F426-594C-A5A6-49B740FC96A1}"/>
              </a:ext>
            </a:extLst>
          </p:cNvPr>
          <p:cNvSpPr>
            <a:spLocks noGrp="1"/>
          </p:cNvSpPr>
          <p:nvPr>
            <p:ph type="sldNum" idx="12"/>
          </p:nvPr>
        </p:nvSpPr>
        <p:spPr>
          <a:xfrm>
            <a:off x="8684345" y="4700819"/>
            <a:ext cx="336814" cy="318396"/>
          </a:xfrm>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2556031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fade">
                                      <p:cBhvr>
                                        <p:cTn id="7" dur="500"/>
                                        <p:tgtEl>
                                          <p:spTgt spid="145"/>
                                        </p:tgtEl>
                                      </p:cBhvr>
                                    </p:animEffect>
                                  </p:childTnLst>
                                </p:cTn>
                              </p:par>
                              <p:par>
                                <p:cTn id="8" presetID="10" presetClass="entr" presetSubtype="0" fill="hold" nodeType="withEffect">
                                  <p:stCondLst>
                                    <p:cond delay="0"/>
                                  </p:stCondLst>
                                  <p:childTnLst>
                                    <p:set>
                                      <p:cBhvr>
                                        <p:cTn id="9" dur="1" fill="hold">
                                          <p:stCondLst>
                                            <p:cond delay="0"/>
                                          </p:stCondLst>
                                        </p:cTn>
                                        <p:tgtEl>
                                          <p:spTgt spid="147"/>
                                        </p:tgtEl>
                                        <p:attrNameLst>
                                          <p:attrName>style.visibility</p:attrName>
                                        </p:attrNameLst>
                                      </p:cBhvr>
                                      <p:to>
                                        <p:strVal val="visible"/>
                                      </p:to>
                                    </p:set>
                                    <p:animEffect transition="in" filter="fade">
                                      <p:cBhvr>
                                        <p:cTn id="10" dur="500"/>
                                        <p:tgtEl>
                                          <p:spTgt spid="147"/>
                                        </p:tgtEl>
                                      </p:cBhvr>
                                    </p:animEffect>
                                  </p:childTnLst>
                                </p:cTn>
                              </p:par>
                              <p:par>
                                <p:cTn id="11" presetID="10" presetClass="entr" presetSubtype="0" fill="hold" nodeType="withEffect">
                                  <p:stCondLst>
                                    <p:cond delay="0"/>
                                  </p:stCondLst>
                                  <p:childTnLst>
                                    <p:set>
                                      <p:cBhvr>
                                        <p:cTn id="12" dur="1" fill="hold">
                                          <p:stCondLst>
                                            <p:cond delay="0"/>
                                          </p:stCondLst>
                                        </p:cTn>
                                        <p:tgtEl>
                                          <p:spTgt spid="148"/>
                                        </p:tgtEl>
                                        <p:attrNameLst>
                                          <p:attrName>style.visibility</p:attrName>
                                        </p:attrNameLst>
                                      </p:cBhvr>
                                      <p:to>
                                        <p:strVal val="visible"/>
                                      </p:to>
                                    </p:set>
                                    <p:animEffect transition="in" filter="fade">
                                      <p:cBhvr>
                                        <p:cTn id="13" dur="500"/>
                                        <p:tgtEl>
                                          <p:spTgt spid="14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145"/>
                                        </p:tgtEl>
                                      </p:cBhvr>
                                    </p:animEffect>
                                    <p:set>
                                      <p:cBhvr>
                                        <p:cTn id="18" dur="1" fill="hold">
                                          <p:stCondLst>
                                            <p:cond delay="499"/>
                                          </p:stCondLst>
                                        </p:cTn>
                                        <p:tgtEl>
                                          <p:spTgt spid="145"/>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20" dur="500"/>
                                        <p:tgtEl>
                                          <p:spTgt spid="147"/>
                                        </p:tgtEl>
                                      </p:cBhvr>
                                    </p:animEffect>
                                    <p:set>
                                      <p:cBhvr>
                                        <p:cTn id="21" dur="1" fill="hold">
                                          <p:stCondLst>
                                            <p:cond delay="499"/>
                                          </p:stCondLst>
                                        </p:cTn>
                                        <p:tgtEl>
                                          <p:spTgt spid="147"/>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148"/>
                                        </p:tgtEl>
                                      </p:cBhvr>
                                    </p:animEffect>
                                    <p:set>
                                      <p:cBhvr>
                                        <p:cTn id="24" dur="1" fill="hold">
                                          <p:stCondLst>
                                            <p:cond delay="499"/>
                                          </p:stCondLst>
                                        </p:cTn>
                                        <p:tgtEl>
                                          <p:spTgt spid="148"/>
                                        </p:tgtEl>
                                        <p:attrNameLst>
                                          <p:attrName>style.visibility</p:attrName>
                                        </p:attrNameLst>
                                      </p:cBhvr>
                                      <p:to>
                                        <p:strVal val="hidden"/>
                                      </p:to>
                                    </p:se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142"/>
                                        </p:tgtEl>
                                        <p:attrNameLst>
                                          <p:attrName>style.visibility</p:attrName>
                                        </p:attrNameLst>
                                      </p:cBhvr>
                                      <p:to>
                                        <p:strVal val="visible"/>
                                      </p:to>
                                    </p:set>
                                    <p:animEffect transition="in" filter="fade">
                                      <p:cBhvr>
                                        <p:cTn id="28" dur="500"/>
                                        <p:tgtEl>
                                          <p:spTgt spid="142"/>
                                        </p:tgtEl>
                                      </p:cBhvr>
                                    </p:animEffect>
                                  </p:childTnLst>
                                </p:cTn>
                              </p:par>
                              <p:par>
                                <p:cTn id="29" presetID="10" presetClass="entr" presetSubtype="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par>
                          <p:cTn id="32" fill="hold">
                            <p:stCondLst>
                              <p:cond delay="1000"/>
                            </p:stCondLst>
                            <p:childTnLst>
                              <p:par>
                                <p:cTn id="33" presetID="10" presetClass="entr" presetSubtype="0" fill="hold" nodeType="afterEffect">
                                  <p:stCondLst>
                                    <p:cond delay="0"/>
                                  </p:stCondLst>
                                  <p:childTnLst>
                                    <p:set>
                                      <p:cBhvr>
                                        <p:cTn id="34" dur="1" fill="hold">
                                          <p:stCondLst>
                                            <p:cond delay="0"/>
                                          </p:stCondLst>
                                        </p:cTn>
                                        <p:tgtEl>
                                          <p:spTgt spid="178"/>
                                        </p:tgtEl>
                                        <p:attrNameLst>
                                          <p:attrName>style.visibility</p:attrName>
                                        </p:attrNameLst>
                                      </p:cBhvr>
                                      <p:to>
                                        <p:strVal val="visible"/>
                                      </p:to>
                                    </p:set>
                                    <p:animEffect transition="in" filter="fade">
                                      <p:cBhvr>
                                        <p:cTn id="35" dur="500"/>
                                        <p:tgtEl>
                                          <p:spTgt spid="178"/>
                                        </p:tgtEl>
                                      </p:cBhvr>
                                    </p:animEffect>
                                  </p:childTnLst>
                                </p:cTn>
                              </p:par>
                              <p:par>
                                <p:cTn id="36" presetID="10" presetClass="entr" presetSubtype="0" fill="hold" nodeType="withEffect">
                                  <p:stCondLst>
                                    <p:cond delay="0"/>
                                  </p:stCondLst>
                                  <p:childTnLst>
                                    <p:set>
                                      <p:cBhvr>
                                        <p:cTn id="37" dur="1" fill="hold">
                                          <p:stCondLst>
                                            <p:cond delay="0"/>
                                          </p:stCondLst>
                                        </p:cTn>
                                        <p:tgtEl>
                                          <p:spTgt spid="185"/>
                                        </p:tgtEl>
                                        <p:attrNameLst>
                                          <p:attrName>style.visibility</p:attrName>
                                        </p:attrNameLst>
                                      </p:cBhvr>
                                      <p:to>
                                        <p:strVal val="visible"/>
                                      </p:to>
                                    </p:set>
                                    <p:animEffect transition="in" filter="fade">
                                      <p:cBhvr>
                                        <p:cTn id="38" dur="500"/>
                                        <p:tgtEl>
                                          <p:spTgt spid="185"/>
                                        </p:tgtEl>
                                      </p:cBhvr>
                                    </p:animEffect>
                                  </p:childTnLst>
                                </p:cTn>
                              </p:par>
                            </p:childTnLst>
                          </p:cTn>
                        </p:par>
                        <p:par>
                          <p:cTn id="39" fill="hold">
                            <p:stCondLst>
                              <p:cond delay="1500"/>
                            </p:stCondLst>
                            <p:childTnLst>
                              <p:par>
                                <p:cTn id="40" presetID="0" presetClass="path" presetSubtype="0" accel="50000" decel="50000" fill="hold" nodeType="afterEffect">
                                  <p:stCondLst>
                                    <p:cond delay="0"/>
                                  </p:stCondLst>
                                  <p:childTnLst>
                                    <p:animMotion origin="layout" path="M 2.22222E-6 -2.59259E-6 L 0.26545 -0.01142 " pathEditMode="relative" rAng="0" ptsTypes="AA">
                                      <p:cBhvr>
                                        <p:cTn id="41" dur="2000" fill="hold"/>
                                        <p:tgtEl>
                                          <p:spTgt spid="178"/>
                                        </p:tgtEl>
                                        <p:attrNameLst>
                                          <p:attrName>ppt_x</p:attrName>
                                          <p:attrName>ppt_y</p:attrName>
                                        </p:attrNameLst>
                                      </p:cBhvr>
                                      <p:rCtr x="13264" y="-586"/>
                                    </p:animMotion>
                                  </p:childTnLst>
                                </p:cTn>
                              </p:par>
                            </p:childTnLst>
                          </p:cTn>
                        </p:par>
                        <p:par>
                          <p:cTn id="42" fill="hold">
                            <p:stCondLst>
                              <p:cond delay="3500"/>
                            </p:stCondLst>
                            <p:childTnLst>
                              <p:par>
                                <p:cTn id="43" presetID="10" presetClass="exit" presetSubtype="0" fill="hold" grpId="1" nodeType="afterEffect">
                                  <p:stCondLst>
                                    <p:cond delay="0"/>
                                  </p:stCondLst>
                                  <p:childTnLst>
                                    <p:animEffect transition="out" filter="fade">
                                      <p:cBhvr>
                                        <p:cTn id="44" dur="500"/>
                                        <p:tgtEl>
                                          <p:spTgt spid="142"/>
                                        </p:tgtEl>
                                      </p:cBhvr>
                                    </p:animEffect>
                                    <p:set>
                                      <p:cBhvr>
                                        <p:cTn id="45" dur="1" fill="hold">
                                          <p:stCondLst>
                                            <p:cond delay="499"/>
                                          </p:stCondLst>
                                        </p:cTn>
                                        <p:tgtEl>
                                          <p:spTgt spid="142"/>
                                        </p:tgtEl>
                                        <p:attrNameLst>
                                          <p:attrName>style.visibility</p:attrName>
                                        </p:attrNameLst>
                                      </p:cBhvr>
                                      <p:to>
                                        <p:strVal val="hidden"/>
                                      </p:to>
                                    </p:set>
                                  </p:childTnLst>
                                </p:cTn>
                              </p:par>
                            </p:childTnLst>
                          </p:cTn>
                        </p:par>
                        <p:par>
                          <p:cTn id="46" fill="hold">
                            <p:stCondLst>
                              <p:cond delay="4000"/>
                            </p:stCondLst>
                            <p:childTnLst>
                              <p:par>
                                <p:cTn id="47" presetID="10" presetClass="exit" presetSubtype="0" fill="hold" nodeType="afterEffect">
                                  <p:stCondLst>
                                    <p:cond delay="0"/>
                                  </p:stCondLst>
                                  <p:childTnLst>
                                    <p:animEffect transition="out" filter="fade">
                                      <p:cBhvr>
                                        <p:cTn id="48" dur="500"/>
                                        <p:tgtEl>
                                          <p:spTgt spid="4"/>
                                        </p:tgtEl>
                                      </p:cBhvr>
                                    </p:animEffect>
                                    <p:set>
                                      <p:cBhvr>
                                        <p:cTn id="49" dur="1" fill="hold">
                                          <p:stCondLst>
                                            <p:cond delay="499"/>
                                          </p:stCondLst>
                                        </p:cTn>
                                        <p:tgtEl>
                                          <p:spTgt spid="4"/>
                                        </p:tgtEl>
                                        <p:attrNameLst>
                                          <p:attrName>style.visibility</p:attrName>
                                        </p:attrNameLst>
                                      </p:cBhvr>
                                      <p:to>
                                        <p:strVal val="hidden"/>
                                      </p:to>
                                    </p:set>
                                  </p:childTnLst>
                                </p:cTn>
                              </p:par>
                            </p:childTnLst>
                          </p:cTn>
                        </p:par>
                        <p:par>
                          <p:cTn id="50" fill="hold">
                            <p:stCondLst>
                              <p:cond delay="4500"/>
                            </p:stCondLst>
                            <p:childTnLst>
                              <p:par>
                                <p:cTn id="51" presetID="10" presetClass="entr" presetSubtype="0" fill="hold" nodeType="afterEffect">
                                  <p:stCondLst>
                                    <p:cond delay="0"/>
                                  </p:stCondLst>
                                  <p:childTnLst>
                                    <p:set>
                                      <p:cBhvr>
                                        <p:cTn id="52" dur="1" fill="hold">
                                          <p:stCondLst>
                                            <p:cond delay="0"/>
                                          </p:stCondLst>
                                        </p:cTn>
                                        <p:tgtEl>
                                          <p:spTgt spid="126"/>
                                        </p:tgtEl>
                                        <p:attrNameLst>
                                          <p:attrName>style.visibility</p:attrName>
                                        </p:attrNameLst>
                                      </p:cBhvr>
                                      <p:to>
                                        <p:strVal val="visible"/>
                                      </p:to>
                                    </p:set>
                                    <p:animEffect transition="in" filter="fade">
                                      <p:cBhvr>
                                        <p:cTn id="53" dur="500"/>
                                        <p:tgtEl>
                                          <p:spTgt spid="12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08"/>
                                        </p:tgtEl>
                                        <p:attrNameLst>
                                          <p:attrName>style.visibility</p:attrName>
                                        </p:attrNameLst>
                                      </p:cBhvr>
                                      <p:to>
                                        <p:strVal val="visible"/>
                                      </p:to>
                                    </p:set>
                                    <p:animEffect transition="in" filter="fade">
                                      <p:cBhvr>
                                        <p:cTn id="56" dur="500"/>
                                        <p:tgtEl>
                                          <p:spTgt spid="108"/>
                                        </p:tgtEl>
                                      </p:cBhvr>
                                    </p:animEffect>
                                  </p:childTnLst>
                                </p:cTn>
                              </p:par>
                            </p:childTnLst>
                          </p:cTn>
                        </p:par>
                        <p:par>
                          <p:cTn id="57" fill="hold">
                            <p:stCondLst>
                              <p:cond delay="5000"/>
                            </p:stCondLst>
                            <p:childTnLst>
                              <p:par>
                                <p:cTn id="58" presetID="10" presetClass="entr" presetSubtype="0" fill="hold" nodeType="afterEffect">
                                  <p:stCondLst>
                                    <p:cond delay="0"/>
                                  </p:stCondLst>
                                  <p:childTnLst>
                                    <p:set>
                                      <p:cBhvr>
                                        <p:cTn id="59" dur="1" fill="hold">
                                          <p:stCondLst>
                                            <p:cond delay="0"/>
                                          </p:stCondLst>
                                        </p:cTn>
                                        <p:tgtEl>
                                          <p:spTgt spid="111"/>
                                        </p:tgtEl>
                                        <p:attrNameLst>
                                          <p:attrName>style.visibility</p:attrName>
                                        </p:attrNameLst>
                                      </p:cBhvr>
                                      <p:to>
                                        <p:strVal val="visible"/>
                                      </p:to>
                                    </p:set>
                                    <p:animEffect transition="in" filter="fade">
                                      <p:cBhvr>
                                        <p:cTn id="60" dur="500"/>
                                        <p:tgtEl>
                                          <p:spTgt spid="111"/>
                                        </p:tgtEl>
                                      </p:cBhvr>
                                    </p:animEffect>
                                  </p:childTnLst>
                                </p:cTn>
                              </p:par>
                              <p:par>
                                <p:cTn id="61" presetID="0" presetClass="path" presetSubtype="0" accel="50000" decel="50000" fill="hold" nodeType="withEffect">
                                  <p:stCondLst>
                                    <p:cond delay="0"/>
                                  </p:stCondLst>
                                  <p:childTnLst>
                                    <p:animMotion origin="layout" path="M -1.38889E-6 -2.59259E-6 L 0.26545 -0.01142 " pathEditMode="relative" rAng="0" ptsTypes="AA">
                                      <p:cBhvr>
                                        <p:cTn id="62" dur="2000" fill="hold"/>
                                        <p:tgtEl>
                                          <p:spTgt spid="111"/>
                                        </p:tgtEl>
                                        <p:attrNameLst>
                                          <p:attrName>ppt_x</p:attrName>
                                          <p:attrName>ppt_y</p:attrName>
                                        </p:attrNameLst>
                                      </p:cBhvr>
                                      <p:rCtr x="13264" y="-586"/>
                                    </p:animMotion>
                                  </p:childTnLst>
                                </p:cTn>
                              </p:par>
                              <p:par>
                                <p:cTn id="63" presetID="10" presetClass="entr" presetSubtype="0" fill="hold" nodeType="withEffect">
                                  <p:stCondLst>
                                    <p:cond delay="0"/>
                                  </p:stCondLst>
                                  <p:childTnLst>
                                    <p:set>
                                      <p:cBhvr>
                                        <p:cTn id="64" dur="1" fill="hold">
                                          <p:stCondLst>
                                            <p:cond delay="0"/>
                                          </p:stCondLst>
                                        </p:cTn>
                                        <p:tgtEl>
                                          <p:spTgt spid="127"/>
                                        </p:tgtEl>
                                        <p:attrNameLst>
                                          <p:attrName>style.visibility</p:attrName>
                                        </p:attrNameLst>
                                      </p:cBhvr>
                                      <p:to>
                                        <p:strVal val="visible"/>
                                      </p:to>
                                    </p:set>
                                    <p:animEffect transition="in" filter="fade">
                                      <p:cBhvr>
                                        <p:cTn id="65" dur="500"/>
                                        <p:tgtEl>
                                          <p:spTgt spid="127"/>
                                        </p:tgtEl>
                                      </p:cBhvr>
                                    </p:animEffect>
                                  </p:childTnLst>
                                </p:cTn>
                              </p:par>
                            </p:childTnLst>
                          </p:cTn>
                        </p:par>
                        <p:par>
                          <p:cTn id="66" fill="hold">
                            <p:stCondLst>
                              <p:cond delay="7000"/>
                            </p:stCondLst>
                            <p:childTnLst>
                              <p:par>
                                <p:cTn id="67" presetID="10" presetClass="exit" presetSubtype="0" fill="hold" grpId="1" nodeType="afterEffect">
                                  <p:stCondLst>
                                    <p:cond delay="0"/>
                                  </p:stCondLst>
                                  <p:childTnLst>
                                    <p:animEffect transition="out" filter="fade">
                                      <p:cBhvr>
                                        <p:cTn id="68" dur="500"/>
                                        <p:tgtEl>
                                          <p:spTgt spid="108"/>
                                        </p:tgtEl>
                                      </p:cBhvr>
                                    </p:animEffect>
                                    <p:set>
                                      <p:cBhvr>
                                        <p:cTn id="69" dur="1" fill="hold">
                                          <p:stCondLst>
                                            <p:cond delay="499"/>
                                          </p:stCondLst>
                                        </p:cTn>
                                        <p:tgtEl>
                                          <p:spTgt spid="108"/>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500"/>
                                        <p:tgtEl>
                                          <p:spTgt spid="126"/>
                                        </p:tgtEl>
                                      </p:cBhvr>
                                    </p:animEffect>
                                    <p:set>
                                      <p:cBhvr>
                                        <p:cTn id="72" dur="1" fill="hold">
                                          <p:stCondLst>
                                            <p:cond delay="499"/>
                                          </p:stCondLst>
                                        </p:cTn>
                                        <p:tgtEl>
                                          <p:spTgt spid="126"/>
                                        </p:tgtEl>
                                        <p:attrNameLst>
                                          <p:attrName>style.visibility</p:attrName>
                                        </p:attrNameLst>
                                      </p:cBhvr>
                                      <p:to>
                                        <p:strVal val="hidden"/>
                                      </p:to>
                                    </p:set>
                                  </p:childTnLst>
                                </p:cTn>
                              </p:par>
                            </p:childTnLst>
                          </p:cTn>
                        </p:par>
                        <p:par>
                          <p:cTn id="73" fill="hold">
                            <p:stCondLst>
                              <p:cond delay="7500"/>
                            </p:stCondLst>
                            <p:childTnLst>
                              <p:par>
                                <p:cTn id="74" presetID="10" presetClass="entr" presetSubtype="0" fill="hold" grpId="0" nodeType="afterEffect">
                                  <p:stCondLst>
                                    <p:cond delay="0"/>
                                  </p:stCondLst>
                                  <p:childTnLst>
                                    <p:set>
                                      <p:cBhvr>
                                        <p:cTn id="75" dur="1" fill="hold">
                                          <p:stCondLst>
                                            <p:cond delay="0"/>
                                          </p:stCondLst>
                                        </p:cTn>
                                        <p:tgtEl>
                                          <p:spTgt spid="141"/>
                                        </p:tgtEl>
                                        <p:attrNameLst>
                                          <p:attrName>style.visibility</p:attrName>
                                        </p:attrNameLst>
                                      </p:cBhvr>
                                      <p:to>
                                        <p:strVal val="visible"/>
                                      </p:to>
                                    </p:set>
                                    <p:animEffect transition="in" filter="fade">
                                      <p:cBhvr>
                                        <p:cTn id="76" dur="500"/>
                                        <p:tgtEl>
                                          <p:spTgt spid="141"/>
                                        </p:tgtEl>
                                      </p:cBhvr>
                                    </p:animEffect>
                                  </p:childTnLst>
                                </p:cTn>
                              </p:par>
                              <p:par>
                                <p:cTn id="77" presetID="10" presetClass="entr" presetSubtype="0" fill="hold" nodeType="withEffect">
                                  <p:stCondLst>
                                    <p:cond delay="0"/>
                                  </p:stCondLst>
                                  <p:childTnLst>
                                    <p:set>
                                      <p:cBhvr>
                                        <p:cTn id="78" dur="1" fill="hold">
                                          <p:stCondLst>
                                            <p:cond delay="0"/>
                                          </p:stCondLst>
                                        </p:cTn>
                                        <p:tgtEl>
                                          <p:spTgt spid="139"/>
                                        </p:tgtEl>
                                        <p:attrNameLst>
                                          <p:attrName>style.visibility</p:attrName>
                                        </p:attrNameLst>
                                      </p:cBhvr>
                                      <p:to>
                                        <p:strVal val="visible"/>
                                      </p:to>
                                    </p:set>
                                    <p:animEffect transition="in" filter="fade">
                                      <p:cBhvr>
                                        <p:cTn id="79" dur="500"/>
                                        <p:tgtEl>
                                          <p:spTgt spid="139"/>
                                        </p:tgtEl>
                                      </p:cBhvr>
                                    </p:animEffect>
                                  </p:childTnLst>
                                </p:cTn>
                              </p:par>
                            </p:childTnLst>
                          </p:cTn>
                        </p:par>
                        <p:par>
                          <p:cTn id="80" fill="hold">
                            <p:stCondLst>
                              <p:cond delay="8000"/>
                            </p:stCondLst>
                            <p:childTnLst>
                              <p:par>
                                <p:cTn id="81" presetID="10" presetClass="entr" presetSubtype="0" fill="hold" nodeType="afterEffect">
                                  <p:stCondLst>
                                    <p:cond delay="0"/>
                                  </p:stCondLst>
                                  <p:childTnLst>
                                    <p:set>
                                      <p:cBhvr>
                                        <p:cTn id="82" dur="1" fill="hold">
                                          <p:stCondLst>
                                            <p:cond delay="0"/>
                                          </p:stCondLst>
                                        </p:cTn>
                                        <p:tgtEl>
                                          <p:spTgt spid="131"/>
                                        </p:tgtEl>
                                        <p:attrNameLst>
                                          <p:attrName>style.visibility</p:attrName>
                                        </p:attrNameLst>
                                      </p:cBhvr>
                                      <p:to>
                                        <p:strVal val="visible"/>
                                      </p:to>
                                    </p:set>
                                    <p:animEffect transition="in" filter="fade">
                                      <p:cBhvr>
                                        <p:cTn id="83" dur="500"/>
                                        <p:tgtEl>
                                          <p:spTgt spid="131"/>
                                        </p:tgtEl>
                                      </p:cBhvr>
                                    </p:animEffect>
                                  </p:childTnLst>
                                </p:cTn>
                              </p:par>
                              <p:par>
                                <p:cTn id="84" presetID="0" presetClass="path" presetSubtype="0" accel="50000" decel="50000" fill="hold" nodeType="withEffect">
                                  <p:stCondLst>
                                    <p:cond delay="0"/>
                                  </p:stCondLst>
                                  <p:childTnLst>
                                    <p:animMotion origin="layout" path="M -1.38889E-6 1.48148E-6 L 0.2658 -0.01482 " pathEditMode="relative" rAng="0" ptsTypes="AA">
                                      <p:cBhvr>
                                        <p:cTn id="85" dur="2000" fill="hold"/>
                                        <p:tgtEl>
                                          <p:spTgt spid="131"/>
                                        </p:tgtEl>
                                        <p:attrNameLst>
                                          <p:attrName>ppt_x</p:attrName>
                                          <p:attrName>ppt_y</p:attrName>
                                        </p:attrNameLst>
                                      </p:cBhvr>
                                      <p:rCtr x="13281" y="-741"/>
                                    </p:animMotion>
                                  </p:childTnLst>
                                </p:cTn>
                              </p:par>
                              <p:par>
                                <p:cTn id="86" presetID="10" presetClass="entr" presetSubtype="0" fill="hold" nodeType="withEffect">
                                  <p:stCondLst>
                                    <p:cond delay="0"/>
                                  </p:stCondLst>
                                  <p:childTnLst>
                                    <p:set>
                                      <p:cBhvr>
                                        <p:cTn id="87" dur="1" fill="hold">
                                          <p:stCondLst>
                                            <p:cond delay="0"/>
                                          </p:stCondLst>
                                        </p:cTn>
                                        <p:tgtEl>
                                          <p:spTgt spid="136"/>
                                        </p:tgtEl>
                                        <p:attrNameLst>
                                          <p:attrName>style.visibility</p:attrName>
                                        </p:attrNameLst>
                                      </p:cBhvr>
                                      <p:to>
                                        <p:strVal val="visible"/>
                                      </p:to>
                                    </p:set>
                                    <p:animEffect transition="in" filter="fade">
                                      <p:cBhvr>
                                        <p:cTn id="88" dur="500"/>
                                        <p:tgtEl>
                                          <p:spTgt spid="136"/>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iterate type="lt">
                                    <p:tmPct val="0"/>
                                  </p:iterate>
                                  <p:childTnLst>
                                    <p:set>
                                      <p:cBhvr>
                                        <p:cTn id="92" dur="1" fill="hold">
                                          <p:stCondLst>
                                            <p:cond delay="0"/>
                                          </p:stCondLst>
                                        </p:cTn>
                                        <p:tgtEl>
                                          <p:spTgt spid="179">
                                            <p:txEl>
                                              <p:pRg st="0" end="0"/>
                                            </p:txEl>
                                          </p:spTgt>
                                        </p:tgtEl>
                                        <p:attrNameLst>
                                          <p:attrName>style.visibility</p:attrName>
                                        </p:attrNameLst>
                                      </p:cBhvr>
                                      <p:to>
                                        <p:strVal val="visible"/>
                                      </p:to>
                                    </p:set>
                                    <p:animEffect transition="in" filter="fade">
                                      <p:cBhvr>
                                        <p:cTn id="93" dur="500"/>
                                        <p:tgtEl>
                                          <p:spTgt spid="179">
                                            <p:txEl>
                                              <p:pRg st="0" end="0"/>
                                            </p:txEl>
                                          </p:spTgt>
                                        </p:tgtEl>
                                      </p:cBhvr>
                                    </p:animEffect>
                                  </p:childTnLst>
                                </p:cTn>
                              </p:par>
                              <p:par>
                                <p:cTn id="94" presetID="10" presetClass="entr" presetSubtype="0" fill="hold" grpId="0" nodeType="withEffect">
                                  <p:stCondLst>
                                    <p:cond delay="0"/>
                                  </p:stCondLst>
                                  <p:iterate type="lt">
                                    <p:tmPct val="0"/>
                                  </p:iterate>
                                  <p:childTnLst>
                                    <p:set>
                                      <p:cBhvr>
                                        <p:cTn id="95" dur="1" fill="hold">
                                          <p:stCondLst>
                                            <p:cond delay="0"/>
                                          </p:stCondLst>
                                        </p:cTn>
                                        <p:tgtEl>
                                          <p:spTgt spid="179">
                                            <p:txEl>
                                              <p:pRg st="1" end="1"/>
                                            </p:txEl>
                                          </p:spTgt>
                                        </p:tgtEl>
                                        <p:attrNameLst>
                                          <p:attrName>style.visibility</p:attrName>
                                        </p:attrNameLst>
                                      </p:cBhvr>
                                      <p:to>
                                        <p:strVal val="visible"/>
                                      </p:to>
                                    </p:set>
                                    <p:animEffect transition="in" filter="fade">
                                      <p:cBhvr>
                                        <p:cTn id="96" dur="500"/>
                                        <p:tgtEl>
                                          <p:spTgt spid="179">
                                            <p:txEl>
                                              <p:pRg st="1" end="1"/>
                                            </p:txEl>
                                          </p:spTgt>
                                        </p:tgtEl>
                                      </p:cBhvr>
                                    </p:animEffect>
                                  </p:childTnLst>
                                </p:cTn>
                              </p:par>
                              <p:par>
                                <p:cTn id="97" presetID="10" presetClass="entr" presetSubtype="0" fill="hold" grpId="0" nodeType="withEffect">
                                  <p:stCondLst>
                                    <p:cond delay="0"/>
                                  </p:stCondLst>
                                  <p:iterate type="lt">
                                    <p:tmPct val="0"/>
                                  </p:iterate>
                                  <p:childTnLst>
                                    <p:set>
                                      <p:cBhvr>
                                        <p:cTn id="98" dur="1" fill="hold">
                                          <p:stCondLst>
                                            <p:cond delay="0"/>
                                          </p:stCondLst>
                                        </p:cTn>
                                        <p:tgtEl>
                                          <p:spTgt spid="179">
                                            <p:txEl>
                                              <p:pRg st="2" end="2"/>
                                            </p:txEl>
                                          </p:spTgt>
                                        </p:tgtEl>
                                        <p:attrNameLst>
                                          <p:attrName>style.visibility</p:attrName>
                                        </p:attrNameLst>
                                      </p:cBhvr>
                                      <p:to>
                                        <p:strVal val="visible"/>
                                      </p:to>
                                    </p:set>
                                    <p:animEffect transition="in" filter="fade">
                                      <p:cBhvr>
                                        <p:cTn id="99" dur="500"/>
                                        <p:tgtEl>
                                          <p:spTgt spid="1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p:bldP spid="142" grpId="1"/>
      <p:bldP spid="179" grpId="0" build="allAtOnce"/>
      <p:bldP spid="108" grpId="0"/>
      <p:bldP spid="108" grpId="1"/>
      <p:bldP spid="14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Picture 53">
            <a:extLst>
              <a:ext uri="{FF2B5EF4-FFF2-40B4-BE49-F238E27FC236}">
                <a16:creationId xmlns:a16="http://schemas.microsoft.com/office/drawing/2014/main" id="{1992D8E3-B491-3346-B9AD-0ED8166F66D9}"/>
              </a:ext>
            </a:extLst>
          </p:cNvPr>
          <p:cNvPicPr>
            <a:picLocks noChangeAspect="1"/>
          </p:cNvPicPr>
          <p:nvPr/>
        </p:nvPicPr>
        <p:blipFill>
          <a:blip r:embed="rId3"/>
          <a:stretch>
            <a:fillRect/>
          </a:stretch>
        </p:blipFill>
        <p:spPr>
          <a:xfrm>
            <a:off x="0" y="1208618"/>
            <a:ext cx="4607153" cy="1971040"/>
          </a:xfrm>
          <a:prstGeom prst="rect">
            <a:avLst/>
          </a:prstGeom>
        </p:spPr>
      </p:pic>
      <p:pic>
        <p:nvPicPr>
          <p:cNvPr id="55" name="Picture 54">
            <a:extLst>
              <a:ext uri="{FF2B5EF4-FFF2-40B4-BE49-F238E27FC236}">
                <a16:creationId xmlns:a16="http://schemas.microsoft.com/office/drawing/2014/main" id="{82AD409F-3882-D14A-98F6-64F1481BBFA7}"/>
              </a:ext>
            </a:extLst>
          </p:cNvPr>
          <p:cNvPicPr>
            <a:picLocks noChangeAspect="1"/>
          </p:cNvPicPr>
          <p:nvPr/>
        </p:nvPicPr>
        <p:blipFill>
          <a:blip r:embed="rId4"/>
          <a:stretch>
            <a:fillRect/>
          </a:stretch>
        </p:blipFill>
        <p:spPr>
          <a:xfrm>
            <a:off x="0" y="3048001"/>
            <a:ext cx="4607153" cy="2095500"/>
          </a:xfrm>
          <a:prstGeom prst="rect">
            <a:avLst/>
          </a:prstGeom>
        </p:spPr>
      </p:pic>
      <p:cxnSp>
        <p:nvCxnSpPr>
          <p:cNvPr id="56" name="Straight Connector 55">
            <a:extLst>
              <a:ext uri="{FF2B5EF4-FFF2-40B4-BE49-F238E27FC236}">
                <a16:creationId xmlns:a16="http://schemas.microsoft.com/office/drawing/2014/main" id="{58DDB6BE-6EE8-4245-B76C-8541C1C9648A}"/>
              </a:ext>
            </a:extLst>
          </p:cNvPr>
          <p:cNvCxnSpPr>
            <a:cxnSpLocks/>
          </p:cNvCxnSpPr>
          <p:nvPr/>
        </p:nvCxnSpPr>
        <p:spPr>
          <a:xfrm>
            <a:off x="798480" y="3264202"/>
            <a:ext cx="179096" cy="0"/>
          </a:xfrm>
          <a:prstGeom prst="line">
            <a:avLst/>
          </a:prstGeom>
          <a:ln w="38100">
            <a:solidFill>
              <a:srgbClr val="1F77B5"/>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7BE1582-209E-F648-86CE-9DC767AC68D4}"/>
              </a:ext>
            </a:extLst>
          </p:cNvPr>
          <p:cNvSpPr txBox="1"/>
          <p:nvPr/>
        </p:nvSpPr>
        <p:spPr>
          <a:xfrm>
            <a:off x="989451" y="3122480"/>
            <a:ext cx="622286" cy="246221"/>
          </a:xfrm>
          <a:prstGeom prst="rect">
            <a:avLst/>
          </a:prstGeom>
          <a:noFill/>
        </p:spPr>
        <p:txBody>
          <a:bodyPr wrap="square" rtlCol="0">
            <a:spAutoFit/>
          </a:bodyPr>
          <a:lstStyle/>
          <a:p>
            <a:r>
              <a:rPr lang="en-US" sz="1000" b="1" dirty="0">
                <a:solidFill>
                  <a:srgbClr val="1F77B5"/>
                </a:solidFill>
              </a:rPr>
              <a:t>Fulva</a:t>
            </a:r>
          </a:p>
        </p:txBody>
      </p:sp>
      <p:cxnSp>
        <p:nvCxnSpPr>
          <p:cNvPr id="58" name="Straight Connector 57">
            <a:extLst>
              <a:ext uri="{FF2B5EF4-FFF2-40B4-BE49-F238E27FC236}">
                <a16:creationId xmlns:a16="http://schemas.microsoft.com/office/drawing/2014/main" id="{EE5ADD72-9BDB-D748-A331-6A1C5DE13914}"/>
              </a:ext>
            </a:extLst>
          </p:cNvPr>
          <p:cNvCxnSpPr>
            <a:cxnSpLocks/>
          </p:cNvCxnSpPr>
          <p:nvPr/>
        </p:nvCxnSpPr>
        <p:spPr>
          <a:xfrm>
            <a:off x="798714" y="3444403"/>
            <a:ext cx="241863" cy="6448"/>
          </a:xfrm>
          <a:prstGeom prst="line">
            <a:avLst/>
          </a:prstGeom>
          <a:ln w="38100">
            <a:solidFill>
              <a:srgbClr val="29A12B"/>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A82D8CB4-487E-8745-987B-A8C2F4CCD11D}"/>
              </a:ext>
            </a:extLst>
          </p:cNvPr>
          <p:cNvSpPr txBox="1"/>
          <p:nvPr/>
        </p:nvSpPr>
        <p:spPr>
          <a:xfrm>
            <a:off x="981896" y="3311110"/>
            <a:ext cx="2454518" cy="246221"/>
          </a:xfrm>
          <a:prstGeom prst="rect">
            <a:avLst/>
          </a:prstGeom>
          <a:noFill/>
        </p:spPr>
        <p:txBody>
          <a:bodyPr wrap="square" rtlCol="0">
            <a:spAutoFit/>
          </a:bodyPr>
          <a:lstStyle/>
          <a:p>
            <a:r>
              <a:rPr lang="en-US" sz="1000" b="1" dirty="0">
                <a:solidFill>
                  <a:srgbClr val="29A12B"/>
                </a:solidFill>
              </a:rPr>
              <a:t>Destination-driven approach</a:t>
            </a:r>
          </a:p>
        </p:txBody>
      </p:sp>
      <p:cxnSp>
        <p:nvCxnSpPr>
          <p:cNvPr id="60" name="Straight Connector 59">
            <a:extLst>
              <a:ext uri="{FF2B5EF4-FFF2-40B4-BE49-F238E27FC236}">
                <a16:creationId xmlns:a16="http://schemas.microsoft.com/office/drawing/2014/main" id="{876C81D4-F011-8E4E-8DED-F4212A81F831}"/>
              </a:ext>
            </a:extLst>
          </p:cNvPr>
          <p:cNvCxnSpPr>
            <a:cxnSpLocks/>
          </p:cNvCxnSpPr>
          <p:nvPr/>
        </p:nvCxnSpPr>
        <p:spPr>
          <a:xfrm>
            <a:off x="798480" y="3626330"/>
            <a:ext cx="223243" cy="0"/>
          </a:xfrm>
          <a:prstGeom prst="line">
            <a:avLst/>
          </a:prstGeom>
          <a:ln w="38100">
            <a:solidFill>
              <a:srgbClr val="FF7F0B"/>
            </a:solidFill>
            <a:prstDash val="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E3064F42-564A-8541-BF3E-FF62E696C76A}"/>
              </a:ext>
            </a:extLst>
          </p:cNvPr>
          <p:cNvSpPr txBox="1"/>
          <p:nvPr/>
        </p:nvSpPr>
        <p:spPr>
          <a:xfrm>
            <a:off x="977576" y="3494066"/>
            <a:ext cx="2108269" cy="246221"/>
          </a:xfrm>
          <a:prstGeom prst="rect">
            <a:avLst/>
          </a:prstGeom>
          <a:noFill/>
        </p:spPr>
        <p:txBody>
          <a:bodyPr wrap="square" rtlCol="0">
            <a:spAutoFit/>
          </a:bodyPr>
          <a:lstStyle/>
          <a:p>
            <a:r>
              <a:rPr lang="en-US" sz="1000" b="1" dirty="0">
                <a:solidFill>
                  <a:srgbClr val="FF7F0B"/>
                </a:solidFill>
              </a:rPr>
              <a:t>Source-driven approach</a:t>
            </a:r>
          </a:p>
        </p:txBody>
      </p:sp>
      <p:graphicFrame>
        <p:nvGraphicFramePr>
          <p:cNvPr id="5" name="Google Shape;1459;g6254bb81a6_0_4">
            <a:extLst>
              <a:ext uri="{FF2B5EF4-FFF2-40B4-BE49-F238E27FC236}">
                <a16:creationId xmlns:a16="http://schemas.microsoft.com/office/drawing/2014/main" id="{DCE6AB36-062C-8140-8DFB-3B8A4100EC1B}"/>
              </a:ext>
            </a:extLst>
          </p:cNvPr>
          <p:cNvGraphicFramePr/>
          <p:nvPr>
            <p:extLst>
              <p:ext uri="{D42A27DB-BD31-4B8C-83A1-F6EECF244321}">
                <p14:modId xmlns:p14="http://schemas.microsoft.com/office/powerpoint/2010/main" val="299718521"/>
              </p:ext>
            </p:extLst>
          </p:nvPr>
        </p:nvGraphicFramePr>
        <p:xfrm>
          <a:off x="4619028" y="3161544"/>
          <a:ext cx="4178388" cy="1889640"/>
        </p:xfrm>
        <a:graphic>
          <a:graphicData uri="http://schemas.openxmlformats.org/drawingml/2006/table">
            <a:tbl>
              <a:tblPr>
                <a:noFill/>
                <a:tableStyleId>{792F84B4-0B30-445A-B3BC-8A7FA9196EF1}</a:tableStyleId>
              </a:tblPr>
              <a:tblGrid>
                <a:gridCol w="1116030">
                  <a:extLst>
                    <a:ext uri="{9D8B030D-6E8A-4147-A177-3AD203B41FA5}">
                      <a16:colId xmlns:a16="http://schemas.microsoft.com/office/drawing/2014/main" val="20000"/>
                    </a:ext>
                  </a:extLst>
                </a:gridCol>
                <a:gridCol w="812356">
                  <a:extLst>
                    <a:ext uri="{9D8B030D-6E8A-4147-A177-3AD203B41FA5}">
                      <a16:colId xmlns:a16="http://schemas.microsoft.com/office/drawing/2014/main" val="20001"/>
                    </a:ext>
                  </a:extLst>
                </a:gridCol>
                <a:gridCol w="835757">
                  <a:extLst>
                    <a:ext uri="{9D8B030D-6E8A-4147-A177-3AD203B41FA5}">
                      <a16:colId xmlns:a16="http://schemas.microsoft.com/office/drawing/2014/main" val="20002"/>
                    </a:ext>
                  </a:extLst>
                </a:gridCol>
                <a:gridCol w="578568">
                  <a:extLst>
                    <a:ext uri="{9D8B030D-6E8A-4147-A177-3AD203B41FA5}">
                      <a16:colId xmlns:a16="http://schemas.microsoft.com/office/drawing/2014/main" val="3933671943"/>
                    </a:ext>
                  </a:extLst>
                </a:gridCol>
                <a:gridCol w="835677">
                  <a:extLst>
                    <a:ext uri="{9D8B030D-6E8A-4147-A177-3AD203B41FA5}">
                      <a16:colId xmlns:a16="http://schemas.microsoft.com/office/drawing/2014/main" val="2440186643"/>
                    </a:ext>
                  </a:extLst>
                </a:gridCol>
              </a:tblGrid>
              <a:tr h="243458">
                <a:tc>
                  <a:txBody>
                    <a:bodyPr/>
                    <a:lstStyle/>
                    <a:p>
                      <a:pPr marL="0" lvl="0" indent="0" algn="l" rtl="0">
                        <a:spcBef>
                          <a:spcPts val="0"/>
                        </a:spcBef>
                        <a:spcAft>
                          <a:spcPts val="0"/>
                        </a:spcAft>
                        <a:buNone/>
                      </a:pPr>
                      <a:endParaRPr dirty="0"/>
                    </a:p>
                  </a:txBody>
                  <a:tcPr marL="91425" marR="91425" marT="91425" marB="91425"/>
                </a:tc>
                <a:tc gridSpan="2">
                  <a:txBody>
                    <a:bodyPr/>
                    <a:lstStyle/>
                    <a:p>
                      <a:pPr marL="0" lvl="0" indent="0" algn="ctr" rtl="0">
                        <a:spcBef>
                          <a:spcPts val="0"/>
                        </a:spcBef>
                        <a:spcAft>
                          <a:spcPts val="0"/>
                        </a:spcAft>
                        <a:buNone/>
                      </a:pPr>
                      <a:r>
                        <a:rPr lang="en-US" sz="1000" dirty="0"/>
                        <a:t>Read Mean </a:t>
                      </a:r>
                    </a:p>
                    <a:p>
                      <a:pPr marL="0" lvl="0" indent="0" algn="ctr" rtl="0">
                        <a:spcBef>
                          <a:spcPts val="0"/>
                        </a:spcBef>
                        <a:spcAft>
                          <a:spcPts val="0"/>
                        </a:spcAft>
                        <a:buNone/>
                      </a:pPr>
                      <a:r>
                        <a:rPr lang="en-US" sz="1000" dirty="0"/>
                        <a:t>Latency (µs)</a:t>
                      </a:r>
                      <a:endParaRPr sz="1000" dirty="0"/>
                    </a:p>
                  </a:txBody>
                  <a:tcPr marL="91425" marR="91425" marT="91425" marB="91425"/>
                </a:tc>
                <a:tc hMerge="1">
                  <a:txBody>
                    <a:bodyPr/>
                    <a:lstStyle/>
                    <a:p>
                      <a:endParaRPr lang="en-US"/>
                    </a:p>
                  </a:txBody>
                  <a:tcPr/>
                </a:tc>
                <a:tc gridSpan="2">
                  <a:txBody>
                    <a:bodyPr/>
                    <a:lstStyle/>
                    <a:p>
                      <a:pPr marL="0" lvl="0" indent="0" algn="ctr" rtl="0">
                        <a:spcBef>
                          <a:spcPts val="0"/>
                        </a:spcBef>
                        <a:spcAft>
                          <a:spcPts val="0"/>
                        </a:spcAft>
                        <a:buNone/>
                      </a:pPr>
                      <a:r>
                        <a:rPr lang="en-US" sz="1000" dirty="0"/>
                        <a:t>Write Mean </a:t>
                      </a:r>
                    </a:p>
                    <a:p>
                      <a:pPr marL="0" lvl="0" indent="0" algn="ctr" rtl="0">
                        <a:spcBef>
                          <a:spcPts val="0"/>
                        </a:spcBef>
                        <a:spcAft>
                          <a:spcPts val="0"/>
                        </a:spcAft>
                        <a:buNone/>
                      </a:pPr>
                      <a:r>
                        <a:rPr lang="en-US" sz="1000" dirty="0"/>
                        <a:t>Latency (µs)</a:t>
                      </a:r>
                      <a:endParaRPr sz="1000" dirty="0"/>
                    </a:p>
                  </a:txBody>
                  <a:tcPr marL="91425" marR="91425" marT="91425" marB="91425"/>
                </a:tc>
                <a:tc hMerge="1">
                  <a:txBody>
                    <a:bodyPr/>
                    <a:lstStyle/>
                    <a:p>
                      <a:pPr marL="0" lvl="0" indent="0" algn="ctr" rtl="0">
                        <a:spcBef>
                          <a:spcPts val="0"/>
                        </a:spcBef>
                        <a:spcAft>
                          <a:spcPts val="0"/>
                        </a:spcAft>
                        <a:buNone/>
                      </a:pPr>
                      <a:endParaRPr dirty="0"/>
                    </a:p>
                  </a:txBody>
                  <a:tcPr marL="91425" marR="91425" marT="91425" marB="91425"/>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endParaRPr dirty="0"/>
                    </a:p>
                  </a:txBody>
                  <a:tcPr marL="91425" marR="91425" marT="91425" marB="91425"/>
                </a:tc>
                <a:tc>
                  <a:txBody>
                    <a:bodyPr/>
                    <a:lstStyle/>
                    <a:p>
                      <a:pPr marL="0" lvl="0" indent="0" algn="ctr" rtl="0">
                        <a:spcBef>
                          <a:spcPts val="0"/>
                        </a:spcBef>
                        <a:spcAft>
                          <a:spcPts val="0"/>
                        </a:spcAft>
                        <a:buNone/>
                      </a:pPr>
                      <a:r>
                        <a:rPr lang="en-US" sz="1000" dirty="0"/>
                        <a:t>source</a:t>
                      </a:r>
                      <a:endParaRPr sz="1000" dirty="0"/>
                    </a:p>
                  </a:txBody>
                  <a:tcPr marL="91425" marR="91425" marT="91425" marB="91425"/>
                </a:tc>
                <a:tc>
                  <a:txBody>
                    <a:bodyPr/>
                    <a:lstStyle/>
                    <a:p>
                      <a:pPr marL="0" lvl="0" indent="0" algn="ctr" rtl="0">
                        <a:spcBef>
                          <a:spcPts val="0"/>
                        </a:spcBef>
                        <a:spcAft>
                          <a:spcPts val="0"/>
                        </a:spcAft>
                        <a:buNone/>
                      </a:pPr>
                      <a:r>
                        <a:rPr lang="en-US" sz="1000" dirty="0"/>
                        <a:t>destination</a:t>
                      </a:r>
                      <a:endParaRPr sz="1000" dirty="0"/>
                    </a:p>
                  </a:txBody>
                  <a:tcPr marL="91425" marR="91425" marT="91425" marB="91425"/>
                </a:tc>
                <a:tc>
                  <a:txBody>
                    <a:bodyPr/>
                    <a:lstStyle/>
                    <a:p>
                      <a:pPr marL="0" lvl="0" indent="0" algn="ctr" rtl="0">
                        <a:spcBef>
                          <a:spcPts val="0"/>
                        </a:spcBef>
                        <a:spcAft>
                          <a:spcPts val="0"/>
                        </a:spcAft>
                        <a:buNone/>
                      </a:pPr>
                      <a:r>
                        <a:rPr lang="en-US" sz="1000" dirty="0"/>
                        <a:t>source</a:t>
                      </a:r>
                      <a:endParaRPr sz="1000" dirty="0"/>
                    </a:p>
                  </a:txBody>
                  <a:tcPr marL="91425" marR="91425" marT="91425" marB="91425"/>
                </a:tc>
                <a:tc>
                  <a:txBody>
                    <a:bodyPr/>
                    <a:lstStyle/>
                    <a:p>
                      <a:pPr marL="0" lvl="0" indent="0" algn="ctr" rtl="0">
                        <a:spcBef>
                          <a:spcPts val="0"/>
                        </a:spcBef>
                        <a:spcAft>
                          <a:spcPts val="0"/>
                        </a:spcAft>
                        <a:buNone/>
                      </a:pPr>
                      <a:r>
                        <a:rPr lang="en-US" sz="1000" dirty="0"/>
                        <a:t>destination</a:t>
                      </a:r>
                      <a:endParaRPr sz="1000" dirty="0"/>
                    </a:p>
                  </a:txBody>
                  <a:tcPr marL="91425" marR="91425" marT="91425" marB="91425"/>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sz="1000" dirty="0"/>
                        <a:t>Before Migration</a:t>
                      </a:r>
                      <a:endParaRPr sz="1000" dirty="0"/>
                    </a:p>
                  </a:txBody>
                  <a:tcPr marL="91425" marR="91425" marT="91425" marB="91425"/>
                </a:tc>
                <a:tc>
                  <a:txBody>
                    <a:bodyPr/>
                    <a:lstStyle/>
                    <a:p>
                      <a:pPr marL="0" lvl="0" indent="0" algn="ctr" rtl="0">
                        <a:spcBef>
                          <a:spcPts val="0"/>
                        </a:spcBef>
                        <a:spcAft>
                          <a:spcPts val="0"/>
                        </a:spcAft>
                        <a:buNone/>
                      </a:pPr>
                      <a:r>
                        <a:rPr lang="en-US" sz="1200" dirty="0"/>
                        <a:t>18.14</a:t>
                      </a:r>
                    </a:p>
                    <a:p>
                      <a:pPr marL="0" lvl="0" indent="0" algn="ctr" rtl="0">
                        <a:spcBef>
                          <a:spcPts val="0"/>
                        </a:spcBef>
                        <a:spcAft>
                          <a:spcPts val="0"/>
                        </a:spcAft>
                        <a:buNone/>
                      </a:pPr>
                      <a:r>
                        <a:rPr lang="en-US" sz="900" dirty="0">
                          <a:solidFill>
                            <a:schemeClr val="bg2"/>
                          </a:solidFill>
                        </a:rPr>
                        <a:t>(1-400)</a:t>
                      </a:r>
                    </a:p>
                  </a:txBody>
                  <a:tcPr marL="91425" marR="91425" marT="91425" marB="91425"/>
                </a:tc>
                <a:tc>
                  <a:txBody>
                    <a:bodyPr/>
                    <a:lstStyle/>
                    <a:p>
                      <a:pPr marL="0" lvl="0" indent="0" algn="ctr" rtl="0">
                        <a:spcBef>
                          <a:spcPts val="0"/>
                        </a:spcBef>
                        <a:spcAft>
                          <a:spcPts val="0"/>
                        </a:spcAft>
                        <a:buNone/>
                      </a:pPr>
                      <a:r>
                        <a:rPr lang="en-US" sz="1200" dirty="0"/>
                        <a:t>N/A</a:t>
                      </a:r>
                      <a:endParaRPr sz="1200" dirty="0"/>
                    </a:p>
                  </a:txBody>
                  <a:tcPr marL="91425" marR="91425" marT="91425" marB="91425"/>
                </a:tc>
                <a:tc>
                  <a:txBody>
                    <a:bodyPr/>
                    <a:lstStyle/>
                    <a:p>
                      <a:pPr marL="0" lvl="0" indent="0" algn="ctr" rtl="0">
                        <a:spcBef>
                          <a:spcPts val="0"/>
                        </a:spcBef>
                        <a:spcAft>
                          <a:spcPts val="0"/>
                        </a:spcAft>
                        <a:buNone/>
                      </a:pPr>
                      <a:r>
                        <a:rPr lang="en-HK" sz="1200" dirty="0"/>
                        <a:t>42.57</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dirty="0">
                          <a:solidFill>
                            <a:schemeClr val="bg2"/>
                          </a:solidFill>
                        </a:rPr>
                        <a:t>(1-400)</a:t>
                      </a:r>
                    </a:p>
                  </a:txBody>
                  <a:tcPr marL="91425" marR="91425" marT="91425" marB="91425"/>
                </a:tc>
                <a:tc>
                  <a:txBody>
                    <a:bodyPr/>
                    <a:lstStyle/>
                    <a:p>
                      <a:pPr marL="0" lvl="0" indent="0" algn="ctr" rtl="0">
                        <a:spcBef>
                          <a:spcPts val="0"/>
                        </a:spcBef>
                        <a:spcAft>
                          <a:spcPts val="0"/>
                        </a:spcAft>
                        <a:buNone/>
                      </a:pPr>
                      <a:r>
                        <a:rPr lang="en-US" sz="1200" dirty="0"/>
                        <a:t>N/A</a:t>
                      </a:r>
                      <a:endParaRPr sz="1200" dirty="0"/>
                    </a:p>
                  </a:txBody>
                  <a:tcPr marL="91425" marR="91425" marT="91425" marB="91425"/>
                </a:tc>
                <a:extLst>
                  <a:ext uri="{0D108BD9-81ED-4DB2-BD59-A6C34878D82A}">
                    <a16:rowId xmlns:a16="http://schemas.microsoft.com/office/drawing/2014/main" val="10002"/>
                  </a:ext>
                </a:extLst>
              </a:tr>
              <a:tr h="289110">
                <a:tc>
                  <a:txBody>
                    <a:bodyPr/>
                    <a:lstStyle/>
                    <a:p>
                      <a:pPr marL="0" lvl="0" indent="0" algn="l" rtl="0">
                        <a:spcBef>
                          <a:spcPts val="0"/>
                        </a:spcBef>
                        <a:spcAft>
                          <a:spcPts val="0"/>
                        </a:spcAft>
                        <a:buNone/>
                      </a:pPr>
                      <a:r>
                        <a:rPr lang="en-US" sz="1000" dirty="0"/>
                        <a:t>Source-driven </a:t>
                      </a:r>
                    </a:p>
                    <a:p>
                      <a:pPr marL="0" lvl="0" indent="0" algn="l" rtl="0">
                        <a:spcBef>
                          <a:spcPts val="0"/>
                        </a:spcBef>
                        <a:spcAft>
                          <a:spcPts val="0"/>
                        </a:spcAft>
                        <a:buNone/>
                      </a:pPr>
                      <a:r>
                        <a:rPr lang="en-US" sz="1000" dirty="0"/>
                        <a:t>approach</a:t>
                      </a:r>
                    </a:p>
                  </a:txBody>
                  <a:tcPr marL="91425" marR="91425" marT="91425" marB="91425"/>
                </a:tc>
                <a:tc>
                  <a:txBody>
                    <a:bodyPr/>
                    <a:lstStyle/>
                    <a:p>
                      <a:pPr marL="0" lvl="0" indent="0" algn="ctr" rtl="0">
                        <a:spcBef>
                          <a:spcPts val="0"/>
                        </a:spcBef>
                        <a:spcAft>
                          <a:spcPts val="0"/>
                        </a:spcAft>
                        <a:buNone/>
                      </a:pPr>
                      <a:r>
                        <a:rPr lang="en-US" sz="1200" b="1" dirty="0">
                          <a:solidFill>
                            <a:srgbClr val="FF0000"/>
                          </a:solidFill>
                        </a:rPr>
                        <a:t>34.79</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dirty="0">
                          <a:solidFill>
                            <a:schemeClr val="bg2"/>
                          </a:solidFill>
                        </a:rPr>
                        <a:t>(1-400)</a:t>
                      </a:r>
                    </a:p>
                  </a:txBody>
                  <a:tcPr marL="91425" marR="91425" marT="91425" marB="91425"/>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N/A</a:t>
                      </a:r>
                    </a:p>
                  </a:txBody>
                  <a:tcPr marL="91425" marR="91425" marT="91425" marB="91425"/>
                </a:tc>
                <a:tc>
                  <a:txBody>
                    <a:bodyPr/>
                    <a:lstStyle/>
                    <a:p>
                      <a:pPr marL="0" lvl="0" indent="0" algn="ctr" rtl="0">
                        <a:spcBef>
                          <a:spcPts val="0"/>
                        </a:spcBef>
                        <a:spcAft>
                          <a:spcPts val="0"/>
                        </a:spcAft>
                        <a:buNone/>
                      </a:pPr>
                      <a:r>
                        <a:rPr lang="en-US" sz="1200" b="1" dirty="0">
                          <a:solidFill>
                            <a:srgbClr val="FF0000"/>
                          </a:solidFill>
                        </a:rPr>
                        <a:t>73.16</a:t>
                      </a:r>
                    </a:p>
                    <a:p>
                      <a:pPr marL="0" lvl="0" indent="0" algn="ctr" rtl="0">
                        <a:spcBef>
                          <a:spcPts val="0"/>
                        </a:spcBef>
                        <a:spcAft>
                          <a:spcPts val="0"/>
                        </a:spcAft>
                        <a:buNone/>
                      </a:pPr>
                      <a:r>
                        <a:rPr lang="en-US" sz="900" b="0" dirty="0">
                          <a:solidFill>
                            <a:schemeClr val="bg2"/>
                          </a:solidFill>
                        </a:rPr>
                        <a:t>(1-400)</a:t>
                      </a:r>
                      <a:endParaRPr sz="900" b="0" dirty="0">
                        <a:solidFill>
                          <a:schemeClr val="bg2"/>
                        </a:solidFill>
                      </a:endParaRPr>
                    </a:p>
                  </a:txBody>
                  <a:tcPr marL="91425" marR="91425" marT="91425" marB="91425"/>
                </a:tc>
                <a:tc>
                  <a:txBody>
                    <a:bodyPr/>
                    <a:lstStyle/>
                    <a:p>
                      <a:pPr marL="0" lvl="0" indent="0" algn="ctr" rtl="0">
                        <a:spcBef>
                          <a:spcPts val="0"/>
                        </a:spcBef>
                        <a:spcAft>
                          <a:spcPts val="0"/>
                        </a:spcAft>
                        <a:buNone/>
                      </a:pPr>
                      <a:r>
                        <a:rPr lang="en-US" sz="1200" dirty="0">
                          <a:solidFill>
                            <a:schemeClr val="tx1"/>
                          </a:solidFill>
                        </a:rPr>
                        <a:t>N/A</a:t>
                      </a:r>
                      <a:endParaRPr sz="1200" dirty="0">
                        <a:solidFill>
                          <a:schemeClr val="tx1"/>
                        </a:solidFill>
                      </a:endParaRPr>
                    </a:p>
                  </a:txBody>
                  <a:tcPr marL="91425" marR="91425" marT="91425" marB="91425"/>
                </a:tc>
                <a:extLst>
                  <a:ext uri="{0D108BD9-81ED-4DB2-BD59-A6C34878D82A}">
                    <a16:rowId xmlns:a16="http://schemas.microsoft.com/office/drawing/2014/main" val="10003"/>
                  </a:ext>
                </a:extLst>
              </a:tr>
            </a:tbl>
          </a:graphicData>
        </a:graphic>
      </p:graphicFrame>
      <p:sp>
        <p:nvSpPr>
          <p:cNvPr id="22" name="Google Shape;738;p15">
            <a:extLst>
              <a:ext uri="{FF2B5EF4-FFF2-40B4-BE49-F238E27FC236}">
                <a16:creationId xmlns:a16="http://schemas.microsoft.com/office/drawing/2014/main" id="{7BF5FAD7-ADB9-7249-89CE-8E20A320A591}"/>
              </a:ext>
            </a:extLst>
          </p:cNvPr>
          <p:cNvSpPr txBox="1">
            <a:spLocks noGrp="1"/>
          </p:cNvSpPr>
          <p:nvPr>
            <p:ph type="title"/>
          </p:nvPr>
        </p:nvSpPr>
        <p:spPr>
          <a:xfrm>
            <a:off x="628650" y="273844"/>
            <a:ext cx="7886700" cy="994200"/>
          </a:xfrm>
          <a:prstGeom prst="rect">
            <a:avLst/>
          </a:prstGeom>
          <a:noFill/>
          <a:ln>
            <a:noFill/>
          </a:ln>
        </p:spPr>
        <p:txBody>
          <a:bodyPr spcFirstLastPara="1" wrap="square" lIns="34275" tIns="34275" rIns="34275" bIns="34275" anchor="ctr" anchorCtr="0">
            <a:normAutofit/>
          </a:bodyPr>
          <a:lstStyle/>
          <a:p>
            <a:pPr lvl="0">
              <a:buSzPts val="3135"/>
            </a:pPr>
            <a:r>
              <a:rPr lang="en-US" sz="3135" dirty="0"/>
              <a:t>The workflow and limitations of source-driven approach </a:t>
            </a:r>
            <a:r>
              <a:rPr lang="en-US" sz="3135" dirty="0">
                <a:solidFill>
                  <a:schemeClr val="tx1"/>
                </a:solidFill>
              </a:rPr>
              <a:t>(Focus on </a:t>
            </a:r>
            <a:r>
              <a:rPr lang="en-US" sz="3135" dirty="0">
                <a:solidFill>
                  <a:schemeClr val="accent1"/>
                </a:solidFill>
              </a:rPr>
              <a:t>Orange line</a:t>
            </a:r>
            <a:r>
              <a:rPr lang="en-US" sz="3135" dirty="0">
                <a:solidFill>
                  <a:schemeClr val="tx1"/>
                </a:solidFill>
              </a:rPr>
              <a:t>)</a:t>
            </a:r>
            <a:endParaRPr dirty="0">
              <a:solidFill>
                <a:schemeClr val="tx1"/>
              </a:solidFill>
            </a:endParaRPr>
          </a:p>
        </p:txBody>
      </p:sp>
      <p:sp>
        <p:nvSpPr>
          <p:cNvPr id="28" name="TextBox 27">
            <a:extLst>
              <a:ext uri="{FF2B5EF4-FFF2-40B4-BE49-F238E27FC236}">
                <a16:creationId xmlns:a16="http://schemas.microsoft.com/office/drawing/2014/main" id="{DFD3A58F-E46B-A14C-BC6C-2E2F737FCA66}"/>
              </a:ext>
            </a:extLst>
          </p:cNvPr>
          <p:cNvSpPr txBox="1"/>
          <p:nvPr/>
        </p:nvSpPr>
        <p:spPr>
          <a:xfrm>
            <a:off x="4614708" y="1208618"/>
            <a:ext cx="4211198" cy="2169825"/>
          </a:xfrm>
          <a:prstGeom prst="rect">
            <a:avLst/>
          </a:prstGeom>
          <a:noFill/>
        </p:spPr>
        <p:txBody>
          <a:bodyPr wrap="square" rtlCol="0">
            <a:spAutoFit/>
          </a:bodyPr>
          <a:lstStyle/>
          <a:p>
            <a:r>
              <a:rPr lang="en-US" sz="1500" dirty="0"/>
              <a:t>Pros:</a:t>
            </a:r>
          </a:p>
          <a:p>
            <a:pPr marL="285750" indent="-285750">
              <a:buFont typeface="Arial" panose="020B0604020202020204" pitchFamily="34" charset="0"/>
              <a:buChar char="•"/>
            </a:pPr>
            <a:r>
              <a:rPr lang="en-US" sz="1500" dirty="0">
                <a:latin typeface="Calibri" panose="020F0502020204030204" pitchFamily="34" charset="0"/>
                <a:cs typeface="Calibri" panose="020F0502020204030204" pitchFamily="34" charset="0"/>
              </a:rPr>
              <a:t>Implementation is simple. </a:t>
            </a:r>
          </a:p>
          <a:p>
            <a:endParaRPr lang="en-US" sz="1500" dirty="0">
              <a:latin typeface="Calibri" panose="020F0502020204030204" pitchFamily="34" charset="0"/>
              <a:cs typeface="Calibri" panose="020F0502020204030204" pitchFamily="34" charset="0"/>
            </a:endParaRPr>
          </a:p>
          <a:p>
            <a:r>
              <a:rPr lang="en-US" sz="1500" dirty="0"/>
              <a:t>Cons:</a:t>
            </a:r>
          </a:p>
          <a:p>
            <a:pPr marL="285750" indent="-285750">
              <a:buFont typeface="Arial" panose="020B0604020202020204" pitchFamily="34" charset="0"/>
              <a:buChar char="•"/>
            </a:pPr>
            <a:r>
              <a:rPr lang="en-US" sz="1500" dirty="0">
                <a:latin typeface="Calibri" panose="020F0502020204030204" pitchFamily="34" charset="0"/>
                <a:cs typeface="Calibri" panose="020F0502020204030204" pitchFamily="34" charset="0"/>
              </a:rPr>
              <a:t>Source is even more overloaded during migration</a:t>
            </a:r>
          </a:p>
          <a:p>
            <a:pPr marL="285750" indent="-285750">
              <a:buFont typeface="Arial" panose="020B0604020202020204" pitchFamily="34" charset="0"/>
              <a:buChar char="•"/>
            </a:pPr>
            <a:r>
              <a:rPr lang="en-US" sz="1500" dirty="0">
                <a:latin typeface="Calibri" panose="020F0502020204030204" pitchFamily="34" charset="0"/>
                <a:cs typeface="Calibri" panose="020F0502020204030204" pitchFamily="34" charset="0"/>
              </a:rPr>
              <a:t>A service downtime has to be triggered near the end of migration</a:t>
            </a:r>
          </a:p>
          <a:p>
            <a:endParaRPr lang="en-US" sz="1500" dirty="0">
              <a:latin typeface="Calibri" panose="020F0502020204030204" pitchFamily="34" charset="0"/>
              <a:cs typeface="Calibri" panose="020F0502020204030204" pitchFamily="34" charset="0"/>
            </a:endParaRPr>
          </a:p>
        </p:txBody>
      </p:sp>
      <p:sp>
        <p:nvSpPr>
          <p:cNvPr id="31" name="Slide Number Placeholder 1">
            <a:extLst>
              <a:ext uri="{FF2B5EF4-FFF2-40B4-BE49-F238E27FC236}">
                <a16:creationId xmlns:a16="http://schemas.microsoft.com/office/drawing/2014/main" id="{6A8B55FA-AF0B-5249-995C-9032F5BD1912}"/>
              </a:ext>
            </a:extLst>
          </p:cNvPr>
          <p:cNvSpPr txBox="1">
            <a:spLocks/>
          </p:cNvSpPr>
          <p:nvPr/>
        </p:nvSpPr>
        <p:spPr>
          <a:xfrm>
            <a:off x="8684345" y="4700819"/>
            <a:ext cx="336814" cy="318396"/>
          </a:xfrm>
          <a:prstGeom prst="rect">
            <a:avLst/>
          </a:prstGeom>
          <a:noFill/>
          <a:ln>
            <a:noFill/>
          </a:ln>
        </p:spPr>
        <p:txBody>
          <a:bodyPr spcFirstLastPara="1" wrap="square" lIns="34275" tIns="34275" rIns="34275" bIns="34275" anchor="ctr" anchorCtr="0">
            <a:sp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8</a:t>
            </a:fld>
            <a:endParaRPr lang="en-US"/>
          </a:p>
        </p:txBody>
      </p:sp>
      <p:sp>
        <p:nvSpPr>
          <p:cNvPr id="21" name="Oval 20">
            <a:extLst>
              <a:ext uri="{FF2B5EF4-FFF2-40B4-BE49-F238E27FC236}">
                <a16:creationId xmlns:a16="http://schemas.microsoft.com/office/drawing/2014/main" id="{25396B2F-085A-BC45-BF0F-ACC36F836875}"/>
              </a:ext>
            </a:extLst>
          </p:cNvPr>
          <p:cNvSpPr/>
          <p:nvPr/>
        </p:nvSpPr>
        <p:spPr>
          <a:xfrm>
            <a:off x="3039595" y="3161544"/>
            <a:ext cx="697719" cy="120151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A0D546B-9239-BE4C-AEBD-627EC7BA2CAF}"/>
              </a:ext>
            </a:extLst>
          </p:cNvPr>
          <p:cNvSpPr/>
          <p:nvPr/>
        </p:nvSpPr>
        <p:spPr>
          <a:xfrm>
            <a:off x="4711640" y="4622779"/>
            <a:ext cx="1000110" cy="3446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5209990-7D42-CE4B-9E87-9517C955A2D1}"/>
              </a:ext>
            </a:extLst>
          </p:cNvPr>
          <p:cNvSpPr/>
          <p:nvPr/>
        </p:nvSpPr>
        <p:spPr>
          <a:xfrm>
            <a:off x="5789160" y="4606277"/>
            <a:ext cx="557204" cy="3360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2E8D737-F7A5-4446-8E97-678499D08D26}"/>
              </a:ext>
            </a:extLst>
          </p:cNvPr>
          <p:cNvSpPr/>
          <p:nvPr/>
        </p:nvSpPr>
        <p:spPr>
          <a:xfrm>
            <a:off x="6699534" y="4614985"/>
            <a:ext cx="557204" cy="3360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D29CED1-63A1-5545-9FE9-952E40543A40}"/>
              </a:ext>
            </a:extLst>
          </p:cNvPr>
          <p:cNvSpPr/>
          <p:nvPr/>
        </p:nvSpPr>
        <p:spPr>
          <a:xfrm>
            <a:off x="7464018" y="4594977"/>
            <a:ext cx="481957" cy="412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01650406-A6CD-C940-8104-D580F7E98553}"/>
              </a:ext>
            </a:extLst>
          </p:cNvPr>
          <p:cNvSpPr/>
          <p:nvPr/>
        </p:nvSpPr>
        <p:spPr>
          <a:xfrm>
            <a:off x="8127141" y="4614985"/>
            <a:ext cx="557204" cy="3360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3728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2"/>
                                        </p:tgtEl>
                                      </p:cBhvr>
                                    </p:animEffect>
                                    <p:set>
                                      <p:cBhvr>
                                        <p:cTn id="7" dur="1" fill="hold">
                                          <p:stCondLst>
                                            <p:cond delay="499"/>
                                          </p:stCondLst>
                                        </p:cTn>
                                        <p:tgtEl>
                                          <p:spTgt spid="32"/>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41"/>
                                        </p:tgtEl>
                                      </p:cBhvr>
                                    </p:animEffect>
                                    <p:set>
                                      <p:cBhvr>
                                        <p:cTn id="10" dur="1" fill="hold">
                                          <p:stCondLst>
                                            <p:cond delay="499"/>
                                          </p:stCondLst>
                                        </p:cTn>
                                        <p:tgtEl>
                                          <p:spTgt spid="41"/>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42"/>
                                        </p:tgtEl>
                                      </p:cBhvr>
                                    </p:animEffect>
                                    <p:set>
                                      <p:cBhvr>
                                        <p:cTn id="13" dur="1" fill="hold">
                                          <p:stCondLst>
                                            <p:cond delay="499"/>
                                          </p:stCondLst>
                                        </p:cTn>
                                        <p:tgtEl>
                                          <p:spTgt spid="42"/>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43"/>
                                        </p:tgtEl>
                                      </p:cBhvr>
                                    </p:animEffect>
                                    <p:set>
                                      <p:cBhvr>
                                        <p:cTn id="16" dur="1" fill="hold">
                                          <p:stCondLst>
                                            <p:cond delay="499"/>
                                          </p:stCondLst>
                                        </p:cTn>
                                        <p:tgtEl>
                                          <p:spTgt spid="43"/>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44"/>
                                        </p:tgtEl>
                                      </p:cBhvr>
                                    </p:animEffect>
                                    <p:set>
                                      <p:cBhvr>
                                        <p:cTn id="19" dur="1" fill="hold">
                                          <p:stCondLst>
                                            <p:cond delay="499"/>
                                          </p:stCondLst>
                                        </p:cTn>
                                        <p:tgtEl>
                                          <p:spTgt spid="44"/>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2" grpId="0" animBg="1"/>
      <p:bldP spid="41" grpId="0" animBg="1"/>
      <p:bldP spid="42" grpId="0" animBg="1"/>
      <p:bldP spid="43" grpId="0" animBg="1"/>
      <p:bldP spid="4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15"/>
          <p:cNvSpPr txBox="1">
            <a:spLocks noGrp="1"/>
          </p:cNvSpPr>
          <p:nvPr>
            <p:ph type="title"/>
          </p:nvPr>
        </p:nvSpPr>
        <p:spPr>
          <a:xfrm>
            <a:off x="628650" y="273844"/>
            <a:ext cx="7886700" cy="994200"/>
          </a:xfrm>
          <a:prstGeom prst="rect">
            <a:avLst/>
          </a:prstGeom>
          <a:noFill/>
          <a:ln>
            <a:noFill/>
          </a:ln>
        </p:spPr>
        <p:txBody>
          <a:bodyPr spcFirstLastPara="1" wrap="square" lIns="34275" tIns="34275" rIns="34275" bIns="34275" anchor="ctr" anchorCtr="0">
            <a:normAutofit/>
          </a:bodyPr>
          <a:lstStyle/>
          <a:p>
            <a:pPr lvl="0">
              <a:buSzPts val="3135"/>
            </a:pPr>
            <a:r>
              <a:rPr lang="en-US" sz="3135" dirty="0"/>
              <a:t>The workflow and limitation of destination-driven approach</a:t>
            </a:r>
            <a:endParaRPr dirty="0"/>
          </a:p>
        </p:txBody>
      </p:sp>
      <p:sp>
        <p:nvSpPr>
          <p:cNvPr id="77" name="Google Shape;306;p7">
            <a:extLst>
              <a:ext uri="{FF2B5EF4-FFF2-40B4-BE49-F238E27FC236}">
                <a16:creationId xmlns:a16="http://schemas.microsoft.com/office/drawing/2014/main" id="{853E4542-365A-6F47-A3F4-0D3E84A38E4C}"/>
              </a:ext>
            </a:extLst>
          </p:cNvPr>
          <p:cNvSpPr/>
          <p:nvPr/>
        </p:nvSpPr>
        <p:spPr>
          <a:xfrm>
            <a:off x="4716327" y="3361683"/>
            <a:ext cx="1279838" cy="1688477"/>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78" name="Google Shape;307;p7">
            <a:extLst>
              <a:ext uri="{FF2B5EF4-FFF2-40B4-BE49-F238E27FC236}">
                <a16:creationId xmlns:a16="http://schemas.microsoft.com/office/drawing/2014/main" id="{A0EE12AA-5AD7-EE4C-A25F-38CD111A60BD}"/>
              </a:ext>
            </a:extLst>
          </p:cNvPr>
          <p:cNvSpPr/>
          <p:nvPr/>
        </p:nvSpPr>
        <p:spPr>
          <a:xfrm>
            <a:off x="2217515" y="3376072"/>
            <a:ext cx="1313572" cy="1677488"/>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79" name="Google Shape;308;p7">
            <a:extLst>
              <a:ext uri="{FF2B5EF4-FFF2-40B4-BE49-F238E27FC236}">
                <a16:creationId xmlns:a16="http://schemas.microsoft.com/office/drawing/2014/main" id="{002EA0F9-602A-0D43-A27F-54D1E815AB52}"/>
              </a:ext>
            </a:extLst>
          </p:cNvPr>
          <p:cNvSpPr/>
          <p:nvPr/>
        </p:nvSpPr>
        <p:spPr>
          <a:xfrm>
            <a:off x="2280570" y="3618640"/>
            <a:ext cx="1142945" cy="1415754"/>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80" name="Google Shape;309;p7">
            <a:extLst>
              <a:ext uri="{FF2B5EF4-FFF2-40B4-BE49-F238E27FC236}">
                <a16:creationId xmlns:a16="http://schemas.microsoft.com/office/drawing/2014/main" id="{A6586114-9C27-DE44-BCFF-B4EF47ED73B3}"/>
              </a:ext>
            </a:extLst>
          </p:cNvPr>
          <p:cNvSpPr/>
          <p:nvPr/>
        </p:nvSpPr>
        <p:spPr>
          <a:xfrm>
            <a:off x="2633243" y="3376072"/>
            <a:ext cx="14904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000" b="1" i="0" u="none" strike="noStrike" cap="none">
                <a:solidFill>
                  <a:srgbClr val="000000"/>
                </a:solidFill>
                <a:latin typeface="Calibri"/>
                <a:ea typeface="Calibri"/>
                <a:cs typeface="Calibri"/>
                <a:sym typeface="Calibri"/>
              </a:rPr>
              <a:t>Source</a:t>
            </a:r>
            <a:endParaRPr sz="1000"/>
          </a:p>
        </p:txBody>
      </p:sp>
      <p:sp>
        <p:nvSpPr>
          <p:cNvPr id="81" name="Google Shape;310;p7">
            <a:extLst>
              <a:ext uri="{FF2B5EF4-FFF2-40B4-BE49-F238E27FC236}">
                <a16:creationId xmlns:a16="http://schemas.microsoft.com/office/drawing/2014/main" id="{B08389BD-D040-6E48-84BD-DEEFEBA63364}"/>
              </a:ext>
            </a:extLst>
          </p:cNvPr>
          <p:cNvSpPr/>
          <p:nvPr/>
        </p:nvSpPr>
        <p:spPr>
          <a:xfrm>
            <a:off x="2454263" y="3619631"/>
            <a:ext cx="15558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key-value store</a:t>
            </a:r>
            <a:endParaRPr sz="1000"/>
          </a:p>
        </p:txBody>
      </p:sp>
      <p:grpSp>
        <p:nvGrpSpPr>
          <p:cNvPr id="82" name="Google Shape;311;p7">
            <a:extLst>
              <a:ext uri="{FF2B5EF4-FFF2-40B4-BE49-F238E27FC236}">
                <a16:creationId xmlns:a16="http://schemas.microsoft.com/office/drawing/2014/main" id="{6C41DF3D-CA8E-BC4E-A698-6B5D756DD29F}"/>
              </a:ext>
            </a:extLst>
          </p:cNvPr>
          <p:cNvGrpSpPr/>
          <p:nvPr/>
        </p:nvGrpSpPr>
        <p:grpSpPr>
          <a:xfrm>
            <a:off x="2353791" y="3899483"/>
            <a:ext cx="947702" cy="223108"/>
            <a:chOff x="0" y="37022"/>
            <a:chExt cx="947701" cy="223107"/>
          </a:xfrm>
        </p:grpSpPr>
        <p:sp>
          <p:nvSpPr>
            <p:cNvPr id="83" name="Google Shape;312;p7">
              <a:extLst>
                <a:ext uri="{FF2B5EF4-FFF2-40B4-BE49-F238E27FC236}">
                  <a16:creationId xmlns:a16="http://schemas.microsoft.com/office/drawing/2014/main" id="{8E9F75C0-C25F-FD43-B3BA-D591C599F17B}"/>
                </a:ext>
              </a:extLst>
            </p:cNvPr>
            <p:cNvSpPr/>
            <p:nvPr/>
          </p:nvSpPr>
          <p:spPr>
            <a:xfrm>
              <a:off x="0" y="67574"/>
              <a:ext cx="947701" cy="162002"/>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84" name="Google Shape;313;p7">
              <a:extLst>
                <a:ext uri="{FF2B5EF4-FFF2-40B4-BE49-F238E27FC236}">
                  <a16:creationId xmlns:a16="http://schemas.microsoft.com/office/drawing/2014/main" id="{F75FB05D-98A6-DC40-918C-CDAB940E275E}"/>
                </a:ext>
              </a:extLst>
            </p:cNvPr>
            <p:cNvSpPr/>
            <p:nvPr/>
          </p:nvSpPr>
          <p:spPr>
            <a:xfrm>
              <a:off x="0" y="37022"/>
              <a:ext cx="947701" cy="223107"/>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&lt;1, V&gt;</a:t>
              </a:r>
              <a:endParaRPr sz="1000"/>
            </a:p>
          </p:txBody>
        </p:sp>
      </p:grpSp>
      <p:grpSp>
        <p:nvGrpSpPr>
          <p:cNvPr id="85" name="Google Shape;314;p7">
            <a:extLst>
              <a:ext uri="{FF2B5EF4-FFF2-40B4-BE49-F238E27FC236}">
                <a16:creationId xmlns:a16="http://schemas.microsoft.com/office/drawing/2014/main" id="{A9297260-D335-2840-A4EB-35910394C626}"/>
              </a:ext>
            </a:extLst>
          </p:cNvPr>
          <p:cNvGrpSpPr/>
          <p:nvPr/>
        </p:nvGrpSpPr>
        <p:grpSpPr>
          <a:xfrm>
            <a:off x="2360972" y="4175370"/>
            <a:ext cx="947702" cy="223108"/>
            <a:chOff x="0" y="37022"/>
            <a:chExt cx="947701" cy="223107"/>
          </a:xfrm>
        </p:grpSpPr>
        <p:sp>
          <p:nvSpPr>
            <p:cNvPr id="86" name="Google Shape;315;p7">
              <a:extLst>
                <a:ext uri="{FF2B5EF4-FFF2-40B4-BE49-F238E27FC236}">
                  <a16:creationId xmlns:a16="http://schemas.microsoft.com/office/drawing/2014/main" id="{9B7AD292-7C1A-674A-AC3E-57B140959B29}"/>
                </a:ext>
              </a:extLst>
            </p:cNvPr>
            <p:cNvSpPr/>
            <p:nvPr/>
          </p:nvSpPr>
          <p:spPr>
            <a:xfrm>
              <a:off x="0" y="67574"/>
              <a:ext cx="947701" cy="162002"/>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87" name="Google Shape;316;p7">
              <a:extLst>
                <a:ext uri="{FF2B5EF4-FFF2-40B4-BE49-F238E27FC236}">
                  <a16:creationId xmlns:a16="http://schemas.microsoft.com/office/drawing/2014/main" id="{B3F350B3-B0C5-2847-B40A-E26E8BCE76EB}"/>
                </a:ext>
              </a:extLst>
            </p:cNvPr>
            <p:cNvSpPr/>
            <p:nvPr/>
          </p:nvSpPr>
          <p:spPr>
            <a:xfrm>
              <a:off x="0" y="37022"/>
              <a:ext cx="947701" cy="223107"/>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&lt;200, V&gt;</a:t>
              </a:r>
              <a:endParaRPr sz="1000" dirty="0"/>
            </a:p>
          </p:txBody>
        </p:sp>
      </p:grpSp>
      <p:sp>
        <p:nvSpPr>
          <p:cNvPr id="88" name="Google Shape;317;p7">
            <a:extLst>
              <a:ext uri="{FF2B5EF4-FFF2-40B4-BE49-F238E27FC236}">
                <a16:creationId xmlns:a16="http://schemas.microsoft.com/office/drawing/2014/main" id="{97A24EC8-E752-584F-B427-247DD1D2DEDF}"/>
              </a:ext>
            </a:extLst>
          </p:cNvPr>
          <p:cNvSpPr/>
          <p:nvPr/>
        </p:nvSpPr>
        <p:spPr>
          <a:xfrm>
            <a:off x="2685883" y="3993306"/>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grpSp>
        <p:nvGrpSpPr>
          <p:cNvPr id="89" name="Google Shape;318;p7">
            <a:extLst>
              <a:ext uri="{FF2B5EF4-FFF2-40B4-BE49-F238E27FC236}">
                <a16:creationId xmlns:a16="http://schemas.microsoft.com/office/drawing/2014/main" id="{119E263E-8A9D-A443-854C-7C6255B40DF5}"/>
              </a:ext>
            </a:extLst>
          </p:cNvPr>
          <p:cNvGrpSpPr/>
          <p:nvPr/>
        </p:nvGrpSpPr>
        <p:grpSpPr>
          <a:xfrm>
            <a:off x="2360972" y="4458029"/>
            <a:ext cx="947702" cy="223108"/>
            <a:chOff x="0" y="37022"/>
            <a:chExt cx="947701" cy="223107"/>
          </a:xfrm>
          <a:noFill/>
        </p:grpSpPr>
        <p:sp>
          <p:nvSpPr>
            <p:cNvPr id="90" name="Google Shape;319;p7">
              <a:extLst>
                <a:ext uri="{FF2B5EF4-FFF2-40B4-BE49-F238E27FC236}">
                  <a16:creationId xmlns:a16="http://schemas.microsoft.com/office/drawing/2014/main" id="{B517136F-5F1A-B346-A181-46188954EDB3}"/>
                </a:ext>
              </a:extLst>
            </p:cNvPr>
            <p:cNvSpPr/>
            <p:nvPr/>
          </p:nvSpPr>
          <p:spPr>
            <a:xfrm>
              <a:off x="0" y="67574"/>
              <a:ext cx="947701" cy="162002"/>
            </a:xfrm>
            <a:prstGeom prst="rect">
              <a:avLst/>
            </a:prstGeom>
            <a:grp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91" name="Google Shape;320;p7">
              <a:extLst>
                <a:ext uri="{FF2B5EF4-FFF2-40B4-BE49-F238E27FC236}">
                  <a16:creationId xmlns:a16="http://schemas.microsoft.com/office/drawing/2014/main" id="{9684A270-675B-5B4B-B213-E5F52910A072}"/>
                </a:ext>
              </a:extLst>
            </p:cNvPr>
            <p:cNvSpPr/>
            <p:nvPr/>
          </p:nvSpPr>
          <p:spPr>
            <a:xfrm>
              <a:off x="0" y="37022"/>
              <a:ext cx="947701" cy="223107"/>
            </a:xfrm>
            <a:prstGeom prst="rect">
              <a:avLst/>
            </a:prstGeom>
            <a:grp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&lt;300, V&gt;</a:t>
              </a:r>
              <a:endParaRPr sz="1000" dirty="0"/>
            </a:p>
          </p:txBody>
        </p:sp>
      </p:grpSp>
      <p:sp>
        <p:nvSpPr>
          <p:cNvPr id="92" name="Google Shape;321;p7">
            <a:extLst>
              <a:ext uri="{FF2B5EF4-FFF2-40B4-BE49-F238E27FC236}">
                <a16:creationId xmlns:a16="http://schemas.microsoft.com/office/drawing/2014/main" id="{2EB54ED0-4DFA-BD4A-AD2A-0DA62C731EA4}"/>
              </a:ext>
            </a:extLst>
          </p:cNvPr>
          <p:cNvSpPr/>
          <p:nvPr/>
        </p:nvSpPr>
        <p:spPr>
          <a:xfrm>
            <a:off x="2688432" y="4272774"/>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grpSp>
        <p:nvGrpSpPr>
          <p:cNvPr id="93" name="Google Shape;322;p7">
            <a:extLst>
              <a:ext uri="{FF2B5EF4-FFF2-40B4-BE49-F238E27FC236}">
                <a16:creationId xmlns:a16="http://schemas.microsoft.com/office/drawing/2014/main" id="{4F107E7F-9AB5-7A41-82F4-E2A8B0473473}"/>
              </a:ext>
            </a:extLst>
          </p:cNvPr>
          <p:cNvGrpSpPr/>
          <p:nvPr/>
        </p:nvGrpSpPr>
        <p:grpSpPr>
          <a:xfrm>
            <a:off x="2360972" y="4736854"/>
            <a:ext cx="947702" cy="223108"/>
            <a:chOff x="0" y="37022"/>
            <a:chExt cx="947701" cy="223107"/>
          </a:xfrm>
        </p:grpSpPr>
        <p:sp>
          <p:nvSpPr>
            <p:cNvPr id="94" name="Google Shape;323;p7">
              <a:extLst>
                <a:ext uri="{FF2B5EF4-FFF2-40B4-BE49-F238E27FC236}">
                  <a16:creationId xmlns:a16="http://schemas.microsoft.com/office/drawing/2014/main" id="{56B4C93A-3B98-0F4B-9777-BC9622F83BAD}"/>
                </a:ext>
              </a:extLst>
            </p:cNvPr>
            <p:cNvSpPr/>
            <p:nvPr/>
          </p:nvSpPr>
          <p:spPr>
            <a:xfrm>
              <a:off x="0" y="67574"/>
              <a:ext cx="947701" cy="162002"/>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95" name="Google Shape;324;p7">
              <a:extLst>
                <a:ext uri="{FF2B5EF4-FFF2-40B4-BE49-F238E27FC236}">
                  <a16:creationId xmlns:a16="http://schemas.microsoft.com/office/drawing/2014/main" id="{9F801C40-BA40-8D48-9B8F-DB44E31D31B5}"/>
                </a:ext>
              </a:extLst>
            </p:cNvPr>
            <p:cNvSpPr/>
            <p:nvPr/>
          </p:nvSpPr>
          <p:spPr>
            <a:xfrm>
              <a:off x="0" y="37022"/>
              <a:ext cx="947701" cy="223107"/>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&lt;400, V&gt;</a:t>
              </a:r>
              <a:endParaRPr sz="1000"/>
            </a:p>
          </p:txBody>
        </p:sp>
      </p:grpSp>
      <p:sp>
        <p:nvSpPr>
          <p:cNvPr id="96" name="Google Shape;325;p7">
            <a:extLst>
              <a:ext uri="{FF2B5EF4-FFF2-40B4-BE49-F238E27FC236}">
                <a16:creationId xmlns:a16="http://schemas.microsoft.com/office/drawing/2014/main" id="{4FDA4632-603B-8946-A323-E5A11640A12F}"/>
              </a:ext>
            </a:extLst>
          </p:cNvPr>
          <p:cNvSpPr/>
          <p:nvPr/>
        </p:nvSpPr>
        <p:spPr>
          <a:xfrm>
            <a:off x="2669973" y="4554535"/>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dirty="0">
                <a:solidFill>
                  <a:srgbClr val="000000"/>
                </a:solidFill>
                <a:latin typeface="Calibri"/>
                <a:ea typeface="Calibri"/>
                <a:cs typeface="Calibri"/>
                <a:sym typeface="Calibri"/>
              </a:rPr>
              <a:t>....</a:t>
            </a:r>
            <a:endParaRPr sz="1000" dirty="0"/>
          </a:p>
        </p:txBody>
      </p:sp>
      <p:sp>
        <p:nvSpPr>
          <p:cNvPr id="97" name="Google Shape;326;p7">
            <a:extLst>
              <a:ext uri="{FF2B5EF4-FFF2-40B4-BE49-F238E27FC236}">
                <a16:creationId xmlns:a16="http://schemas.microsoft.com/office/drawing/2014/main" id="{C772F64A-EDBE-B64F-B277-30C5A70C0411}"/>
              </a:ext>
            </a:extLst>
          </p:cNvPr>
          <p:cNvSpPr/>
          <p:nvPr/>
        </p:nvSpPr>
        <p:spPr>
          <a:xfrm>
            <a:off x="4776067" y="3523420"/>
            <a:ext cx="1150249" cy="1496585"/>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98" name="Google Shape;327;p7">
            <a:extLst>
              <a:ext uri="{FF2B5EF4-FFF2-40B4-BE49-F238E27FC236}">
                <a16:creationId xmlns:a16="http://schemas.microsoft.com/office/drawing/2014/main" id="{283D837B-6655-D241-BC88-FA916DF31C04}"/>
              </a:ext>
            </a:extLst>
          </p:cNvPr>
          <p:cNvSpPr/>
          <p:nvPr/>
        </p:nvSpPr>
        <p:spPr>
          <a:xfrm>
            <a:off x="5066996" y="3309105"/>
            <a:ext cx="13134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000" b="1" i="0" u="none" strike="noStrike" cap="none">
                <a:solidFill>
                  <a:srgbClr val="000000"/>
                </a:solidFill>
                <a:latin typeface="Calibri"/>
                <a:ea typeface="Calibri"/>
                <a:cs typeface="Calibri"/>
                <a:sym typeface="Calibri"/>
              </a:rPr>
              <a:t>Destination</a:t>
            </a:r>
            <a:endParaRPr sz="1000"/>
          </a:p>
        </p:txBody>
      </p:sp>
      <p:sp>
        <p:nvSpPr>
          <p:cNvPr id="99" name="Google Shape;328;p7">
            <a:extLst>
              <a:ext uri="{FF2B5EF4-FFF2-40B4-BE49-F238E27FC236}">
                <a16:creationId xmlns:a16="http://schemas.microsoft.com/office/drawing/2014/main" id="{BE3EF158-4C44-2E48-9A1A-63B34F931F7B}"/>
              </a:ext>
            </a:extLst>
          </p:cNvPr>
          <p:cNvSpPr/>
          <p:nvPr/>
        </p:nvSpPr>
        <p:spPr>
          <a:xfrm>
            <a:off x="4865371" y="3540996"/>
            <a:ext cx="15558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key-value store</a:t>
            </a:r>
            <a:endParaRPr sz="1000"/>
          </a:p>
        </p:txBody>
      </p:sp>
      <p:grpSp>
        <p:nvGrpSpPr>
          <p:cNvPr id="100" name="Google Shape;329;p7">
            <a:extLst>
              <a:ext uri="{FF2B5EF4-FFF2-40B4-BE49-F238E27FC236}">
                <a16:creationId xmlns:a16="http://schemas.microsoft.com/office/drawing/2014/main" id="{0E734F1D-6B2A-8E47-8ADB-173D2E155D5E}"/>
              </a:ext>
            </a:extLst>
          </p:cNvPr>
          <p:cNvGrpSpPr/>
          <p:nvPr/>
        </p:nvGrpSpPr>
        <p:grpSpPr>
          <a:xfrm>
            <a:off x="4833807" y="4392059"/>
            <a:ext cx="947702" cy="223108"/>
            <a:chOff x="0" y="37022"/>
            <a:chExt cx="947701" cy="223106"/>
          </a:xfrm>
        </p:grpSpPr>
        <p:sp>
          <p:nvSpPr>
            <p:cNvPr id="101" name="Google Shape;330;p7">
              <a:extLst>
                <a:ext uri="{FF2B5EF4-FFF2-40B4-BE49-F238E27FC236}">
                  <a16:creationId xmlns:a16="http://schemas.microsoft.com/office/drawing/2014/main" id="{2E6FBC48-4223-B44D-8F13-0458698F9D3C}"/>
                </a:ext>
              </a:extLst>
            </p:cNvPr>
            <p:cNvSpPr/>
            <p:nvPr/>
          </p:nvSpPr>
          <p:spPr>
            <a:xfrm>
              <a:off x="0" y="67574"/>
              <a:ext cx="947701" cy="162002"/>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02" name="Google Shape;331;p7">
              <a:extLst>
                <a:ext uri="{FF2B5EF4-FFF2-40B4-BE49-F238E27FC236}">
                  <a16:creationId xmlns:a16="http://schemas.microsoft.com/office/drawing/2014/main" id="{040ADFB2-D742-5448-8C4E-F50E6C4513C6}"/>
                </a:ext>
              </a:extLst>
            </p:cNvPr>
            <p:cNvSpPr/>
            <p:nvPr/>
          </p:nvSpPr>
          <p:spPr>
            <a:xfrm>
              <a:off x="0" y="37022"/>
              <a:ext cx="947701" cy="223106"/>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&lt;500, V&gt;</a:t>
              </a:r>
              <a:endParaRPr sz="1000" dirty="0"/>
            </a:p>
          </p:txBody>
        </p:sp>
      </p:grpSp>
      <p:grpSp>
        <p:nvGrpSpPr>
          <p:cNvPr id="103" name="Google Shape;332;p7">
            <a:extLst>
              <a:ext uri="{FF2B5EF4-FFF2-40B4-BE49-F238E27FC236}">
                <a16:creationId xmlns:a16="http://schemas.microsoft.com/office/drawing/2014/main" id="{68EAC996-86AD-6944-B930-70C40461E305}"/>
              </a:ext>
            </a:extLst>
          </p:cNvPr>
          <p:cNvGrpSpPr/>
          <p:nvPr/>
        </p:nvGrpSpPr>
        <p:grpSpPr>
          <a:xfrm>
            <a:off x="4833807" y="4686268"/>
            <a:ext cx="947702" cy="223108"/>
            <a:chOff x="0" y="37022"/>
            <a:chExt cx="947701" cy="223107"/>
          </a:xfrm>
        </p:grpSpPr>
        <p:sp>
          <p:nvSpPr>
            <p:cNvPr id="104" name="Google Shape;333;p7">
              <a:extLst>
                <a:ext uri="{FF2B5EF4-FFF2-40B4-BE49-F238E27FC236}">
                  <a16:creationId xmlns:a16="http://schemas.microsoft.com/office/drawing/2014/main" id="{EA3C6D51-04F4-1C40-8B09-BE9DEC453FAF}"/>
                </a:ext>
              </a:extLst>
            </p:cNvPr>
            <p:cNvSpPr/>
            <p:nvPr/>
          </p:nvSpPr>
          <p:spPr>
            <a:xfrm>
              <a:off x="0" y="67574"/>
              <a:ext cx="947701" cy="162002"/>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05" name="Google Shape;334;p7">
              <a:extLst>
                <a:ext uri="{FF2B5EF4-FFF2-40B4-BE49-F238E27FC236}">
                  <a16:creationId xmlns:a16="http://schemas.microsoft.com/office/drawing/2014/main" id="{B35698F1-6499-8446-A673-33480CFD0828}"/>
                </a:ext>
              </a:extLst>
            </p:cNvPr>
            <p:cNvSpPr/>
            <p:nvPr/>
          </p:nvSpPr>
          <p:spPr>
            <a:xfrm>
              <a:off x="0" y="37022"/>
              <a:ext cx="947701" cy="223107"/>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&lt;600, V&gt;</a:t>
              </a:r>
              <a:endParaRPr sz="1000" dirty="0"/>
            </a:p>
          </p:txBody>
        </p:sp>
      </p:grpSp>
      <p:sp>
        <p:nvSpPr>
          <p:cNvPr id="106" name="Google Shape;335;p7">
            <a:extLst>
              <a:ext uri="{FF2B5EF4-FFF2-40B4-BE49-F238E27FC236}">
                <a16:creationId xmlns:a16="http://schemas.microsoft.com/office/drawing/2014/main" id="{1A89BE70-E5B5-6940-A1A5-F6B1680DEB57}"/>
              </a:ext>
            </a:extLst>
          </p:cNvPr>
          <p:cNvSpPr/>
          <p:nvPr/>
        </p:nvSpPr>
        <p:spPr>
          <a:xfrm>
            <a:off x="5142808" y="4507036"/>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107" name="Google Shape;336;p7">
            <a:extLst>
              <a:ext uri="{FF2B5EF4-FFF2-40B4-BE49-F238E27FC236}">
                <a16:creationId xmlns:a16="http://schemas.microsoft.com/office/drawing/2014/main" id="{3810461F-07DE-0040-99E1-D91651C09F38}"/>
              </a:ext>
            </a:extLst>
          </p:cNvPr>
          <p:cNvSpPr/>
          <p:nvPr/>
        </p:nvSpPr>
        <p:spPr>
          <a:xfrm>
            <a:off x="5174815" y="4786098"/>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grpSp>
        <p:nvGrpSpPr>
          <p:cNvPr id="108" name="Google Shape;340;p7">
            <a:extLst>
              <a:ext uri="{FF2B5EF4-FFF2-40B4-BE49-F238E27FC236}">
                <a16:creationId xmlns:a16="http://schemas.microsoft.com/office/drawing/2014/main" id="{277CA465-FDF6-D24F-864A-5F7DB6CE08C7}"/>
              </a:ext>
            </a:extLst>
          </p:cNvPr>
          <p:cNvGrpSpPr/>
          <p:nvPr/>
        </p:nvGrpSpPr>
        <p:grpSpPr>
          <a:xfrm>
            <a:off x="4810077" y="3822633"/>
            <a:ext cx="947702" cy="223108"/>
            <a:chOff x="0" y="37022"/>
            <a:chExt cx="947701" cy="223107"/>
          </a:xfrm>
        </p:grpSpPr>
        <p:sp>
          <p:nvSpPr>
            <p:cNvPr id="109" name="Google Shape;341;p7">
              <a:extLst>
                <a:ext uri="{FF2B5EF4-FFF2-40B4-BE49-F238E27FC236}">
                  <a16:creationId xmlns:a16="http://schemas.microsoft.com/office/drawing/2014/main" id="{AC130447-3CD8-2B4E-9E4C-0AFE0E3414DB}"/>
                </a:ext>
              </a:extLst>
            </p:cNvPr>
            <p:cNvSpPr/>
            <p:nvPr/>
          </p:nvSpPr>
          <p:spPr>
            <a:xfrm>
              <a:off x="0" y="67574"/>
              <a:ext cx="947701" cy="162002"/>
            </a:xfrm>
            <a:prstGeom prst="rect">
              <a:avLst/>
            </a:prstGeom>
            <a:solidFill>
              <a:srgbClr val="B4A7D6"/>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10" name="Google Shape;342;p7">
              <a:extLst>
                <a:ext uri="{FF2B5EF4-FFF2-40B4-BE49-F238E27FC236}">
                  <a16:creationId xmlns:a16="http://schemas.microsoft.com/office/drawing/2014/main" id="{374D4855-463D-2E48-A0E9-A0C5C0DB78B8}"/>
                </a:ext>
              </a:extLst>
            </p:cNvPr>
            <p:cNvSpPr/>
            <p:nvPr/>
          </p:nvSpPr>
          <p:spPr>
            <a:xfrm>
              <a:off x="0" y="37022"/>
              <a:ext cx="947701" cy="223107"/>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&lt;1, V&gt;</a:t>
              </a:r>
              <a:endParaRPr sz="1000" dirty="0"/>
            </a:p>
          </p:txBody>
        </p:sp>
      </p:grpSp>
      <p:cxnSp>
        <p:nvCxnSpPr>
          <p:cNvPr id="114" name="Google Shape;346;p7">
            <a:extLst>
              <a:ext uri="{FF2B5EF4-FFF2-40B4-BE49-F238E27FC236}">
                <a16:creationId xmlns:a16="http://schemas.microsoft.com/office/drawing/2014/main" id="{DF2A42A6-86D2-3F42-83D2-0BFCF8BA9E42}"/>
              </a:ext>
            </a:extLst>
          </p:cNvPr>
          <p:cNvCxnSpPr>
            <a:cxnSpLocks/>
          </p:cNvCxnSpPr>
          <p:nvPr/>
        </p:nvCxnSpPr>
        <p:spPr>
          <a:xfrm>
            <a:off x="3556802" y="4767406"/>
            <a:ext cx="1155597" cy="0"/>
          </a:xfrm>
          <a:prstGeom prst="straightConnector1">
            <a:avLst/>
          </a:prstGeom>
          <a:noFill/>
          <a:ln w="28575" cap="flat" cmpd="sng">
            <a:solidFill>
              <a:srgbClr val="8E7CC3"/>
            </a:solidFill>
            <a:prstDash val="solid"/>
            <a:round/>
            <a:headEnd type="none" w="sm" len="sm"/>
            <a:tailEnd type="triangle" w="med" len="med"/>
          </a:ln>
        </p:spPr>
      </p:cxnSp>
      <p:sp>
        <p:nvSpPr>
          <p:cNvPr id="115" name="Google Shape;347;p7">
            <a:extLst>
              <a:ext uri="{FF2B5EF4-FFF2-40B4-BE49-F238E27FC236}">
                <a16:creationId xmlns:a16="http://schemas.microsoft.com/office/drawing/2014/main" id="{06DA2BC6-1EAA-484C-A758-9D83D4A7D8A5}"/>
              </a:ext>
            </a:extLst>
          </p:cNvPr>
          <p:cNvSpPr/>
          <p:nvPr/>
        </p:nvSpPr>
        <p:spPr>
          <a:xfrm>
            <a:off x="5119078" y="3931181"/>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146" name="TextBox 145">
            <a:extLst>
              <a:ext uri="{FF2B5EF4-FFF2-40B4-BE49-F238E27FC236}">
                <a16:creationId xmlns:a16="http://schemas.microsoft.com/office/drawing/2014/main" id="{0961791C-C371-D04A-9763-426B74247BAC}"/>
              </a:ext>
            </a:extLst>
          </p:cNvPr>
          <p:cNvSpPr txBox="1"/>
          <p:nvPr/>
        </p:nvSpPr>
        <p:spPr>
          <a:xfrm>
            <a:off x="3969888" y="2728805"/>
            <a:ext cx="742511" cy="307777"/>
          </a:xfrm>
          <a:prstGeom prst="rect">
            <a:avLst/>
          </a:prstGeom>
          <a:noFill/>
        </p:spPr>
        <p:txBody>
          <a:bodyPr wrap="none" rtlCol="0">
            <a:spAutoFit/>
          </a:bodyPr>
          <a:lstStyle/>
          <a:p>
            <a:r>
              <a:rPr lang="en-US" dirty="0"/>
              <a:t>Client1</a:t>
            </a:r>
          </a:p>
        </p:txBody>
      </p:sp>
      <p:cxnSp>
        <p:nvCxnSpPr>
          <p:cNvPr id="148" name="Straight Arrow Connector 147">
            <a:extLst>
              <a:ext uri="{FF2B5EF4-FFF2-40B4-BE49-F238E27FC236}">
                <a16:creationId xmlns:a16="http://schemas.microsoft.com/office/drawing/2014/main" id="{E409BBF3-A8A7-4B48-84A6-85073F0549E7}"/>
              </a:ext>
            </a:extLst>
          </p:cNvPr>
          <p:cNvCxnSpPr>
            <a:cxnSpLocks/>
          </p:cNvCxnSpPr>
          <p:nvPr/>
        </p:nvCxnSpPr>
        <p:spPr>
          <a:xfrm>
            <a:off x="4575473" y="2990805"/>
            <a:ext cx="738632" cy="397477"/>
          </a:xfrm>
          <a:prstGeom prst="straightConnector1">
            <a:avLst/>
          </a:prstGeom>
          <a:ln w="28575">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BB587B78-D542-1C48-8A80-DF3EAD6F99D1}"/>
              </a:ext>
            </a:extLst>
          </p:cNvPr>
          <p:cNvCxnSpPr>
            <a:cxnSpLocks/>
          </p:cNvCxnSpPr>
          <p:nvPr/>
        </p:nvCxnSpPr>
        <p:spPr>
          <a:xfrm flipH="1" flipV="1">
            <a:off x="4685530" y="2918285"/>
            <a:ext cx="766909" cy="428691"/>
          </a:xfrm>
          <a:prstGeom prst="straightConnector1">
            <a:avLst/>
          </a:prstGeom>
          <a:ln w="28575">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63" name="TextBox 162">
            <a:extLst>
              <a:ext uri="{FF2B5EF4-FFF2-40B4-BE49-F238E27FC236}">
                <a16:creationId xmlns:a16="http://schemas.microsoft.com/office/drawing/2014/main" id="{B35AFC9F-0D0D-F546-947E-40DFF8A066A3}"/>
              </a:ext>
            </a:extLst>
          </p:cNvPr>
          <p:cNvSpPr txBox="1"/>
          <p:nvPr/>
        </p:nvSpPr>
        <p:spPr>
          <a:xfrm>
            <a:off x="5058050" y="2983230"/>
            <a:ext cx="667170" cy="246221"/>
          </a:xfrm>
          <a:prstGeom prst="rect">
            <a:avLst/>
          </a:prstGeom>
          <a:noFill/>
        </p:spPr>
        <p:txBody>
          <a:bodyPr wrap="none" rtlCol="0">
            <a:spAutoFit/>
          </a:bodyPr>
          <a:lstStyle/>
          <a:p>
            <a:r>
              <a:rPr lang="en-US" sz="1000" dirty="0">
                <a:solidFill>
                  <a:srgbClr val="0070C0"/>
                </a:solidFill>
              </a:rPr>
              <a:t>&lt;180,V&gt;</a:t>
            </a:r>
          </a:p>
        </p:txBody>
      </p:sp>
      <p:cxnSp>
        <p:nvCxnSpPr>
          <p:cNvPr id="37" name="Straight Arrow Connector 36">
            <a:extLst>
              <a:ext uri="{FF2B5EF4-FFF2-40B4-BE49-F238E27FC236}">
                <a16:creationId xmlns:a16="http://schemas.microsoft.com/office/drawing/2014/main" id="{96B5D3D9-BEE6-9741-8F20-C594F7B3CDCC}"/>
              </a:ext>
            </a:extLst>
          </p:cNvPr>
          <p:cNvCxnSpPr/>
          <p:nvPr/>
        </p:nvCxnSpPr>
        <p:spPr>
          <a:xfrm flipH="1">
            <a:off x="3531087" y="3599180"/>
            <a:ext cx="1170165" cy="0"/>
          </a:xfrm>
          <a:prstGeom prst="straightConnector1">
            <a:avLst/>
          </a:prstGeom>
          <a:ln w="28575">
            <a:solidFill>
              <a:srgbClr val="0070C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49" name="TextBox 148">
            <a:extLst>
              <a:ext uri="{FF2B5EF4-FFF2-40B4-BE49-F238E27FC236}">
                <a16:creationId xmlns:a16="http://schemas.microsoft.com/office/drawing/2014/main" id="{C01BD239-113F-6840-923E-CC964B6EB707}"/>
              </a:ext>
            </a:extLst>
          </p:cNvPr>
          <p:cNvSpPr txBox="1"/>
          <p:nvPr/>
        </p:nvSpPr>
        <p:spPr>
          <a:xfrm>
            <a:off x="3779681" y="3348739"/>
            <a:ext cx="723275" cy="246221"/>
          </a:xfrm>
          <a:prstGeom prst="rect">
            <a:avLst/>
          </a:prstGeom>
          <a:noFill/>
        </p:spPr>
        <p:txBody>
          <a:bodyPr wrap="none" rtlCol="0">
            <a:spAutoFit/>
          </a:bodyPr>
          <a:lstStyle/>
          <a:p>
            <a:r>
              <a:rPr lang="en-US" sz="1000" dirty="0">
                <a:solidFill>
                  <a:srgbClr val="0070C0"/>
                </a:solidFill>
              </a:rPr>
              <a:t>Get (180)</a:t>
            </a:r>
          </a:p>
        </p:txBody>
      </p:sp>
      <p:grpSp>
        <p:nvGrpSpPr>
          <p:cNvPr id="150" name="Google Shape;318;p7">
            <a:extLst>
              <a:ext uri="{FF2B5EF4-FFF2-40B4-BE49-F238E27FC236}">
                <a16:creationId xmlns:a16="http://schemas.microsoft.com/office/drawing/2014/main" id="{8B326ED6-3319-1D43-8A7E-F8CFE25E92DC}"/>
              </a:ext>
            </a:extLst>
          </p:cNvPr>
          <p:cNvGrpSpPr/>
          <p:nvPr/>
        </p:nvGrpSpPr>
        <p:grpSpPr>
          <a:xfrm>
            <a:off x="2367923" y="4029215"/>
            <a:ext cx="947702" cy="223108"/>
            <a:chOff x="0" y="37022"/>
            <a:chExt cx="947701" cy="223107"/>
          </a:xfrm>
        </p:grpSpPr>
        <p:sp>
          <p:nvSpPr>
            <p:cNvPr id="151" name="Google Shape;319;p7">
              <a:extLst>
                <a:ext uri="{FF2B5EF4-FFF2-40B4-BE49-F238E27FC236}">
                  <a16:creationId xmlns:a16="http://schemas.microsoft.com/office/drawing/2014/main" id="{B1F3BA8B-451F-264D-A665-589CF3F6969E}"/>
                </a:ext>
              </a:extLst>
            </p:cNvPr>
            <p:cNvSpPr/>
            <p:nvPr/>
          </p:nvSpPr>
          <p:spPr>
            <a:xfrm>
              <a:off x="0" y="67574"/>
              <a:ext cx="947701" cy="162002"/>
            </a:xfrm>
            <a:prstGeom prst="rect">
              <a:avLst/>
            </a:prstGeom>
            <a:solidFill>
              <a:srgbClr val="00B0F0"/>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Arial"/>
                <a:ea typeface="Arial"/>
                <a:cs typeface="Arial"/>
                <a:sym typeface="Arial"/>
              </a:endParaRPr>
            </a:p>
          </p:txBody>
        </p:sp>
        <p:sp>
          <p:nvSpPr>
            <p:cNvPr id="152" name="Google Shape;320;p7">
              <a:extLst>
                <a:ext uri="{FF2B5EF4-FFF2-40B4-BE49-F238E27FC236}">
                  <a16:creationId xmlns:a16="http://schemas.microsoft.com/office/drawing/2014/main" id="{24A9860B-D2EB-5F4A-885A-5ED35C129914}"/>
                </a:ext>
              </a:extLst>
            </p:cNvPr>
            <p:cNvSpPr/>
            <p:nvPr/>
          </p:nvSpPr>
          <p:spPr>
            <a:xfrm>
              <a:off x="0" y="37022"/>
              <a:ext cx="947701" cy="223107"/>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&lt;180, V&gt;</a:t>
              </a:r>
              <a:endParaRPr sz="1000" dirty="0"/>
            </a:p>
          </p:txBody>
        </p:sp>
      </p:grpSp>
      <p:sp>
        <p:nvSpPr>
          <p:cNvPr id="155" name="Google Shape;739;p15">
            <a:extLst>
              <a:ext uri="{FF2B5EF4-FFF2-40B4-BE49-F238E27FC236}">
                <a16:creationId xmlns:a16="http://schemas.microsoft.com/office/drawing/2014/main" id="{5B0471B0-04E4-8749-839D-006FCD12D221}"/>
              </a:ext>
            </a:extLst>
          </p:cNvPr>
          <p:cNvSpPr txBox="1">
            <a:spLocks noGrp="1"/>
          </p:cNvSpPr>
          <p:nvPr>
            <p:ph type="body" idx="1"/>
          </p:nvPr>
        </p:nvSpPr>
        <p:spPr>
          <a:xfrm>
            <a:off x="506495" y="1288741"/>
            <a:ext cx="7886700" cy="780419"/>
          </a:xfrm>
          <a:prstGeom prst="rect">
            <a:avLst/>
          </a:prstGeom>
          <a:noFill/>
          <a:ln>
            <a:noFill/>
          </a:ln>
        </p:spPr>
        <p:txBody>
          <a:bodyPr spcFirstLastPara="1" wrap="square" lIns="34275" tIns="34275" rIns="34275" bIns="34275" anchor="t" anchorCtr="0">
            <a:normAutofit fontScale="92500" lnSpcReduction="20000"/>
          </a:bodyPr>
          <a:lstStyle/>
          <a:p>
            <a:pPr marL="457200" lvl="0" indent="-317500" algn="l" rtl="0">
              <a:lnSpc>
                <a:spcPct val="110000"/>
              </a:lnSpc>
              <a:spcBef>
                <a:spcPts val="0"/>
              </a:spcBef>
              <a:spcAft>
                <a:spcPts val="0"/>
              </a:spcAft>
              <a:buSzPts val="2100"/>
              <a:buChar char="•"/>
            </a:pPr>
            <a:r>
              <a:rPr lang="en-US" sz="1800" dirty="0">
                <a:solidFill>
                  <a:srgbClr val="000000"/>
                </a:solidFill>
                <a:latin typeface="Calibri"/>
                <a:ea typeface="Calibri"/>
                <a:cs typeface="Calibri"/>
                <a:sym typeface="Calibri"/>
              </a:rPr>
              <a:t>Workflow: </a:t>
            </a:r>
          </a:p>
          <a:p>
            <a:pPr lvl="1" indent="-317500">
              <a:lnSpc>
                <a:spcPct val="110000"/>
              </a:lnSpc>
            </a:pPr>
            <a:r>
              <a:rPr lang="en-US" sz="1600" dirty="0">
                <a:solidFill>
                  <a:schemeClr val="tx1"/>
                </a:solidFill>
                <a:latin typeface="Calibri"/>
                <a:ea typeface="Calibri"/>
                <a:cs typeface="Calibri"/>
                <a:sym typeface="Calibri"/>
              </a:rPr>
              <a:t>Destination handles client’s requests during migration</a:t>
            </a:r>
          </a:p>
          <a:p>
            <a:pPr lvl="1" indent="-317500">
              <a:lnSpc>
                <a:spcPct val="110000"/>
              </a:lnSpc>
            </a:pPr>
            <a:r>
              <a:rPr lang="en-US" sz="1600" dirty="0">
                <a:solidFill>
                  <a:schemeClr val="tx1"/>
                </a:solidFill>
                <a:latin typeface="Calibri" panose="020F0502020204030204" pitchFamily="34" charset="0"/>
                <a:cs typeface="Calibri" panose="020F0502020204030204" pitchFamily="34" charset="0"/>
              </a:rPr>
              <a:t>Destination pulls tuples from source on demand</a:t>
            </a:r>
            <a:endParaRPr lang="en-US" sz="1600" dirty="0">
              <a:solidFill>
                <a:schemeClr val="tx1"/>
              </a:solidFill>
              <a:latin typeface="Calibri" panose="020F0502020204030204" pitchFamily="34" charset="0"/>
              <a:ea typeface="Calibri"/>
              <a:cs typeface="Calibri" panose="020F0502020204030204" pitchFamily="34" charset="0"/>
              <a:sym typeface="Calibri"/>
            </a:endParaRPr>
          </a:p>
        </p:txBody>
      </p:sp>
      <p:sp>
        <p:nvSpPr>
          <p:cNvPr id="156" name="Google Shape;739;p15">
            <a:extLst>
              <a:ext uri="{FF2B5EF4-FFF2-40B4-BE49-F238E27FC236}">
                <a16:creationId xmlns:a16="http://schemas.microsoft.com/office/drawing/2014/main" id="{FB379D1D-2211-014C-A3BF-1D9DBD74DFF8}"/>
              </a:ext>
            </a:extLst>
          </p:cNvPr>
          <p:cNvSpPr txBox="1">
            <a:spLocks/>
          </p:cNvSpPr>
          <p:nvPr/>
        </p:nvSpPr>
        <p:spPr>
          <a:xfrm>
            <a:off x="512527" y="1963086"/>
            <a:ext cx="7886700" cy="780419"/>
          </a:xfrm>
          <a:prstGeom prst="rect">
            <a:avLst/>
          </a:prstGeom>
          <a:noFill/>
          <a:ln>
            <a:noFill/>
          </a:ln>
        </p:spPr>
        <p:txBody>
          <a:bodyPr spcFirstLastPara="1" wrap="square" lIns="34275" tIns="34275" rIns="34275" bIns="34275"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8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1pPr>
            <a:lvl2pPr marL="914400" marR="0" lvl="1"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2pPr>
            <a:lvl3pPr marL="1371600" marR="0" lvl="2"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3pPr>
            <a:lvl4pPr marL="1828800" marR="0" lvl="3"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4pPr>
            <a:lvl5pPr marL="2286000" marR="0" lvl="4"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5pPr>
            <a:lvl6pPr marL="2743200" marR="0" lvl="5"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6pPr>
            <a:lvl7pPr marL="3200400" marR="0" lvl="6"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7pPr>
            <a:lvl8pPr marL="3657600" marR="0" lvl="7"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8pPr>
            <a:lvl9pPr marL="4114800" marR="0" lvl="8"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9pPr>
          </a:lstStyle>
          <a:p>
            <a:pPr indent="-317500">
              <a:lnSpc>
                <a:spcPct val="110000"/>
              </a:lnSpc>
              <a:spcBef>
                <a:spcPts val="0"/>
              </a:spcBef>
            </a:pPr>
            <a:r>
              <a:rPr lang="en-US" sz="1500" dirty="0">
                <a:solidFill>
                  <a:schemeClr val="tx1"/>
                </a:solidFill>
              </a:rPr>
              <a:t>Limitations: </a:t>
            </a:r>
          </a:p>
          <a:p>
            <a:pPr lvl="1" indent="-317500">
              <a:lnSpc>
                <a:spcPct val="110000"/>
              </a:lnSpc>
            </a:pPr>
            <a:r>
              <a:rPr lang="en-US" sz="1300" dirty="0">
                <a:solidFill>
                  <a:schemeClr val="tx1"/>
                </a:solidFill>
              </a:rPr>
              <a:t>The extra round-trip between source and destination for a read request incurs notable latency</a:t>
            </a:r>
          </a:p>
        </p:txBody>
      </p:sp>
      <p:sp>
        <p:nvSpPr>
          <p:cNvPr id="138" name="Google Shape;344;p7">
            <a:extLst>
              <a:ext uri="{FF2B5EF4-FFF2-40B4-BE49-F238E27FC236}">
                <a16:creationId xmlns:a16="http://schemas.microsoft.com/office/drawing/2014/main" id="{2EDFD5D7-E30D-2E48-88B0-E43F62D843CE}"/>
              </a:ext>
            </a:extLst>
          </p:cNvPr>
          <p:cNvSpPr/>
          <p:nvPr/>
        </p:nvSpPr>
        <p:spPr>
          <a:xfrm>
            <a:off x="4812011" y="4101857"/>
            <a:ext cx="947702" cy="162003"/>
          </a:xfrm>
          <a:prstGeom prst="rect">
            <a:avLst/>
          </a:prstGeom>
          <a:solidFill>
            <a:srgbClr val="B4A7D6"/>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algn="ctr">
              <a:buSzPts val="1100"/>
            </a:pPr>
            <a:r>
              <a:rPr lang="en-US" sz="1100" dirty="0">
                <a:latin typeface="Calibri"/>
                <a:ea typeface="Calibri"/>
                <a:cs typeface="Calibri"/>
                <a:sym typeface="Calibri"/>
              </a:rPr>
              <a:t>&lt;100, V&gt;</a:t>
            </a:r>
            <a:endParaRPr lang="en-US" sz="1100" dirty="0"/>
          </a:p>
        </p:txBody>
      </p:sp>
      <p:sp>
        <p:nvSpPr>
          <p:cNvPr id="143" name="TextBox 142">
            <a:extLst>
              <a:ext uri="{FF2B5EF4-FFF2-40B4-BE49-F238E27FC236}">
                <a16:creationId xmlns:a16="http://schemas.microsoft.com/office/drawing/2014/main" id="{FFC304A5-7641-0047-A50D-5E4B0767BF2D}"/>
              </a:ext>
            </a:extLst>
          </p:cNvPr>
          <p:cNvSpPr txBox="1"/>
          <p:nvPr/>
        </p:nvSpPr>
        <p:spPr>
          <a:xfrm>
            <a:off x="4061994" y="3071659"/>
            <a:ext cx="723275" cy="246221"/>
          </a:xfrm>
          <a:prstGeom prst="rect">
            <a:avLst/>
          </a:prstGeom>
          <a:noFill/>
        </p:spPr>
        <p:txBody>
          <a:bodyPr wrap="square" rtlCol="0">
            <a:spAutoFit/>
          </a:bodyPr>
          <a:lstStyle/>
          <a:p>
            <a:r>
              <a:rPr lang="en-US" sz="1000" dirty="0"/>
              <a:t>Get (180)</a:t>
            </a:r>
          </a:p>
        </p:txBody>
      </p:sp>
      <p:sp>
        <p:nvSpPr>
          <p:cNvPr id="140" name="TextBox 139">
            <a:extLst>
              <a:ext uri="{FF2B5EF4-FFF2-40B4-BE49-F238E27FC236}">
                <a16:creationId xmlns:a16="http://schemas.microsoft.com/office/drawing/2014/main" id="{51B32CD9-6FB8-8D4E-912C-FA95A90F0052}"/>
              </a:ext>
            </a:extLst>
          </p:cNvPr>
          <p:cNvSpPr txBox="1"/>
          <p:nvPr/>
        </p:nvSpPr>
        <p:spPr>
          <a:xfrm>
            <a:off x="5288500" y="2733728"/>
            <a:ext cx="742511" cy="307777"/>
          </a:xfrm>
          <a:prstGeom prst="rect">
            <a:avLst/>
          </a:prstGeom>
          <a:noFill/>
        </p:spPr>
        <p:txBody>
          <a:bodyPr wrap="none" rtlCol="0">
            <a:spAutoFit/>
          </a:bodyPr>
          <a:lstStyle/>
          <a:p>
            <a:r>
              <a:rPr lang="en-US" dirty="0"/>
              <a:t>Client2</a:t>
            </a:r>
          </a:p>
        </p:txBody>
      </p:sp>
      <p:sp>
        <p:nvSpPr>
          <p:cNvPr id="141" name="TextBox 140">
            <a:extLst>
              <a:ext uri="{FF2B5EF4-FFF2-40B4-BE49-F238E27FC236}">
                <a16:creationId xmlns:a16="http://schemas.microsoft.com/office/drawing/2014/main" id="{C9CF7F76-39ED-A94F-AE9D-DD9C703D6D85}"/>
              </a:ext>
            </a:extLst>
          </p:cNvPr>
          <p:cNvSpPr txBox="1"/>
          <p:nvPr/>
        </p:nvSpPr>
        <p:spPr>
          <a:xfrm>
            <a:off x="6522441" y="2721490"/>
            <a:ext cx="742511" cy="307777"/>
          </a:xfrm>
          <a:prstGeom prst="rect">
            <a:avLst/>
          </a:prstGeom>
          <a:noFill/>
        </p:spPr>
        <p:txBody>
          <a:bodyPr wrap="none" rtlCol="0">
            <a:spAutoFit/>
          </a:bodyPr>
          <a:lstStyle/>
          <a:p>
            <a:r>
              <a:rPr lang="en-US" dirty="0"/>
              <a:t>Client3</a:t>
            </a:r>
          </a:p>
        </p:txBody>
      </p:sp>
      <p:cxnSp>
        <p:nvCxnSpPr>
          <p:cNvPr id="3" name="Straight Arrow Connector 2">
            <a:extLst>
              <a:ext uri="{FF2B5EF4-FFF2-40B4-BE49-F238E27FC236}">
                <a16:creationId xmlns:a16="http://schemas.microsoft.com/office/drawing/2014/main" id="{DD144651-EA0C-1645-ADD5-F06516A1CC15}"/>
              </a:ext>
            </a:extLst>
          </p:cNvPr>
          <p:cNvCxnSpPr>
            <a:stCxn id="140" idx="2"/>
          </p:cNvCxnSpPr>
          <p:nvPr/>
        </p:nvCxnSpPr>
        <p:spPr>
          <a:xfrm flipH="1">
            <a:off x="5494165" y="3041505"/>
            <a:ext cx="165591" cy="334567"/>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8A7D3947-FBE0-7748-B757-DE9BADD28909}"/>
              </a:ext>
            </a:extLst>
          </p:cNvPr>
          <p:cNvCxnSpPr>
            <a:cxnSpLocks/>
            <a:stCxn id="141" idx="2"/>
          </p:cNvCxnSpPr>
          <p:nvPr/>
        </p:nvCxnSpPr>
        <p:spPr>
          <a:xfrm flipH="1">
            <a:off x="5781509" y="3029267"/>
            <a:ext cx="1112188" cy="346805"/>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901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8"/>
                                        </p:tgtEl>
                                        <p:attrNameLst>
                                          <p:attrName>style.visibility</p:attrName>
                                        </p:attrNameLst>
                                      </p:cBhvr>
                                      <p:to>
                                        <p:strVal val="visible"/>
                                      </p:to>
                                    </p:set>
                                    <p:animEffect transition="in" filter="fade">
                                      <p:cBhvr>
                                        <p:cTn id="7" dur="500"/>
                                        <p:tgtEl>
                                          <p:spTgt spid="148"/>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147"/>
                                        </p:tgtEl>
                                        <p:attrNameLst>
                                          <p:attrName>style.visibility</p:attrName>
                                        </p:attrNameLst>
                                      </p:cBhvr>
                                      <p:to>
                                        <p:strVal val="visible"/>
                                      </p:to>
                                    </p:set>
                                    <p:animEffect transition="in" filter="fade">
                                      <p:cBhvr>
                                        <p:cTn id="13" dur="500"/>
                                        <p:tgtEl>
                                          <p:spTgt spid="14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3"/>
                                        </p:tgtEl>
                                      </p:cBhvr>
                                    </p:animEffect>
                                    <p:set>
                                      <p:cBhvr>
                                        <p:cTn id="18" dur="1" fill="hold">
                                          <p:stCondLst>
                                            <p:cond delay="499"/>
                                          </p:stCondLst>
                                        </p:cTn>
                                        <p:tgtEl>
                                          <p:spTgt spid="3"/>
                                        </p:tgtEl>
                                        <p:attrNameLst>
                                          <p:attrName>style.visibility</p:attrName>
                                        </p:attrNameLst>
                                      </p:cBhvr>
                                      <p:to>
                                        <p:strVal val="hidden"/>
                                      </p:to>
                                    </p:set>
                                  </p:childTnLst>
                                </p:cTn>
                              </p:par>
                              <p:par>
                                <p:cTn id="19" presetID="10" presetClass="exit" presetSubtype="0" fill="hold" grpId="0" nodeType="withEffect">
                                  <p:stCondLst>
                                    <p:cond delay="0"/>
                                  </p:stCondLst>
                                  <p:childTnLst>
                                    <p:animEffect transition="out" filter="fade">
                                      <p:cBhvr>
                                        <p:cTn id="20" dur="500"/>
                                        <p:tgtEl>
                                          <p:spTgt spid="140"/>
                                        </p:tgtEl>
                                      </p:cBhvr>
                                    </p:animEffect>
                                    <p:set>
                                      <p:cBhvr>
                                        <p:cTn id="21" dur="1" fill="hold">
                                          <p:stCondLst>
                                            <p:cond delay="499"/>
                                          </p:stCondLst>
                                        </p:cTn>
                                        <p:tgtEl>
                                          <p:spTgt spid="140"/>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147"/>
                                        </p:tgtEl>
                                      </p:cBhvr>
                                    </p:animEffect>
                                    <p:set>
                                      <p:cBhvr>
                                        <p:cTn id="24" dur="1" fill="hold">
                                          <p:stCondLst>
                                            <p:cond delay="499"/>
                                          </p:stCondLst>
                                        </p:cTn>
                                        <p:tgtEl>
                                          <p:spTgt spid="147"/>
                                        </p:tgtEl>
                                        <p:attrNameLst>
                                          <p:attrName>style.visibility</p:attrName>
                                        </p:attrNameLst>
                                      </p:cBhvr>
                                      <p:to>
                                        <p:strVal val="hidden"/>
                                      </p:to>
                                    </p:set>
                                  </p:childTnLst>
                                </p:cTn>
                              </p:par>
                              <p:par>
                                <p:cTn id="25" presetID="10" presetClass="exit" presetSubtype="0" fill="hold" grpId="0" nodeType="withEffect">
                                  <p:stCondLst>
                                    <p:cond delay="0"/>
                                  </p:stCondLst>
                                  <p:childTnLst>
                                    <p:animEffect transition="out" filter="fade">
                                      <p:cBhvr>
                                        <p:cTn id="26" dur="500"/>
                                        <p:tgtEl>
                                          <p:spTgt spid="141"/>
                                        </p:tgtEl>
                                      </p:cBhvr>
                                    </p:animEffect>
                                    <p:set>
                                      <p:cBhvr>
                                        <p:cTn id="27" dur="1" fill="hold">
                                          <p:stCondLst>
                                            <p:cond delay="499"/>
                                          </p:stCondLst>
                                        </p:cTn>
                                        <p:tgtEl>
                                          <p:spTgt spid="141"/>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48"/>
                                        </p:tgtEl>
                                        <p:attrNameLst>
                                          <p:attrName>style.visibility</p:attrName>
                                        </p:attrNameLst>
                                      </p:cBhvr>
                                      <p:to>
                                        <p:strVal val="visible"/>
                                      </p:to>
                                    </p:set>
                                    <p:animEffect transition="in" filter="fade">
                                      <p:cBhvr>
                                        <p:cTn id="30" dur="500"/>
                                        <p:tgtEl>
                                          <p:spTgt spid="148"/>
                                        </p:tgtEl>
                                      </p:cBhvr>
                                    </p:animEffect>
                                  </p:childTnLst>
                                </p:cTn>
                              </p:par>
                              <p:par>
                                <p:cTn id="31" presetID="10" presetClass="entr" presetSubtype="0" fill="hold" nodeType="withEffect">
                                  <p:stCondLst>
                                    <p:cond delay="0"/>
                                  </p:stCondLst>
                                  <p:childTnLst>
                                    <p:set>
                                      <p:cBhvr>
                                        <p:cTn id="32" dur="1" fill="hold">
                                          <p:stCondLst>
                                            <p:cond delay="0"/>
                                          </p:stCondLst>
                                        </p:cTn>
                                        <p:tgtEl>
                                          <p:spTgt spid="148"/>
                                        </p:tgtEl>
                                        <p:attrNameLst>
                                          <p:attrName>style.visibility</p:attrName>
                                        </p:attrNameLst>
                                      </p:cBhvr>
                                      <p:to>
                                        <p:strVal val="visible"/>
                                      </p:to>
                                    </p:set>
                                    <p:animEffect transition="in" filter="fade">
                                      <p:cBhvr>
                                        <p:cTn id="33" dur="500"/>
                                        <p:tgtEl>
                                          <p:spTgt spid="14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3"/>
                                        </p:tgtEl>
                                        <p:attrNameLst>
                                          <p:attrName>style.visibility</p:attrName>
                                        </p:attrNameLst>
                                      </p:cBhvr>
                                      <p:to>
                                        <p:strVal val="visible"/>
                                      </p:to>
                                    </p:set>
                                    <p:animEffect transition="in" filter="fade">
                                      <p:cBhvr>
                                        <p:cTn id="36" dur="500"/>
                                        <p:tgtEl>
                                          <p:spTgt spid="14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9"/>
                                        </p:tgtEl>
                                        <p:attrNameLst>
                                          <p:attrName>style.visibility</p:attrName>
                                        </p:attrNameLst>
                                      </p:cBhvr>
                                      <p:to>
                                        <p:strVal val="visible"/>
                                      </p:to>
                                    </p:set>
                                    <p:animEffect transition="in" filter="fade">
                                      <p:cBhvr>
                                        <p:cTn id="41" dur="500"/>
                                        <p:tgtEl>
                                          <p:spTgt spid="149"/>
                                        </p:tgtEl>
                                      </p:cBhvr>
                                    </p:animEffect>
                                  </p:childTnLst>
                                </p:cTn>
                              </p:par>
                              <p:par>
                                <p:cTn id="42" presetID="10" presetClass="entr" presetSubtype="0" fill="hold" nodeType="with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500"/>
                                        <p:tgtEl>
                                          <p:spTgt spid="37"/>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150"/>
                                        </p:tgtEl>
                                        <p:attrNameLst>
                                          <p:attrName>style.visibility</p:attrName>
                                        </p:attrNameLst>
                                      </p:cBhvr>
                                      <p:to>
                                        <p:strVal val="visible"/>
                                      </p:to>
                                    </p:set>
                                    <p:animEffect transition="in" filter="fade">
                                      <p:cBhvr>
                                        <p:cTn id="48" dur="500"/>
                                        <p:tgtEl>
                                          <p:spTgt spid="150"/>
                                        </p:tgtEl>
                                      </p:cBhvr>
                                    </p:animEffect>
                                  </p:childTnLst>
                                </p:cTn>
                              </p:par>
                              <p:par>
                                <p:cTn id="49" presetID="0" presetClass="path" presetSubtype="0" accel="50000" decel="50000" fill="hold" nodeType="withEffect">
                                  <p:stCondLst>
                                    <p:cond delay="0"/>
                                  </p:stCondLst>
                                  <p:childTnLst>
                                    <p:animMotion origin="layout" path="M -0.00104 0.00154 L 0.2665 0.03642 " pathEditMode="relative" rAng="0" ptsTypes="AA">
                                      <p:cBhvr>
                                        <p:cTn id="50" dur="2000" fill="hold"/>
                                        <p:tgtEl>
                                          <p:spTgt spid="150"/>
                                        </p:tgtEl>
                                        <p:attrNameLst>
                                          <p:attrName>ppt_x</p:attrName>
                                          <p:attrName>ppt_y</p:attrName>
                                        </p:attrNameLst>
                                      </p:cBhvr>
                                      <p:rCtr x="13368" y="1728"/>
                                    </p:animMotion>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63"/>
                                        </p:tgtEl>
                                        <p:attrNameLst>
                                          <p:attrName>style.visibility</p:attrName>
                                        </p:attrNameLst>
                                      </p:cBhvr>
                                      <p:to>
                                        <p:strVal val="visible"/>
                                      </p:to>
                                    </p:set>
                                    <p:animEffect transition="in" filter="fade">
                                      <p:cBhvr>
                                        <p:cTn id="55" dur="500"/>
                                        <p:tgtEl>
                                          <p:spTgt spid="163"/>
                                        </p:tgtEl>
                                      </p:cBhvr>
                                    </p:animEffect>
                                  </p:childTnLst>
                                </p:cTn>
                              </p:par>
                              <p:par>
                                <p:cTn id="56" presetID="10" presetClass="entr" presetSubtype="0" fill="hold" nodeType="withEffect">
                                  <p:stCondLst>
                                    <p:cond delay="0"/>
                                  </p:stCondLst>
                                  <p:childTnLst>
                                    <p:set>
                                      <p:cBhvr>
                                        <p:cTn id="57" dur="1" fill="hold">
                                          <p:stCondLst>
                                            <p:cond delay="0"/>
                                          </p:stCondLst>
                                        </p:cTn>
                                        <p:tgtEl>
                                          <p:spTgt spid="157"/>
                                        </p:tgtEl>
                                        <p:attrNameLst>
                                          <p:attrName>style.visibility</p:attrName>
                                        </p:attrNameLst>
                                      </p:cBhvr>
                                      <p:to>
                                        <p:strVal val="visible"/>
                                      </p:to>
                                    </p:set>
                                    <p:animEffect transition="in" filter="fade">
                                      <p:cBhvr>
                                        <p:cTn id="58" dur="500"/>
                                        <p:tgtEl>
                                          <p:spTgt spid="15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56"/>
                                        </p:tgtEl>
                                        <p:attrNameLst>
                                          <p:attrName>style.visibility</p:attrName>
                                        </p:attrNameLst>
                                      </p:cBhvr>
                                      <p:to>
                                        <p:strVal val="visible"/>
                                      </p:to>
                                    </p:set>
                                    <p:animEffect transition="in" filter="fade">
                                      <p:cBhvr>
                                        <p:cTn id="63" dur="5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 grpId="0"/>
      <p:bldP spid="149" grpId="0"/>
      <p:bldP spid="156" grpId="0"/>
      <p:bldP spid="143" grpId="0"/>
      <p:bldP spid="140" grpId="0"/>
      <p:bldP spid="1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E18C90D-FA48-C941-AF83-0065997275B4}"/>
              </a:ext>
            </a:extLst>
          </p:cNvPr>
          <p:cNvPicPr>
            <a:picLocks noChangeAspect="1"/>
          </p:cNvPicPr>
          <p:nvPr/>
        </p:nvPicPr>
        <p:blipFill>
          <a:blip r:embed="rId3"/>
          <a:stretch>
            <a:fillRect/>
          </a:stretch>
        </p:blipFill>
        <p:spPr>
          <a:xfrm>
            <a:off x="0" y="1208618"/>
            <a:ext cx="4607153" cy="1971040"/>
          </a:xfrm>
          <a:prstGeom prst="rect">
            <a:avLst/>
          </a:prstGeom>
        </p:spPr>
      </p:pic>
      <p:graphicFrame>
        <p:nvGraphicFramePr>
          <p:cNvPr id="44" name="Google Shape;1459;g6254bb81a6_0_4">
            <a:extLst>
              <a:ext uri="{FF2B5EF4-FFF2-40B4-BE49-F238E27FC236}">
                <a16:creationId xmlns:a16="http://schemas.microsoft.com/office/drawing/2014/main" id="{E2B1B756-6457-7945-A9EF-D764E5683B29}"/>
              </a:ext>
            </a:extLst>
          </p:cNvPr>
          <p:cNvGraphicFramePr/>
          <p:nvPr>
            <p:extLst>
              <p:ext uri="{D42A27DB-BD31-4B8C-83A1-F6EECF244321}">
                <p14:modId xmlns:p14="http://schemas.microsoft.com/office/powerpoint/2010/main" val="1740004594"/>
              </p:ext>
            </p:extLst>
          </p:nvPr>
        </p:nvGraphicFramePr>
        <p:xfrm>
          <a:off x="4677492" y="3136060"/>
          <a:ext cx="4337075" cy="1889640"/>
        </p:xfrm>
        <a:graphic>
          <a:graphicData uri="http://schemas.openxmlformats.org/drawingml/2006/table">
            <a:tbl>
              <a:tblPr>
                <a:noFill/>
                <a:tableStyleId>{792F84B4-0B30-445A-B3BC-8A7FA9196EF1}</a:tableStyleId>
              </a:tblPr>
              <a:tblGrid>
                <a:gridCol w="1158415">
                  <a:extLst>
                    <a:ext uri="{9D8B030D-6E8A-4147-A177-3AD203B41FA5}">
                      <a16:colId xmlns:a16="http://schemas.microsoft.com/office/drawing/2014/main" val="20000"/>
                    </a:ext>
                  </a:extLst>
                </a:gridCol>
                <a:gridCol w="843208">
                  <a:extLst>
                    <a:ext uri="{9D8B030D-6E8A-4147-A177-3AD203B41FA5}">
                      <a16:colId xmlns:a16="http://schemas.microsoft.com/office/drawing/2014/main" val="20001"/>
                    </a:ext>
                  </a:extLst>
                </a:gridCol>
                <a:gridCol w="776937">
                  <a:extLst>
                    <a:ext uri="{9D8B030D-6E8A-4147-A177-3AD203B41FA5}">
                      <a16:colId xmlns:a16="http://schemas.microsoft.com/office/drawing/2014/main" val="20002"/>
                    </a:ext>
                  </a:extLst>
                </a:gridCol>
                <a:gridCol w="691101">
                  <a:extLst>
                    <a:ext uri="{9D8B030D-6E8A-4147-A177-3AD203B41FA5}">
                      <a16:colId xmlns:a16="http://schemas.microsoft.com/office/drawing/2014/main" val="3933671943"/>
                    </a:ext>
                  </a:extLst>
                </a:gridCol>
                <a:gridCol w="867414">
                  <a:extLst>
                    <a:ext uri="{9D8B030D-6E8A-4147-A177-3AD203B41FA5}">
                      <a16:colId xmlns:a16="http://schemas.microsoft.com/office/drawing/2014/main" val="2440186643"/>
                    </a:ext>
                  </a:extLst>
                </a:gridCol>
              </a:tblGrid>
              <a:tr h="243458">
                <a:tc>
                  <a:txBody>
                    <a:bodyPr/>
                    <a:lstStyle/>
                    <a:p>
                      <a:pPr marL="0" lvl="0" indent="0" algn="l" rtl="0">
                        <a:spcBef>
                          <a:spcPts val="0"/>
                        </a:spcBef>
                        <a:spcAft>
                          <a:spcPts val="0"/>
                        </a:spcAft>
                        <a:buNone/>
                      </a:pPr>
                      <a:endParaRPr dirty="0"/>
                    </a:p>
                  </a:txBody>
                  <a:tcPr marL="91425" marR="91425" marT="91425" marB="91425"/>
                </a:tc>
                <a:tc gridSpan="2">
                  <a:txBody>
                    <a:bodyPr/>
                    <a:lstStyle/>
                    <a:p>
                      <a:pPr marL="0" lvl="0" indent="0" algn="ctr" rtl="0">
                        <a:spcBef>
                          <a:spcPts val="0"/>
                        </a:spcBef>
                        <a:spcAft>
                          <a:spcPts val="0"/>
                        </a:spcAft>
                        <a:buNone/>
                      </a:pPr>
                      <a:r>
                        <a:rPr lang="en-US" sz="1000" dirty="0"/>
                        <a:t>Read Mean </a:t>
                      </a:r>
                    </a:p>
                    <a:p>
                      <a:pPr marL="0" lvl="0" indent="0" algn="ctr" rtl="0">
                        <a:spcBef>
                          <a:spcPts val="0"/>
                        </a:spcBef>
                        <a:spcAft>
                          <a:spcPts val="0"/>
                        </a:spcAft>
                        <a:buNone/>
                      </a:pPr>
                      <a:r>
                        <a:rPr lang="en-US" sz="1000" dirty="0"/>
                        <a:t>Latency (µs)</a:t>
                      </a:r>
                      <a:endParaRPr sz="1000" dirty="0"/>
                    </a:p>
                  </a:txBody>
                  <a:tcPr marL="91425" marR="91425" marT="91425" marB="91425"/>
                </a:tc>
                <a:tc hMerge="1">
                  <a:txBody>
                    <a:bodyPr/>
                    <a:lstStyle/>
                    <a:p>
                      <a:endParaRPr lang="en-US"/>
                    </a:p>
                  </a:txBody>
                  <a:tcPr/>
                </a:tc>
                <a:tc gridSpan="2">
                  <a:txBody>
                    <a:bodyPr/>
                    <a:lstStyle/>
                    <a:p>
                      <a:pPr marL="0" lvl="0" indent="0" algn="ctr" rtl="0">
                        <a:spcBef>
                          <a:spcPts val="0"/>
                        </a:spcBef>
                        <a:spcAft>
                          <a:spcPts val="0"/>
                        </a:spcAft>
                        <a:buNone/>
                      </a:pPr>
                      <a:r>
                        <a:rPr lang="en-US" sz="1000" dirty="0"/>
                        <a:t>Write Mean </a:t>
                      </a:r>
                    </a:p>
                    <a:p>
                      <a:pPr marL="0" lvl="0" indent="0" algn="ctr" rtl="0">
                        <a:spcBef>
                          <a:spcPts val="0"/>
                        </a:spcBef>
                        <a:spcAft>
                          <a:spcPts val="0"/>
                        </a:spcAft>
                        <a:buNone/>
                      </a:pPr>
                      <a:r>
                        <a:rPr lang="en-US" sz="1000" dirty="0"/>
                        <a:t>Latency (µs)</a:t>
                      </a:r>
                      <a:endParaRPr sz="1000" dirty="0"/>
                    </a:p>
                  </a:txBody>
                  <a:tcPr marL="91425" marR="91425" marT="91425" marB="91425"/>
                </a:tc>
                <a:tc hMerge="1">
                  <a:txBody>
                    <a:bodyPr/>
                    <a:lstStyle/>
                    <a:p>
                      <a:pPr marL="0" lvl="0" indent="0" algn="ctr" rtl="0">
                        <a:spcBef>
                          <a:spcPts val="0"/>
                        </a:spcBef>
                        <a:spcAft>
                          <a:spcPts val="0"/>
                        </a:spcAft>
                        <a:buNone/>
                      </a:pPr>
                      <a:endParaRPr dirty="0"/>
                    </a:p>
                  </a:txBody>
                  <a:tcPr marL="91425" marR="91425" marT="91425" marB="91425"/>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endParaRPr dirty="0"/>
                    </a:p>
                  </a:txBody>
                  <a:tcPr marL="91425" marR="91425" marT="91425" marB="91425"/>
                </a:tc>
                <a:tc>
                  <a:txBody>
                    <a:bodyPr/>
                    <a:lstStyle/>
                    <a:p>
                      <a:pPr marL="0" lvl="0" indent="0" algn="ctr" rtl="0">
                        <a:spcBef>
                          <a:spcPts val="0"/>
                        </a:spcBef>
                        <a:spcAft>
                          <a:spcPts val="0"/>
                        </a:spcAft>
                        <a:buNone/>
                      </a:pPr>
                      <a:r>
                        <a:rPr lang="en-US" sz="900" dirty="0"/>
                        <a:t>source</a:t>
                      </a:r>
                      <a:endParaRPr sz="900" dirty="0"/>
                    </a:p>
                  </a:txBody>
                  <a:tcPr marL="91425" marR="91425" marT="91425" marB="91425"/>
                </a:tc>
                <a:tc>
                  <a:txBody>
                    <a:bodyPr/>
                    <a:lstStyle/>
                    <a:p>
                      <a:pPr marL="0" lvl="0" indent="0" algn="ctr" rtl="0">
                        <a:spcBef>
                          <a:spcPts val="0"/>
                        </a:spcBef>
                        <a:spcAft>
                          <a:spcPts val="0"/>
                        </a:spcAft>
                        <a:buNone/>
                      </a:pPr>
                      <a:r>
                        <a:rPr lang="en-US" sz="900" dirty="0"/>
                        <a:t>destination</a:t>
                      </a:r>
                      <a:endParaRPr sz="900" dirty="0"/>
                    </a:p>
                  </a:txBody>
                  <a:tcPr marL="91425" marR="91425" marT="91425" marB="91425"/>
                </a:tc>
                <a:tc>
                  <a:txBody>
                    <a:bodyPr/>
                    <a:lstStyle/>
                    <a:p>
                      <a:pPr marL="0" lvl="0" indent="0" algn="ctr" rtl="0">
                        <a:spcBef>
                          <a:spcPts val="0"/>
                        </a:spcBef>
                        <a:spcAft>
                          <a:spcPts val="0"/>
                        </a:spcAft>
                        <a:buNone/>
                      </a:pPr>
                      <a:r>
                        <a:rPr lang="en-US" sz="900" dirty="0"/>
                        <a:t>source</a:t>
                      </a:r>
                      <a:endParaRPr sz="900" dirty="0"/>
                    </a:p>
                  </a:txBody>
                  <a:tcPr marL="91425" marR="91425" marT="91425" marB="91425"/>
                </a:tc>
                <a:tc>
                  <a:txBody>
                    <a:bodyPr/>
                    <a:lstStyle/>
                    <a:p>
                      <a:pPr marL="0" lvl="0" indent="0" algn="ctr" rtl="0">
                        <a:spcBef>
                          <a:spcPts val="0"/>
                        </a:spcBef>
                        <a:spcAft>
                          <a:spcPts val="0"/>
                        </a:spcAft>
                        <a:buNone/>
                      </a:pPr>
                      <a:r>
                        <a:rPr lang="en-US" sz="900" dirty="0"/>
                        <a:t>destination</a:t>
                      </a:r>
                      <a:endParaRPr sz="900" dirty="0"/>
                    </a:p>
                  </a:txBody>
                  <a:tcPr marL="91425" marR="91425" marT="91425" marB="91425"/>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sz="900" dirty="0"/>
                        <a:t>Before Migration</a:t>
                      </a:r>
                      <a:endParaRPr sz="900" dirty="0"/>
                    </a:p>
                  </a:txBody>
                  <a:tcPr marL="91425" marR="91425" marT="91425" marB="91425"/>
                </a:tc>
                <a:tc>
                  <a:txBody>
                    <a:bodyPr/>
                    <a:lstStyle/>
                    <a:p>
                      <a:pPr marL="0" lvl="0" indent="0" algn="ctr" rtl="0">
                        <a:spcBef>
                          <a:spcPts val="0"/>
                        </a:spcBef>
                        <a:spcAft>
                          <a:spcPts val="0"/>
                        </a:spcAft>
                        <a:buNone/>
                      </a:pPr>
                      <a:r>
                        <a:rPr lang="en-US" sz="1200" dirty="0"/>
                        <a:t>18.14</a:t>
                      </a:r>
                    </a:p>
                    <a:p>
                      <a:pPr marL="0" lvl="0" indent="0" algn="ctr" rtl="0">
                        <a:spcBef>
                          <a:spcPts val="0"/>
                        </a:spcBef>
                        <a:spcAft>
                          <a:spcPts val="0"/>
                        </a:spcAft>
                        <a:buNone/>
                      </a:pPr>
                      <a:r>
                        <a:rPr lang="en-US" sz="900" b="0" dirty="0">
                          <a:solidFill>
                            <a:schemeClr val="bg2"/>
                          </a:solidFill>
                        </a:rPr>
                        <a:t>(1-400)</a:t>
                      </a:r>
                      <a:endParaRPr sz="900" b="0" dirty="0">
                        <a:solidFill>
                          <a:schemeClr val="bg2"/>
                        </a:solidFill>
                      </a:endParaRPr>
                    </a:p>
                  </a:txBody>
                  <a:tcPr marL="91425" marR="91425" marT="91425" marB="91425"/>
                </a:tc>
                <a:tc>
                  <a:txBody>
                    <a:bodyPr/>
                    <a:lstStyle/>
                    <a:p>
                      <a:pPr marL="0" lvl="0" indent="0" algn="ctr" rtl="0">
                        <a:spcBef>
                          <a:spcPts val="0"/>
                        </a:spcBef>
                        <a:spcAft>
                          <a:spcPts val="0"/>
                        </a:spcAft>
                        <a:buNone/>
                      </a:pPr>
                      <a:r>
                        <a:rPr lang="en-US" sz="1200" dirty="0"/>
                        <a:t>N/A</a:t>
                      </a:r>
                      <a:endParaRPr sz="1200" dirty="0"/>
                    </a:p>
                  </a:txBody>
                  <a:tcPr marL="91425" marR="91425" marT="91425" marB="91425"/>
                </a:tc>
                <a:tc>
                  <a:txBody>
                    <a:bodyPr/>
                    <a:lstStyle/>
                    <a:p>
                      <a:pPr marL="0" lvl="0" indent="0" algn="ctr" rtl="0">
                        <a:spcBef>
                          <a:spcPts val="0"/>
                        </a:spcBef>
                        <a:spcAft>
                          <a:spcPts val="0"/>
                        </a:spcAft>
                        <a:buNone/>
                      </a:pPr>
                      <a:r>
                        <a:rPr lang="en-HK" sz="1200" dirty="0"/>
                        <a:t>42.57</a:t>
                      </a:r>
                    </a:p>
                    <a:p>
                      <a:pPr marL="0" lvl="0" indent="0" algn="ctr" rtl="0">
                        <a:spcBef>
                          <a:spcPts val="0"/>
                        </a:spcBef>
                        <a:spcAft>
                          <a:spcPts val="0"/>
                        </a:spcAft>
                        <a:buNone/>
                      </a:pPr>
                      <a:r>
                        <a:rPr lang="en-US" sz="900" dirty="0">
                          <a:solidFill>
                            <a:schemeClr val="bg2"/>
                          </a:solidFill>
                        </a:rPr>
                        <a:t>(1-400)</a:t>
                      </a:r>
                      <a:endParaRPr sz="900" dirty="0">
                        <a:solidFill>
                          <a:schemeClr val="bg2"/>
                        </a:solidFill>
                      </a:endParaRPr>
                    </a:p>
                  </a:txBody>
                  <a:tcPr marL="91425" marR="91425" marT="91425" marB="91425"/>
                </a:tc>
                <a:tc>
                  <a:txBody>
                    <a:bodyPr/>
                    <a:lstStyle/>
                    <a:p>
                      <a:pPr marL="0" lvl="0" indent="0" algn="ctr" rtl="0">
                        <a:spcBef>
                          <a:spcPts val="0"/>
                        </a:spcBef>
                        <a:spcAft>
                          <a:spcPts val="0"/>
                        </a:spcAft>
                        <a:buNone/>
                      </a:pPr>
                      <a:r>
                        <a:rPr lang="en-US" sz="1200" dirty="0"/>
                        <a:t>N/A</a:t>
                      </a:r>
                      <a:endParaRPr sz="1200" dirty="0"/>
                    </a:p>
                  </a:txBody>
                  <a:tcPr marL="91425" marR="91425" marT="91425" marB="91425"/>
                </a:tc>
                <a:extLst>
                  <a:ext uri="{0D108BD9-81ED-4DB2-BD59-A6C34878D82A}">
                    <a16:rowId xmlns:a16="http://schemas.microsoft.com/office/drawing/2014/main" val="10002"/>
                  </a:ext>
                </a:extLst>
              </a:tr>
              <a:tr h="289110">
                <a:tc>
                  <a:txBody>
                    <a:bodyPr/>
                    <a:lstStyle/>
                    <a:p>
                      <a:pPr marL="0" lvl="0" indent="0" algn="l" rtl="0">
                        <a:spcBef>
                          <a:spcPts val="0"/>
                        </a:spcBef>
                        <a:spcAft>
                          <a:spcPts val="0"/>
                        </a:spcAft>
                        <a:buNone/>
                      </a:pPr>
                      <a:r>
                        <a:rPr lang="en-US" sz="900" dirty="0"/>
                        <a:t>Destination-driven </a:t>
                      </a:r>
                    </a:p>
                    <a:p>
                      <a:pPr marL="0" lvl="0" indent="0" algn="l" rtl="0">
                        <a:spcBef>
                          <a:spcPts val="0"/>
                        </a:spcBef>
                        <a:spcAft>
                          <a:spcPts val="0"/>
                        </a:spcAft>
                        <a:buNone/>
                      </a:pPr>
                      <a:r>
                        <a:rPr lang="en-US" sz="900" dirty="0"/>
                        <a:t>approach</a:t>
                      </a:r>
                    </a:p>
                  </a:txBody>
                  <a:tcPr marL="91425" marR="91425" marT="91425" marB="91425"/>
                </a:tc>
                <a:tc>
                  <a:txBody>
                    <a:bodyPr/>
                    <a:lstStyle/>
                    <a:p>
                      <a:pPr marL="0" lvl="0" indent="0" algn="ctr" rtl="0">
                        <a:spcBef>
                          <a:spcPts val="0"/>
                        </a:spcBef>
                        <a:spcAft>
                          <a:spcPts val="0"/>
                        </a:spcAft>
                        <a:buNone/>
                      </a:pPr>
                      <a:r>
                        <a:rPr lang="en-US" sz="1200" dirty="0"/>
                        <a:t>10.12</a:t>
                      </a:r>
                    </a:p>
                    <a:p>
                      <a:pPr marL="0" lvl="0" indent="0" algn="ctr" rtl="0">
                        <a:spcBef>
                          <a:spcPts val="0"/>
                        </a:spcBef>
                        <a:spcAft>
                          <a:spcPts val="0"/>
                        </a:spcAft>
                        <a:buNone/>
                      </a:pPr>
                      <a:r>
                        <a:rPr lang="en-US" sz="900" dirty="0">
                          <a:solidFill>
                            <a:schemeClr val="bg2"/>
                          </a:solidFill>
                        </a:rPr>
                        <a:t>(201-400)</a:t>
                      </a:r>
                    </a:p>
                  </a:txBody>
                  <a:tcPr marL="91425" marR="91425" marT="91425" marB="91425"/>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solidFill>
                            <a:srgbClr val="FF0000"/>
                          </a:solidFill>
                        </a:rPr>
                        <a:t>62.97</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dirty="0">
                          <a:solidFill>
                            <a:schemeClr val="bg2"/>
                          </a:solidFill>
                        </a:rPr>
                        <a:t>(1-200)</a:t>
                      </a:r>
                    </a:p>
                  </a:txBody>
                  <a:tcPr marL="91425" marR="91425" marT="91425" marB="91425"/>
                </a:tc>
                <a:tc>
                  <a:txBody>
                    <a:bodyPr/>
                    <a:lstStyle/>
                    <a:p>
                      <a:pPr marL="0" lvl="0" indent="0" algn="ctr" rtl="0">
                        <a:spcBef>
                          <a:spcPts val="0"/>
                        </a:spcBef>
                        <a:spcAft>
                          <a:spcPts val="0"/>
                        </a:spcAft>
                        <a:buNone/>
                      </a:pPr>
                      <a:r>
                        <a:rPr lang="en-US" sz="1200" dirty="0">
                          <a:solidFill>
                            <a:schemeClr val="tx1"/>
                          </a:solidFill>
                        </a:rPr>
                        <a:t>33.28</a:t>
                      </a:r>
                    </a:p>
                    <a:p>
                      <a:pPr marL="0" lvl="0" indent="0" algn="ctr" rtl="0">
                        <a:spcBef>
                          <a:spcPts val="0"/>
                        </a:spcBef>
                        <a:spcAft>
                          <a:spcPts val="0"/>
                        </a:spcAft>
                        <a:buNone/>
                      </a:pPr>
                      <a:r>
                        <a:rPr lang="en-US" sz="900" dirty="0">
                          <a:solidFill>
                            <a:schemeClr val="bg2"/>
                          </a:solidFill>
                        </a:rPr>
                        <a:t>(201-400)</a:t>
                      </a:r>
                      <a:endParaRPr sz="900" dirty="0">
                        <a:solidFill>
                          <a:schemeClr val="bg2"/>
                        </a:solidFill>
                      </a:endParaRPr>
                    </a:p>
                  </a:txBody>
                  <a:tcPr marL="91425" marR="91425" marT="91425" marB="91425"/>
                </a:tc>
                <a:tc>
                  <a:txBody>
                    <a:bodyPr/>
                    <a:lstStyle/>
                    <a:p>
                      <a:pPr marL="0" lvl="0" indent="0" algn="ctr" rtl="0">
                        <a:spcBef>
                          <a:spcPts val="0"/>
                        </a:spcBef>
                        <a:spcAft>
                          <a:spcPts val="0"/>
                        </a:spcAft>
                        <a:buNone/>
                      </a:pPr>
                      <a:r>
                        <a:rPr lang="en-US" sz="1200" dirty="0">
                          <a:solidFill>
                            <a:schemeClr val="tx1"/>
                          </a:solidFill>
                        </a:rPr>
                        <a:t>24.22</a:t>
                      </a:r>
                    </a:p>
                    <a:p>
                      <a:pPr marL="0" lvl="0" indent="0" algn="ctr" rtl="0">
                        <a:spcBef>
                          <a:spcPts val="0"/>
                        </a:spcBef>
                        <a:spcAft>
                          <a:spcPts val="0"/>
                        </a:spcAft>
                        <a:buNone/>
                      </a:pPr>
                      <a:r>
                        <a:rPr lang="en-US" sz="900" dirty="0">
                          <a:solidFill>
                            <a:schemeClr val="bg2"/>
                          </a:solidFill>
                        </a:rPr>
                        <a:t>(1-200)</a:t>
                      </a:r>
                      <a:endParaRPr sz="900" dirty="0">
                        <a:solidFill>
                          <a:schemeClr val="bg2"/>
                        </a:solidFill>
                      </a:endParaRPr>
                    </a:p>
                  </a:txBody>
                  <a:tcPr marL="91425" marR="91425" marT="91425" marB="91425"/>
                </a:tc>
                <a:extLst>
                  <a:ext uri="{0D108BD9-81ED-4DB2-BD59-A6C34878D82A}">
                    <a16:rowId xmlns:a16="http://schemas.microsoft.com/office/drawing/2014/main" val="10003"/>
                  </a:ext>
                </a:extLst>
              </a:tr>
            </a:tbl>
          </a:graphicData>
        </a:graphic>
      </p:graphicFrame>
      <p:sp>
        <p:nvSpPr>
          <p:cNvPr id="22" name="Google Shape;738;p15">
            <a:extLst>
              <a:ext uri="{FF2B5EF4-FFF2-40B4-BE49-F238E27FC236}">
                <a16:creationId xmlns:a16="http://schemas.microsoft.com/office/drawing/2014/main" id="{7BF5FAD7-ADB9-7249-89CE-8E20A320A591}"/>
              </a:ext>
            </a:extLst>
          </p:cNvPr>
          <p:cNvSpPr txBox="1">
            <a:spLocks noGrp="1"/>
          </p:cNvSpPr>
          <p:nvPr>
            <p:ph type="title"/>
          </p:nvPr>
        </p:nvSpPr>
        <p:spPr>
          <a:xfrm>
            <a:off x="628650" y="273844"/>
            <a:ext cx="7886700" cy="994200"/>
          </a:xfrm>
          <a:prstGeom prst="rect">
            <a:avLst/>
          </a:prstGeom>
          <a:noFill/>
          <a:ln>
            <a:noFill/>
          </a:ln>
        </p:spPr>
        <p:txBody>
          <a:bodyPr spcFirstLastPara="1" wrap="square" lIns="34275" tIns="34275" rIns="34275" bIns="34275" anchor="ctr" anchorCtr="0">
            <a:normAutofit/>
          </a:bodyPr>
          <a:lstStyle/>
          <a:p>
            <a:pPr lvl="0">
              <a:buSzPts val="3135"/>
            </a:pPr>
            <a:r>
              <a:rPr lang="en-US" sz="3135" dirty="0"/>
              <a:t>The workflow and limitations of destination-driven approach </a:t>
            </a:r>
            <a:r>
              <a:rPr lang="en-US" sz="3135" dirty="0">
                <a:solidFill>
                  <a:schemeClr val="tx1"/>
                </a:solidFill>
              </a:rPr>
              <a:t>(Focus on </a:t>
            </a:r>
            <a:r>
              <a:rPr lang="en-US" sz="3135" dirty="0">
                <a:solidFill>
                  <a:srgbClr val="00B050"/>
                </a:solidFill>
              </a:rPr>
              <a:t>Green line</a:t>
            </a:r>
            <a:r>
              <a:rPr lang="en-US" sz="3135" dirty="0">
                <a:solidFill>
                  <a:schemeClr val="tx1"/>
                </a:solidFill>
              </a:rPr>
              <a:t>)</a:t>
            </a:r>
            <a:endParaRPr dirty="0">
              <a:solidFill>
                <a:schemeClr val="tx1"/>
              </a:solidFill>
            </a:endParaRPr>
          </a:p>
        </p:txBody>
      </p:sp>
      <p:sp>
        <p:nvSpPr>
          <p:cNvPr id="28" name="TextBox 27">
            <a:extLst>
              <a:ext uri="{FF2B5EF4-FFF2-40B4-BE49-F238E27FC236}">
                <a16:creationId xmlns:a16="http://schemas.microsoft.com/office/drawing/2014/main" id="{DFD3A58F-E46B-A14C-BC6C-2E2F737FCA66}"/>
              </a:ext>
            </a:extLst>
          </p:cNvPr>
          <p:cNvSpPr txBox="1"/>
          <p:nvPr/>
        </p:nvSpPr>
        <p:spPr>
          <a:xfrm>
            <a:off x="4628272" y="1271286"/>
            <a:ext cx="4386296" cy="1938992"/>
          </a:xfrm>
          <a:prstGeom prst="rect">
            <a:avLst/>
          </a:prstGeom>
          <a:noFill/>
        </p:spPr>
        <p:txBody>
          <a:bodyPr wrap="square" rtlCol="0">
            <a:spAutoFit/>
          </a:bodyPr>
          <a:lstStyle/>
          <a:p>
            <a:r>
              <a:rPr lang="en-US" sz="1500" dirty="0"/>
              <a:t>Pros:</a:t>
            </a:r>
          </a:p>
          <a:p>
            <a:pPr marL="285750" indent="-285750">
              <a:buFont typeface="Arial" panose="020B0604020202020204" pitchFamily="34" charset="0"/>
              <a:buChar char="•"/>
            </a:pPr>
            <a:r>
              <a:rPr lang="en-US" sz="1500" dirty="0"/>
              <a:t>The latency of write request is reduced</a:t>
            </a:r>
          </a:p>
          <a:p>
            <a:pPr marL="285750" indent="-285750">
              <a:buFont typeface="Arial" panose="020B0604020202020204" pitchFamily="34" charset="0"/>
              <a:buChar char="•"/>
            </a:pPr>
            <a:r>
              <a:rPr lang="en-US" sz="1500" dirty="0"/>
              <a:t>No service down time has to be incurred near the end of migration</a:t>
            </a:r>
          </a:p>
          <a:p>
            <a:endParaRPr lang="en-US" sz="1500" dirty="0"/>
          </a:p>
          <a:p>
            <a:r>
              <a:rPr lang="en-US" sz="1500" dirty="0"/>
              <a:t>Cons:</a:t>
            </a:r>
          </a:p>
          <a:p>
            <a:pPr marL="285750" indent="-285750">
              <a:buFont typeface="Arial" panose="020B0604020202020204" pitchFamily="34" charset="0"/>
              <a:buChar char="•"/>
            </a:pPr>
            <a:r>
              <a:rPr lang="en-US" sz="1500" dirty="0"/>
              <a:t>High latency for read requests</a:t>
            </a:r>
          </a:p>
          <a:p>
            <a:endParaRPr lang="en-US" sz="1500" dirty="0"/>
          </a:p>
        </p:txBody>
      </p:sp>
      <p:sp>
        <p:nvSpPr>
          <p:cNvPr id="36" name="Slide Number Placeholder 1">
            <a:extLst>
              <a:ext uri="{FF2B5EF4-FFF2-40B4-BE49-F238E27FC236}">
                <a16:creationId xmlns:a16="http://schemas.microsoft.com/office/drawing/2014/main" id="{67C4331B-7819-924E-BA71-BA76E8E90D9E}"/>
              </a:ext>
            </a:extLst>
          </p:cNvPr>
          <p:cNvSpPr>
            <a:spLocks noGrp="1"/>
          </p:cNvSpPr>
          <p:nvPr>
            <p:ph type="sldNum" idx="12"/>
          </p:nvPr>
        </p:nvSpPr>
        <p:spPr>
          <a:xfrm>
            <a:off x="8684345" y="4700819"/>
            <a:ext cx="336814" cy="318396"/>
          </a:xfrm>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27" name="Picture 26">
            <a:extLst>
              <a:ext uri="{FF2B5EF4-FFF2-40B4-BE49-F238E27FC236}">
                <a16:creationId xmlns:a16="http://schemas.microsoft.com/office/drawing/2014/main" id="{C50A036E-04B0-0A45-8E40-BC74153E2226}"/>
              </a:ext>
            </a:extLst>
          </p:cNvPr>
          <p:cNvPicPr>
            <a:picLocks noChangeAspect="1"/>
          </p:cNvPicPr>
          <p:nvPr/>
        </p:nvPicPr>
        <p:blipFill>
          <a:blip r:embed="rId4"/>
          <a:stretch>
            <a:fillRect/>
          </a:stretch>
        </p:blipFill>
        <p:spPr>
          <a:xfrm>
            <a:off x="0" y="3048001"/>
            <a:ext cx="4607153" cy="2095500"/>
          </a:xfrm>
          <a:prstGeom prst="rect">
            <a:avLst/>
          </a:prstGeom>
        </p:spPr>
      </p:pic>
      <p:cxnSp>
        <p:nvCxnSpPr>
          <p:cNvPr id="30" name="Straight Connector 29">
            <a:extLst>
              <a:ext uri="{FF2B5EF4-FFF2-40B4-BE49-F238E27FC236}">
                <a16:creationId xmlns:a16="http://schemas.microsoft.com/office/drawing/2014/main" id="{76EA9B66-1C22-A54D-8584-827DBF923D19}"/>
              </a:ext>
            </a:extLst>
          </p:cNvPr>
          <p:cNvCxnSpPr>
            <a:cxnSpLocks/>
          </p:cNvCxnSpPr>
          <p:nvPr/>
        </p:nvCxnSpPr>
        <p:spPr>
          <a:xfrm>
            <a:off x="798480" y="3264202"/>
            <a:ext cx="179096" cy="0"/>
          </a:xfrm>
          <a:prstGeom prst="line">
            <a:avLst/>
          </a:prstGeom>
          <a:ln w="38100">
            <a:solidFill>
              <a:srgbClr val="1F77B5"/>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0624D6E-DCF6-E24C-A642-452EF313AB0D}"/>
              </a:ext>
            </a:extLst>
          </p:cNvPr>
          <p:cNvSpPr txBox="1"/>
          <p:nvPr/>
        </p:nvSpPr>
        <p:spPr>
          <a:xfrm>
            <a:off x="989451" y="3122480"/>
            <a:ext cx="622286" cy="246221"/>
          </a:xfrm>
          <a:prstGeom prst="rect">
            <a:avLst/>
          </a:prstGeom>
          <a:noFill/>
        </p:spPr>
        <p:txBody>
          <a:bodyPr wrap="square" rtlCol="0">
            <a:spAutoFit/>
          </a:bodyPr>
          <a:lstStyle/>
          <a:p>
            <a:r>
              <a:rPr lang="en-US" sz="1000" b="1" dirty="0">
                <a:solidFill>
                  <a:srgbClr val="1F77B5"/>
                </a:solidFill>
              </a:rPr>
              <a:t>Fulva</a:t>
            </a:r>
          </a:p>
        </p:txBody>
      </p:sp>
      <p:cxnSp>
        <p:nvCxnSpPr>
          <p:cNvPr id="34" name="Straight Connector 33">
            <a:extLst>
              <a:ext uri="{FF2B5EF4-FFF2-40B4-BE49-F238E27FC236}">
                <a16:creationId xmlns:a16="http://schemas.microsoft.com/office/drawing/2014/main" id="{BF231635-1754-4249-A0B7-7B4D9D1D9853}"/>
              </a:ext>
            </a:extLst>
          </p:cNvPr>
          <p:cNvCxnSpPr>
            <a:cxnSpLocks/>
          </p:cNvCxnSpPr>
          <p:nvPr/>
        </p:nvCxnSpPr>
        <p:spPr>
          <a:xfrm>
            <a:off x="798714" y="3444403"/>
            <a:ext cx="241863" cy="6448"/>
          </a:xfrm>
          <a:prstGeom prst="line">
            <a:avLst/>
          </a:prstGeom>
          <a:ln w="38100">
            <a:solidFill>
              <a:srgbClr val="29A12B"/>
            </a:solidFill>
            <a:prstDash val="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BCBFD8B-8FFF-1143-BDE5-42305528B9DD}"/>
              </a:ext>
            </a:extLst>
          </p:cNvPr>
          <p:cNvSpPr txBox="1"/>
          <p:nvPr/>
        </p:nvSpPr>
        <p:spPr>
          <a:xfrm>
            <a:off x="981896" y="3311110"/>
            <a:ext cx="2454518" cy="246221"/>
          </a:xfrm>
          <a:prstGeom prst="rect">
            <a:avLst/>
          </a:prstGeom>
          <a:noFill/>
        </p:spPr>
        <p:txBody>
          <a:bodyPr wrap="square" rtlCol="0">
            <a:spAutoFit/>
          </a:bodyPr>
          <a:lstStyle/>
          <a:p>
            <a:r>
              <a:rPr lang="en-US" sz="1000" b="1" dirty="0">
                <a:solidFill>
                  <a:srgbClr val="29A12B"/>
                </a:solidFill>
              </a:rPr>
              <a:t>Destination-driven approach</a:t>
            </a:r>
          </a:p>
        </p:txBody>
      </p:sp>
      <p:cxnSp>
        <p:nvCxnSpPr>
          <p:cNvPr id="38" name="Straight Connector 37">
            <a:extLst>
              <a:ext uri="{FF2B5EF4-FFF2-40B4-BE49-F238E27FC236}">
                <a16:creationId xmlns:a16="http://schemas.microsoft.com/office/drawing/2014/main" id="{95A8DE2A-0011-0648-8D92-44F83F74816B}"/>
              </a:ext>
            </a:extLst>
          </p:cNvPr>
          <p:cNvCxnSpPr>
            <a:cxnSpLocks/>
          </p:cNvCxnSpPr>
          <p:nvPr/>
        </p:nvCxnSpPr>
        <p:spPr>
          <a:xfrm>
            <a:off x="798480" y="3626330"/>
            <a:ext cx="223243" cy="0"/>
          </a:xfrm>
          <a:prstGeom prst="line">
            <a:avLst/>
          </a:prstGeom>
          <a:ln w="38100">
            <a:solidFill>
              <a:srgbClr val="FF7F0B"/>
            </a:solidFill>
            <a:prstDash val="dash"/>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CF094F84-6AE9-514D-88FF-9806F04B9E07}"/>
              </a:ext>
            </a:extLst>
          </p:cNvPr>
          <p:cNvSpPr txBox="1"/>
          <p:nvPr/>
        </p:nvSpPr>
        <p:spPr>
          <a:xfrm>
            <a:off x="977576" y="3494066"/>
            <a:ext cx="2108269" cy="246221"/>
          </a:xfrm>
          <a:prstGeom prst="rect">
            <a:avLst/>
          </a:prstGeom>
          <a:noFill/>
        </p:spPr>
        <p:txBody>
          <a:bodyPr wrap="square" rtlCol="0">
            <a:spAutoFit/>
          </a:bodyPr>
          <a:lstStyle/>
          <a:p>
            <a:r>
              <a:rPr lang="en-US" sz="1000" b="1" dirty="0">
                <a:solidFill>
                  <a:srgbClr val="FF7F0B"/>
                </a:solidFill>
              </a:rPr>
              <a:t>Source-driven approach</a:t>
            </a:r>
          </a:p>
        </p:txBody>
      </p:sp>
      <p:sp>
        <p:nvSpPr>
          <p:cNvPr id="32" name="Oval 31">
            <a:extLst>
              <a:ext uri="{FF2B5EF4-FFF2-40B4-BE49-F238E27FC236}">
                <a16:creationId xmlns:a16="http://schemas.microsoft.com/office/drawing/2014/main" id="{E6335C2F-25D3-794D-BCFE-5C0398B18049}"/>
              </a:ext>
            </a:extLst>
          </p:cNvPr>
          <p:cNvSpPr/>
          <p:nvPr/>
        </p:nvSpPr>
        <p:spPr>
          <a:xfrm>
            <a:off x="985896" y="3461559"/>
            <a:ext cx="450938" cy="118136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5D618ED4-3777-C043-88B1-F3300B724D17}"/>
              </a:ext>
            </a:extLst>
          </p:cNvPr>
          <p:cNvSpPr/>
          <p:nvPr/>
        </p:nvSpPr>
        <p:spPr>
          <a:xfrm>
            <a:off x="4738331" y="4618843"/>
            <a:ext cx="1052055" cy="3446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D16F18C-C3C9-7942-A912-85DA9B4A366A}"/>
              </a:ext>
            </a:extLst>
          </p:cNvPr>
          <p:cNvSpPr/>
          <p:nvPr/>
        </p:nvSpPr>
        <p:spPr>
          <a:xfrm>
            <a:off x="5984073" y="4578914"/>
            <a:ext cx="557204" cy="3360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79F934E3-AE28-4D47-9304-FA145597BD04}"/>
              </a:ext>
            </a:extLst>
          </p:cNvPr>
          <p:cNvSpPr/>
          <p:nvPr/>
        </p:nvSpPr>
        <p:spPr>
          <a:xfrm>
            <a:off x="6779500" y="4578914"/>
            <a:ext cx="557204" cy="3360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66CCABCB-5CD0-744E-9CC1-323205CD1428}"/>
              </a:ext>
            </a:extLst>
          </p:cNvPr>
          <p:cNvSpPr/>
          <p:nvPr/>
        </p:nvSpPr>
        <p:spPr>
          <a:xfrm>
            <a:off x="7520025" y="4627683"/>
            <a:ext cx="557204" cy="3360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3188066-0AE9-614A-B179-3473F03A4765}"/>
              </a:ext>
            </a:extLst>
          </p:cNvPr>
          <p:cNvSpPr/>
          <p:nvPr/>
        </p:nvSpPr>
        <p:spPr>
          <a:xfrm>
            <a:off x="8270422" y="4607006"/>
            <a:ext cx="557204" cy="3360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25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7"/>
                                        </p:tgtEl>
                                      </p:cBhvr>
                                    </p:animEffect>
                                    <p:set>
                                      <p:cBhvr>
                                        <p:cTn id="7" dur="1" fill="hold">
                                          <p:stCondLst>
                                            <p:cond delay="499"/>
                                          </p:stCondLst>
                                        </p:cTn>
                                        <p:tgtEl>
                                          <p:spTgt spid="47"/>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48"/>
                                        </p:tgtEl>
                                      </p:cBhvr>
                                    </p:animEffect>
                                    <p:set>
                                      <p:cBhvr>
                                        <p:cTn id="10" dur="1" fill="hold">
                                          <p:stCondLst>
                                            <p:cond delay="499"/>
                                          </p:stCondLst>
                                        </p:cTn>
                                        <p:tgtEl>
                                          <p:spTgt spid="48"/>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49"/>
                                        </p:tgtEl>
                                      </p:cBhvr>
                                    </p:animEffect>
                                    <p:set>
                                      <p:cBhvr>
                                        <p:cTn id="13" dur="1" fill="hold">
                                          <p:stCondLst>
                                            <p:cond delay="499"/>
                                          </p:stCondLst>
                                        </p:cTn>
                                        <p:tgtEl>
                                          <p:spTgt spid="49"/>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50"/>
                                        </p:tgtEl>
                                      </p:cBhvr>
                                    </p:animEffect>
                                    <p:set>
                                      <p:cBhvr>
                                        <p:cTn id="16" dur="1" fill="hold">
                                          <p:stCondLst>
                                            <p:cond delay="499"/>
                                          </p:stCondLst>
                                        </p:cTn>
                                        <p:tgtEl>
                                          <p:spTgt spid="50"/>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51"/>
                                        </p:tgtEl>
                                      </p:cBhvr>
                                    </p:animEffect>
                                    <p:set>
                                      <p:cBhvr>
                                        <p:cTn id="19" dur="1" fill="hold">
                                          <p:stCondLst>
                                            <p:cond delay="499"/>
                                          </p:stCondLst>
                                        </p:cTn>
                                        <p:tgtEl>
                                          <p:spTgt spid="51"/>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47" grpId="0" animBg="1"/>
      <p:bldP spid="48" grpId="0" animBg="1"/>
      <p:bldP spid="49" grpId="0" animBg="1"/>
      <p:bldP spid="50" grpId="0" animBg="1"/>
      <p:bldP spid="5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15"/>
          <p:cNvSpPr txBox="1">
            <a:spLocks noGrp="1"/>
          </p:cNvSpPr>
          <p:nvPr>
            <p:ph type="title"/>
          </p:nvPr>
        </p:nvSpPr>
        <p:spPr>
          <a:xfrm>
            <a:off x="628650" y="273844"/>
            <a:ext cx="7886700" cy="994200"/>
          </a:xfrm>
          <a:prstGeom prst="rect">
            <a:avLst/>
          </a:prstGeom>
          <a:noFill/>
          <a:ln>
            <a:noFill/>
          </a:ln>
        </p:spPr>
        <p:txBody>
          <a:bodyPr spcFirstLastPara="1" wrap="square" lIns="34275" tIns="34275" rIns="34275" bIns="34275" anchor="ctr" anchorCtr="0">
            <a:normAutofit/>
          </a:bodyPr>
          <a:lstStyle/>
          <a:p>
            <a:pPr lvl="0">
              <a:buSzPts val="3135"/>
            </a:pPr>
            <a:r>
              <a:rPr lang="en-US" sz="3135" dirty="0"/>
              <a:t>Fulva: Efficient Live Migration for In-memory Key-Value Stores with Zero Downtime</a:t>
            </a:r>
            <a:endParaRPr dirty="0"/>
          </a:p>
        </p:txBody>
      </p:sp>
      <p:sp>
        <p:nvSpPr>
          <p:cNvPr id="739" name="Google Shape;739;p15"/>
          <p:cNvSpPr txBox="1">
            <a:spLocks noGrp="1"/>
          </p:cNvSpPr>
          <p:nvPr>
            <p:ph type="body" idx="1"/>
          </p:nvPr>
        </p:nvSpPr>
        <p:spPr>
          <a:xfrm>
            <a:off x="506495" y="1288741"/>
            <a:ext cx="7886700" cy="715859"/>
          </a:xfrm>
          <a:prstGeom prst="rect">
            <a:avLst/>
          </a:prstGeom>
          <a:noFill/>
          <a:ln>
            <a:noFill/>
          </a:ln>
        </p:spPr>
        <p:txBody>
          <a:bodyPr spcFirstLastPara="1" wrap="square" lIns="34275" tIns="34275" rIns="34275" bIns="34275" anchor="t" anchorCtr="0">
            <a:normAutofit/>
          </a:bodyPr>
          <a:lstStyle/>
          <a:p>
            <a:pPr marL="457200" lvl="0" indent="-317500" algn="l" rtl="0">
              <a:lnSpc>
                <a:spcPct val="110000"/>
              </a:lnSpc>
              <a:spcBef>
                <a:spcPts val="0"/>
              </a:spcBef>
              <a:spcAft>
                <a:spcPts val="0"/>
              </a:spcAft>
              <a:buSzPts val="2100"/>
              <a:buChar char="•"/>
            </a:pPr>
            <a:r>
              <a:rPr lang="en-US" sz="1500" dirty="0">
                <a:solidFill>
                  <a:srgbClr val="000000"/>
                </a:solidFill>
                <a:sym typeface="Calibri"/>
              </a:rPr>
              <a:t>Key idea: let source and destination </a:t>
            </a:r>
            <a:r>
              <a:rPr lang="en-US" sz="1500" dirty="0"/>
              <a:t>collaboratively </a:t>
            </a:r>
            <a:r>
              <a:rPr lang="en-US" sz="1500" dirty="0">
                <a:solidFill>
                  <a:srgbClr val="000000"/>
                </a:solidFill>
                <a:sym typeface="Calibri"/>
              </a:rPr>
              <a:t>handle clients’ requests together during migration to efficiently balance load between computers</a:t>
            </a:r>
          </a:p>
        </p:txBody>
      </p:sp>
      <p:sp>
        <p:nvSpPr>
          <p:cNvPr id="2" name="Slide Number Placeholder 1">
            <a:extLst>
              <a:ext uri="{FF2B5EF4-FFF2-40B4-BE49-F238E27FC236}">
                <a16:creationId xmlns:a16="http://schemas.microsoft.com/office/drawing/2014/main" id="{3724AB1D-309E-684A-975C-0A36027B2289}"/>
              </a:ext>
            </a:extLst>
          </p:cNvPr>
          <p:cNvSpPr>
            <a:spLocks noGrp="1"/>
          </p:cNvSpPr>
          <p:nvPr>
            <p:ph type="sldNum" idx="12"/>
          </p:nvPr>
        </p:nvSpPr>
        <p:spPr>
          <a:xfrm>
            <a:off x="5969266" y="4777085"/>
            <a:ext cx="197114" cy="208251"/>
          </a:xfrm>
        </p:spPr>
        <p:txBody>
          <a:bodyPr/>
          <a:lstStyle/>
          <a:p>
            <a:pPr marL="0" lvl="0" indent="0" algn="r" rtl="0">
              <a:spcBef>
                <a:spcPts val="0"/>
              </a:spcBef>
              <a:spcAft>
                <a:spcPts val="0"/>
              </a:spcAft>
              <a:buNone/>
            </a:pPr>
            <a:fld id="{00000000-1234-1234-1234-123412341234}" type="slidenum">
              <a:rPr lang="en-US" smtClean="0"/>
              <a:t>11</a:t>
            </a:fld>
            <a:endParaRPr lang="en-US" sz="1000">
              <a:solidFill>
                <a:srgbClr val="585858"/>
              </a:solidFill>
              <a:latin typeface="Arial"/>
              <a:ea typeface="Arial"/>
              <a:cs typeface="Arial"/>
              <a:sym typeface="Arial"/>
            </a:endParaRPr>
          </a:p>
        </p:txBody>
      </p:sp>
      <p:sp>
        <p:nvSpPr>
          <p:cNvPr id="77" name="Google Shape;306;p7">
            <a:extLst>
              <a:ext uri="{FF2B5EF4-FFF2-40B4-BE49-F238E27FC236}">
                <a16:creationId xmlns:a16="http://schemas.microsoft.com/office/drawing/2014/main" id="{853E4542-365A-6F47-A3F4-0D3E84A38E4C}"/>
              </a:ext>
            </a:extLst>
          </p:cNvPr>
          <p:cNvSpPr/>
          <p:nvPr/>
        </p:nvSpPr>
        <p:spPr>
          <a:xfrm>
            <a:off x="5233155" y="3375161"/>
            <a:ext cx="1279838" cy="1688477"/>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78" name="Google Shape;307;p7">
            <a:extLst>
              <a:ext uri="{FF2B5EF4-FFF2-40B4-BE49-F238E27FC236}">
                <a16:creationId xmlns:a16="http://schemas.microsoft.com/office/drawing/2014/main" id="{A0EE12AA-5AD7-EE4C-A25F-38CD111A60BD}"/>
              </a:ext>
            </a:extLst>
          </p:cNvPr>
          <p:cNvSpPr/>
          <p:nvPr/>
        </p:nvSpPr>
        <p:spPr>
          <a:xfrm>
            <a:off x="2734343" y="3389550"/>
            <a:ext cx="1313572" cy="1677488"/>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79" name="Google Shape;308;p7">
            <a:extLst>
              <a:ext uri="{FF2B5EF4-FFF2-40B4-BE49-F238E27FC236}">
                <a16:creationId xmlns:a16="http://schemas.microsoft.com/office/drawing/2014/main" id="{002EA0F9-602A-0D43-A27F-54D1E815AB52}"/>
              </a:ext>
            </a:extLst>
          </p:cNvPr>
          <p:cNvSpPr/>
          <p:nvPr/>
        </p:nvSpPr>
        <p:spPr>
          <a:xfrm>
            <a:off x="2797398" y="3632118"/>
            <a:ext cx="1142945" cy="1415754"/>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80" name="Google Shape;309;p7">
            <a:extLst>
              <a:ext uri="{FF2B5EF4-FFF2-40B4-BE49-F238E27FC236}">
                <a16:creationId xmlns:a16="http://schemas.microsoft.com/office/drawing/2014/main" id="{A6586114-9C27-DE44-BCFF-B4EF47ED73B3}"/>
              </a:ext>
            </a:extLst>
          </p:cNvPr>
          <p:cNvSpPr/>
          <p:nvPr/>
        </p:nvSpPr>
        <p:spPr>
          <a:xfrm>
            <a:off x="3150071" y="3389550"/>
            <a:ext cx="14904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000" b="1" i="0" u="none" strike="noStrike" cap="none">
                <a:solidFill>
                  <a:srgbClr val="000000"/>
                </a:solidFill>
                <a:latin typeface="Calibri"/>
                <a:ea typeface="Calibri"/>
                <a:cs typeface="Calibri"/>
                <a:sym typeface="Calibri"/>
              </a:rPr>
              <a:t>Source</a:t>
            </a:r>
            <a:endParaRPr sz="1000"/>
          </a:p>
        </p:txBody>
      </p:sp>
      <p:sp>
        <p:nvSpPr>
          <p:cNvPr id="81" name="Google Shape;310;p7">
            <a:extLst>
              <a:ext uri="{FF2B5EF4-FFF2-40B4-BE49-F238E27FC236}">
                <a16:creationId xmlns:a16="http://schemas.microsoft.com/office/drawing/2014/main" id="{B08389BD-D040-6E48-84BD-DEEFEBA63364}"/>
              </a:ext>
            </a:extLst>
          </p:cNvPr>
          <p:cNvSpPr/>
          <p:nvPr/>
        </p:nvSpPr>
        <p:spPr>
          <a:xfrm>
            <a:off x="2971091" y="3633109"/>
            <a:ext cx="15558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key-value store</a:t>
            </a:r>
            <a:endParaRPr sz="1000"/>
          </a:p>
        </p:txBody>
      </p:sp>
      <p:sp>
        <p:nvSpPr>
          <p:cNvPr id="83" name="Google Shape;312;p7">
            <a:extLst>
              <a:ext uri="{FF2B5EF4-FFF2-40B4-BE49-F238E27FC236}">
                <a16:creationId xmlns:a16="http://schemas.microsoft.com/office/drawing/2014/main" id="{8E9F75C0-C25F-FD43-B3BA-D591C599F17B}"/>
              </a:ext>
            </a:extLst>
          </p:cNvPr>
          <p:cNvSpPr/>
          <p:nvPr/>
        </p:nvSpPr>
        <p:spPr>
          <a:xfrm>
            <a:off x="2870619" y="3943513"/>
            <a:ext cx="947702" cy="162003"/>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84" name="Google Shape;313;p7">
            <a:extLst>
              <a:ext uri="{FF2B5EF4-FFF2-40B4-BE49-F238E27FC236}">
                <a16:creationId xmlns:a16="http://schemas.microsoft.com/office/drawing/2014/main" id="{F75FB05D-98A6-DC40-918C-CDAB940E275E}"/>
              </a:ext>
            </a:extLst>
          </p:cNvPr>
          <p:cNvSpPr/>
          <p:nvPr/>
        </p:nvSpPr>
        <p:spPr>
          <a:xfrm>
            <a:off x="2870619" y="3912961"/>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&lt;1, V&gt;</a:t>
            </a:r>
            <a:endParaRPr sz="1000"/>
          </a:p>
        </p:txBody>
      </p:sp>
      <p:sp>
        <p:nvSpPr>
          <p:cNvPr id="86" name="Google Shape;315;p7">
            <a:extLst>
              <a:ext uri="{FF2B5EF4-FFF2-40B4-BE49-F238E27FC236}">
                <a16:creationId xmlns:a16="http://schemas.microsoft.com/office/drawing/2014/main" id="{9B7AD292-7C1A-674A-AC3E-57B140959B29}"/>
              </a:ext>
            </a:extLst>
          </p:cNvPr>
          <p:cNvSpPr/>
          <p:nvPr/>
        </p:nvSpPr>
        <p:spPr>
          <a:xfrm>
            <a:off x="2877800" y="4219400"/>
            <a:ext cx="947702" cy="162003"/>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87" name="Google Shape;316;p7">
            <a:extLst>
              <a:ext uri="{FF2B5EF4-FFF2-40B4-BE49-F238E27FC236}">
                <a16:creationId xmlns:a16="http://schemas.microsoft.com/office/drawing/2014/main" id="{B3F350B3-B0C5-2847-B40A-E26E8BCE76EB}"/>
              </a:ext>
            </a:extLst>
          </p:cNvPr>
          <p:cNvSpPr/>
          <p:nvPr/>
        </p:nvSpPr>
        <p:spPr>
          <a:xfrm>
            <a:off x="2877800" y="4188848"/>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&lt;200, V&gt;</a:t>
            </a:r>
            <a:endParaRPr sz="1000" dirty="0"/>
          </a:p>
        </p:txBody>
      </p:sp>
      <p:sp>
        <p:nvSpPr>
          <p:cNvPr id="88" name="Google Shape;317;p7">
            <a:extLst>
              <a:ext uri="{FF2B5EF4-FFF2-40B4-BE49-F238E27FC236}">
                <a16:creationId xmlns:a16="http://schemas.microsoft.com/office/drawing/2014/main" id="{97A24EC8-E752-584F-B427-247DD1D2DEDF}"/>
              </a:ext>
            </a:extLst>
          </p:cNvPr>
          <p:cNvSpPr/>
          <p:nvPr/>
        </p:nvSpPr>
        <p:spPr>
          <a:xfrm>
            <a:off x="3202711" y="4006784"/>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90" name="Google Shape;319;p7">
            <a:extLst>
              <a:ext uri="{FF2B5EF4-FFF2-40B4-BE49-F238E27FC236}">
                <a16:creationId xmlns:a16="http://schemas.microsoft.com/office/drawing/2014/main" id="{B517136F-5F1A-B346-A181-46188954EDB3}"/>
              </a:ext>
            </a:extLst>
          </p:cNvPr>
          <p:cNvSpPr/>
          <p:nvPr/>
        </p:nvSpPr>
        <p:spPr>
          <a:xfrm>
            <a:off x="2877800" y="4502059"/>
            <a:ext cx="947702" cy="16200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91" name="Google Shape;320;p7">
            <a:extLst>
              <a:ext uri="{FF2B5EF4-FFF2-40B4-BE49-F238E27FC236}">
                <a16:creationId xmlns:a16="http://schemas.microsoft.com/office/drawing/2014/main" id="{9684A270-675B-5B4B-B213-E5F52910A072}"/>
              </a:ext>
            </a:extLst>
          </p:cNvPr>
          <p:cNvSpPr/>
          <p:nvPr/>
        </p:nvSpPr>
        <p:spPr>
          <a:xfrm>
            <a:off x="2877800" y="4471507"/>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&lt;300, V&gt;</a:t>
            </a:r>
            <a:endParaRPr sz="1000"/>
          </a:p>
        </p:txBody>
      </p:sp>
      <p:sp>
        <p:nvSpPr>
          <p:cNvPr id="92" name="Google Shape;321;p7">
            <a:extLst>
              <a:ext uri="{FF2B5EF4-FFF2-40B4-BE49-F238E27FC236}">
                <a16:creationId xmlns:a16="http://schemas.microsoft.com/office/drawing/2014/main" id="{2EB54ED0-4DFA-BD4A-AD2A-0DA62C731EA4}"/>
              </a:ext>
            </a:extLst>
          </p:cNvPr>
          <p:cNvSpPr/>
          <p:nvPr/>
        </p:nvSpPr>
        <p:spPr>
          <a:xfrm>
            <a:off x="3205260" y="4286252"/>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94" name="Google Shape;323;p7">
            <a:extLst>
              <a:ext uri="{FF2B5EF4-FFF2-40B4-BE49-F238E27FC236}">
                <a16:creationId xmlns:a16="http://schemas.microsoft.com/office/drawing/2014/main" id="{56B4C93A-3B98-0F4B-9777-BC9622F83BAD}"/>
              </a:ext>
            </a:extLst>
          </p:cNvPr>
          <p:cNvSpPr/>
          <p:nvPr/>
        </p:nvSpPr>
        <p:spPr>
          <a:xfrm>
            <a:off x="2877800" y="4780884"/>
            <a:ext cx="947702" cy="16200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95" name="Google Shape;324;p7">
            <a:extLst>
              <a:ext uri="{FF2B5EF4-FFF2-40B4-BE49-F238E27FC236}">
                <a16:creationId xmlns:a16="http://schemas.microsoft.com/office/drawing/2014/main" id="{9F801C40-BA40-8D48-9B8F-DB44E31D31B5}"/>
              </a:ext>
            </a:extLst>
          </p:cNvPr>
          <p:cNvSpPr/>
          <p:nvPr/>
        </p:nvSpPr>
        <p:spPr>
          <a:xfrm>
            <a:off x="2877800" y="4750332"/>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&lt;400, V&gt;</a:t>
            </a:r>
            <a:endParaRPr sz="1000"/>
          </a:p>
        </p:txBody>
      </p:sp>
      <p:sp>
        <p:nvSpPr>
          <p:cNvPr id="96" name="Google Shape;325;p7">
            <a:extLst>
              <a:ext uri="{FF2B5EF4-FFF2-40B4-BE49-F238E27FC236}">
                <a16:creationId xmlns:a16="http://schemas.microsoft.com/office/drawing/2014/main" id="{4FDA4632-603B-8946-A323-E5A11640A12F}"/>
              </a:ext>
            </a:extLst>
          </p:cNvPr>
          <p:cNvSpPr/>
          <p:nvPr/>
        </p:nvSpPr>
        <p:spPr>
          <a:xfrm>
            <a:off x="3186801" y="4568013"/>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97" name="Google Shape;326;p7">
            <a:extLst>
              <a:ext uri="{FF2B5EF4-FFF2-40B4-BE49-F238E27FC236}">
                <a16:creationId xmlns:a16="http://schemas.microsoft.com/office/drawing/2014/main" id="{C772F64A-EDBE-B64F-B277-30C5A70C0411}"/>
              </a:ext>
            </a:extLst>
          </p:cNvPr>
          <p:cNvSpPr/>
          <p:nvPr/>
        </p:nvSpPr>
        <p:spPr>
          <a:xfrm>
            <a:off x="5292895" y="3536898"/>
            <a:ext cx="1150249" cy="1496585"/>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98" name="Google Shape;327;p7">
            <a:extLst>
              <a:ext uri="{FF2B5EF4-FFF2-40B4-BE49-F238E27FC236}">
                <a16:creationId xmlns:a16="http://schemas.microsoft.com/office/drawing/2014/main" id="{283D837B-6655-D241-BC88-FA916DF31C04}"/>
              </a:ext>
            </a:extLst>
          </p:cNvPr>
          <p:cNvSpPr/>
          <p:nvPr/>
        </p:nvSpPr>
        <p:spPr>
          <a:xfrm>
            <a:off x="5583824" y="3322583"/>
            <a:ext cx="13134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000" b="1" i="0" u="none" strike="noStrike" cap="none" dirty="0">
                <a:solidFill>
                  <a:srgbClr val="000000"/>
                </a:solidFill>
                <a:latin typeface="Calibri"/>
                <a:ea typeface="Calibri"/>
                <a:cs typeface="Calibri"/>
                <a:sym typeface="Calibri"/>
              </a:rPr>
              <a:t>Destination</a:t>
            </a:r>
            <a:endParaRPr sz="1000" dirty="0"/>
          </a:p>
        </p:txBody>
      </p:sp>
      <p:sp>
        <p:nvSpPr>
          <p:cNvPr id="99" name="Google Shape;328;p7">
            <a:extLst>
              <a:ext uri="{FF2B5EF4-FFF2-40B4-BE49-F238E27FC236}">
                <a16:creationId xmlns:a16="http://schemas.microsoft.com/office/drawing/2014/main" id="{BE3EF158-4C44-2E48-9A1A-63B34F931F7B}"/>
              </a:ext>
            </a:extLst>
          </p:cNvPr>
          <p:cNvSpPr/>
          <p:nvPr/>
        </p:nvSpPr>
        <p:spPr>
          <a:xfrm>
            <a:off x="5382199" y="3554474"/>
            <a:ext cx="15558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key-value store</a:t>
            </a:r>
            <a:endParaRPr sz="1000"/>
          </a:p>
        </p:txBody>
      </p:sp>
      <p:sp>
        <p:nvSpPr>
          <p:cNvPr id="101" name="Google Shape;330;p7">
            <a:extLst>
              <a:ext uri="{FF2B5EF4-FFF2-40B4-BE49-F238E27FC236}">
                <a16:creationId xmlns:a16="http://schemas.microsoft.com/office/drawing/2014/main" id="{2E6FBC48-4223-B44D-8F13-0458698F9D3C}"/>
              </a:ext>
            </a:extLst>
          </p:cNvPr>
          <p:cNvSpPr/>
          <p:nvPr/>
        </p:nvSpPr>
        <p:spPr>
          <a:xfrm>
            <a:off x="5350635" y="4436089"/>
            <a:ext cx="947702" cy="16200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02" name="Google Shape;331;p7">
            <a:extLst>
              <a:ext uri="{FF2B5EF4-FFF2-40B4-BE49-F238E27FC236}">
                <a16:creationId xmlns:a16="http://schemas.microsoft.com/office/drawing/2014/main" id="{040ADFB2-D742-5448-8C4E-F50E6C4513C6}"/>
              </a:ext>
            </a:extLst>
          </p:cNvPr>
          <p:cNvSpPr/>
          <p:nvPr/>
        </p:nvSpPr>
        <p:spPr>
          <a:xfrm>
            <a:off x="5350635" y="4405537"/>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&lt;500, V&gt;</a:t>
            </a:r>
            <a:endParaRPr sz="1000" dirty="0"/>
          </a:p>
        </p:txBody>
      </p:sp>
      <p:sp>
        <p:nvSpPr>
          <p:cNvPr id="104" name="Google Shape;333;p7">
            <a:extLst>
              <a:ext uri="{FF2B5EF4-FFF2-40B4-BE49-F238E27FC236}">
                <a16:creationId xmlns:a16="http://schemas.microsoft.com/office/drawing/2014/main" id="{EA3C6D51-04F4-1C40-8B09-BE9DEC453FAF}"/>
              </a:ext>
            </a:extLst>
          </p:cNvPr>
          <p:cNvSpPr/>
          <p:nvPr/>
        </p:nvSpPr>
        <p:spPr>
          <a:xfrm>
            <a:off x="5350635" y="4730298"/>
            <a:ext cx="947702" cy="16200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05" name="Google Shape;334;p7">
            <a:extLst>
              <a:ext uri="{FF2B5EF4-FFF2-40B4-BE49-F238E27FC236}">
                <a16:creationId xmlns:a16="http://schemas.microsoft.com/office/drawing/2014/main" id="{B35698F1-6499-8446-A673-33480CFD0828}"/>
              </a:ext>
            </a:extLst>
          </p:cNvPr>
          <p:cNvSpPr/>
          <p:nvPr/>
        </p:nvSpPr>
        <p:spPr>
          <a:xfrm>
            <a:off x="5350635" y="4699746"/>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&lt;600, V&gt;</a:t>
            </a:r>
            <a:endParaRPr sz="1000" dirty="0"/>
          </a:p>
        </p:txBody>
      </p:sp>
      <p:sp>
        <p:nvSpPr>
          <p:cNvPr id="106" name="Google Shape;335;p7">
            <a:extLst>
              <a:ext uri="{FF2B5EF4-FFF2-40B4-BE49-F238E27FC236}">
                <a16:creationId xmlns:a16="http://schemas.microsoft.com/office/drawing/2014/main" id="{1A89BE70-E5B5-6940-A1A5-F6B1680DEB57}"/>
              </a:ext>
            </a:extLst>
          </p:cNvPr>
          <p:cNvSpPr/>
          <p:nvPr/>
        </p:nvSpPr>
        <p:spPr>
          <a:xfrm>
            <a:off x="5659636" y="4520514"/>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107" name="Google Shape;336;p7">
            <a:extLst>
              <a:ext uri="{FF2B5EF4-FFF2-40B4-BE49-F238E27FC236}">
                <a16:creationId xmlns:a16="http://schemas.microsoft.com/office/drawing/2014/main" id="{3810461F-07DE-0040-99E1-D91651C09F38}"/>
              </a:ext>
            </a:extLst>
          </p:cNvPr>
          <p:cNvSpPr/>
          <p:nvPr/>
        </p:nvSpPr>
        <p:spPr>
          <a:xfrm>
            <a:off x="5691643" y="4799576"/>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109" name="Google Shape;341;p7">
            <a:extLst>
              <a:ext uri="{FF2B5EF4-FFF2-40B4-BE49-F238E27FC236}">
                <a16:creationId xmlns:a16="http://schemas.microsoft.com/office/drawing/2014/main" id="{AC130447-3CD8-2B4E-9E4C-0AFE0E3414DB}"/>
              </a:ext>
            </a:extLst>
          </p:cNvPr>
          <p:cNvSpPr/>
          <p:nvPr/>
        </p:nvSpPr>
        <p:spPr>
          <a:xfrm>
            <a:off x="5326905" y="3866663"/>
            <a:ext cx="947702" cy="162003"/>
          </a:xfrm>
          <a:prstGeom prst="rect">
            <a:avLst/>
          </a:prstGeom>
          <a:solidFill>
            <a:srgbClr val="B4A7D6"/>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10" name="Google Shape;342;p7">
            <a:extLst>
              <a:ext uri="{FF2B5EF4-FFF2-40B4-BE49-F238E27FC236}">
                <a16:creationId xmlns:a16="http://schemas.microsoft.com/office/drawing/2014/main" id="{374D4855-463D-2E48-A0E9-A0C5C0DB78B8}"/>
              </a:ext>
            </a:extLst>
          </p:cNvPr>
          <p:cNvSpPr/>
          <p:nvPr/>
        </p:nvSpPr>
        <p:spPr>
          <a:xfrm>
            <a:off x="5326905" y="3836111"/>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&lt;1, V&gt;</a:t>
            </a:r>
            <a:endParaRPr sz="1000" dirty="0"/>
          </a:p>
        </p:txBody>
      </p:sp>
      <p:sp>
        <p:nvSpPr>
          <p:cNvPr id="112" name="Google Shape;344;p7">
            <a:extLst>
              <a:ext uri="{FF2B5EF4-FFF2-40B4-BE49-F238E27FC236}">
                <a16:creationId xmlns:a16="http://schemas.microsoft.com/office/drawing/2014/main" id="{CD48A239-EC8E-2149-A0EF-8AA7B57EE381}"/>
              </a:ext>
            </a:extLst>
          </p:cNvPr>
          <p:cNvSpPr/>
          <p:nvPr/>
        </p:nvSpPr>
        <p:spPr>
          <a:xfrm>
            <a:off x="5340832" y="4185004"/>
            <a:ext cx="947702" cy="162003"/>
          </a:xfrm>
          <a:prstGeom prst="rect">
            <a:avLst/>
          </a:prstGeom>
          <a:solidFill>
            <a:srgbClr val="B4A7D6"/>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13" name="Google Shape;345;p7">
            <a:extLst>
              <a:ext uri="{FF2B5EF4-FFF2-40B4-BE49-F238E27FC236}">
                <a16:creationId xmlns:a16="http://schemas.microsoft.com/office/drawing/2014/main" id="{6FFC18C9-ADA3-C445-8D51-CFD61939DFFE}"/>
              </a:ext>
            </a:extLst>
          </p:cNvPr>
          <p:cNvSpPr/>
          <p:nvPr/>
        </p:nvSpPr>
        <p:spPr>
          <a:xfrm>
            <a:off x="5340832" y="4154452"/>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&lt;100, V&gt;</a:t>
            </a:r>
            <a:endParaRPr sz="1000" dirty="0"/>
          </a:p>
        </p:txBody>
      </p:sp>
      <p:cxnSp>
        <p:nvCxnSpPr>
          <p:cNvPr id="114" name="Google Shape;346;p7">
            <a:extLst>
              <a:ext uri="{FF2B5EF4-FFF2-40B4-BE49-F238E27FC236}">
                <a16:creationId xmlns:a16="http://schemas.microsoft.com/office/drawing/2014/main" id="{DF2A42A6-86D2-3F42-83D2-0BFCF8BA9E42}"/>
              </a:ext>
            </a:extLst>
          </p:cNvPr>
          <p:cNvCxnSpPr>
            <a:cxnSpLocks/>
          </p:cNvCxnSpPr>
          <p:nvPr/>
        </p:nvCxnSpPr>
        <p:spPr>
          <a:xfrm flipV="1">
            <a:off x="4073630" y="4758702"/>
            <a:ext cx="1159525" cy="22182"/>
          </a:xfrm>
          <a:prstGeom prst="straightConnector1">
            <a:avLst/>
          </a:prstGeom>
          <a:noFill/>
          <a:ln w="9525" cap="flat" cmpd="sng">
            <a:solidFill>
              <a:srgbClr val="8E7CC3"/>
            </a:solidFill>
            <a:prstDash val="solid"/>
            <a:round/>
            <a:headEnd type="none" w="sm" len="sm"/>
            <a:tailEnd type="triangle" w="med" len="med"/>
          </a:ln>
        </p:spPr>
      </p:cxnSp>
      <p:sp>
        <p:nvSpPr>
          <p:cNvPr id="115" name="Google Shape;347;p7">
            <a:extLst>
              <a:ext uri="{FF2B5EF4-FFF2-40B4-BE49-F238E27FC236}">
                <a16:creationId xmlns:a16="http://schemas.microsoft.com/office/drawing/2014/main" id="{06DA2BC6-1EAA-484C-A758-9D83D4A7D8A5}"/>
              </a:ext>
            </a:extLst>
          </p:cNvPr>
          <p:cNvSpPr/>
          <p:nvPr/>
        </p:nvSpPr>
        <p:spPr>
          <a:xfrm>
            <a:off x="5635906" y="3944659"/>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118" name="Google Shape;350;p7">
            <a:extLst>
              <a:ext uri="{FF2B5EF4-FFF2-40B4-BE49-F238E27FC236}">
                <a16:creationId xmlns:a16="http://schemas.microsoft.com/office/drawing/2014/main" id="{647901B5-3001-1F40-94B3-09CDA2D0918A}"/>
              </a:ext>
            </a:extLst>
          </p:cNvPr>
          <p:cNvSpPr/>
          <p:nvPr/>
        </p:nvSpPr>
        <p:spPr>
          <a:xfrm>
            <a:off x="3931384" y="4154452"/>
            <a:ext cx="660480" cy="238723"/>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endParaRPr/>
          </a:p>
        </p:txBody>
      </p:sp>
      <p:sp>
        <p:nvSpPr>
          <p:cNvPr id="121" name="Google Shape;353;p7">
            <a:extLst>
              <a:ext uri="{FF2B5EF4-FFF2-40B4-BE49-F238E27FC236}">
                <a16:creationId xmlns:a16="http://schemas.microsoft.com/office/drawing/2014/main" id="{F22B9FA7-989C-F14A-9865-81D1290F5201}"/>
              </a:ext>
            </a:extLst>
          </p:cNvPr>
          <p:cNvSpPr/>
          <p:nvPr/>
        </p:nvSpPr>
        <p:spPr>
          <a:xfrm>
            <a:off x="3933963" y="4515801"/>
            <a:ext cx="660480" cy="238723"/>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endParaRPr/>
          </a:p>
        </p:txBody>
      </p:sp>
      <p:sp>
        <p:nvSpPr>
          <p:cNvPr id="125" name="Google Shape;350;p7">
            <a:extLst>
              <a:ext uri="{FF2B5EF4-FFF2-40B4-BE49-F238E27FC236}">
                <a16:creationId xmlns:a16="http://schemas.microsoft.com/office/drawing/2014/main" id="{D35859AC-CF84-C349-AFD1-03AFF218788C}"/>
              </a:ext>
            </a:extLst>
          </p:cNvPr>
          <p:cNvSpPr/>
          <p:nvPr/>
        </p:nvSpPr>
        <p:spPr>
          <a:xfrm>
            <a:off x="3931384" y="4162744"/>
            <a:ext cx="660480" cy="238723"/>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endParaRPr/>
          </a:p>
        </p:txBody>
      </p:sp>
      <p:sp>
        <p:nvSpPr>
          <p:cNvPr id="128" name="Google Shape;353;p7">
            <a:extLst>
              <a:ext uri="{FF2B5EF4-FFF2-40B4-BE49-F238E27FC236}">
                <a16:creationId xmlns:a16="http://schemas.microsoft.com/office/drawing/2014/main" id="{3AFF090C-21B5-584A-9093-43ACEF5D8C5B}"/>
              </a:ext>
            </a:extLst>
          </p:cNvPr>
          <p:cNvSpPr/>
          <p:nvPr/>
        </p:nvSpPr>
        <p:spPr>
          <a:xfrm>
            <a:off x="3933963" y="4524094"/>
            <a:ext cx="660480" cy="238723"/>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endParaRPr/>
          </a:p>
        </p:txBody>
      </p:sp>
      <p:sp>
        <p:nvSpPr>
          <p:cNvPr id="132" name="Google Shape;350;p7">
            <a:extLst>
              <a:ext uri="{FF2B5EF4-FFF2-40B4-BE49-F238E27FC236}">
                <a16:creationId xmlns:a16="http://schemas.microsoft.com/office/drawing/2014/main" id="{5B0918AC-5374-5E4E-B044-E6BB6943CB40}"/>
              </a:ext>
            </a:extLst>
          </p:cNvPr>
          <p:cNvSpPr/>
          <p:nvPr/>
        </p:nvSpPr>
        <p:spPr>
          <a:xfrm>
            <a:off x="3931384" y="4162744"/>
            <a:ext cx="660480" cy="238723"/>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endParaRPr/>
          </a:p>
        </p:txBody>
      </p:sp>
      <p:sp>
        <p:nvSpPr>
          <p:cNvPr id="135" name="Google Shape;353;p7">
            <a:extLst>
              <a:ext uri="{FF2B5EF4-FFF2-40B4-BE49-F238E27FC236}">
                <a16:creationId xmlns:a16="http://schemas.microsoft.com/office/drawing/2014/main" id="{66161B30-4FE6-3F4A-BEB4-16EB22D61F57}"/>
              </a:ext>
            </a:extLst>
          </p:cNvPr>
          <p:cNvSpPr/>
          <p:nvPr/>
        </p:nvSpPr>
        <p:spPr>
          <a:xfrm>
            <a:off x="3933963" y="4524094"/>
            <a:ext cx="660480" cy="238723"/>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endParaRPr/>
          </a:p>
        </p:txBody>
      </p:sp>
      <p:sp>
        <p:nvSpPr>
          <p:cNvPr id="146" name="TextBox 145">
            <a:extLst>
              <a:ext uri="{FF2B5EF4-FFF2-40B4-BE49-F238E27FC236}">
                <a16:creationId xmlns:a16="http://schemas.microsoft.com/office/drawing/2014/main" id="{0961791C-C371-D04A-9763-426B74247BAC}"/>
              </a:ext>
            </a:extLst>
          </p:cNvPr>
          <p:cNvSpPr txBox="1"/>
          <p:nvPr/>
        </p:nvSpPr>
        <p:spPr>
          <a:xfrm>
            <a:off x="3356667" y="2637798"/>
            <a:ext cx="792205" cy="307777"/>
          </a:xfrm>
          <a:prstGeom prst="rect">
            <a:avLst/>
          </a:prstGeom>
          <a:noFill/>
        </p:spPr>
        <p:txBody>
          <a:bodyPr wrap="none" rtlCol="0">
            <a:spAutoFit/>
          </a:bodyPr>
          <a:lstStyle/>
          <a:p>
            <a:r>
              <a:rPr lang="en-US" dirty="0"/>
              <a:t>Client 1</a:t>
            </a:r>
          </a:p>
        </p:txBody>
      </p:sp>
      <p:sp>
        <p:nvSpPr>
          <p:cNvPr id="150" name="Google Shape;739;p15">
            <a:extLst>
              <a:ext uri="{FF2B5EF4-FFF2-40B4-BE49-F238E27FC236}">
                <a16:creationId xmlns:a16="http://schemas.microsoft.com/office/drawing/2014/main" id="{448ACB34-43D8-E546-85A8-FED67C0AC4FA}"/>
              </a:ext>
            </a:extLst>
          </p:cNvPr>
          <p:cNvSpPr txBox="1">
            <a:spLocks/>
          </p:cNvSpPr>
          <p:nvPr/>
        </p:nvSpPr>
        <p:spPr>
          <a:xfrm>
            <a:off x="487960" y="1848384"/>
            <a:ext cx="8372145" cy="896351"/>
          </a:xfrm>
          <a:prstGeom prst="rect">
            <a:avLst/>
          </a:prstGeom>
          <a:noFill/>
          <a:ln>
            <a:noFill/>
          </a:ln>
        </p:spPr>
        <p:txBody>
          <a:bodyPr spcFirstLastPara="1" wrap="square" lIns="34275" tIns="34275" rIns="34275" bIns="34275" anchor="t" anchorCtr="0">
            <a:normAutofit fontScale="92500"/>
          </a:bodyPr>
          <a:lstStyle>
            <a:defPPr marR="0" lvl="0" algn="l" rtl="0">
              <a:lnSpc>
                <a:spcPct val="100000"/>
              </a:lnSpc>
              <a:spcBef>
                <a:spcPts val="0"/>
              </a:spcBef>
              <a:spcAft>
                <a:spcPts val="0"/>
              </a:spcAft>
            </a:defPPr>
            <a:lvl1pPr marL="457200" marR="0" lvl="0" indent="-361950" algn="l" rtl="0">
              <a:lnSpc>
                <a:spcPct val="90000"/>
              </a:lnSpc>
              <a:spcBef>
                <a:spcPts val="8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1pPr>
            <a:lvl2pPr marL="914400" marR="0" lvl="1"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2pPr>
            <a:lvl3pPr marL="1371600" marR="0" lvl="2"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3pPr>
            <a:lvl4pPr marL="1828800" marR="0" lvl="3"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4pPr>
            <a:lvl5pPr marL="2286000" marR="0" lvl="4"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5pPr>
            <a:lvl6pPr marL="2743200" marR="0" lvl="5"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6pPr>
            <a:lvl7pPr marL="3200400" marR="0" lvl="6"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7pPr>
            <a:lvl8pPr marL="3657600" marR="0" lvl="7"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8pPr>
            <a:lvl9pPr marL="4114800" marR="0" lvl="8"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9pPr>
          </a:lstStyle>
          <a:p>
            <a:pPr indent="-317500">
              <a:lnSpc>
                <a:spcPct val="110000"/>
              </a:lnSpc>
              <a:spcBef>
                <a:spcPts val="0"/>
              </a:spcBef>
            </a:pPr>
            <a:r>
              <a:rPr lang="en-US" sz="1500" dirty="0"/>
              <a:t>Challenge: how Fulva ensures linearizability (every read request read on a tuple reads the latest write request on the tuple)?</a:t>
            </a:r>
          </a:p>
          <a:p>
            <a:pPr lvl="1" indent="-317500">
              <a:lnSpc>
                <a:spcPct val="110000"/>
              </a:lnSpc>
            </a:pPr>
            <a:r>
              <a:rPr lang="en-US" sz="1300" dirty="0"/>
              <a:t>Solution: lets client sends read requests to both source and destination for tuples that have not been migrated</a:t>
            </a:r>
          </a:p>
        </p:txBody>
      </p:sp>
      <p:sp>
        <p:nvSpPr>
          <p:cNvPr id="126" name="Google Shape;341;p7">
            <a:extLst>
              <a:ext uri="{FF2B5EF4-FFF2-40B4-BE49-F238E27FC236}">
                <a16:creationId xmlns:a16="http://schemas.microsoft.com/office/drawing/2014/main" id="{212D85E3-8595-384C-A9BC-4446EDAB378D}"/>
              </a:ext>
            </a:extLst>
          </p:cNvPr>
          <p:cNvSpPr/>
          <p:nvPr/>
        </p:nvSpPr>
        <p:spPr>
          <a:xfrm>
            <a:off x="5326905" y="3863831"/>
            <a:ext cx="947702" cy="162003"/>
          </a:xfrm>
          <a:prstGeom prst="rect">
            <a:avLst/>
          </a:prstGeom>
          <a:solidFill>
            <a:srgbClr val="00B0F0"/>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a:solidFill>
                  <a:srgbClr val="000000"/>
                </a:solidFill>
                <a:latin typeface="Arial"/>
                <a:ea typeface="Arial"/>
                <a:cs typeface="Arial"/>
                <a:sym typeface="Arial"/>
              </a:rPr>
              <a:t>&lt;1,V1&gt;</a:t>
            </a:r>
            <a:endParaRPr sz="1100" b="0" i="0" u="none" strike="noStrike" cap="none" dirty="0">
              <a:solidFill>
                <a:srgbClr val="000000"/>
              </a:solidFill>
              <a:latin typeface="Arial"/>
              <a:ea typeface="Arial"/>
              <a:cs typeface="Arial"/>
              <a:sym typeface="Arial"/>
            </a:endParaRPr>
          </a:p>
        </p:txBody>
      </p:sp>
      <p:sp>
        <p:nvSpPr>
          <p:cNvPr id="140" name="TextBox 139">
            <a:extLst>
              <a:ext uri="{FF2B5EF4-FFF2-40B4-BE49-F238E27FC236}">
                <a16:creationId xmlns:a16="http://schemas.microsoft.com/office/drawing/2014/main" id="{1DCB618F-802A-4141-B70B-2E3B6AD4BBF5}"/>
              </a:ext>
            </a:extLst>
          </p:cNvPr>
          <p:cNvSpPr txBox="1"/>
          <p:nvPr/>
        </p:nvSpPr>
        <p:spPr>
          <a:xfrm>
            <a:off x="4216745" y="2637799"/>
            <a:ext cx="792205" cy="307777"/>
          </a:xfrm>
          <a:prstGeom prst="rect">
            <a:avLst/>
          </a:prstGeom>
          <a:noFill/>
        </p:spPr>
        <p:txBody>
          <a:bodyPr wrap="none" rtlCol="0">
            <a:spAutoFit/>
          </a:bodyPr>
          <a:lstStyle/>
          <a:p>
            <a:r>
              <a:rPr lang="en-US" dirty="0"/>
              <a:t>Client 2</a:t>
            </a:r>
          </a:p>
        </p:txBody>
      </p:sp>
      <p:sp>
        <p:nvSpPr>
          <p:cNvPr id="141" name="TextBox 140">
            <a:extLst>
              <a:ext uri="{FF2B5EF4-FFF2-40B4-BE49-F238E27FC236}">
                <a16:creationId xmlns:a16="http://schemas.microsoft.com/office/drawing/2014/main" id="{496EF7D7-015A-6840-9E9F-17E0EA01B925}"/>
              </a:ext>
            </a:extLst>
          </p:cNvPr>
          <p:cNvSpPr txBox="1"/>
          <p:nvPr/>
        </p:nvSpPr>
        <p:spPr>
          <a:xfrm>
            <a:off x="5092439" y="2637798"/>
            <a:ext cx="792205" cy="307777"/>
          </a:xfrm>
          <a:prstGeom prst="rect">
            <a:avLst/>
          </a:prstGeom>
          <a:noFill/>
        </p:spPr>
        <p:txBody>
          <a:bodyPr wrap="none" rtlCol="0">
            <a:spAutoFit/>
          </a:bodyPr>
          <a:lstStyle/>
          <a:p>
            <a:r>
              <a:rPr lang="en-US" dirty="0"/>
              <a:t>Client 3</a:t>
            </a:r>
          </a:p>
        </p:txBody>
      </p:sp>
      <p:cxnSp>
        <p:nvCxnSpPr>
          <p:cNvPr id="4" name="Straight Arrow Connector 3">
            <a:extLst>
              <a:ext uri="{FF2B5EF4-FFF2-40B4-BE49-F238E27FC236}">
                <a16:creationId xmlns:a16="http://schemas.microsoft.com/office/drawing/2014/main" id="{0CE06A5E-231D-BC45-9A39-249AE33D9C88}"/>
              </a:ext>
            </a:extLst>
          </p:cNvPr>
          <p:cNvCxnSpPr>
            <a:stCxn id="146" idx="2"/>
          </p:cNvCxnSpPr>
          <p:nvPr/>
        </p:nvCxnSpPr>
        <p:spPr>
          <a:xfrm>
            <a:off x="3752770" y="2945575"/>
            <a:ext cx="1831054" cy="429586"/>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2EA842B-0972-9F4D-A4F7-ACA9FC7254AD}"/>
              </a:ext>
            </a:extLst>
          </p:cNvPr>
          <p:cNvCxnSpPr>
            <a:cxnSpLocks/>
            <a:stCxn id="140" idx="2"/>
          </p:cNvCxnSpPr>
          <p:nvPr/>
        </p:nvCxnSpPr>
        <p:spPr>
          <a:xfrm>
            <a:off x="4612848" y="2945576"/>
            <a:ext cx="1271796" cy="429585"/>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7E83C3E-CEB6-D540-918F-C204F17147F8}"/>
              </a:ext>
            </a:extLst>
          </p:cNvPr>
          <p:cNvCxnSpPr>
            <a:cxnSpLocks/>
            <a:stCxn id="141" idx="2"/>
          </p:cNvCxnSpPr>
          <p:nvPr/>
        </p:nvCxnSpPr>
        <p:spPr>
          <a:xfrm>
            <a:off x="5488542" y="2945575"/>
            <a:ext cx="593851" cy="429586"/>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163A6517-4CB8-EA48-934C-29FD43AC74C8}"/>
              </a:ext>
            </a:extLst>
          </p:cNvPr>
          <p:cNvSpPr txBox="1"/>
          <p:nvPr/>
        </p:nvSpPr>
        <p:spPr>
          <a:xfrm>
            <a:off x="3273623" y="2949753"/>
            <a:ext cx="779381" cy="261610"/>
          </a:xfrm>
          <a:prstGeom prst="rect">
            <a:avLst/>
          </a:prstGeom>
          <a:noFill/>
        </p:spPr>
        <p:txBody>
          <a:bodyPr wrap="none" rtlCol="0">
            <a:spAutoFit/>
          </a:bodyPr>
          <a:lstStyle/>
          <a:p>
            <a:r>
              <a:rPr lang="en-US" sz="1100" dirty="0"/>
              <a:t>Set(1,V1)</a:t>
            </a:r>
          </a:p>
        </p:txBody>
      </p:sp>
      <p:sp>
        <p:nvSpPr>
          <p:cNvPr id="143" name="TextBox 142">
            <a:extLst>
              <a:ext uri="{FF2B5EF4-FFF2-40B4-BE49-F238E27FC236}">
                <a16:creationId xmlns:a16="http://schemas.microsoft.com/office/drawing/2014/main" id="{7DEA100B-93F0-BA43-A88A-1BDBD38A64C4}"/>
              </a:ext>
            </a:extLst>
          </p:cNvPr>
          <p:cNvSpPr txBox="1"/>
          <p:nvPr/>
        </p:nvSpPr>
        <p:spPr>
          <a:xfrm>
            <a:off x="4102511" y="2945177"/>
            <a:ext cx="779381" cy="261610"/>
          </a:xfrm>
          <a:prstGeom prst="rect">
            <a:avLst/>
          </a:prstGeom>
          <a:noFill/>
        </p:spPr>
        <p:txBody>
          <a:bodyPr wrap="none" rtlCol="0">
            <a:spAutoFit/>
          </a:bodyPr>
          <a:lstStyle/>
          <a:p>
            <a:r>
              <a:rPr lang="en-US" sz="1100" dirty="0"/>
              <a:t>Set(1,V2)</a:t>
            </a:r>
          </a:p>
        </p:txBody>
      </p:sp>
      <p:sp>
        <p:nvSpPr>
          <p:cNvPr id="145" name="TextBox 144">
            <a:extLst>
              <a:ext uri="{FF2B5EF4-FFF2-40B4-BE49-F238E27FC236}">
                <a16:creationId xmlns:a16="http://schemas.microsoft.com/office/drawing/2014/main" id="{EF634336-9908-6842-A227-9740D4C14057}"/>
              </a:ext>
            </a:extLst>
          </p:cNvPr>
          <p:cNvSpPr txBox="1"/>
          <p:nvPr/>
        </p:nvSpPr>
        <p:spPr>
          <a:xfrm>
            <a:off x="4875891" y="2949753"/>
            <a:ext cx="779381" cy="261610"/>
          </a:xfrm>
          <a:prstGeom prst="rect">
            <a:avLst/>
          </a:prstGeom>
          <a:noFill/>
        </p:spPr>
        <p:txBody>
          <a:bodyPr wrap="none" rtlCol="0">
            <a:spAutoFit/>
          </a:bodyPr>
          <a:lstStyle/>
          <a:p>
            <a:r>
              <a:rPr lang="en-US" sz="1100" dirty="0"/>
              <a:t>Set(1,V3)</a:t>
            </a:r>
          </a:p>
        </p:txBody>
      </p:sp>
      <p:sp>
        <p:nvSpPr>
          <p:cNvPr id="147" name="Google Shape;341;p7">
            <a:extLst>
              <a:ext uri="{FF2B5EF4-FFF2-40B4-BE49-F238E27FC236}">
                <a16:creationId xmlns:a16="http://schemas.microsoft.com/office/drawing/2014/main" id="{EDA3329C-4204-A147-9B97-BC460CD391A2}"/>
              </a:ext>
            </a:extLst>
          </p:cNvPr>
          <p:cNvSpPr/>
          <p:nvPr/>
        </p:nvSpPr>
        <p:spPr>
          <a:xfrm>
            <a:off x="5323351" y="3861578"/>
            <a:ext cx="947702" cy="162003"/>
          </a:xfrm>
          <a:prstGeom prst="rect">
            <a:avLst/>
          </a:prstGeom>
          <a:solidFill>
            <a:srgbClr val="00B0F0"/>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a:solidFill>
                  <a:srgbClr val="000000"/>
                </a:solidFill>
                <a:latin typeface="Arial"/>
                <a:ea typeface="Arial"/>
                <a:cs typeface="Arial"/>
                <a:sym typeface="Arial"/>
              </a:rPr>
              <a:t>&lt;1,V2&gt;</a:t>
            </a:r>
            <a:endParaRPr sz="1100" b="0" i="0" u="none" strike="noStrike" cap="none" dirty="0">
              <a:solidFill>
                <a:srgbClr val="000000"/>
              </a:solidFill>
              <a:latin typeface="Arial"/>
              <a:ea typeface="Arial"/>
              <a:cs typeface="Arial"/>
              <a:sym typeface="Arial"/>
            </a:endParaRPr>
          </a:p>
        </p:txBody>
      </p:sp>
      <p:sp>
        <p:nvSpPr>
          <p:cNvPr id="151" name="Google Shape;341;p7">
            <a:extLst>
              <a:ext uri="{FF2B5EF4-FFF2-40B4-BE49-F238E27FC236}">
                <a16:creationId xmlns:a16="http://schemas.microsoft.com/office/drawing/2014/main" id="{F2A87059-3391-F144-82C7-5DECECD74481}"/>
              </a:ext>
            </a:extLst>
          </p:cNvPr>
          <p:cNvSpPr/>
          <p:nvPr/>
        </p:nvSpPr>
        <p:spPr>
          <a:xfrm>
            <a:off x="5326905" y="3859099"/>
            <a:ext cx="947702" cy="162003"/>
          </a:xfrm>
          <a:prstGeom prst="rect">
            <a:avLst/>
          </a:prstGeom>
          <a:solidFill>
            <a:srgbClr val="00B0F0"/>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a:solidFill>
                  <a:srgbClr val="000000"/>
                </a:solidFill>
                <a:latin typeface="Arial"/>
                <a:ea typeface="Arial"/>
                <a:cs typeface="Arial"/>
                <a:sym typeface="Arial"/>
              </a:rPr>
              <a:t>&lt;1,V3&gt;</a:t>
            </a:r>
            <a:endParaRPr sz="1100" b="0" i="0" u="none" strike="noStrike" cap="none" dirty="0">
              <a:solidFill>
                <a:srgbClr val="000000"/>
              </a:solidFill>
              <a:latin typeface="Arial"/>
              <a:ea typeface="Arial"/>
              <a:cs typeface="Arial"/>
              <a:sym typeface="Arial"/>
            </a:endParaRPr>
          </a:p>
        </p:txBody>
      </p:sp>
      <p:cxnSp>
        <p:nvCxnSpPr>
          <p:cNvPr id="152" name="Straight Arrow Connector 151">
            <a:extLst>
              <a:ext uri="{FF2B5EF4-FFF2-40B4-BE49-F238E27FC236}">
                <a16:creationId xmlns:a16="http://schemas.microsoft.com/office/drawing/2014/main" id="{61C85CAE-CCEA-6740-936A-2F8BB63F8232}"/>
              </a:ext>
            </a:extLst>
          </p:cNvPr>
          <p:cNvCxnSpPr>
            <a:cxnSpLocks/>
          </p:cNvCxnSpPr>
          <p:nvPr/>
        </p:nvCxnSpPr>
        <p:spPr>
          <a:xfrm flipH="1">
            <a:off x="3121606" y="2952536"/>
            <a:ext cx="631165" cy="435677"/>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F7A01770-3221-0246-8328-F144CBA308BD}"/>
              </a:ext>
            </a:extLst>
          </p:cNvPr>
          <p:cNvCxnSpPr>
            <a:cxnSpLocks/>
            <a:endCxn id="78" idx="0"/>
          </p:cNvCxnSpPr>
          <p:nvPr/>
        </p:nvCxnSpPr>
        <p:spPr>
          <a:xfrm flipH="1">
            <a:off x="3391129" y="2953159"/>
            <a:ext cx="1221720" cy="436391"/>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4B2286A2-2E5A-1D4C-ADB1-1BD5619DD864}"/>
              </a:ext>
            </a:extLst>
          </p:cNvPr>
          <p:cNvCxnSpPr>
            <a:cxnSpLocks/>
          </p:cNvCxnSpPr>
          <p:nvPr/>
        </p:nvCxnSpPr>
        <p:spPr>
          <a:xfrm flipH="1">
            <a:off x="3705130" y="2946063"/>
            <a:ext cx="1777779" cy="454565"/>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914FC288-52EA-B346-9D09-22216ECBB5C9}"/>
              </a:ext>
            </a:extLst>
          </p:cNvPr>
          <p:cNvSpPr txBox="1"/>
          <p:nvPr/>
        </p:nvSpPr>
        <p:spPr>
          <a:xfrm>
            <a:off x="3391874" y="3068201"/>
            <a:ext cx="582211" cy="261610"/>
          </a:xfrm>
          <a:prstGeom prst="rect">
            <a:avLst/>
          </a:prstGeom>
          <a:noFill/>
        </p:spPr>
        <p:txBody>
          <a:bodyPr wrap="none" rtlCol="0">
            <a:spAutoFit/>
          </a:bodyPr>
          <a:lstStyle/>
          <a:p>
            <a:r>
              <a:rPr lang="en-US" sz="1100" dirty="0"/>
              <a:t>Get(1)</a:t>
            </a:r>
          </a:p>
        </p:txBody>
      </p:sp>
      <p:sp>
        <p:nvSpPr>
          <p:cNvPr id="100" name="Oval 99">
            <a:extLst>
              <a:ext uri="{FF2B5EF4-FFF2-40B4-BE49-F238E27FC236}">
                <a16:creationId xmlns:a16="http://schemas.microsoft.com/office/drawing/2014/main" id="{78D0D091-10B6-7A4D-96AB-AFD2EED4089E}"/>
              </a:ext>
            </a:extLst>
          </p:cNvPr>
          <p:cNvSpPr/>
          <p:nvPr/>
        </p:nvSpPr>
        <p:spPr>
          <a:xfrm>
            <a:off x="2632364" y="3777582"/>
            <a:ext cx="1516508" cy="450712"/>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13BE2189-436D-DB4B-A7BF-F1287A6B55AF}"/>
              </a:ext>
            </a:extLst>
          </p:cNvPr>
          <p:cNvSpPr/>
          <p:nvPr/>
        </p:nvSpPr>
        <p:spPr>
          <a:xfrm>
            <a:off x="5066232" y="3734180"/>
            <a:ext cx="1516508" cy="450712"/>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8" name="Straight Arrow Connector 157">
            <a:extLst>
              <a:ext uri="{FF2B5EF4-FFF2-40B4-BE49-F238E27FC236}">
                <a16:creationId xmlns:a16="http://schemas.microsoft.com/office/drawing/2014/main" id="{64B6311C-95B0-4041-A146-26C96C8A0AB1}"/>
              </a:ext>
            </a:extLst>
          </p:cNvPr>
          <p:cNvCxnSpPr>
            <a:cxnSpLocks/>
            <a:stCxn id="146" idx="2"/>
          </p:cNvCxnSpPr>
          <p:nvPr/>
        </p:nvCxnSpPr>
        <p:spPr>
          <a:xfrm>
            <a:off x="3752770" y="2945575"/>
            <a:ext cx="2137507" cy="428748"/>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63" name="TextBox 162">
            <a:extLst>
              <a:ext uri="{FF2B5EF4-FFF2-40B4-BE49-F238E27FC236}">
                <a16:creationId xmlns:a16="http://schemas.microsoft.com/office/drawing/2014/main" id="{26528878-2234-9E46-9943-2CA5332C20FB}"/>
              </a:ext>
            </a:extLst>
          </p:cNvPr>
          <p:cNvSpPr txBox="1"/>
          <p:nvPr/>
        </p:nvSpPr>
        <p:spPr>
          <a:xfrm>
            <a:off x="4192765" y="3079529"/>
            <a:ext cx="582211" cy="261610"/>
          </a:xfrm>
          <a:prstGeom prst="rect">
            <a:avLst/>
          </a:prstGeom>
          <a:noFill/>
        </p:spPr>
        <p:txBody>
          <a:bodyPr wrap="none" rtlCol="0">
            <a:spAutoFit/>
          </a:bodyPr>
          <a:lstStyle/>
          <a:p>
            <a:r>
              <a:rPr lang="en-US" sz="1100" dirty="0"/>
              <a:t>Get(1)</a:t>
            </a:r>
          </a:p>
        </p:txBody>
      </p:sp>
      <p:cxnSp>
        <p:nvCxnSpPr>
          <p:cNvPr id="164" name="Straight Arrow Connector 163">
            <a:extLst>
              <a:ext uri="{FF2B5EF4-FFF2-40B4-BE49-F238E27FC236}">
                <a16:creationId xmlns:a16="http://schemas.microsoft.com/office/drawing/2014/main" id="{75764671-E42B-9341-BE7C-7178A9FBAE54}"/>
              </a:ext>
            </a:extLst>
          </p:cNvPr>
          <p:cNvCxnSpPr>
            <a:cxnSpLocks/>
          </p:cNvCxnSpPr>
          <p:nvPr/>
        </p:nvCxnSpPr>
        <p:spPr>
          <a:xfrm flipV="1">
            <a:off x="2941703" y="2924964"/>
            <a:ext cx="671457" cy="469891"/>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65" name="TextBox 164">
            <a:extLst>
              <a:ext uri="{FF2B5EF4-FFF2-40B4-BE49-F238E27FC236}">
                <a16:creationId xmlns:a16="http://schemas.microsoft.com/office/drawing/2014/main" id="{2F72C945-F1D8-6344-8034-EA0AF064854A}"/>
              </a:ext>
            </a:extLst>
          </p:cNvPr>
          <p:cNvSpPr txBox="1"/>
          <p:nvPr/>
        </p:nvSpPr>
        <p:spPr>
          <a:xfrm>
            <a:off x="2663248" y="3064729"/>
            <a:ext cx="559769" cy="261610"/>
          </a:xfrm>
          <a:prstGeom prst="rect">
            <a:avLst/>
          </a:prstGeom>
          <a:noFill/>
        </p:spPr>
        <p:txBody>
          <a:bodyPr wrap="none" rtlCol="0">
            <a:spAutoFit/>
          </a:bodyPr>
          <a:lstStyle/>
          <a:p>
            <a:r>
              <a:rPr lang="en-US" sz="1100" dirty="0"/>
              <a:t>&lt;1,V&gt;</a:t>
            </a:r>
          </a:p>
        </p:txBody>
      </p:sp>
      <p:cxnSp>
        <p:nvCxnSpPr>
          <p:cNvPr id="166" name="Straight Arrow Connector 165">
            <a:extLst>
              <a:ext uri="{FF2B5EF4-FFF2-40B4-BE49-F238E27FC236}">
                <a16:creationId xmlns:a16="http://schemas.microsoft.com/office/drawing/2014/main" id="{943C802F-8541-8745-996B-621C29DDF434}"/>
              </a:ext>
            </a:extLst>
          </p:cNvPr>
          <p:cNvCxnSpPr>
            <a:cxnSpLocks/>
          </p:cNvCxnSpPr>
          <p:nvPr/>
        </p:nvCxnSpPr>
        <p:spPr>
          <a:xfrm flipH="1" flipV="1">
            <a:off x="3904091" y="2900410"/>
            <a:ext cx="2333115" cy="476088"/>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9BC19710-8D14-AB44-B107-18538D6A05E5}"/>
              </a:ext>
            </a:extLst>
          </p:cNvPr>
          <p:cNvSpPr txBox="1"/>
          <p:nvPr/>
        </p:nvSpPr>
        <p:spPr>
          <a:xfrm>
            <a:off x="5591357" y="3079048"/>
            <a:ext cx="638316" cy="261610"/>
          </a:xfrm>
          <a:prstGeom prst="rect">
            <a:avLst/>
          </a:prstGeom>
          <a:noFill/>
        </p:spPr>
        <p:txBody>
          <a:bodyPr wrap="none" rtlCol="0">
            <a:spAutoFit/>
          </a:bodyPr>
          <a:lstStyle/>
          <a:p>
            <a:r>
              <a:rPr lang="en-US" sz="1100" dirty="0"/>
              <a:t>&lt;1,V3&gt;</a:t>
            </a:r>
          </a:p>
        </p:txBody>
      </p:sp>
    </p:spTree>
    <p:extLst>
      <p:ext uri="{BB962C8B-B14F-4D97-AF65-F5344CB8AC3E}">
        <p14:creationId xmlns:p14="http://schemas.microsoft.com/office/powerpoint/2010/main" val="1328317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1000"/>
                                        <p:tgtEl>
                                          <p:spTgt spid="70"/>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126"/>
                                        </p:tgtEl>
                                        <p:attrNameLst>
                                          <p:attrName>style.visibility</p:attrName>
                                        </p:attrNameLst>
                                      </p:cBhvr>
                                      <p:to>
                                        <p:strVal val="visible"/>
                                      </p:to>
                                    </p:set>
                                    <p:animEffect transition="in" filter="fade">
                                      <p:cBhvr>
                                        <p:cTn id="14" dur="1000"/>
                                        <p:tgtEl>
                                          <p:spTgt spid="126"/>
                                        </p:tgtEl>
                                      </p:cBhvr>
                                    </p:animEffect>
                                  </p:childTnLst>
                                </p:cTn>
                              </p:par>
                            </p:childTnLst>
                          </p:cTn>
                        </p:par>
                        <p:par>
                          <p:cTn id="15" fill="hold">
                            <p:stCondLst>
                              <p:cond delay="2000"/>
                            </p:stCondLst>
                            <p:childTnLst>
                              <p:par>
                                <p:cTn id="16" presetID="10" presetClass="entr" presetSubtype="0" fill="hold" grpId="0" nodeType="afterEffect">
                                  <p:stCondLst>
                                    <p:cond delay="0"/>
                                  </p:stCondLst>
                                  <p:childTnLst>
                                    <p:set>
                                      <p:cBhvr>
                                        <p:cTn id="17" dur="1" fill="hold">
                                          <p:stCondLst>
                                            <p:cond delay="0"/>
                                          </p:stCondLst>
                                        </p:cTn>
                                        <p:tgtEl>
                                          <p:spTgt spid="143"/>
                                        </p:tgtEl>
                                        <p:attrNameLst>
                                          <p:attrName>style.visibility</p:attrName>
                                        </p:attrNameLst>
                                      </p:cBhvr>
                                      <p:to>
                                        <p:strVal val="visible"/>
                                      </p:to>
                                    </p:set>
                                    <p:animEffect transition="in" filter="fade">
                                      <p:cBhvr>
                                        <p:cTn id="18" dur="1000"/>
                                        <p:tgtEl>
                                          <p:spTgt spid="143"/>
                                        </p:tgtEl>
                                      </p:cBhvr>
                                    </p:animEffect>
                                  </p:childTnLst>
                                </p:cTn>
                              </p:par>
                              <p:par>
                                <p:cTn id="19" presetID="10"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1000"/>
                                        <p:tgtEl>
                                          <p:spTgt spid="37"/>
                                        </p:tgtEl>
                                      </p:cBhvr>
                                    </p:animEffect>
                                  </p:childTnLst>
                                </p:cTn>
                              </p:par>
                              <p:par>
                                <p:cTn id="22" presetID="10" presetClass="exit" presetSubtype="0" fill="hold" grpId="1" nodeType="withEffect">
                                  <p:stCondLst>
                                    <p:cond delay="0"/>
                                  </p:stCondLst>
                                  <p:childTnLst>
                                    <p:animEffect transition="out" filter="fade">
                                      <p:cBhvr>
                                        <p:cTn id="23" dur="1000"/>
                                        <p:tgtEl>
                                          <p:spTgt spid="70"/>
                                        </p:tgtEl>
                                      </p:cBhvr>
                                    </p:animEffect>
                                    <p:set>
                                      <p:cBhvr>
                                        <p:cTn id="24" dur="1" fill="hold">
                                          <p:stCondLst>
                                            <p:cond delay="999"/>
                                          </p:stCondLst>
                                        </p:cTn>
                                        <p:tgtEl>
                                          <p:spTgt spid="70"/>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26" dur="1000"/>
                                        <p:tgtEl>
                                          <p:spTgt spid="4"/>
                                        </p:tgtEl>
                                      </p:cBhvr>
                                    </p:animEffect>
                                    <p:set>
                                      <p:cBhvr>
                                        <p:cTn id="27" dur="1" fill="hold">
                                          <p:stCondLst>
                                            <p:cond delay="999"/>
                                          </p:stCondLst>
                                        </p:cTn>
                                        <p:tgtEl>
                                          <p:spTgt spid="4"/>
                                        </p:tgtEl>
                                        <p:attrNameLst>
                                          <p:attrName>style.visibility</p:attrName>
                                        </p:attrNameLst>
                                      </p:cBhvr>
                                      <p:to>
                                        <p:strVal val="hidden"/>
                                      </p:to>
                                    </p:se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47"/>
                                        </p:tgtEl>
                                        <p:attrNameLst>
                                          <p:attrName>style.visibility</p:attrName>
                                        </p:attrNameLst>
                                      </p:cBhvr>
                                      <p:to>
                                        <p:strVal val="visible"/>
                                      </p:to>
                                    </p:set>
                                    <p:animEffect transition="in" filter="fade">
                                      <p:cBhvr>
                                        <p:cTn id="31" dur="1000"/>
                                        <p:tgtEl>
                                          <p:spTgt spid="147"/>
                                        </p:tgtEl>
                                      </p:cBhvr>
                                    </p:animEffect>
                                  </p:childTnLst>
                                </p:cTn>
                              </p:par>
                            </p:childTnLst>
                          </p:cTn>
                        </p:par>
                        <p:par>
                          <p:cTn id="32" fill="hold">
                            <p:stCondLst>
                              <p:cond delay="4000"/>
                            </p:stCondLst>
                            <p:childTnLst>
                              <p:par>
                                <p:cTn id="33" presetID="10" presetClass="entr" presetSubtype="0" fill="hold" grpId="0" nodeType="afterEffect">
                                  <p:stCondLst>
                                    <p:cond delay="0"/>
                                  </p:stCondLst>
                                  <p:childTnLst>
                                    <p:set>
                                      <p:cBhvr>
                                        <p:cTn id="34" dur="1" fill="hold">
                                          <p:stCondLst>
                                            <p:cond delay="0"/>
                                          </p:stCondLst>
                                        </p:cTn>
                                        <p:tgtEl>
                                          <p:spTgt spid="145"/>
                                        </p:tgtEl>
                                        <p:attrNameLst>
                                          <p:attrName>style.visibility</p:attrName>
                                        </p:attrNameLst>
                                      </p:cBhvr>
                                      <p:to>
                                        <p:strVal val="visible"/>
                                      </p:to>
                                    </p:set>
                                    <p:animEffect transition="in" filter="fade">
                                      <p:cBhvr>
                                        <p:cTn id="35" dur="1000"/>
                                        <p:tgtEl>
                                          <p:spTgt spid="145"/>
                                        </p:tgtEl>
                                      </p:cBhvr>
                                    </p:animEffect>
                                  </p:childTnLst>
                                </p:cTn>
                              </p:par>
                              <p:par>
                                <p:cTn id="36" presetID="10" presetClass="entr" presetSubtype="0" fill="hold" nodeType="withEffect">
                                  <p:stCondLst>
                                    <p:cond delay="0"/>
                                  </p:stCondLst>
                                  <p:childTnLst>
                                    <p:set>
                                      <p:cBhvr>
                                        <p:cTn id="37" dur="1" fill="hold">
                                          <p:stCondLst>
                                            <p:cond delay="0"/>
                                          </p:stCondLst>
                                        </p:cTn>
                                        <p:tgtEl>
                                          <p:spTgt spid="54"/>
                                        </p:tgtEl>
                                        <p:attrNameLst>
                                          <p:attrName>style.visibility</p:attrName>
                                        </p:attrNameLst>
                                      </p:cBhvr>
                                      <p:to>
                                        <p:strVal val="visible"/>
                                      </p:to>
                                    </p:set>
                                    <p:animEffect transition="in" filter="fade">
                                      <p:cBhvr>
                                        <p:cTn id="38" dur="1000"/>
                                        <p:tgtEl>
                                          <p:spTgt spid="54"/>
                                        </p:tgtEl>
                                      </p:cBhvr>
                                    </p:animEffect>
                                  </p:childTnLst>
                                </p:cTn>
                              </p:par>
                              <p:par>
                                <p:cTn id="39" presetID="10" presetClass="exit" presetSubtype="0" fill="hold" nodeType="withEffect">
                                  <p:stCondLst>
                                    <p:cond delay="0"/>
                                  </p:stCondLst>
                                  <p:childTnLst>
                                    <p:animEffect transition="out" filter="fade">
                                      <p:cBhvr>
                                        <p:cTn id="40" dur="1000"/>
                                        <p:tgtEl>
                                          <p:spTgt spid="37"/>
                                        </p:tgtEl>
                                      </p:cBhvr>
                                    </p:animEffect>
                                    <p:set>
                                      <p:cBhvr>
                                        <p:cTn id="41" dur="1" fill="hold">
                                          <p:stCondLst>
                                            <p:cond delay="999"/>
                                          </p:stCondLst>
                                        </p:cTn>
                                        <p:tgtEl>
                                          <p:spTgt spid="37"/>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1000"/>
                                        <p:tgtEl>
                                          <p:spTgt spid="143"/>
                                        </p:tgtEl>
                                      </p:cBhvr>
                                    </p:animEffect>
                                    <p:set>
                                      <p:cBhvr>
                                        <p:cTn id="44" dur="1" fill="hold">
                                          <p:stCondLst>
                                            <p:cond delay="999"/>
                                          </p:stCondLst>
                                        </p:cTn>
                                        <p:tgtEl>
                                          <p:spTgt spid="143"/>
                                        </p:tgtEl>
                                        <p:attrNameLst>
                                          <p:attrName>style.visibility</p:attrName>
                                        </p:attrNameLst>
                                      </p:cBhvr>
                                      <p:to>
                                        <p:strVal val="hidden"/>
                                      </p:to>
                                    </p:set>
                                  </p:childTnLst>
                                </p:cTn>
                              </p:par>
                            </p:childTnLst>
                          </p:cTn>
                        </p:par>
                        <p:par>
                          <p:cTn id="45" fill="hold">
                            <p:stCondLst>
                              <p:cond delay="5000"/>
                            </p:stCondLst>
                            <p:childTnLst>
                              <p:par>
                                <p:cTn id="46" presetID="10" presetClass="entr" presetSubtype="0" fill="hold" grpId="0" nodeType="afterEffect">
                                  <p:stCondLst>
                                    <p:cond delay="0"/>
                                  </p:stCondLst>
                                  <p:childTnLst>
                                    <p:set>
                                      <p:cBhvr>
                                        <p:cTn id="47" dur="1" fill="hold">
                                          <p:stCondLst>
                                            <p:cond delay="0"/>
                                          </p:stCondLst>
                                        </p:cTn>
                                        <p:tgtEl>
                                          <p:spTgt spid="151"/>
                                        </p:tgtEl>
                                        <p:attrNameLst>
                                          <p:attrName>style.visibility</p:attrName>
                                        </p:attrNameLst>
                                      </p:cBhvr>
                                      <p:to>
                                        <p:strVal val="visible"/>
                                      </p:to>
                                    </p:set>
                                    <p:animEffect transition="in" filter="fade">
                                      <p:cBhvr>
                                        <p:cTn id="48" dur="1000"/>
                                        <p:tgtEl>
                                          <p:spTgt spid="15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54"/>
                                        </p:tgtEl>
                                        <p:attrNameLst>
                                          <p:attrName>style.visibility</p:attrName>
                                        </p:attrNameLst>
                                      </p:cBhvr>
                                      <p:to>
                                        <p:strVal val="visible"/>
                                      </p:to>
                                    </p:set>
                                    <p:animEffect transition="in" filter="fade">
                                      <p:cBhvr>
                                        <p:cTn id="53" dur="500"/>
                                        <p:tgtEl>
                                          <p:spTgt spid="154"/>
                                        </p:tgtEl>
                                      </p:cBhvr>
                                    </p:animEffect>
                                  </p:childTnLst>
                                </p:cTn>
                              </p:par>
                              <p:par>
                                <p:cTn id="54" presetID="10" presetClass="exit" presetSubtype="0" fill="hold" grpId="1" nodeType="withEffect">
                                  <p:stCondLst>
                                    <p:cond delay="0"/>
                                  </p:stCondLst>
                                  <p:childTnLst>
                                    <p:animEffect transition="out" filter="fade">
                                      <p:cBhvr>
                                        <p:cTn id="55" dur="500"/>
                                        <p:tgtEl>
                                          <p:spTgt spid="145"/>
                                        </p:tgtEl>
                                      </p:cBhvr>
                                    </p:animEffect>
                                    <p:set>
                                      <p:cBhvr>
                                        <p:cTn id="56" dur="1" fill="hold">
                                          <p:stCondLst>
                                            <p:cond delay="499"/>
                                          </p:stCondLst>
                                        </p:cTn>
                                        <p:tgtEl>
                                          <p:spTgt spid="145"/>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500"/>
                                        <p:tgtEl>
                                          <p:spTgt spid="54"/>
                                        </p:tgtEl>
                                      </p:cBhvr>
                                    </p:animEffect>
                                    <p:set>
                                      <p:cBhvr>
                                        <p:cTn id="59" dur="1" fill="hold">
                                          <p:stCondLst>
                                            <p:cond delay="499"/>
                                          </p:stCondLst>
                                        </p:cTn>
                                        <p:tgtEl>
                                          <p:spTgt spid="54"/>
                                        </p:tgtEl>
                                        <p:attrNameLst>
                                          <p:attrName>style.visibility</p:attrName>
                                        </p:attrNameLst>
                                      </p:cBhvr>
                                      <p:to>
                                        <p:strVal val="hidden"/>
                                      </p:to>
                                    </p:set>
                                  </p:childTnLst>
                                </p:cTn>
                              </p:par>
                              <p:par>
                                <p:cTn id="60" presetID="10" presetClass="entr" presetSubtype="0" fill="hold" nodeType="withEffect">
                                  <p:stCondLst>
                                    <p:cond delay="0"/>
                                  </p:stCondLst>
                                  <p:childTnLst>
                                    <p:set>
                                      <p:cBhvr>
                                        <p:cTn id="61" dur="1" fill="hold">
                                          <p:stCondLst>
                                            <p:cond delay="0"/>
                                          </p:stCondLst>
                                        </p:cTn>
                                        <p:tgtEl>
                                          <p:spTgt spid="152"/>
                                        </p:tgtEl>
                                        <p:attrNameLst>
                                          <p:attrName>style.visibility</p:attrName>
                                        </p:attrNameLst>
                                      </p:cBhvr>
                                      <p:to>
                                        <p:strVal val="visible"/>
                                      </p:to>
                                    </p:set>
                                    <p:animEffect transition="in" filter="fade">
                                      <p:cBhvr>
                                        <p:cTn id="62" dur="500"/>
                                        <p:tgtEl>
                                          <p:spTgt spid="152"/>
                                        </p:tgtEl>
                                      </p:cBhvr>
                                    </p:animEffect>
                                  </p:childTnLst>
                                </p:cTn>
                              </p:par>
                              <p:par>
                                <p:cTn id="63" presetID="10" presetClass="entr" presetSubtype="0" fill="hold" nodeType="withEffect">
                                  <p:stCondLst>
                                    <p:cond delay="0"/>
                                  </p:stCondLst>
                                  <p:childTnLst>
                                    <p:set>
                                      <p:cBhvr>
                                        <p:cTn id="64" dur="1" fill="hold">
                                          <p:stCondLst>
                                            <p:cond delay="0"/>
                                          </p:stCondLst>
                                        </p:cTn>
                                        <p:tgtEl>
                                          <p:spTgt spid="155"/>
                                        </p:tgtEl>
                                        <p:attrNameLst>
                                          <p:attrName>style.visibility</p:attrName>
                                        </p:attrNameLst>
                                      </p:cBhvr>
                                      <p:to>
                                        <p:strVal val="visible"/>
                                      </p:to>
                                    </p:set>
                                    <p:animEffect transition="in" filter="fade">
                                      <p:cBhvr>
                                        <p:cTn id="65" dur="500"/>
                                        <p:tgtEl>
                                          <p:spTgt spid="155"/>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52"/>
                                        </p:tgtEl>
                                        <p:attrNameLst>
                                          <p:attrName>style.visibility</p:attrName>
                                        </p:attrNameLst>
                                      </p:cBhvr>
                                      <p:to>
                                        <p:strVal val="visible"/>
                                      </p:to>
                                    </p:set>
                                    <p:animEffect transition="in" filter="fade">
                                      <p:cBhvr>
                                        <p:cTn id="70" dur="500"/>
                                        <p:tgtEl>
                                          <p:spTgt spid="15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93"/>
                                        </p:tgtEl>
                                        <p:attrNameLst>
                                          <p:attrName>style.visibility</p:attrName>
                                        </p:attrNameLst>
                                      </p:cBhvr>
                                      <p:to>
                                        <p:strVal val="visible"/>
                                      </p:to>
                                    </p:set>
                                    <p:animEffect transition="in" filter="fade">
                                      <p:cBhvr>
                                        <p:cTn id="73" dur="500"/>
                                        <p:tgtEl>
                                          <p:spTgt spid="93"/>
                                        </p:tgtEl>
                                      </p:cBhvr>
                                    </p:animEffect>
                                  </p:childTnLst>
                                </p:cTn>
                              </p:par>
                              <p:par>
                                <p:cTn id="74" presetID="10" presetClass="exit" presetSubtype="0" fill="hold" nodeType="withEffect">
                                  <p:stCondLst>
                                    <p:cond delay="0"/>
                                  </p:stCondLst>
                                  <p:childTnLst>
                                    <p:animEffect transition="out" filter="fade">
                                      <p:cBhvr>
                                        <p:cTn id="75" dur="500"/>
                                        <p:tgtEl>
                                          <p:spTgt spid="154"/>
                                        </p:tgtEl>
                                      </p:cBhvr>
                                    </p:animEffect>
                                    <p:set>
                                      <p:cBhvr>
                                        <p:cTn id="76" dur="1" fill="hold">
                                          <p:stCondLst>
                                            <p:cond delay="499"/>
                                          </p:stCondLst>
                                        </p:cTn>
                                        <p:tgtEl>
                                          <p:spTgt spid="154"/>
                                        </p:tgtEl>
                                        <p:attrNameLst>
                                          <p:attrName>style.visibility</p:attrName>
                                        </p:attrNameLst>
                                      </p:cBhvr>
                                      <p:to>
                                        <p:strVal val="hidden"/>
                                      </p:to>
                                    </p:set>
                                  </p:childTnLst>
                                </p:cTn>
                              </p:par>
                              <p:par>
                                <p:cTn id="77" presetID="10" presetClass="exit" presetSubtype="0" fill="hold" nodeType="withEffect">
                                  <p:stCondLst>
                                    <p:cond delay="0"/>
                                  </p:stCondLst>
                                  <p:childTnLst>
                                    <p:animEffect transition="out" filter="fade">
                                      <p:cBhvr>
                                        <p:cTn id="78" dur="500"/>
                                        <p:tgtEl>
                                          <p:spTgt spid="155"/>
                                        </p:tgtEl>
                                      </p:cBhvr>
                                    </p:animEffect>
                                    <p:set>
                                      <p:cBhvr>
                                        <p:cTn id="79" dur="1" fill="hold">
                                          <p:stCondLst>
                                            <p:cond delay="499"/>
                                          </p:stCondLst>
                                        </p:cTn>
                                        <p:tgtEl>
                                          <p:spTgt spid="155"/>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00"/>
                                        </p:tgtEl>
                                        <p:attrNameLst>
                                          <p:attrName>style.visibility</p:attrName>
                                        </p:attrNameLst>
                                      </p:cBhvr>
                                      <p:to>
                                        <p:strVal val="visible"/>
                                      </p:to>
                                    </p:set>
                                    <p:animEffect transition="in" filter="fade">
                                      <p:cBhvr>
                                        <p:cTn id="84" dur="500"/>
                                        <p:tgtEl>
                                          <p:spTgt spid="10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56"/>
                                        </p:tgtEl>
                                        <p:attrNameLst>
                                          <p:attrName>style.visibility</p:attrName>
                                        </p:attrNameLst>
                                      </p:cBhvr>
                                      <p:to>
                                        <p:strVal val="visible"/>
                                      </p:to>
                                    </p:set>
                                    <p:animEffect transition="in" filter="fade">
                                      <p:cBhvr>
                                        <p:cTn id="87" dur="500"/>
                                        <p:tgtEl>
                                          <p:spTgt spid="156"/>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58"/>
                                        </p:tgtEl>
                                        <p:attrNameLst>
                                          <p:attrName>style.visibility</p:attrName>
                                        </p:attrNameLst>
                                      </p:cBhvr>
                                      <p:to>
                                        <p:strVal val="visible"/>
                                      </p:to>
                                    </p:set>
                                    <p:animEffect transition="in" filter="fade">
                                      <p:cBhvr>
                                        <p:cTn id="92" dur="500"/>
                                        <p:tgtEl>
                                          <p:spTgt spid="15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63"/>
                                        </p:tgtEl>
                                        <p:attrNameLst>
                                          <p:attrName>style.visibility</p:attrName>
                                        </p:attrNameLst>
                                      </p:cBhvr>
                                      <p:to>
                                        <p:strVal val="visible"/>
                                      </p:to>
                                    </p:set>
                                    <p:animEffect transition="in" filter="fade">
                                      <p:cBhvr>
                                        <p:cTn id="95" dur="500"/>
                                        <p:tgtEl>
                                          <p:spTgt spid="163"/>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165"/>
                                        </p:tgtEl>
                                        <p:attrNameLst>
                                          <p:attrName>style.visibility</p:attrName>
                                        </p:attrNameLst>
                                      </p:cBhvr>
                                      <p:to>
                                        <p:strVal val="visible"/>
                                      </p:to>
                                    </p:set>
                                    <p:animEffect transition="in" filter="fade">
                                      <p:cBhvr>
                                        <p:cTn id="100" dur="500"/>
                                        <p:tgtEl>
                                          <p:spTgt spid="165"/>
                                        </p:tgtEl>
                                      </p:cBhvr>
                                    </p:animEffect>
                                  </p:childTnLst>
                                </p:cTn>
                              </p:par>
                              <p:par>
                                <p:cTn id="101" presetID="10" presetClass="entr" presetSubtype="0" fill="hold" nodeType="withEffect">
                                  <p:stCondLst>
                                    <p:cond delay="0"/>
                                  </p:stCondLst>
                                  <p:childTnLst>
                                    <p:set>
                                      <p:cBhvr>
                                        <p:cTn id="102" dur="1" fill="hold">
                                          <p:stCondLst>
                                            <p:cond delay="0"/>
                                          </p:stCondLst>
                                        </p:cTn>
                                        <p:tgtEl>
                                          <p:spTgt spid="164"/>
                                        </p:tgtEl>
                                        <p:attrNameLst>
                                          <p:attrName>style.visibility</p:attrName>
                                        </p:attrNameLst>
                                      </p:cBhvr>
                                      <p:to>
                                        <p:strVal val="visible"/>
                                      </p:to>
                                    </p:set>
                                    <p:animEffect transition="in" filter="fade">
                                      <p:cBhvr>
                                        <p:cTn id="103" dur="500"/>
                                        <p:tgtEl>
                                          <p:spTgt spid="164"/>
                                        </p:tgtEl>
                                      </p:cBhvr>
                                    </p:animEffect>
                                  </p:childTnLst>
                                </p:cTn>
                              </p:par>
                              <p:par>
                                <p:cTn id="104" presetID="10" presetClass="entr" presetSubtype="0" fill="hold" nodeType="withEffect">
                                  <p:stCondLst>
                                    <p:cond delay="0"/>
                                  </p:stCondLst>
                                  <p:childTnLst>
                                    <p:set>
                                      <p:cBhvr>
                                        <p:cTn id="105" dur="1" fill="hold">
                                          <p:stCondLst>
                                            <p:cond delay="0"/>
                                          </p:stCondLst>
                                        </p:cTn>
                                        <p:tgtEl>
                                          <p:spTgt spid="166"/>
                                        </p:tgtEl>
                                        <p:attrNameLst>
                                          <p:attrName>style.visibility</p:attrName>
                                        </p:attrNameLst>
                                      </p:cBhvr>
                                      <p:to>
                                        <p:strVal val="visible"/>
                                      </p:to>
                                    </p:set>
                                    <p:animEffect transition="in" filter="fade">
                                      <p:cBhvr>
                                        <p:cTn id="106" dur="500"/>
                                        <p:tgtEl>
                                          <p:spTgt spid="16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69"/>
                                        </p:tgtEl>
                                        <p:attrNameLst>
                                          <p:attrName>style.visibility</p:attrName>
                                        </p:attrNameLst>
                                      </p:cBhvr>
                                      <p:to>
                                        <p:strVal val="visible"/>
                                      </p:to>
                                    </p:set>
                                    <p:animEffect transition="in" filter="fade">
                                      <p:cBhvr>
                                        <p:cTn id="109"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70" grpId="0"/>
      <p:bldP spid="70" grpId="1"/>
      <p:bldP spid="143" grpId="0"/>
      <p:bldP spid="143" grpId="1"/>
      <p:bldP spid="145" grpId="0"/>
      <p:bldP spid="145" grpId="1"/>
      <p:bldP spid="147" grpId="0" animBg="1"/>
      <p:bldP spid="151" grpId="0" animBg="1"/>
      <p:bldP spid="93" grpId="0"/>
      <p:bldP spid="100" grpId="0" animBg="1"/>
      <p:bldP spid="156" grpId="0" animBg="1"/>
      <p:bldP spid="163" grpId="0"/>
      <p:bldP spid="165" grpId="0"/>
      <p:bldP spid="16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grpSp>
        <p:nvGrpSpPr>
          <p:cNvPr id="744" name="Google Shape;744;g6277982ef9_0_5"/>
          <p:cNvGrpSpPr/>
          <p:nvPr/>
        </p:nvGrpSpPr>
        <p:grpSpPr>
          <a:xfrm>
            <a:off x="811035" y="1044166"/>
            <a:ext cx="4778401" cy="1301723"/>
            <a:chOff x="0" y="-1"/>
            <a:chExt cx="4778401" cy="1301723"/>
          </a:xfrm>
        </p:grpSpPr>
        <p:grpSp>
          <p:nvGrpSpPr>
            <p:cNvPr id="745" name="Google Shape;745;g6277982ef9_0_5"/>
            <p:cNvGrpSpPr/>
            <p:nvPr/>
          </p:nvGrpSpPr>
          <p:grpSpPr>
            <a:xfrm>
              <a:off x="0" y="37784"/>
              <a:ext cx="4778401" cy="1263938"/>
              <a:chOff x="0" y="-1"/>
              <a:chExt cx="4778401" cy="1263938"/>
            </a:xfrm>
          </p:grpSpPr>
          <p:sp>
            <p:nvSpPr>
              <p:cNvPr id="746" name="Google Shape;746;g6277982ef9_0_5"/>
              <p:cNvSpPr/>
              <p:nvPr/>
            </p:nvSpPr>
            <p:spPr>
              <a:xfrm>
                <a:off x="0" y="308137"/>
                <a:ext cx="4778400" cy="955800"/>
              </a:xfrm>
              <a:prstGeom prst="rect">
                <a:avLst/>
              </a:prstGeom>
              <a:solidFill>
                <a:srgbClr val="FEE59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47" name="Google Shape;747;g6277982ef9_0_5"/>
              <p:cNvSpPr/>
              <p:nvPr/>
            </p:nvSpPr>
            <p:spPr>
              <a:xfrm>
                <a:off x="1" y="-1"/>
                <a:ext cx="4778400" cy="3066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500"/>
                  <a:buFont typeface="Calibri"/>
                  <a:buNone/>
                </a:pPr>
                <a:endParaRPr sz="1500" b="0" i="0" u="none" strike="noStrike" cap="none">
                  <a:solidFill>
                    <a:srgbClr val="000000"/>
                  </a:solidFill>
                  <a:latin typeface="Calibri"/>
                  <a:ea typeface="Calibri"/>
                  <a:cs typeface="Calibri"/>
                  <a:sym typeface="Calibri"/>
                </a:endParaRPr>
              </a:p>
            </p:txBody>
          </p:sp>
        </p:grpSp>
        <p:sp>
          <p:nvSpPr>
            <p:cNvPr id="748" name="Google Shape;748;g6277982ef9_0_5"/>
            <p:cNvSpPr/>
            <p:nvPr/>
          </p:nvSpPr>
          <p:spPr>
            <a:xfrm>
              <a:off x="1657735" y="-1"/>
              <a:ext cx="1421400" cy="1974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Client program N</a:t>
              </a:r>
              <a:endParaRPr/>
            </a:p>
          </p:txBody>
        </p:sp>
      </p:grpSp>
      <p:grpSp>
        <p:nvGrpSpPr>
          <p:cNvPr id="749" name="Google Shape;749;g6277982ef9_0_5"/>
          <p:cNvGrpSpPr/>
          <p:nvPr/>
        </p:nvGrpSpPr>
        <p:grpSpPr>
          <a:xfrm>
            <a:off x="860596" y="1162677"/>
            <a:ext cx="4840200" cy="1289559"/>
            <a:chOff x="-1" y="0"/>
            <a:chExt cx="4840200" cy="1289559"/>
          </a:xfrm>
        </p:grpSpPr>
        <p:grpSp>
          <p:nvGrpSpPr>
            <p:cNvPr id="750" name="Google Shape;750;g6277982ef9_0_5"/>
            <p:cNvGrpSpPr/>
            <p:nvPr/>
          </p:nvGrpSpPr>
          <p:grpSpPr>
            <a:xfrm>
              <a:off x="-1" y="36762"/>
              <a:ext cx="4840200" cy="1252797"/>
              <a:chOff x="0" y="-1"/>
              <a:chExt cx="4840200" cy="1252797"/>
            </a:xfrm>
          </p:grpSpPr>
          <p:sp>
            <p:nvSpPr>
              <p:cNvPr id="751" name="Google Shape;751;g6277982ef9_0_5"/>
              <p:cNvSpPr/>
              <p:nvPr/>
            </p:nvSpPr>
            <p:spPr>
              <a:xfrm>
                <a:off x="0" y="296996"/>
                <a:ext cx="4840200" cy="955800"/>
              </a:xfrm>
              <a:prstGeom prst="rect">
                <a:avLst/>
              </a:prstGeom>
              <a:solidFill>
                <a:srgbClr val="FEE59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52" name="Google Shape;752;g6277982ef9_0_5"/>
              <p:cNvSpPr/>
              <p:nvPr/>
            </p:nvSpPr>
            <p:spPr>
              <a:xfrm>
                <a:off x="0" y="-1"/>
                <a:ext cx="4840200" cy="3066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500"/>
                  <a:buFont typeface="Calibri"/>
                  <a:buNone/>
                </a:pPr>
                <a:endParaRPr sz="1500" b="0" i="0" u="none" strike="noStrike" cap="none">
                  <a:solidFill>
                    <a:srgbClr val="000000"/>
                  </a:solidFill>
                  <a:latin typeface="Calibri"/>
                  <a:ea typeface="Calibri"/>
                  <a:cs typeface="Calibri"/>
                  <a:sym typeface="Calibri"/>
                </a:endParaRPr>
              </a:p>
            </p:txBody>
          </p:sp>
        </p:grpSp>
        <p:sp>
          <p:nvSpPr>
            <p:cNvPr id="753" name="Google Shape;753;g6277982ef9_0_5"/>
            <p:cNvSpPr/>
            <p:nvPr/>
          </p:nvSpPr>
          <p:spPr>
            <a:xfrm>
              <a:off x="1806785" y="0"/>
              <a:ext cx="1440000" cy="1974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Client program 2</a:t>
              </a:r>
              <a:endParaRPr/>
            </a:p>
          </p:txBody>
        </p:sp>
      </p:grpSp>
      <p:sp>
        <p:nvSpPr>
          <p:cNvPr id="754" name="Google Shape;754;g6277982ef9_0_5"/>
          <p:cNvSpPr/>
          <p:nvPr/>
        </p:nvSpPr>
        <p:spPr>
          <a:xfrm>
            <a:off x="966720" y="1622297"/>
            <a:ext cx="4831500" cy="955800"/>
          </a:xfrm>
          <a:prstGeom prst="rect">
            <a:avLst/>
          </a:prstGeom>
          <a:solidFill>
            <a:srgbClr val="FEE599"/>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55" name="Google Shape;755;g6277982ef9_0_5"/>
          <p:cNvSpPr/>
          <p:nvPr/>
        </p:nvSpPr>
        <p:spPr>
          <a:xfrm>
            <a:off x="88493" y="2928885"/>
            <a:ext cx="2553757" cy="2026500"/>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756" name="Google Shape;756;g6277982ef9_0_5"/>
          <p:cNvSpPr/>
          <p:nvPr/>
        </p:nvSpPr>
        <p:spPr>
          <a:xfrm>
            <a:off x="210784" y="3236496"/>
            <a:ext cx="1193562" cy="1668762"/>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757" name="Google Shape;757;g6277982ef9_0_5"/>
          <p:cNvSpPr/>
          <p:nvPr/>
        </p:nvSpPr>
        <p:spPr>
          <a:xfrm>
            <a:off x="295354" y="2901488"/>
            <a:ext cx="728400" cy="278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500" b="1" i="0" u="none" strike="noStrike" cap="none">
                <a:solidFill>
                  <a:srgbClr val="000000"/>
                </a:solidFill>
                <a:latin typeface="Calibri"/>
                <a:ea typeface="Calibri"/>
                <a:cs typeface="Calibri"/>
                <a:sym typeface="Calibri"/>
              </a:rPr>
              <a:t>Source</a:t>
            </a:r>
            <a:endParaRPr/>
          </a:p>
        </p:txBody>
      </p:sp>
      <p:sp>
        <p:nvSpPr>
          <p:cNvPr id="758" name="Google Shape;758;g6277982ef9_0_5"/>
          <p:cNvSpPr/>
          <p:nvPr/>
        </p:nvSpPr>
        <p:spPr>
          <a:xfrm>
            <a:off x="3218647" y="2941882"/>
            <a:ext cx="1037400" cy="278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500" b="1" i="0" u="none" strike="noStrike" cap="none">
                <a:solidFill>
                  <a:srgbClr val="000000"/>
                </a:solidFill>
                <a:latin typeface="Calibri"/>
                <a:ea typeface="Calibri"/>
                <a:cs typeface="Calibri"/>
                <a:sym typeface="Calibri"/>
              </a:rPr>
              <a:t>Destination</a:t>
            </a:r>
            <a:endParaRPr/>
          </a:p>
        </p:txBody>
      </p:sp>
      <p:sp>
        <p:nvSpPr>
          <p:cNvPr id="759" name="Google Shape;759;g6277982ef9_0_5"/>
          <p:cNvSpPr/>
          <p:nvPr/>
        </p:nvSpPr>
        <p:spPr>
          <a:xfrm>
            <a:off x="324856" y="3254637"/>
            <a:ext cx="1245900" cy="237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key-value store</a:t>
            </a:r>
            <a:endParaRPr/>
          </a:p>
        </p:txBody>
      </p:sp>
      <p:sp>
        <p:nvSpPr>
          <p:cNvPr id="760" name="Google Shape;760;g6277982ef9_0_5"/>
          <p:cNvSpPr/>
          <p:nvPr/>
        </p:nvSpPr>
        <p:spPr>
          <a:xfrm>
            <a:off x="1592180" y="3298303"/>
            <a:ext cx="920400" cy="1613400"/>
          </a:xfrm>
          <a:prstGeom prst="rect">
            <a:avLst/>
          </a:prstGeom>
          <a:solidFill>
            <a:srgbClr val="FEE599"/>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Calibri"/>
              <a:buNone/>
            </a:pPr>
            <a:endParaRPr sz="1100" b="0" i="0" u="none" strike="noStrike" cap="none">
              <a:solidFill>
                <a:srgbClr val="000000"/>
              </a:solidFill>
              <a:latin typeface="Calibri"/>
              <a:ea typeface="Calibri"/>
              <a:cs typeface="Calibri"/>
              <a:sym typeface="Calibri"/>
            </a:endParaRPr>
          </a:p>
        </p:txBody>
      </p:sp>
      <p:sp>
        <p:nvSpPr>
          <p:cNvPr id="761" name="Google Shape;761;g6277982ef9_0_5"/>
          <p:cNvSpPr/>
          <p:nvPr/>
        </p:nvSpPr>
        <p:spPr>
          <a:xfrm>
            <a:off x="3197511" y="2915855"/>
            <a:ext cx="2717514" cy="2039400"/>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762" name="Google Shape;762;g6277982ef9_0_5"/>
          <p:cNvSpPr/>
          <p:nvPr/>
        </p:nvSpPr>
        <p:spPr>
          <a:xfrm>
            <a:off x="4450895" y="3261410"/>
            <a:ext cx="1193562" cy="1650240"/>
          </a:xfrm>
          <a:custGeom>
            <a:avLst/>
            <a:gdLst/>
            <a:ahLst/>
            <a:cxnLst/>
            <a:rect l="l" t="t" r="r" b="b"/>
            <a:pathLst>
              <a:path w="21600" h="21600" extrusionOk="0">
                <a:moveTo>
                  <a:pt x="21600" y="1953"/>
                </a:moveTo>
                <a:cubicBezTo>
                  <a:pt x="21600" y="3031"/>
                  <a:pt x="16765" y="3906"/>
                  <a:pt x="10800" y="3906"/>
                </a:cubicBezTo>
                <a:cubicBezTo>
                  <a:pt x="4835" y="3906"/>
                  <a:pt x="0" y="3031"/>
                  <a:pt x="0" y="1953"/>
                </a:cubicBezTo>
                <a:cubicBezTo>
                  <a:pt x="0" y="874"/>
                  <a:pt x="4835" y="0"/>
                  <a:pt x="10800" y="0"/>
                </a:cubicBezTo>
                <a:cubicBezTo>
                  <a:pt x="16765" y="0"/>
                  <a:pt x="21600" y="874"/>
                  <a:pt x="21600" y="1953"/>
                </a:cubicBezTo>
                <a:lnTo>
                  <a:pt x="21600" y="19647"/>
                </a:lnTo>
                <a:cubicBezTo>
                  <a:pt x="21600" y="20726"/>
                  <a:pt x="16765" y="21600"/>
                  <a:pt x="10800" y="21600"/>
                </a:cubicBezTo>
                <a:cubicBezTo>
                  <a:pt x="4835" y="21600"/>
                  <a:pt x="0" y="20726"/>
                  <a:pt x="0" y="19647"/>
                </a:cubicBezTo>
                <a:lnTo>
                  <a:pt x="0" y="1953"/>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763" name="Google Shape;763;g6277982ef9_0_5"/>
          <p:cNvSpPr/>
          <p:nvPr/>
        </p:nvSpPr>
        <p:spPr>
          <a:xfrm>
            <a:off x="4537968" y="3236868"/>
            <a:ext cx="1055400" cy="237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200" b="0" i="0" u="none" strike="noStrike" cap="none">
                <a:solidFill>
                  <a:srgbClr val="000000"/>
                </a:solidFill>
                <a:latin typeface="Calibri"/>
                <a:ea typeface="Calibri"/>
                <a:cs typeface="Calibri"/>
                <a:sym typeface="Calibri"/>
              </a:rPr>
              <a:t>key-value store</a:t>
            </a:r>
            <a:endParaRPr sz="1200"/>
          </a:p>
        </p:txBody>
      </p:sp>
      <p:sp>
        <p:nvSpPr>
          <p:cNvPr id="764" name="Google Shape;764;g6277982ef9_0_5"/>
          <p:cNvSpPr/>
          <p:nvPr/>
        </p:nvSpPr>
        <p:spPr>
          <a:xfrm>
            <a:off x="3317769" y="3293039"/>
            <a:ext cx="921000" cy="1607100"/>
          </a:xfrm>
          <a:prstGeom prst="rect">
            <a:avLst/>
          </a:prstGeom>
          <a:solidFill>
            <a:srgbClr val="FEE599"/>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Calibri"/>
              <a:buNone/>
            </a:pPr>
            <a:endParaRPr sz="1100" b="0" i="0" u="none" strike="noStrike" cap="none">
              <a:solidFill>
                <a:srgbClr val="000000"/>
              </a:solidFill>
              <a:latin typeface="Calibri"/>
              <a:ea typeface="Calibri"/>
              <a:cs typeface="Calibri"/>
              <a:sym typeface="Calibri"/>
            </a:endParaRPr>
          </a:p>
        </p:txBody>
      </p:sp>
      <p:cxnSp>
        <p:nvCxnSpPr>
          <p:cNvPr id="765" name="Google Shape;765;g6277982ef9_0_5"/>
          <p:cNvCxnSpPr/>
          <p:nvPr/>
        </p:nvCxnSpPr>
        <p:spPr>
          <a:xfrm>
            <a:off x="2181134" y="4363495"/>
            <a:ext cx="1427100" cy="1500"/>
          </a:xfrm>
          <a:prstGeom prst="straightConnector1">
            <a:avLst/>
          </a:prstGeom>
          <a:noFill/>
          <a:ln w="19050" cap="flat" cmpd="sng">
            <a:solidFill>
              <a:srgbClr val="000000"/>
            </a:solidFill>
            <a:prstDash val="lgDashDot"/>
            <a:miter lim="8000"/>
            <a:headEnd type="none" w="sm" len="sm"/>
            <a:tailEnd type="triangle" w="med" len="med"/>
          </a:ln>
        </p:spPr>
      </p:cxnSp>
      <p:cxnSp>
        <p:nvCxnSpPr>
          <p:cNvPr id="766" name="Google Shape;766;g6277982ef9_0_5"/>
          <p:cNvCxnSpPr/>
          <p:nvPr/>
        </p:nvCxnSpPr>
        <p:spPr>
          <a:xfrm>
            <a:off x="3823416" y="4361289"/>
            <a:ext cx="794400" cy="7500"/>
          </a:xfrm>
          <a:prstGeom prst="straightConnector1">
            <a:avLst/>
          </a:prstGeom>
          <a:noFill/>
          <a:ln w="19050" cap="flat" cmpd="sng">
            <a:solidFill>
              <a:srgbClr val="000000"/>
            </a:solidFill>
            <a:prstDash val="lgDashDot"/>
            <a:miter lim="8000"/>
            <a:headEnd type="none" w="sm" len="sm"/>
            <a:tailEnd type="triangle" w="med" len="med"/>
          </a:ln>
        </p:spPr>
      </p:cxnSp>
      <p:cxnSp>
        <p:nvCxnSpPr>
          <p:cNvPr id="767" name="Google Shape;767;g6277982ef9_0_5"/>
          <p:cNvCxnSpPr/>
          <p:nvPr/>
        </p:nvCxnSpPr>
        <p:spPr>
          <a:xfrm>
            <a:off x="3845193" y="3771628"/>
            <a:ext cx="763800" cy="5400"/>
          </a:xfrm>
          <a:prstGeom prst="straightConnector1">
            <a:avLst/>
          </a:prstGeom>
          <a:noFill/>
          <a:ln w="19050" cap="flat" cmpd="sng">
            <a:solidFill>
              <a:srgbClr val="000000"/>
            </a:solidFill>
            <a:prstDash val="lgDashDot"/>
            <a:miter lim="8000"/>
            <a:headEnd type="none" w="sm" len="sm"/>
            <a:tailEnd type="triangle" w="med" len="med"/>
          </a:ln>
        </p:spPr>
      </p:cxnSp>
      <p:grpSp>
        <p:nvGrpSpPr>
          <p:cNvPr id="768" name="Google Shape;768;g6277982ef9_0_5"/>
          <p:cNvGrpSpPr/>
          <p:nvPr/>
        </p:nvGrpSpPr>
        <p:grpSpPr>
          <a:xfrm>
            <a:off x="258246" y="3538779"/>
            <a:ext cx="759000" cy="237900"/>
            <a:chOff x="0" y="0"/>
            <a:chExt cx="759000" cy="237900"/>
          </a:xfrm>
        </p:grpSpPr>
        <p:sp>
          <p:nvSpPr>
            <p:cNvPr id="769" name="Google Shape;769;g6277982ef9_0_5"/>
            <p:cNvSpPr/>
            <p:nvPr/>
          </p:nvSpPr>
          <p:spPr>
            <a:xfrm>
              <a:off x="0" y="54115"/>
              <a:ext cx="7590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770" name="Google Shape;770;g6277982ef9_0_5"/>
            <p:cNvSpPr/>
            <p:nvPr/>
          </p:nvSpPr>
          <p:spPr>
            <a:xfrm>
              <a:off x="0" y="0"/>
              <a:ext cx="7590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&lt;1, V&gt;</a:t>
              </a:r>
              <a:endParaRPr/>
            </a:p>
          </p:txBody>
        </p:sp>
      </p:grpSp>
      <p:grpSp>
        <p:nvGrpSpPr>
          <p:cNvPr id="771" name="Google Shape;771;g6277982ef9_0_5"/>
          <p:cNvGrpSpPr/>
          <p:nvPr/>
        </p:nvGrpSpPr>
        <p:grpSpPr>
          <a:xfrm>
            <a:off x="254728" y="3836646"/>
            <a:ext cx="759000" cy="237900"/>
            <a:chOff x="0" y="0"/>
            <a:chExt cx="759000" cy="237900"/>
          </a:xfrm>
        </p:grpSpPr>
        <p:sp>
          <p:nvSpPr>
            <p:cNvPr id="772" name="Google Shape;772;g6277982ef9_0_5"/>
            <p:cNvSpPr/>
            <p:nvPr/>
          </p:nvSpPr>
          <p:spPr>
            <a:xfrm>
              <a:off x="0" y="54115"/>
              <a:ext cx="7590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773" name="Google Shape;773;g6277982ef9_0_5"/>
            <p:cNvSpPr/>
            <p:nvPr/>
          </p:nvSpPr>
          <p:spPr>
            <a:xfrm>
              <a:off x="0" y="0"/>
              <a:ext cx="7590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&lt;100, V&gt;</a:t>
              </a:r>
              <a:endParaRPr/>
            </a:p>
          </p:txBody>
        </p:sp>
      </p:grpSp>
      <p:sp>
        <p:nvSpPr>
          <p:cNvPr id="780" name="Google Shape;780;g6277982ef9_0_5"/>
          <p:cNvSpPr/>
          <p:nvPr/>
        </p:nvSpPr>
        <p:spPr>
          <a:xfrm>
            <a:off x="967490" y="1324967"/>
            <a:ext cx="4830600" cy="292500"/>
          </a:xfrm>
          <a:prstGeom prst="rect">
            <a:avLst/>
          </a:prstGeom>
          <a:solidFill>
            <a:srgbClr val="FFFFFF"/>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500"/>
              <a:buFont typeface="Calibri"/>
              <a:buNone/>
            </a:pPr>
            <a:endParaRPr sz="1500" b="0" i="0" u="none" strike="noStrike" cap="none">
              <a:solidFill>
                <a:srgbClr val="000000"/>
              </a:solidFill>
              <a:latin typeface="Calibri"/>
              <a:ea typeface="Calibri"/>
              <a:cs typeface="Calibri"/>
              <a:sym typeface="Calibri"/>
            </a:endParaRPr>
          </a:p>
        </p:txBody>
      </p:sp>
      <p:sp>
        <p:nvSpPr>
          <p:cNvPr id="781" name="Google Shape;781;g6277982ef9_0_5"/>
          <p:cNvSpPr/>
          <p:nvPr/>
        </p:nvSpPr>
        <p:spPr>
          <a:xfrm>
            <a:off x="88494" y="1180817"/>
            <a:ext cx="1143900" cy="686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dirty="0">
                <a:solidFill>
                  <a:srgbClr val="000000"/>
                </a:solidFill>
                <a:latin typeface="Calibri"/>
                <a:ea typeface="Calibri"/>
                <a:cs typeface="Calibri"/>
                <a:sym typeface="Calibri"/>
              </a:rPr>
              <a:t>data-</a:t>
            </a:r>
            <a:endParaRPr sz="1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dirty="0">
                <a:solidFill>
                  <a:srgbClr val="000000"/>
                </a:solidFill>
                <a:latin typeface="Calibri"/>
                <a:ea typeface="Calibri"/>
                <a:cs typeface="Calibri"/>
                <a:sym typeface="Calibri"/>
              </a:rPr>
              <a:t>center</a:t>
            </a:r>
            <a:endParaRPr dirty="0"/>
          </a:p>
        </p:txBody>
      </p:sp>
      <p:sp>
        <p:nvSpPr>
          <p:cNvPr id="782" name="Google Shape;782;g6277982ef9_0_5"/>
          <p:cNvSpPr/>
          <p:nvPr/>
        </p:nvSpPr>
        <p:spPr>
          <a:xfrm>
            <a:off x="4575821" y="2224556"/>
            <a:ext cx="313500" cy="227700"/>
          </a:xfrm>
          <a:prstGeom prst="rect">
            <a:avLst/>
          </a:prstGeom>
          <a:noFill/>
          <a:ln>
            <a:noFill/>
          </a:ln>
        </p:spPr>
        <p:txBody>
          <a:bodyPr spcFirstLastPara="1" wrap="square" lIns="34275" tIns="34275" rIns="34275" bIns="34275" anchor="t" anchorCtr="0">
            <a:noAutofit/>
          </a:bodyPr>
          <a:lstStyle/>
          <a:p>
            <a:pPr marL="0" marR="0" lvl="0" indent="0" algn="ctr" rtl="0">
              <a:lnSpc>
                <a:spcPct val="100000"/>
              </a:lnSpc>
              <a:spcBef>
                <a:spcPts val="0"/>
              </a:spcBef>
              <a:spcAft>
                <a:spcPts val="0"/>
              </a:spcAft>
              <a:buClr>
                <a:srgbClr val="000000"/>
              </a:buClr>
              <a:buSzPts val="1200"/>
              <a:buFont typeface="Calibri"/>
              <a:buNone/>
            </a:pPr>
            <a:endParaRPr/>
          </a:p>
        </p:txBody>
      </p:sp>
      <p:sp>
        <p:nvSpPr>
          <p:cNvPr id="784" name="Google Shape;784;g6277982ef9_0_5"/>
          <p:cNvSpPr/>
          <p:nvPr/>
        </p:nvSpPr>
        <p:spPr>
          <a:xfrm>
            <a:off x="527252" y="3651068"/>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785" name="Google Shape;785;g6277982ef9_0_5"/>
          <p:cNvGrpSpPr/>
          <p:nvPr/>
        </p:nvGrpSpPr>
        <p:grpSpPr>
          <a:xfrm>
            <a:off x="254728" y="4224869"/>
            <a:ext cx="759000" cy="237900"/>
            <a:chOff x="0" y="0"/>
            <a:chExt cx="759000" cy="237900"/>
          </a:xfrm>
        </p:grpSpPr>
        <p:sp>
          <p:nvSpPr>
            <p:cNvPr id="786" name="Google Shape;786;g6277982ef9_0_5"/>
            <p:cNvSpPr/>
            <p:nvPr/>
          </p:nvSpPr>
          <p:spPr>
            <a:xfrm>
              <a:off x="0" y="54115"/>
              <a:ext cx="7590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787" name="Google Shape;787;g6277982ef9_0_5"/>
            <p:cNvSpPr/>
            <p:nvPr/>
          </p:nvSpPr>
          <p:spPr>
            <a:xfrm>
              <a:off x="0" y="0"/>
              <a:ext cx="7590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&lt;301, V&gt;</a:t>
              </a:r>
              <a:endParaRPr/>
            </a:p>
          </p:txBody>
        </p:sp>
      </p:grpSp>
      <p:sp>
        <p:nvSpPr>
          <p:cNvPr id="788" name="Google Shape;788;g6277982ef9_0_5"/>
          <p:cNvSpPr/>
          <p:nvPr/>
        </p:nvSpPr>
        <p:spPr>
          <a:xfrm>
            <a:off x="3364398" y="3317854"/>
            <a:ext cx="891649" cy="366000"/>
          </a:xfrm>
          <a:prstGeom prst="rect">
            <a:avLst/>
          </a:prstGeom>
          <a:noFill/>
          <a:ln>
            <a:noFill/>
          </a:ln>
        </p:spPr>
        <p:txBody>
          <a:bodyPr spcFirstLastPara="1" wrap="square" lIns="34275" tIns="34275" rIns="34275" bIns="34275" anchor="t" anchorCtr="0">
            <a:noAutofit/>
          </a:bodyPr>
          <a:lstStyle/>
          <a:p>
            <a:pPr marL="0" marR="0" lvl="0" indent="0" algn="l" rtl="0">
              <a:lnSpc>
                <a:spcPct val="8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Migration</a:t>
            </a:r>
            <a:endParaRPr/>
          </a:p>
          <a:p>
            <a:pPr marL="0" marR="0" lvl="0" indent="0" algn="l" rtl="0">
              <a:lnSpc>
                <a:spcPct val="8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controller</a:t>
            </a:r>
            <a:endParaRPr/>
          </a:p>
        </p:txBody>
      </p:sp>
      <p:sp>
        <p:nvSpPr>
          <p:cNvPr id="789" name="Google Shape;789;g6277982ef9_0_5"/>
          <p:cNvSpPr/>
          <p:nvPr/>
        </p:nvSpPr>
        <p:spPr>
          <a:xfrm>
            <a:off x="526278" y="4027176"/>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790" name="Google Shape;790;g6277982ef9_0_5"/>
          <p:cNvSpPr/>
          <p:nvPr/>
        </p:nvSpPr>
        <p:spPr>
          <a:xfrm>
            <a:off x="2764856" y="1307518"/>
            <a:ext cx="10704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Client program 1</a:t>
            </a:r>
            <a:endParaRPr/>
          </a:p>
        </p:txBody>
      </p:sp>
      <p:sp>
        <p:nvSpPr>
          <p:cNvPr id="798" name="Google Shape;798;g6277982ef9_0_5"/>
          <p:cNvSpPr/>
          <p:nvPr/>
        </p:nvSpPr>
        <p:spPr>
          <a:xfrm>
            <a:off x="3718710" y="3617054"/>
            <a:ext cx="62858" cy="26006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799" name="Google Shape;799;g6277982ef9_0_5"/>
          <p:cNvSpPr/>
          <p:nvPr/>
        </p:nvSpPr>
        <p:spPr>
          <a:xfrm>
            <a:off x="3699246" y="4194533"/>
            <a:ext cx="62858" cy="26006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800" name="Google Shape;800;g6277982ef9_0_5"/>
          <p:cNvSpPr/>
          <p:nvPr/>
        </p:nvSpPr>
        <p:spPr>
          <a:xfrm>
            <a:off x="1727692" y="3293039"/>
            <a:ext cx="790200" cy="366000"/>
          </a:xfrm>
          <a:prstGeom prst="rect">
            <a:avLst/>
          </a:prstGeom>
          <a:noFill/>
          <a:ln>
            <a:noFill/>
          </a:ln>
        </p:spPr>
        <p:txBody>
          <a:bodyPr spcFirstLastPara="1" wrap="square" lIns="34275" tIns="34275" rIns="34275" bIns="34275" anchor="t" anchorCtr="0">
            <a:noAutofit/>
          </a:bodyPr>
          <a:lstStyle/>
          <a:p>
            <a:pPr marL="0" marR="0" lvl="0" indent="0" algn="l" rtl="0">
              <a:lnSpc>
                <a:spcPct val="8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Migration</a:t>
            </a:r>
            <a:endParaRPr/>
          </a:p>
          <a:p>
            <a:pPr marL="0" marR="0" lvl="0" indent="0" algn="l" rtl="0">
              <a:lnSpc>
                <a:spcPct val="8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controller</a:t>
            </a:r>
            <a:endParaRPr/>
          </a:p>
        </p:txBody>
      </p:sp>
      <p:cxnSp>
        <p:nvCxnSpPr>
          <p:cNvPr id="801" name="Google Shape;801;g6277982ef9_0_5"/>
          <p:cNvCxnSpPr/>
          <p:nvPr/>
        </p:nvCxnSpPr>
        <p:spPr>
          <a:xfrm>
            <a:off x="2181134" y="3761981"/>
            <a:ext cx="1420800" cy="16200"/>
          </a:xfrm>
          <a:prstGeom prst="straightConnector1">
            <a:avLst/>
          </a:prstGeom>
          <a:noFill/>
          <a:ln w="19050" cap="flat" cmpd="sng">
            <a:solidFill>
              <a:srgbClr val="000000"/>
            </a:solidFill>
            <a:prstDash val="lgDashDot"/>
            <a:miter lim="8000"/>
            <a:headEnd type="none" w="sm" len="sm"/>
            <a:tailEnd type="triangle" w="med" len="med"/>
          </a:ln>
        </p:spPr>
      </p:cxnSp>
      <p:sp>
        <p:nvSpPr>
          <p:cNvPr id="802" name="Google Shape;802;g6277982ef9_0_5"/>
          <p:cNvSpPr/>
          <p:nvPr/>
        </p:nvSpPr>
        <p:spPr>
          <a:xfrm>
            <a:off x="3638528" y="3876914"/>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cxnSp>
        <p:nvCxnSpPr>
          <p:cNvPr id="803" name="Google Shape;803;g6277982ef9_0_5"/>
          <p:cNvCxnSpPr/>
          <p:nvPr/>
        </p:nvCxnSpPr>
        <p:spPr>
          <a:xfrm>
            <a:off x="1282984" y="4357963"/>
            <a:ext cx="721800" cy="0"/>
          </a:xfrm>
          <a:prstGeom prst="straightConnector1">
            <a:avLst/>
          </a:prstGeom>
          <a:noFill/>
          <a:ln w="19050" cap="flat" cmpd="sng">
            <a:solidFill>
              <a:srgbClr val="000000"/>
            </a:solidFill>
            <a:prstDash val="lgDashDot"/>
            <a:miter lim="8000"/>
            <a:headEnd type="none" w="sm" len="sm"/>
            <a:tailEnd type="triangle" w="med" len="med"/>
          </a:ln>
        </p:spPr>
      </p:cxnSp>
      <p:cxnSp>
        <p:nvCxnSpPr>
          <p:cNvPr id="804" name="Google Shape;804;g6277982ef9_0_5"/>
          <p:cNvCxnSpPr/>
          <p:nvPr/>
        </p:nvCxnSpPr>
        <p:spPr>
          <a:xfrm>
            <a:off x="1265022" y="3757872"/>
            <a:ext cx="733800" cy="4200"/>
          </a:xfrm>
          <a:prstGeom prst="straightConnector1">
            <a:avLst/>
          </a:prstGeom>
          <a:noFill/>
          <a:ln w="19050" cap="flat" cmpd="sng">
            <a:solidFill>
              <a:srgbClr val="000000"/>
            </a:solidFill>
            <a:prstDash val="lgDashDot"/>
            <a:miter lim="8000"/>
            <a:headEnd type="none" w="sm" len="sm"/>
            <a:tailEnd type="triangle" w="med" len="med"/>
          </a:ln>
        </p:spPr>
      </p:cxnSp>
      <p:grpSp>
        <p:nvGrpSpPr>
          <p:cNvPr id="805" name="Google Shape;805;g6277982ef9_0_5"/>
          <p:cNvGrpSpPr/>
          <p:nvPr/>
        </p:nvGrpSpPr>
        <p:grpSpPr>
          <a:xfrm>
            <a:off x="253319" y="4548351"/>
            <a:ext cx="759000" cy="237900"/>
            <a:chOff x="0" y="0"/>
            <a:chExt cx="759000" cy="237900"/>
          </a:xfrm>
        </p:grpSpPr>
        <p:sp>
          <p:nvSpPr>
            <p:cNvPr id="806" name="Google Shape;806;g6277982ef9_0_5"/>
            <p:cNvSpPr/>
            <p:nvPr/>
          </p:nvSpPr>
          <p:spPr>
            <a:xfrm>
              <a:off x="0" y="54115"/>
              <a:ext cx="7590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807" name="Google Shape;807;g6277982ef9_0_5"/>
            <p:cNvSpPr/>
            <p:nvPr/>
          </p:nvSpPr>
          <p:spPr>
            <a:xfrm>
              <a:off x="0" y="0"/>
              <a:ext cx="7590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&lt;400, V&gt;</a:t>
              </a:r>
              <a:endParaRPr/>
            </a:p>
          </p:txBody>
        </p:sp>
      </p:grpSp>
      <p:sp>
        <p:nvSpPr>
          <p:cNvPr id="808" name="Google Shape;808;g6277982ef9_0_5"/>
          <p:cNvSpPr/>
          <p:nvPr/>
        </p:nvSpPr>
        <p:spPr>
          <a:xfrm>
            <a:off x="526277" y="4354740"/>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810" name="Google Shape;810;g6277982ef9_0_5"/>
          <p:cNvSpPr/>
          <p:nvPr/>
        </p:nvSpPr>
        <p:spPr>
          <a:xfrm>
            <a:off x="2051686" y="4213672"/>
            <a:ext cx="62858" cy="26006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811" name="Google Shape;811;g6277982ef9_0_5"/>
          <p:cNvSpPr/>
          <p:nvPr/>
        </p:nvSpPr>
        <p:spPr>
          <a:xfrm>
            <a:off x="2045732" y="3613151"/>
            <a:ext cx="62858" cy="26006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grpSp>
        <p:nvGrpSpPr>
          <p:cNvPr id="812" name="Google Shape;812;g6277982ef9_0_5"/>
          <p:cNvGrpSpPr/>
          <p:nvPr/>
        </p:nvGrpSpPr>
        <p:grpSpPr>
          <a:xfrm>
            <a:off x="4289840" y="1344174"/>
            <a:ext cx="593703" cy="259238"/>
            <a:chOff x="0" y="0"/>
            <a:chExt cx="593703" cy="259238"/>
          </a:xfrm>
        </p:grpSpPr>
        <p:grpSp>
          <p:nvGrpSpPr>
            <p:cNvPr id="813" name="Google Shape;813;g6277982ef9_0_5"/>
            <p:cNvGrpSpPr/>
            <p:nvPr/>
          </p:nvGrpSpPr>
          <p:grpSpPr>
            <a:xfrm>
              <a:off x="0" y="0"/>
              <a:ext cx="518400" cy="227700"/>
              <a:chOff x="0" y="0"/>
              <a:chExt cx="518400" cy="227700"/>
            </a:xfrm>
          </p:grpSpPr>
          <p:sp>
            <p:nvSpPr>
              <p:cNvPr id="814" name="Google Shape;814;g6277982ef9_0_5"/>
              <p:cNvSpPr/>
              <p:nvPr/>
            </p:nvSpPr>
            <p:spPr>
              <a:xfrm>
                <a:off x="0" y="21732"/>
                <a:ext cx="518400" cy="1842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15" name="Google Shape;815;g6277982ef9_0_5"/>
              <p:cNvSpPr/>
              <p:nvPr/>
            </p:nvSpPr>
            <p:spPr>
              <a:xfrm>
                <a:off x="0" y="0"/>
                <a:ext cx="518400" cy="2277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grpSp>
          <p:nvGrpSpPr>
            <p:cNvPr id="816" name="Google Shape;816;g6277982ef9_0_5"/>
            <p:cNvGrpSpPr/>
            <p:nvPr/>
          </p:nvGrpSpPr>
          <p:grpSpPr>
            <a:xfrm>
              <a:off x="33446" y="23241"/>
              <a:ext cx="518400" cy="227700"/>
              <a:chOff x="0" y="0"/>
              <a:chExt cx="518400" cy="227700"/>
            </a:xfrm>
          </p:grpSpPr>
          <p:sp>
            <p:nvSpPr>
              <p:cNvPr id="817" name="Google Shape;817;g6277982ef9_0_5"/>
              <p:cNvSpPr/>
              <p:nvPr/>
            </p:nvSpPr>
            <p:spPr>
              <a:xfrm>
                <a:off x="0" y="21732"/>
                <a:ext cx="518400" cy="1842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18" name="Google Shape;818;g6277982ef9_0_5"/>
              <p:cNvSpPr/>
              <p:nvPr/>
            </p:nvSpPr>
            <p:spPr>
              <a:xfrm>
                <a:off x="0" y="0"/>
                <a:ext cx="518400" cy="2277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a:p>
            </p:txBody>
          </p:sp>
        </p:grpSp>
        <p:grpSp>
          <p:nvGrpSpPr>
            <p:cNvPr id="819" name="Google Shape;819;g6277982ef9_0_5"/>
            <p:cNvGrpSpPr/>
            <p:nvPr/>
          </p:nvGrpSpPr>
          <p:grpSpPr>
            <a:xfrm>
              <a:off x="75303" y="61838"/>
              <a:ext cx="518400" cy="197400"/>
              <a:chOff x="0" y="0"/>
              <a:chExt cx="518400" cy="197400"/>
            </a:xfrm>
          </p:grpSpPr>
          <p:sp>
            <p:nvSpPr>
              <p:cNvPr id="820" name="Google Shape;820;g6277982ef9_0_5"/>
              <p:cNvSpPr/>
              <p:nvPr/>
            </p:nvSpPr>
            <p:spPr>
              <a:xfrm>
                <a:off x="0" y="6477"/>
                <a:ext cx="518400" cy="1842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200"/>
                  <a:buFont typeface="Calibri"/>
                  <a:buNone/>
                </a:pPr>
                <a:endParaRPr sz="1200" b="0" i="0" u="none" strike="noStrike" cap="none">
                  <a:solidFill>
                    <a:srgbClr val="000000"/>
                  </a:solidFill>
                  <a:latin typeface="Calibri"/>
                  <a:ea typeface="Calibri"/>
                  <a:cs typeface="Calibri"/>
                  <a:sym typeface="Calibri"/>
                </a:endParaRPr>
              </a:p>
            </p:txBody>
          </p:sp>
          <p:sp>
            <p:nvSpPr>
              <p:cNvPr id="821" name="Google Shape;821;g6277982ef9_0_5"/>
              <p:cNvSpPr/>
              <p:nvPr/>
            </p:nvSpPr>
            <p:spPr>
              <a:xfrm>
                <a:off x="0" y="0"/>
                <a:ext cx="518400" cy="1974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read(…)</a:t>
                </a:r>
                <a:endParaRPr/>
              </a:p>
            </p:txBody>
          </p:sp>
        </p:grpSp>
      </p:grpSp>
      <p:grpSp>
        <p:nvGrpSpPr>
          <p:cNvPr id="822" name="Google Shape;822;g6277982ef9_0_5"/>
          <p:cNvGrpSpPr/>
          <p:nvPr/>
        </p:nvGrpSpPr>
        <p:grpSpPr>
          <a:xfrm>
            <a:off x="5032317" y="1345700"/>
            <a:ext cx="668133" cy="256690"/>
            <a:chOff x="0" y="0"/>
            <a:chExt cx="668133" cy="256690"/>
          </a:xfrm>
        </p:grpSpPr>
        <p:grpSp>
          <p:nvGrpSpPr>
            <p:cNvPr id="823" name="Google Shape;823;g6277982ef9_0_5"/>
            <p:cNvGrpSpPr/>
            <p:nvPr/>
          </p:nvGrpSpPr>
          <p:grpSpPr>
            <a:xfrm>
              <a:off x="0" y="0"/>
              <a:ext cx="565800" cy="227700"/>
              <a:chOff x="0" y="0"/>
              <a:chExt cx="565800" cy="227700"/>
            </a:xfrm>
          </p:grpSpPr>
          <p:sp>
            <p:nvSpPr>
              <p:cNvPr id="824" name="Google Shape;824;g6277982ef9_0_5"/>
              <p:cNvSpPr/>
              <p:nvPr/>
            </p:nvSpPr>
            <p:spPr>
              <a:xfrm>
                <a:off x="0" y="21732"/>
                <a:ext cx="565800" cy="184200"/>
              </a:xfrm>
              <a:prstGeom prst="rect">
                <a:avLst/>
              </a:prstGeom>
              <a:solidFill>
                <a:srgbClr val="FFFFFF"/>
              </a:solidFill>
              <a:ln w="12700" cap="flat" cmpd="sng">
                <a:solidFill>
                  <a:srgbClr val="31538F"/>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25" name="Google Shape;825;g6277982ef9_0_5"/>
              <p:cNvSpPr/>
              <p:nvPr/>
            </p:nvSpPr>
            <p:spPr>
              <a:xfrm>
                <a:off x="0" y="0"/>
                <a:ext cx="565800" cy="2277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get(…)</a:t>
                </a:r>
                <a:endParaRPr/>
              </a:p>
            </p:txBody>
          </p:sp>
        </p:grpSp>
        <p:grpSp>
          <p:nvGrpSpPr>
            <p:cNvPr id="826" name="Google Shape;826;g6277982ef9_0_5"/>
            <p:cNvGrpSpPr/>
            <p:nvPr/>
          </p:nvGrpSpPr>
          <p:grpSpPr>
            <a:xfrm>
              <a:off x="36515" y="23241"/>
              <a:ext cx="565800" cy="227700"/>
              <a:chOff x="0" y="0"/>
              <a:chExt cx="565800" cy="227700"/>
            </a:xfrm>
          </p:grpSpPr>
          <p:sp>
            <p:nvSpPr>
              <p:cNvPr id="827" name="Google Shape;827;g6277982ef9_0_5"/>
              <p:cNvSpPr/>
              <p:nvPr/>
            </p:nvSpPr>
            <p:spPr>
              <a:xfrm>
                <a:off x="0" y="21732"/>
                <a:ext cx="565800" cy="184200"/>
              </a:xfrm>
              <a:prstGeom prst="rect">
                <a:avLst/>
              </a:prstGeom>
              <a:solidFill>
                <a:srgbClr val="FFFFFF"/>
              </a:solidFill>
              <a:ln w="12700" cap="flat" cmpd="sng">
                <a:solidFill>
                  <a:srgbClr val="31538F"/>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28" name="Google Shape;828;g6277982ef9_0_5"/>
              <p:cNvSpPr/>
              <p:nvPr/>
            </p:nvSpPr>
            <p:spPr>
              <a:xfrm>
                <a:off x="0" y="0"/>
                <a:ext cx="565800" cy="2277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get(…)</a:t>
                </a:r>
                <a:endParaRPr/>
              </a:p>
            </p:txBody>
          </p:sp>
        </p:grpSp>
        <p:grpSp>
          <p:nvGrpSpPr>
            <p:cNvPr id="829" name="Google Shape;829;g6277982ef9_0_5"/>
            <p:cNvGrpSpPr/>
            <p:nvPr/>
          </p:nvGrpSpPr>
          <p:grpSpPr>
            <a:xfrm>
              <a:off x="102333" y="59290"/>
              <a:ext cx="565800" cy="197400"/>
              <a:chOff x="0" y="0"/>
              <a:chExt cx="565800" cy="197400"/>
            </a:xfrm>
          </p:grpSpPr>
          <p:sp>
            <p:nvSpPr>
              <p:cNvPr id="830" name="Google Shape;830;g6277982ef9_0_5"/>
              <p:cNvSpPr/>
              <p:nvPr/>
            </p:nvSpPr>
            <p:spPr>
              <a:xfrm>
                <a:off x="0" y="15305"/>
                <a:ext cx="565800" cy="166800"/>
              </a:xfrm>
              <a:prstGeom prst="rect">
                <a:avLst/>
              </a:prstGeom>
              <a:solidFill>
                <a:srgbClr val="FFFFFF"/>
              </a:solidFill>
              <a:ln w="12700" cap="flat" cmpd="sng">
                <a:solidFill>
                  <a:srgbClr val="31538F"/>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200"/>
                  <a:buFont typeface="Calibri"/>
                  <a:buNone/>
                </a:pPr>
                <a:endParaRPr sz="1200" b="0" i="0" u="none" strike="noStrike" cap="none">
                  <a:solidFill>
                    <a:srgbClr val="000000"/>
                  </a:solidFill>
                  <a:latin typeface="Calibri"/>
                  <a:ea typeface="Calibri"/>
                  <a:cs typeface="Calibri"/>
                  <a:sym typeface="Calibri"/>
                </a:endParaRPr>
              </a:p>
            </p:txBody>
          </p:sp>
          <p:sp>
            <p:nvSpPr>
              <p:cNvPr id="831" name="Google Shape;831;g6277982ef9_0_5"/>
              <p:cNvSpPr/>
              <p:nvPr/>
            </p:nvSpPr>
            <p:spPr>
              <a:xfrm>
                <a:off x="0" y="0"/>
                <a:ext cx="565800" cy="1974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write(…)</a:t>
                </a:r>
                <a:endParaRPr/>
              </a:p>
            </p:txBody>
          </p:sp>
        </p:grpSp>
      </p:grpSp>
      <p:sp>
        <p:nvSpPr>
          <p:cNvPr id="832" name="Google Shape;832;g6277982ef9_0_5"/>
          <p:cNvSpPr/>
          <p:nvPr/>
        </p:nvSpPr>
        <p:spPr>
          <a:xfrm>
            <a:off x="1977676" y="3864003"/>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839" name="Google Shape;839;g6277982ef9_0_5"/>
          <p:cNvSpPr/>
          <p:nvPr/>
        </p:nvSpPr>
        <p:spPr>
          <a:xfrm>
            <a:off x="2827482" y="3853852"/>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840" name="Google Shape;840;g6277982ef9_0_5"/>
          <p:cNvSpPr txBox="1">
            <a:spLocks noGrp="1"/>
          </p:cNvSpPr>
          <p:nvPr>
            <p:ph type="title"/>
          </p:nvPr>
        </p:nvSpPr>
        <p:spPr>
          <a:xfrm>
            <a:off x="583422" y="36302"/>
            <a:ext cx="7886700" cy="994200"/>
          </a:xfrm>
          <a:prstGeom prst="rect">
            <a:avLst/>
          </a:prstGeom>
          <a:noFill/>
          <a:ln>
            <a:noFill/>
          </a:ln>
        </p:spPr>
        <p:txBody>
          <a:bodyPr spcFirstLastPara="1" wrap="square" lIns="34275" tIns="34275" rIns="34275" bIns="34275" anchor="ctr" anchorCtr="0">
            <a:noAutofit/>
          </a:bodyPr>
          <a:lstStyle/>
          <a:p>
            <a:pPr marL="0" marR="0" lvl="0" indent="0" algn="l" rtl="0">
              <a:lnSpc>
                <a:spcPct val="90000"/>
              </a:lnSpc>
              <a:spcBef>
                <a:spcPts val="0"/>
              </a:spcBef>
              <a:spcAft>
                <a:spcPts val="0"/>
              </a:spcAft>
              <a:buClr>
                <a:srgbClr val="000000"/>
              </a:buClr>
              <a:buSzPts val="3300"/>
              <a:buFont typeface="Calibri"/>
              <a:buNone/>
            </a:pPr>
            <a:r>
              <a:rPr lang="en-US" sz="3300" dirty="0"/>
              <a:t>Fulva’s architecture</a:t>
            </a:r>
            <a:endParaRPr dirty="0"/>
          </a:p>
        </p:txBody>
      </p:sp>
      <p:sp>
        <p:nvSpPr>
          <p:cNvPr id="841" name="Google Shape;841;g6277982ef9_0_5"/>
          <p:cNvSpPr/>
          <p:nvPr/>
        </p:nvSpPr>
        <p:spPr>
          <a:xfrm>
            <a:off x="2590803" y="1623600"/>
            <a:ext cx="1625100" cy="237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500" b="0" i="0" u="none" strike="noStrike" cap="none" err="1">
                <a:solidFill>
                  <a:srgbClr val="000000"/>
                </a:solidFill>
                <a:latin typeface="Calibri"/>
                <a:ea typeface="Calibri"/>
                <a:cs typeface="Calibri"/>
                <a:sym typeface="Calibri"/>
              </a:rPr>
              <a:t>Fulva</a:t>
            </a:r>
            <a:r>
              <a:rPr lang="en-US" sz="1500" b="0" i="0" u="none" strike="noStrike" cap="none">
                <a:solidFill>
                  <a:srgbClr val="000000"/>
                </a:solidFill>
                <a:latin typeface="Calibri"/>
                <a:ea typeface="Calibri"/>
                <a:cs typeface="Calibri"/>
                <a:sym typeface="Calibri"/>
              </a:rPr>
              <a:t> RPC Library</a:t>
            </a:r>
            <a:endParaRPr/>
          </a:p>
        </p:txBody>
      </p:sp>
      <p:sp>
        <p:nvSpPr>
          <p:cNvPr id="842" name="Google Shape;842;g6277982ef9_0_5"/>
          <p:cNvSpPr/>
          <p:nvPr/>
        </p:nvSpPr>
        <p:spPr>
          <a:xfrm>
            <a:off x="1006761" y="1855850"/>
            <a:ext cx="4381500" cy="553200"/>
          </a:xfrm>
          <a:prstGeom prst="roundRect">
            <a:avLst>
              <a:gd name="adj" fmla="val 16667"/>
            </a:avLst>
          </a:prstGeom>
          <a:noFill/>
          <a:ln w="12700" cap="flat" cmpd="sng">
            <a:solidFill>
              <a:srgbClr val="000000"/>
            </a:solidFill>
            <a:prstDash val="dash"/>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grpSp>
        <p:nvGrpSpPr>
          <p:cNvPr id="843" name="Google Shape;843;g6277982ef9_0_5"/>
          <p:cNvGrpSpPr/>
          <p:nvPr/>
        </p:nvGrpSpPr>
        <p:grpSpPr>
          <a:xfrm>
            <a:off x="1091331" y="1881804"/>
            <a:ext cx="3080991" cy="647400"/>
            <a:chOff x="-1" y="-1"/>
            <a:chExt cx="3080991" cy="647400"/>
          </a:xfrm>
        </p:grpSpPr>
        <p:sp>
          <p:nvSpPr>
            <p:cNvPr id="844" name="Google Shape;844;g6277982ef9_0_5"/>
            <p:cNvSpPr/>
            <p:nvPr/>
          </p:nvSpPr>
          <p:spPr>
            <a:xfrm>
              <a:off x="110690" y="23842"/>
              <a:ext cx="2970300" cy="4287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845" name="Google Shape;845;g6277982ef9_0_5"/>
            <p:cNvSpPr/>
            <p:nvPr/>
          </p:nvSpPr>
          <p:spPr>
            <a:xfrm>
              <a:off x="-1" y="-1"/>
              <a:ext cx="3004500" cy="647400"/>
            </a:xfrm>
            <a:prstGeom prst="rect">
              <a:avLst/>
            </a:prstGeom>
            <a:noFill/>
            <a:ln>
              <a:noFill/>
            </a:ln>
          </p:spPr>
          <p:txBody>
            <a:bodyPr spcFirstLastPara="1" wrap="square" lIns="34275" tIns="34275" rIns="34275" bIns="34275" anchor="t" anchorCtr="0">
              <a:noAutofit/>
            </a:bodyPr>
            <a:lstStyle/>
            <a:p>
              <a:pPr marL="0" marR="0" lvl="0" indent="0" algn="r" rtl="0">
                <a:lnSpc>
                  <a:spcPct val="100000"/>
                </a:lnSpc>
                <a:spcBef>
                  <a:spcPts val="0"/>
                </a:spcBef>
                <a:spcAft>
                  <a:spcPts val="0"/>
                </a:spcAft>
                <a:buClr>
                  <a:srgbClr val="000000"/>
                </a:buClr>
                <a:buSzPts val="1000"/>
                <a:buFont typeface="Calibri"/>
                <a:buNone/>
              </a:pPr>
              <a:r>
                <a:rPr lang="en-US" sz="1000" i="0" u="none" strike="noStrike" cap="none">
                  <a:latin typeface="Calibri"/>
                  <a:ea typeface="Calibri"/>
                  <a:cs typeface="Calibri"/>
                  <a:sym typeface="Calibri"/>
                </a:rPr>
                <a:t>Migration Completion Ranges</a:t>
              </a:r>
              <a:endParaRPr sz="1000" i="0" u="none" strike="noStrike" cap="none">
                <a:latin typeface="Calibri"/>
                <a:ea typeface="Calibri"/>
                <a:cs typeface="Calibri"/>
                <a:sym typeface="Calibri"/>
              </a:endParaRPr>
            </a:p>
            <a:p>
              <a:pPr marL="0" lvl="0" indent="0" algn="r" rtl="0">
                <a:spcBef>
                  <a:spcPts val="0"/>
                </a:spcBef>
                <a:spcAft>
                  <a:spcPts val="0"/>
                </a:spcAft>
                <a:buClr>
                  <a:schemeClr val="dk1"/>
                </a:buClr>
                <a:buSzPts val="1000"/>
                <a:buFont typeface="Calibri"/>
                <a:buNone/>
              </a:pPr>
              <a:r>
                <a:rPr lang="en-US" sz="1000">
                  <a:solidFill>
                    <a:schemeClr val="dk1"/>
                  </a:solidFill>
                  <a:latin typeface="Calibri"/>
                  <a:ea typeface="Calibri"/>
                  <a:cs typeface="Calibri"/>
                  <a:sym typeface="Calibri"/>
                </a:rPr>
                <a:t>Sampling Pulled Hashes</a:t>
              </a:r>
              <a:endParaRPr sz="1000" b="1">
                <a:latin typeface="Calibri"/>
                <a:ea typeface="Calibri"/>
                <a:cs typeface="Calibri"/>
                <a:sym typeface="Calibri"/>
              </a:endParaRPr>
            </a:p>
            <a:p>
              <a:pPr marL="0" marR="0" lvl="0" indent="0" algn="r" rtl="0">
                <a:lnSpc>
                  <a:spcPct val="100000"/>
                </a:lnSpc>
                <a:spcBef>
                  <a:spcPts val="0"/>
                </a:spcBef>
                <a:spcAft>
                  <a:spcPts val="0"/>
                </a:spcAft>
                <a:buClr>
                  <a:srgbClr val="000000"/>
                </a:buClr>
                <a:buSzPts val="1000"/>
                <a:buFont typeface="Calibri"/>
                <a:buNone/>
              </a:pPr>
              <a:endParaRPr sz="1000" b="1">
                <a:solidFill>
                  <a:srgbClr val="FF0000"/>
                </a:solidFill>
                <a:latin typeface="Calibri"/>
                <a:ea typeface="Calibri"/>
                <a:cs typeface="Calibri"/>
                <a:sym typeface="Calibri"/>
              </a:endParaRPr>
            </a:p>
          </p:txBody>
        </p:sp>
      </p:grpSp>
      <p:grpSp>
        <p:nvGrpSpPr>
          <p:cNvPr id="104" name="Google Shape;1376;p26"/>
          <p:cNvGrpSpPr/>
          <p:nvPr/>
        </p:nvGrpSpPr>
        <p:grpSpPr>
          <a:xfrm>
            <a:off x="4276630" y="2945387"/>
            <a:ext cx="1502580" cy="255646"/>
            <a:chOff x="0" y="-1"/>
            <a:chExt cx="1502579" cy="255644"/>
          </a:xfrm>
        </p:grpSpPr>
        <p:sp>
          <p:nvSpPr>
            <p:cNvPr id="105" name="Google Shape;1377;p26"/>
            <p:cNvSpPr/>
            <p:nvPr/>
          </p:nvSpPr>
          <p:spPr>
            <a:xfrm>
              <a:off x="0" y="10807"/>
              <a:ext cx="1502579" cy="234029"/>
            </a:xfrm>
            <a:prstGeom prst="rect">
              <a:avLst/>
            </a:prstGeom>
            <a:solidFill>
              <a:srgbClr val="FEE599"/>
            </a:solidFill>
            <a:ln w="1905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06" name="Google Shape;1378;p26"/>
            <p:cNvSpPr/>
            <p:nvPr/>
          </p:nvSpPr>
          <p:spPr>
            <a:xfrm>
              <a:off x="0" y="-1"/>
              <a:ext cx="1502579" cy="255644"/>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sampling puller</a:t>
              </a:r>
              <a:endParaRPr/>
            </a:p>
          </p:txBody>
        </p:sp>
      </p:grpSp>
      <p:sp>
        <p:nvSpPr>
          <p:cNvPr id="3" name="TextBox 2">
            <a:extLst>
              <a:ext uri="{FF2B5EF4-FFF2-40B4-BE49-F238E27FC236}">
                <a16:creationId xmlns:a16="http://schemas.microsoft.com/office/drawing/2014/main" id="{56CEA579-BDFD-C349-A1D3-36ADE7A9A3B3}"/>
              </a:ext>
            </a:extLst>
          </p:cNvPr>
          <p:cNvSpPr txBox="1"/>
          <p:nvPr/>
        </p:nvSpPr>
        <p:spPr>
          <a:xfrm>
            <a:off x="6056558" y="1479834"/>
            <a:ext cx="2964601" cy="2893100"/>
          </a:xfrm>
          <a:prstGeom prst="rect">
            <a:avLst/>
          </a:prstGeom>
          <a:noFill/>
        </p:spPr>
        <p:txBody>
          <a:bodyPr wrap="square" rtlCol="0">
            <a:spAutoFit/>
          </a:bodyPr>
          <a:lstStyle/>
          <a:p>
            <a:pPr marL="285750" indent="-285750">
              <a:buSzPct val="170000"/>
              <a:buFont typeface="Arial" panose="020B0604020202020204" pitchFamily="34" charset="0"/>
              <a:buChar char="•"/>
            </a:pPr>
            <a:r>
              <a:rPr lang="en-US" dirty="0">
                <a:solidFill>
                  <a:schemeClr val="dk1"/>
                </a:solidFill>
              </a:rPr>
              <a:t>Fulva RPC library provides standard API, such as read, so that the client program logic does not need to be modiﬁed.</a:t>
            </a:r>
          </a:p>
          <a:p>
            <a:pPr marL="285750" indent="-285750">
              <a:buSzPct val="170000"/>
              <a:buFont typeface="Arial" panose="020B0604020202020204" pitchFamily="34" charset="0"/>
              <a:buChar char="•"/>
            </a:pPr>
            <a:endParaRPr lang="en-US" dirty="0">
              <a:solidFill>
                <a:schemeClr val="dk1"/>
              </a:solidFill>
            </a:endParaRPr>
          </a:p>
          <a:p>
            <a:pPr marL="285750" indent="-285750">
              <a:buSzPct val="170000"/>
              <a:buFont typeface="Arial" panose="020B0604020202020204" pitchFamily="34" charset="0"/>
              <a:buChar char="•"/>
            </a:pPr>
            <a:r>
              <a:rPr lang="en-US" dirty="0">
                <a:solidFill>
                  <a:schemeClr val="dk1"/>
                </a:solidFill>
              </a:rPr>
              <a:t>Migration Controller starts concurrent streams to migrate tuples from source to destination</a:t>
            </a:r>
          </a:p>
          <a:p>
            <a:pPr>
              <a:buSzPct val="170000"/>
            </a:pPr>
            <a:endParaRPr lang="en-US" dirty="0">
              <a:solidFill>
                <a:schemeClr val="dk1"/>
              </a:solidFill>
            </a:endParaRPr>
          </a:p>
          <a:p>
            <a:pPr marL="285750" indent="-285750">
              <a:buSzPct val="170000"/>
              <a:buFont typeface="Arial" panose="020B0604020202020204" pitchFamily="34" charset="0"/>
              <a:buChar char="•"/>
            </a:pPr>
            <a:r>
              <a:rPr lang="en-US" dirty="0">
                <a:solidFill>
                  <a:schemeClr val="dk1"/>
                </a:solidFill>
              </a:rPr>
              <a:t>Each stream migrates the tuples sequentially based on the order of the tuples’ key</a:t>
            </a:r>
            <a:endParaRPr lang="en-US" dirty="0"/>
          </a:p>
        </p:txBody>
      </p:sp>
      <p:sp>
        <p:nvSpPr>
          <p:cNvPr id="2" name="Slide Number Placeholder 1">
            <a:extLst>
              <a:ext uri="{FF2B5EF4-FFF2-40B4-BE49-F238E27FC236}">
                <a16:creationId xmlns:a16="http://schemas.microsoft.com/office/drawing/2014/main" id="{0382C3B5-59BD-5D4D-A85D-4B9061F516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sz="1000">
              <a:solidFill>
                <a:srgbClr val="585858"/>
              </a:solidFill>
              <a:latin typeface="Arial"/>
              <a:ea typeface="Arial"/>
              <a:cs typeface="Arial"/>
              <a:sym typeface="Arial"/>
            </a:endParaRPr>
          </a:p>
        </p:txBody>
      </p:sp>
      <p:grpSp>
        <p:nvGrpSpPr>
          <p:cNvPr id="109" name="Google Shape;886;g475845831e_0_50">
            <a:extLst>
              <a:ext uri="{FF2B5EF4-FFF2-40B4-BE49-F238E27FC236}">
                <a16:creationId xmlns:a16="http://schemas.microsoft.com/office/drawing/2014/main" id="{0CEED32F-3DA8-B84D-8CE6-3D7CFD29BACE}"/>
              </a:ext>
            </a:extLst>
          </p:cNvPr>
          <p:cNvGrpSpPr/>
          <p:nvPr/>
        </p:nvGrpSpPr>
        <p:grpSpPr>
          <a:xfrm>
            <a:off x="4662840" y="3583386"/>
            <a:ext cx="783300" cy="237900"/>
            <a:chOff x="0" y="0"/>
            <a:chExt cx="783300" cy="237900"/>
          </a:xfrm>
        </p:grpSpPr>
        <p:sp>
          <p:nvSpPr>
            <p:cNvPr id="110" name="Google Shape;887;g475845831e_0_50">
              <a:extLst>
                <a:ext uri="{FF2B5EF4-FFF2-40B4-BE49-F238E27FC236}">
                  <a16:creationId xmlns:a16="http://schemas.microsoft.com/office/drawing/2014/main" id="{0BB3F6E1-696A-8744-A969-6E6CBED7DB44}"/>
                </a:ext>
              </a:extLst>
            </p:cNvPr>
            <p:cNvSpPr/>
            <p:nvPr/>
          </p:nvSpPr>
          <p:spPr>
            <a:xfrm>
              <a:off x="0" y="57478"/>
              <a:ext cx="783300" cy="1230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11" name="Google Shape;888;g475845831e_0_50">
              <a:extLst>
                <a:ext uri="{FF2B5EF4-FFF2-40B4-BE49-F238E27FC236}">
                  <a16:creationId xmlns:a16="http://schemas.microsoft.com/office/drawing/2014/main" id="{B13A0B34-9C94-6B45-96B7-AA65A7A30397}"/>
                </a:ext>
              </a:extLst>
            </p:cNvPr>
            <p:cNvSpPr/>
            <p:nvPr/>
          </p:nvSpPr>
          <p:spPr>
            <a:xfrm>
              <a:off x="0" y="0"/>
              <a:ext cx="7833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&lt;1, </a:t>
              </a:r>
              <a:r>
                <a:rPr lang="en-US" altLang="zh-TW" sz="1100" b="0" i="0" u="none" strike="noStrike" cap="none" dirty="0">
                  <a:solidFill>
                    <a:srgbClr val="000000"/>
                  </a:solidFill>
                  <a:latin typeface="Calibri"/>
                  <a:ea typeface="Calibri"/>
                  <a:cs typeface="Calibri"/>
                  <a:sym typeface="Calibri"/>
                </a:rPr>
                <a:t>V</a:t>
              </a:r>
              <a:r>
                <a:rPr lang="en-US" sz="1100" b="0" i="0" u="none" strike="noStrike" cap="none" dirty="0">
                  <a:solidFill>
                    <a:srgbClr val="000000"/>
                  </a:solidFill>
                  <a:latin typeface="Calibri"/>
                  <a:ea typeface="Calibri"/>
                  <a:cs typeface="Calibri"/>
                  <a:sym typeface="Calibri"/>
                </a:rPr>
                <a:t>&gt;</a:t>
              </a:r>
              <a:endParaRPr dirty="0"/>
            </a:p>
          </p:txBody>
        </p:sp>
      </p:grpSp>
      <p:grpSp>
        <p:nvGrpSpPr>
          <p:cNvPr id="112" name="Google Shape;889;g475845831e_0_50">
            <a:extLst>
              <a:ext uri="{FF2B5EF4-FFF2-40B4-BE49-F238E27FC236}">
                <a16:creationId xmlns:a16="http://schemas.microsoft.com/office/drawing/2014/main" id="{B08224C7-DEC6-EE45-BAAC-EFCF5A887D8F}"/>
              </a:ext>
            </a:extLst>
          </p:cNvPr>
          <p:cNvGrpSpPr/>
          <p:nvPr/>
        </p:nvGrpSpPr>
        <p:grpSpPr>
          <a:xfrm>
            <a:off x="4671679" y="3761133"/>
            <a:ext cx="776100" cy="237900"/>
            <a:chOff x="0" y="0"/>
            <a:chExt cx="776100" cy="237900"/>
          </a:xfrm>
        </p:grpSpPr>
        <p:sp>
          <p:nvSpPr>
            <p:cNvPr id="113" name="Google Shape;890;g475845831e_0_50">
              <a:extLst>
                <a:ext uri="{FF2B5EF4-FFF2-40B4-BE49-F238E27FC236}">
                  <a16:creationId xmlns:a16="http://schemas.microsoft.com/office/drawing/2014/main" id="{FE487541-0515-8D4C-8D57-400DCF16A8F3}"/>
                </a:ext>
              </a:extLst>
            </p:cNvPr>
            <p:cNvSpPr/>
            <p:nvPr/>
          </p:nvSpPr>
          <p:spPr>
            <a:xfrm>
              <a:off x="0" y="67929"/>
              <a:ext cx="776100" cy="1020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14" name="Google Shape;891;g475845831e_0_50">
              <a:extLst>
                <a:ext uri="{FF2B5EF4-FFF2-40B4-BE49-F238E27FC236}">
                  <a16:creationId xmlns:a16="http://schemas.microsoft.com/office/drawing/2014/main" id="{9A6EE23B-7E07-6247-A1F4-53FAB135CF6F}"/>
                </a:ext>
              </a:extLst>
            </p:cNvPr>
            <p:cNvSpPr/>
            <p:nvPr/>
          </p:nvSpPr>
          <p:spPr>
            <a:xfrm>
              <a:off x="0" y="0"/>
              <a:ext cx="7761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&lt;50, </a:t>
              </a:r>
              <a:r>
                <a:rPr lang="en-US" altLang="zh-TW" sz="1100" b="0" i="0" u="none" strike="noStrike" cap="none" dirty="0">
                  <a:solidFill>
                    <a:srgbClr val="000000"/>
                  </a:solidFill>
                  <a:latin typeface="Calibri"/>
                  <a:ea typeface="Calibri"/>
                  <a:cs typeface="Calibri"/>
                  <a:sym typeface="Calibri"/>
                </a:rPr>
                <a:t>V</a:t>
              </a:r>
              <a:r>
                <a:rPr lang="en-US" sz="1100" b="0" i="0" u="none" strike="noStrike" cap="none" dirty="0">
                  <a:solidFill>
                    <a:srgbClr val="000000"/>
                  </a:solidFill>
                  <a:latin typeface="Calibri"/>
                  <a:ea typeface="Calibri"/>
                  <a:cs typeface="Calibri"/>
                  <a:sym typeface="Calibri"/>
                </a:rPr>
                <a:t>&gt;</a:t>
              </a:r>
              <a:endParaRPr dirty="0"/>
            </a:p>
          </p:txBody>
        </p:sp>
      </p:grpSp>
      <p:sp>
        <p:nvSpPr>
          <p:cNvPr id="115" name="Google Shape;895;g475845831e_0_50">
            <a:extLst>
              <a:ext uri="{FF2B5EF4-FFF2-40B4-BE49-F238E27FC236}">
                <a16:creationId xmlns:a16="http://schemas.microsoft.com/office/drawing/2014/main" id="{00C1693B-9E2C-2F42-9A4D-E114A93FA04C}"/>
              </a:ext>
            </a:extLst>
          </p:cNvPr>
          <p:cNvSpPr/>
          <p:nvPr/>
        </p:nvSpPr>
        <p:spPr>
          <a:xfrm>
            <a:off x="4917326" y="3608644"/>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dirty="0">
                <a:solidFill>
                  <a:srgbClr val="000000"/>
                </a:solidFill>
                <a:latin typeface="Calibri"/>
                <a:ea typeface="Calibri"/>
                <a:cs typeface="Calibri"/>
                <a:sym typeface="Calibri"/>
              </a:rPr>
              <a:t>....</a:t>
            </a:r>
            <a:endParaRPr dirty="0"/>
          </a:p>
        </p:txBody>
      </p:sp>
      <p:grpSp>
        <p:nvGrpSpPr>
          <p:cNvPr id="116" name="Google Shape;905;g475845831e_0_50">
            <a:extLst>
              <a:ext uri="{FF2B5EF4-FFF2-40B4-BE49-F238E27FC236}">
                <a16:creationId xmlns:a16="http://schemas.microsoft.com/office/drawing/2014/main" id="{87249993-82F0-7040-896D-CBF88A40FD00}"/>
              </a:ext>
            </a:extLst>
          </p:cNvPr>
          <p:cNvGrpSpPr/>
          <p:nvPr/>
        </p:nvGrpSpPr>
        <p:grpSpPr>
          <a:xfrm>
            <a:off x="4687998" y="4171130"/>
            <a:ext cx="767700" cy="237900"/>
            <a:chOff x="0" y="-1"/>
            <a:chExt cx="767700" cy="237900"/>
          </a:xfrm>
        </p:grpSpPr>
        <p:sp>
          <p:nvSpPr>
            <p:cNvPr id="117" name="Google Shape;906;g475845831e_0_50">
              <a:extLst>
                <a:ext uri="{FF2B5EF4-FFF2-40B4-BE49-F238E27FC236}">
                  <a16:creationId xmlns:a16="http://schemas.microsoft.com/office/drawing/2014/main" id="{881258B8-CD4B-A248-8205-0E8A3F3767F9}"/>
                </a:ext>
              </a:extLst>
            </p:cNvPr>
            <p:cNvSpPr/>
            <p:nvPr/>
          </p:nvSpPr>
          <p:spPr>
            <a:xfrm>
              <a:off x="0" y="42583"/>
              <a:ext cx="767700" cy="1527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Arial"/>
                <a:ea typeface="Arial"/>
                <a:cs typeface="Arial"/>
                <a:sym typeface="Arial"/>
              </a:endParaRPr>
            </a:p>
          </p:txBody>
        </p:sp>
        <p:sp>
          <p:nvSpPr>
            <p:cNvPr id="118" name="Google Shape;907;g475845831e_0_50">
              <a:extLst>
                <a:ext uri="{FF2B5EF4-FFF2-40B4-BE49-F238E27FC236}">
                  <a16:creationId xmlns:a16="http://schemas.microsoft.com/office/drawing/2014/main" id="{E0143416-66E9-C54D-9609-B0DAE050DA62}"/>
                </a:ext>
              </a:extLst>
            </p:cNvPr>
            <p:cNvSpPr/>
            <p:nvPr/>
          </p:nvSpPr>
          <p:spPr>
            <a:xfrm>
              <a:off x="0" y="-1"/>
              <a:ext cx="7677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&lt;100, V&gt;</a:t>
              </a:r>
              <a:endParaRPr dirty="0"/>
            </a:p>
          </p:txBody>
        </p:sp>
      </p:grpSp>
      <p:grpSp>
        <p:nvGrpSpPr>
          <p:cNvPr id="119" name="Google Shape;908;g475845831e_0_50">
            <a:extLst>
              <a:ext uri="{FF2B5EF4-FFF2-40B4-BE49-F238E27FC236}">
                <a16:creationId xmlns:a16="http://schemas.microsoft.com/office/drawing/2014/main" id="{7F39956E-FAA6-1E41-B6A2-7F069C7CFD6F}"/>
              </a:ext>
            </a:extLst>
          </p:cNvPr>
          <p:cNvGrpSpPr/>
          <p:nvPr/>
        </p:nvGrpSpPr>
        <p:grpSpPr>
          <a:xfrm>
            <a:off x="4696018" y="4399522"/>
            <a:ext cx="775200" cy="237900"/>
            <a:chOff x="0" y="-1"/>
            <a:chExt cx="775200" cy="237900"/>
          </a:xfrm>
        </p:grpSpPr>
        <p:sp>
          <p:nvSpPr>
            <p:cNvPr id="120" name="Google Shape;909;g475845831e_0_50">
              <a:extLst>
                <a:ext uri="{FF2B5EF4-FFF2-40B4-BE49-F238E27FC236}">
                  <a16:creationId xmlns:a16="http://schemas.microsoft.com/office/drawing/2014/main" id="{B940C60C-0723-FA4B-A5DA-5429F9B19427}"/>
                </a:ext>
              </a:extLst>
            </p:cNvPr>
            <p:cNvSpPr/>
            <p:nvPr/>
          </p:nvSpPr>
          <p:spPr>
            <a:xfrm>
              <a:off x="0" y="58319"/>
              <a:ext cx="775200" cy="1212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21" name="Google Shape;910;g475845831e_0_50">
              <a:extLst>
                <a:ext uri="{FF2B5EF4-FFF2-40B4-BE49-F238E27FC236}">
                  <a16:creationId xmlns:a16="http://schemas.microsoft.com/office/drawing/2014/main" id="{01B73503-D237-8941-AC97-AA6B5BB874C9}"/>
                </a:ext>
              </a:extLst>
            </p:cNvPr>
            <p:cNvSpPr/>
            <p:nvPr/>
          </p:nvSpPr>
          <p:spPr>
            <a:xfrm>
              <a:off x="0" y="-1"/>
              <a:ext cx="7752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&lt;500, V&gt;</a:t>
              </a:r>
              <a:endParaRPr dirty="0"/>
            </a:p>
          </p:txBody>
        </p:sp>
      </p:grpSp>
      <p:sp>
        <p:nvSpPr>
          <p:cNvPr id="122" name="Google Shape;911;g475845831e_0_50">
            <a:extLst>
              <a:ext uri="{FF2B5EF4-FFF2-40B4-BE49-F238E27FC236}">
                <a16:creationId xmlns:a16="http://schemas.microsoft.com/office/drawing/2014/main" id="{34783B76-9001-5F42-A1E3-5273096FE442}"/>
              </a:ext>
            </a:extLst>
          </p:cNvPr>
          <p:cNvSpPr/>
          <p:nvPr/>
        </p:nvSpPr>
        <p:spPr>
          <a:xfrm>
            <a:off x="4905522" y="4223498"/>
            <a:ext cx="521100" cy="258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dirty="0">
                <a:solidFill>
                  <a:srgbClr val="000000"/>
                </a:solidFill>
                <a:latin typeface="Calibri"/>
                <a:ea typeface="Calibri"/>
                <a:cs typeface="Calibri"/>
                <a:sym typeface="Calibri"/>
              </a:rPr>
              <a:t>....</a:t>
            </a:r>
            <a:endParaRPr dirty="0"/>
          </a:p>
        </p:txBody>
      </p:sp>
      <p:sp>
        <p:nvSpPr>
          <p:cNvPr id="123" name="Google Shape;927;g475845831e_0_50">
            <a:extLst>
              <a:ext uri="{FF2B5EF4-FFF2-40B4-BE49-F238E27FC236}">
                <a16:creationId xmlns:a16="http://schemas.microsoft.com/office/drawing/2014/main" id="{988285C2-C245-FB46-A98D-A75042BFBC07}"/>
              </a:ext>
            </a:extLst>
          </p:cNvPr>
          <p:cNvSpPr/>
          <p:nvPr/>
        </p:nvSpPr>
        <p:spPr>
          <a:xfrm>
            <a:off x="4910775" y="3993141"/>
            <a:ext cx="3384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124" name="Google Shape;955;g475845831e_0_50">
            <a:extLst>
              <a:ext uri="{FF2B5EF4-FFF2-40B4-BE49-F238E27FC236}">
                <a16:creationId xmlns:a16="http://schemas.microsoft.com/office/drawing/2014/main" id="{FE311FB9-3BE3-B54A-93F6-9FF69D6E94A7}"/>
              </a:ext>
            </a:extLst>
          </p:cNvPr>
          <p:cNvGrpSpPr/>
          <p:nvPr/>
        </p:nvGrpSpPr>
        <p:grpSpPr>
          <a:xfrm>
            <a:off x="4674235" y="3939004"/>
            <a:ext cx="782400" cy="237900"/>
            <a:chOff x="0" y="0"/>
            <a:chExt cx="782400" cy="237900"/>
          </a:xfrm>
        </p:grpSpPr>
        <p:sp>
          <p:nvSpPr>
            <p:cNvPr id="125" name="Google Shape;956;g475845831e_0_50">
              <a:extLst>
                <a:ext uri="{FF2B5EF4-FFF2-40B4-BE49-F238E27FC236}">
                  <a16:creationId xmlns:a16="http://schemas.microsoft.com/office/drawing/2014/main" id="{8798E0AD-ABE0-D04E-AE22-B3371D3D90A3}"/>
                </a:ext>
              </a:extLst>
            </p:cNvPr>
            <p:cNvSpPr/>
            <p:nvPr/>
          </p:nvSpPr>
          <p:spPr>
            <a:xfrm>
              <a:off x="0" y="54115"/>
              <a:ext cx="7824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26" name="Google Shape;957;g475845831e_0_50">
              <a:extLst>
                <a:ext uri="{FF2B5EF4-FFF2-40B4-BE49-F238E27FC236}">
                  <a16:creationId xmlns:a16="http://schemas.microsoft.com/office/drawing/2014/main" id="{F5403486-CEA7-4641-ACA5-D516A4BB97DC}"/>
                </a:ext>
              </a:extLst>
            </p:cNvPr>
            <p:cNvSpPr/>
            <p:nvPr/>
          </p:nvSpPr>
          <p:spPr>
            <a:xfrm>
              <a:off x="0" y="0"/>
              <a:ext cx="7824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&lt;51,V&gt;</a:t>
              </a:r>
              <a:endParaRPr dirty="0"/>
            </a:p>
          </p:txBody>
        </p:sp>
      </p:grpSp>
      <p:grpSp>
        <p:nvGrpSpPr>
          <p:cNvPr id="127" name="Google Shape;958;g475845831e_0_50">
            <a:extLst>
              <a:ext uri="{FF2B5EF4-FFF2-40B4-BE49-F238E27FC236}">
                <a16:creationId xmlns:a16="http://schemas.microsoft.com/office/drawing/2014/main" id="{A3072AA7-9F2C-9A43-9F09-5EBCCCF708B2}"/>
              </a:ext>
            </a:extLst>
          </p:cNvPr>
          <p:cNvGrpSpPr/>
          <p:nvPr/>
        </p:nvGrpSpPr>
        <p:grpSpPr>
          <a:xfrm>
            <a:off x="4704590" y="4658141"/>
            <a:ext cx="775200" cy="237900"/>
            <a:chOff x="0" y="-1"/>
            <a:chExt cx="775200" cy="237900"/>
          </a:xfrm>
        </p:grpSpPr>
        <p:sp>
          <p:nvSpPr>
            <p:cNvPr id="128" name="Google Shape;959;g475845831e_0_50">
              <a:extLst>
                <a:ext uri="{FF2B5EF4-FFF2-40B4-BE49-F238E27FC236}">
                  <a16:creationId xmlns:a16="http://schemas.microsoft.com/office/drawing/2014/main" id="{A2B3C473-7130-A34A-9E2A-8753B245A990}"/>
                </a:ext>
              </a:extLst>
            </p:cNvPr>
            <p:cNvSpPr/>
            <p:nvPr/>
          </p:nvSpPr>
          <p:spPr>
            <a:xfrm>
              <a:off x="0" y="62523"/>
              <a:ext cx="775200" cy="1128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29" name="Google Shape;960;g475845831e_0_50">
              <a:extLst>
                <a:ext uri="{FF2B5EF4-FFF2-40B4-BE49-F238E27FC236}">
                  <a16:creationId xmlns:a16="http://schemas.microsoft.com/office/drawing/2014/main" id="{FD0A862B-6408-0B48-A5DD-A8BF30C09F0A}"/>
                </a:ext>
              </a:extLst>
            </p:cNvPr>
            <p:cNvSpPr/>
            <p:nvPr/>
          </p:nvSpPr>
          <p:spPr>
            <a:xfrm>
              <a:off x="0" y="-1"/>
              <a:ext cx="7752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&lt;600,V&gt;</a:t>
              </a:r>
              <a:endParaRPr dirty="0"/>
            </a:p>
          </p:txBody>
        </p:sp>
      </p:grpSp>
      <p:sp>
        <p:nvSpPr>
          <p:cNvPr id="130" name="Google Shape;911;g475845831e_0_50">
            <a:extLst>
              <a:ext uri="{FF2B5EF4-FFF2-40B4-BE49-F238E27FC236}">
                <a16:creationId xmlns:a16="http://schemas.microsoft.com/office/drawing/2014/main" id="{C2DF2BE1-6744-874F-87CC-0A8C3E8FD146}"/>
              </a:ext>
            </a:extLst>
          </p:cNvPr>
          <p:cNvSpPr/>
          <p:nvPr/>
        </p:nvSpPr>
        <p:spPr>
          <a:xfrm>
            <a:off x="4911627" y="4461381"/>
            <a:ext cx="521100" cy="258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dirty="0">
                <a:solidFill>
                  <a:srgbClr val="000000"/>
                </a:solidFill>
                <a:latin typeface="Calibri"/>
                <a:ea typeface="Calibri"/>
                <a:cs typeface="Calibri"/>
                <a:sym typeface="Calibri"/>
              </a:rPr>
              <a:t>....</a:t>
            </a:r>
            <a:endParaRPr dirty="0"/>
          </a:p>
        </p:txBody>
      </p:sp>
    </p:spTree>
    <p:extLst>
      <p:ext uri="{BB962C8B-B14F-4D97-AF65-F5344CB8AC3E}">
        <p14:creationId xmlns:p14="http://schemas.microsoft.com/office/powerpoint/2010/main" val="2487708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41"/>
                                        </p:tgtEl>
                                      </p:cBhvr>
                                    </p:animEffect>
                                    <p:animScale>
                                      <p:cBhvr>
                                        <p:cTn id="7" dur="250" autoRev="1" fill="hold"/>
                                        <p:tgtEl>
                                          <p:spTgt spid="841"/>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842"/>
                                        </p:tgtEl>
                                      </p:cBhvr>
                                    </p:animEffect>
                                    <p:animScale>
                                      <p:cBhvr>
                                        <p:cTn id="10" dur="250" autoRev="1" fill="hold"/>
                                        <p:tgtEl>
                                          <p:spTgt spid="842"/>
                                        </p:tgtEl>
                                      </p:cBhvr>
                                      <p:by x="105000" y="105000"/>
                                    </p:animScale>
                                  </p:childTnLst>
                                </p:cTn>
                              </p:par>
                              <p:par>
                                <p:cTn id="11" presetID="26" presetClass="emph" presetSubtype="0" fill="hold" nodeType="withEffect">
                                  <p:stCondLst>
                                    <p:cond delay="0"/>
                                  </p:stCondLst>
                                  <p:childTnLst>
                                    <p:animEffect transition="out" filter="fade">
                                      <p:cBhvr>
                                        <p:cTn id="12" dur="500" tmFilter="0, 0; .2, .5; .8, .5; 1, 0"/>
                                        <p:tgtEl>
                                          <p:spTgt spid="843"/>
                                        </p:tgtEl>
                                      </p:cBhvr>
                                    </p:animEffect>
                                    <p:animScale>
                                      <p:cBhvr>
                                        <p:cTn id="13" dur="250" autoRev="1" fill="hold"/>
                                        <p:tgtEl>
                                          <p:spTgt spid="843"/>
                                        </p:tgtEl>
                                      </p:cBhvr>
                                      <p:by x="105000" y="105000"/>
                                    </p:animScale>
                                  </p:childTnLst>
                                </p:cTn>
                              </p:par>
                              <p:par>
                                <p:cTn id="14" presetID="32" presetClass="emph" presetSubtype="0" fill="hold" nodeType="withEffect">
                                  <p:stCondLst>
                                    <p:cond delay="0"/>
                                  </p:stCondLst>
                                  <p:childTnLst>
                                    <p:animRot by="120000">
                                      <p:cBhvr>
                                        <p:cTn id="15" dur="100" fill="hold">
                                          <p:stCondLst>
                                            <p:cond delay="0"/>
                                          </p:stCondLst>
                                        </p:cTn>
                                        <p:tgtEl>
                                          <p:spTgt spid="104"/>
                                        </p:tgtEl>
                                        <p:attrNameLst>
                                          <p:attrName>r</p:attrName>
                                        </p:attrNameLst>
                                      </p:cBhvr>
                                    </p:animRot>
                                    <p:animRot by="-240000">
                                      <p:cBhvr>
                                        <p:cTn id="16" dur="200" fill="hold">
                                          <p:stCondLst>
                                            <p:cond delay="200"/>
                                          </p:stCondLst>
                                        </p:cTn>
                                        <p:tgtEl>
                                          <p:spTgt spid="104"/>
                                        </p:tgtEl>
                                        <p:attrNameLst>
                                          <p:attrName>r</p:attrName>
                                        </p:attrNameLst>
                                      </p:cBhvr>
                                    </p:animRot>
                                    <p:animRot by="240000">
                                      <p:cBhvr>
                                        <p:cTn id="17" dur="200" fill="hold">
                                          <p:stCondLst>
                                            <p:cond delay="400"/>
                                          </p:stCondLst>
                                        </p:cTn>
                                        <p:tgtEl>
                                          <p:spTgt spid="104"/>
                                        </p:tgtEl>
                                        <p:attrNameLst>
                                          <p:attrName>r</p:attrName>
                                        </p:attrNameLst>
                                      </p:cBhvr>
                                    </p:animRot>
                                    <p:animRot by="-240000">
                                      <p:cBhvr>
                                        <p:cTn id="18" dur="200" fill="hold">
                                          <p:stCondLst>
                                            <p:cond delay="600"/>
                                          </p:stCondLst>
                                        </p:cTn>
                                        <p:tgtEl>
                                          <p:spTgt spid="104"/>
                                        </p:tgtEl>
                                        <p:attrNameLst>
                                          <p:attrName>r</p:attrName>
                                        </p:attrNameLst>
                                      </p:cBhvr>
                                    </p:animRot>
                                    <p:animRot by="120000">
                                      <p:cBhvr>
                                        <p:cTn id="19" dur="200" fill="hold">
                                          <p:stCondLst>
                                            <p:cond delay="800"/>
                                          </p:stCondLst>
                                        </p:cTn>
                                        <p:tgtEl>
                                          <p:spTgt spid="104"/>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grpId="0" nodeType="clickEffect">
                                  <p:stCondLst>
                                    <p:cond delay="0"/>
                                  </p:stCondLst>
                                  <p:childTnLst>
                                    <p:animEffect transition="out" filter="fade">
                                      <p:cBhvr>
                                        <p:cTn id="23" dur="500" tmFilter="0, 0; .2, .5; .8, .5; 1, 0"/>
                                        <p:tgtEl>
                                          <p:spTgt spid="760"/>
                                        </p:tgtEl>
                                      </p:cBhvr>
                                    </p:animEffect>
                                    <p:animScale>
                                      <p:cBhvr>
                                        <p:cTn id="24" dur="250" autoRev="1" fill="hold"/>
                                        <p:tgtEl>
                                          <p:spTgt spid="760"/>
                                        </p:tgtEl>
                                      </p:cBhvr>
                                      <p:by x="105000" y="105000"/>
                                    </p:animScale>
                                  </p:childTnLst>
                                </p:cTn>
                              </p:par>
                              <p:par>
                                <p:cTn id="25" presetID="26" presetClass="emph" presetSubtype="0" fill="hold" grpId="0" nodeType="withEffect">
                                  <p:stCondLst>
                                    <p:cond delay="0"/>
                                  </p:stCondLst>
                                  <p:childTnLst>
                                    <p:animEffect transition="out" filter="fade">
                                      <p:cBhvr>
                                        <p:cTn id="26" dur="500" tmFilter="0, 0; .2, .5; .8, .5; 1, 0"/>
                                        <p:tgtEl>
                                          <p:spTgt spid="764"/>
                                        </p:tgtEl>
                                      </p:cBhvr>
                                    </p:animEffect>
                                    <p:animScale>
                                      <p:cBhvr>
                                        <p:cTn id="27" dur="250" autoRev="1" fill="hold"/>
                                        <p:tgtEl>
                                          <p:spTgt spid="764"/>
                                        </p:tgtEl>
                                      </p:cBhvr>
                                      <p:by x="105000" y="105000"/>
                                    </p:animScale>
                                  </p:childTnLst>
                                </p:cTn>
                              </p:par>
                              <p:par>
                                <p:cTn id="28" presetID="26" presetClass="emph" presetSubtype="0" fill="hold" grpId="0" nodeType="withEffect">
                                  <p:stCondLst>
                                    <p:cond delay="0"/>
                                  </p:stCondLst>
                                  <p:childTnLst>
                                    <p:animEffect transition="out" filter="fade">
                                      <p:cBhvr>
                                        <p:cTn id="29" dur="500" tmFilter="0, 0; .2, .5; .8, .5; 1, 0"/>
                                        <p:tgtEl>
                                          <p:spTgt spid="788"/>
                                        </p:tgtEl>
                                      </p:cBhvr>
                                    </p:animEffect>
                                    <p:animScale>
                                      <p:cBhvr>
                                        <p:cTn id="30" dur="250" autoRev="1" fill="hold"/>
                                        <p:tgtEl>
                                          <p:spTgt spid="78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0" grpId="0" animBg="1"/>
      <p:bldP spid="764" grpId="0" animBg="1"/>
      <p:bldP spid="788" grpId="0"/>
      <p:bldP spid="841" grpId="0"/>
      <p:bldP spid="84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grpSp>
        <p:nvGrpSpPr>
          <p:cNvPr id="856" name="Google Shape;856;g475845831e_0_50"/>
          <p:cNvGrpSpPr/>
          <p:nvPr/>
        </p:nvGrpSpPr>
        <p:grpSpPr>
          <a:xfrm>
            <a:off x="639579" y="1137154"/>
            <a:ext cx="4778401" cy="1301723"/>
            <a:chOff x="0" y="-1"/>
            <a:chExt cx="4778401" cy="1301723"/>
          </a:xfrm>
        </p:grpSpPr>
        <p:grpSp>
          <p:nvGrpSpPr>
            <p:cNvPr id="857" name="Google Shape;857;g475845831e_0_50"/>
            <p:cNvGrpSpPr/>
            <p:nvPr/>
          </p:nvGrpSpPr>
          <p:grpSpPr>
            <a:xfrm>
              <a:off x="0" y="37784"/>
              <a:ext cx="4778401" cy="1263938"/>
              <a:chOff x="0" y="-1"/>
              <a:chExt cx="4778401" cy="1263938"/>
            </a:xfrm>
          </p:grpSpPr>
          <p:sp>
            <p:nvSpPr>
              <p:cNvPr id="858" name="Google Shape;858;g475845831e_0_50"/>
              <p:cNvSpPr/>
              <p:nvPr/>
            </p:nvSpPr>
            <p:spPr>
              <a:xfrm>
                <a:off x="0" y="308137"/>
                <a:ext cx="4778400" cy="955800"/>
              </a:xfrm>
              <a:prstGeom prst="rect">
                <a:avLst/>
              </a:prstGeom>
              <a:solidFill>
                <a:srgbClr val="FEE59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59" name="Google Shape;859;g475845831e_0_50"/>
              <p:cNvSpPr/>
              <p:nvPr/>
            </p:nvSpPr>
            <p:spPr>
              <a:xfrm>
                <a:off x="1" y="-1"/>
                <a:ext cx="4778400" cy="3066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500"/>
                  <a:buFont typeface="Calibri"/>
                  <a:buNone/>
                </a:pPr>
                <a:endParaRPr sz="1500" b="0" i="0" u="none" strike="noStrike" cap="none">
                  <a:solidFill>
                    <a:srgbClr val="000000"/>
                  </a:solidFill>
                  <a:latin typeface="Calibri"/>
                  <a:ea typeface="Calibri"/>
                  <a:cs typeface="Calibri"/>
                  <a:sym typeface="Calibri"/>
                </a:endParaRPr>
              </a:p>
            </p:txBody>
          </p:sp>
        </p:grpSp>
        <p:sp>
          <p:nvSpPr>
            <p:cNvPr id="860" name="Google Shape;860;g475845831e_0_50"/>
            <p:cNvSpPr/>
            <p:nvPr/>
          </p:nvSpPr>
          <p:spPr>
            <a:xfrm>
              <a:off x="1657735" y="-1"/>
              <a:ext cx="1421400" cy="1974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Client program N</a:t>
              </a:r>
              <a:endParaRPr/>
            </a:p>
          </p:txBody>
        </p:sp>
      </p:grpSp>
      <p:grpSp>
        <p:nvGrpSpPr>
          <p:cNvPr id="861" name="Google Shape;861;g475845831e_0_50"/>
          <p:cNvGrpSpPr/>
          <p:nvPr/>
        </p:nvGrpSpPr>
        <p:grpSpPr>
          <a:xfrm>
            <a:off x="689140" y="1255665"/>
            <a:ext cx="4840200" cy="1289559"/>
            <a:chOff x="-1" y="0"/>
            <a:chExt cx="4840200" cy="1289559"/>
          </a:xfrm>
        </p:grpSpPr>
        <p:grpSp>
          <p:nvGrpSpPr>
            <p:cNvPr id="862" name="Google Shape;862;g475845831e_0_50"/>
            <p:cNvGrpSpPr/>
            <p:nvPr/>
          </p:nvGrpSpPr>
          <p:grpSpPr>
            <a:xfrm>
              <a:off x="-1" y="36762"/>
              <a:ext cx="4840200" cy="1252797"/>
              <a:chOff x="0" y="-1"/>
              <a:chExt cx="4840200" cy="1252797"/>
            </a:xfrm>
          </p:grpSpPr>
          <p:sp>
            <p:nvSpPr>
              <p:cNvPr id="863" name="Google Shape;863;g475845831e_0_50"/>
              <p:cNvSpPr/>
              <p:nvPr/>
            </p:nvSpPr>
            <p:spPr>
              <a:xfrm>
                <a:off x="0" y="296996"/>
                <a:ext cx="4840200" cy="955800"/>
              </a:xfrm>
              <a:prstGeom prst="rect">
                <a:avLst/>
              </a:prstGeom>
              <a:solidFill>
                <a:srgbClr val="FEE59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64" name="Google Shape;864;g475845831e_0_50"/>
              <p:cNvSpPr/>
              <p:nvPr/>
            </p:nvSpPr>
            <p:spPr>
              <a:xfrm>
                <a:off x="0" y="-1"/>
                <a:ext cx="4840200" cy="3066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500"/>
                  <a:buFont typeface="Calibri"/>
                  <a:buNone/>
                </a:pPr>
                <a:endParaRPr sz="1500" b="0" i="0" u="none" strike="noStrike" cap="none">
                  <a:solidFill>
                    <a:srgbClr val="000000"/>
                  </a:solidFill>
                  <a:latin typeface="Calibri"/>
                  <a:ea typeface="Calibri"/>
                  <a:cs typeface="Calibri"/>
                  <a:sym typeface="Calibri"/>
                </a:endParaRPr>
              </a:p>
            </p:txBody>
          </p:sp>
        </p:grpSp>
        <p:sp>
          <p:nvSpPr>
            <p:cNvPr id="865" name="Google Shape;865;g475845831e_0_50"/>
            <p:cNvSpPr/>
            <p:nvPr/>
          </p:nvSpPr>
          <p:spPr>
            <a:xfrm>
              <a:off x="1806785" y="0"/>
              <a:ext cx="1440000" cy="1974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Client program 2</a:t>
              </a:r>
              <a:endParaRPr/>
            </a:p>
          </p:txBody>
        </p:sp>
      </p:grpSp>
      <p:sp>
        <p:nvSpPr>
          <p:cNvPr id="866" name="Google Shape;866;g475845831e_0_50"/>
          <p:cNvSpPr/>
          <p:nvPr/>
        </p:nvSpPr>
        <p:spPr>
          <a:xfrm>
            <a:off x="795264" y="1715285"/>
            <a:ext cx="4831500" cy="955800"/>
          </a:xfrm>
          <a:prstGeom prst="rect">
            <a:avLst/>
          </a:prstGeom>
          <a:solidFill>
            <a:srgbClr val="FEE599"/>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67" name="Google Shape;867;g475845831e_0_50"/>
          <p:cNvSpPr/>
          <p:nvPr/>
        </p:nvSpPr>
        <p:spPr>
          <a:xfrm>
            <a:off x="173169" y="3050485"/>
            <a:ext cx="2593266" cy="2026500"/>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868" name="Google Shape;868;g475845831e_0_50"/>
          <p:cNvSpPr/>
          <p:nvPr/>
        </p:nvSpPr>
        <p:spPr>
          <a:xfrm>
            <a:off x="334968" y="3358096"/>
            <a:ext cx="1193562" cy="1668762"/>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869" name="Google Shape;869;g475845831e_0_50"/>
          <p:cNvSpPr/>
          <p:nvPr/>
        </p:nvSpPr>
        <p:spPr>
          <a:xfrm>
            <a:off x="463109" y="3082009"/>
            <a:ext cx="728400" cy="278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500" b="1" i="0" u="none" strike="noStrike" cap="none" dirty="0">
                <a:solidFill>
                  <a:srgbClr val="000000"/>
                </a:solidFill>
                <a:latin typeface="Calibri"/>
                <a:ea typeface="Calibri"/>
                <a:cs typeface="Calibri"/>
                <a:sym typeface="Calibri"/>
              </a:rPr>
              <a:t>Source</a:t>
            </a:r>
            <a:endParaRPr dirty="0"/>
          </a:p>
        </p:txBody>
      </p:sp>
      <p:sp>
        <p:nvSpPr>
          <p:cNvPr id="870" name="Google Shape;870;g475845831e_0_50"/>
          <p:cNvSpPr/>
          <p:nvPr/>
        </p:nvSpPr>
        <p:spPr>
          <a:xfrm>
            <a:off x="3443491" y="3078637"/>
            <a:ext cx="1037400" cy="278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500" b="1" i="0" u="none" strike="noStrike" cap="none" dirty="0">
                <a:solidFill>
                  <a:srgbClr val="000000"/>
                </a:solidFill>
                <a:latin typeface="Calibri"/>
                <a:ea typeface="Calibri"/>
                <a:cs typeface="Calibri"/>
                <a:sym typeface="Calibri"/>
              </a:rPr>
              <a:t>Destination</a:t>
            </a:r>
            <a:endParaRPr dirty="0"/>
          </a:p>
        </p:txBody>
      </p:sp>
      <p:sp>
        <p:nvSpPr>
          <p:cNvPr id="871" name="Google Shape;871;g475845831e_0_50"/>
          <p:cNvSpPr/>
          <p:nvPr/>
        </p:nvSpPr>
        <p:spPr>
          <a:xfrm>
            <a:off x="449040" y="3376237"/>
            <a:ext cx="1245900" cy="237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key-value store</a:t>
            </a:r>
            <a:endParaRPr/>
          </a:p>
        </p:txBody>
      </p:sp>
      <p:sp>
        <p:nvSpPr>
          <p:cNvPr id="872" name="Google Shape;872;g475845831e_0_50"/>
          <p:cNvSpPr/>
          <p:nvPr/>
        </p:nvSpPr>
        <p:spPr>
          <a:xfrm>
            <a:off x="1716364" y="3419903"/>
            <a:ext cx="920400" cy="1613400"/>
          </a:xfrm>
          <a:prstGeom prst="rect">
            <a:avLst/>
          </a:prstGeom>
          <a:solidFill>
            <a:srgbClr val="FEE599"/>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Calibri"/>
              <a:buNone/>
            </a:pPr>
            <a:endParaRPr sz="1100" b="0" i="0" u="none" strike="noStrike" cap="none">
              <a:solidFill>
                <a:srgbClr val="000000"/>
              </a:solidFill>
              <a:latin typeface="Calibri"/>
              <a:ea typeface="Calibri"/>
              <a:cs typeface="Calibri"/>
              <a:sym typeface="Calibri"/>
            </a:endParaRPr>
          </a:p>
        </p:txBody>
      </p:sp>
      <p:sp>
        <p:nvSpPr>
          <p:cNvPr id="873" name="Google Shape;873;g475845831e_0_50"/>
          <p:cNvSpPr/>
          <p:nvPr/>
        </p:nvSpPr>
        <p:spPr>
          <a:xfrm>
            <a:off x="3303553" y="3037455"/>
            <a:ext cx="2574981" cy="2039400"/>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874" name="Google Shape;874;g475845831e_0_50"/>
          <p:cNvSpPr/>
          <p:nvPr/>
        </p:nvSpPr>
        <p:spPr>
          <a:xfrm>
            <a:off x="4575079" y="3383010"/>
            <a:ext cx="1193562" cy="1650240"/>
          </a:xfrm>
          <a:custGeom>
            <a:avLst/>
            <a:gdLst/>
            <a:ahLst/>
            <a:cxnLst/>
            <a:rect l="l" t="t" r="r" b="b"/>
            <a:pathLst>
              <a:path w="21600" h="21600" extrusionOk="0">
                <a:moveTo>
                  <a:pt x="21600" y="1953"/>
                </a:moveTo>
                <a:cubicBezTo>
                  <a:pt x="21600" y="3031"/>
                  <a:pt x="16765" y="3906"/>
                  <a:pt x="10800" y="3906"/>
                </a:cubicBezTo>
                <a:cubicBezTo>
                  <a:pt x="4835" y="3906"/>
                  <a:pt x="0" y="3031"/>
                  <a:pt x="0" y="1953"/>
                </a:cubicBezTo>
                <a:cubicBezTo>
                  <a:pt x="0" y="874"/>
                  <a:pt x="4835" y="0"/>
                  <a:pt x="10800" y="0"/>
                </a:cubicBezTo>
                <a:cubicBezTo>
                  <a:pt x="16765" y="0"/>
                  <a:pt x="21600" y="874"/>
                  <a:pt x="21600" y="1953"/>
                </a:cubicBezTo>
                <a:lnTo>
                  <a:pt x="21600" y="19647"/>
                </a:lnTo>
                <a:cubicBezTo>
                  <a:pt x="21600" y="20726"/>
                  <a:pt x="16765" y="21600"/>
                  <a:pt x="10800" y="21600"/>
                </a:cubicBezTo>
                <a:cubicBezTo>
                  <a:pt x="4835" y="21600"/>
                  <a:pt x="0" y="20726"/>
                  <a:pt x="0" y="19647"/>
                </a:cubicBezTo>
                <a:lnTo>
                  <a:pt x="0" y="1953"/>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875" name="Google Shape;875;g475845831e_0_50"/>
          <p:cNvSpPr/>
          <p:nvPr/>
        </p:nvSpPr>
        <p:spPr>
          <a:xfrm>
            <a:off x="4662152" y="3358468"/>
            <a:ext cx="1055400" cy="237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200" b="0" i="0" u="none" strike="noStrike" cap="none">
                <a:solidFill>
                  <a:srgbClr val="000000"/>
                </a:solidFill>
                <a:latin typeface="Calibri"/>
                <a:ea typeface="Calibri"/>
                <a:cs typeface="Calibri"/>
                <a:sym typeface="Calibri"/>
              </a:rPr>
              <a:t>key-value store</a:t>
            </a:r>
            <a:endParaRPr sz="1200"/>
          </a:p>
        </p:txBody>
      </p:sp>
      <p:sp>
        <p:nvSpPr>
          <p:cNvPr id="876" name="Google Shape;876;g475845831e_0_50"/>
          <p:cNvSpPr/>
          <p:nvPr/>
        </p:nvSpPr>
        <p:spPr>
          <a:xfrm>
            <a:off x="3441953" y="3414639"/>
            <a:ext cx="921000" cy="1607100"/>
          </a:xfrm>
          <a:prstGeom prst="rect">
            <a:avLst/>
          </a:prstGeom>
          <a:solidFill>
            <a:srgbClr val="FEE599"/>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Calibri"/>
              <a:buNone/>
            </a:pPr>
            <a:endParaRPr sz="1100" b="0" i="0" u="none" strike="noStrike" cap="none">
              <a:solidFill>
                <a:srgbClr val="000000"/>
              </a:solidFill>
              <a:latin typeface="Calibri"/>
              <a:ea typeface="Calibri"/>
              <a:cs typeface="Calibri"/>
              <a:sym typeface="Calibri"/>
            </a:endParaRPr>
          </a:p>
        </p:txBody>
      </p:sp>
      <p:cxnSp>
        <p:nvCxnSpPr>
          <p:cNvPr id="877" name="Google Shape;877;g475845831e_0_50"/>
          <p:cNvCxnSpPr/>
          <p:nvPr/>
        </p:nvCxnSpPr>
        <p:spPr>
          <a:xfrm>
            <a:off x="2305318" y="4485095"/>
            <a:ext cx="1427100" cy="1500"/>
          </a:xfrm>
          <a:prstGeom prst="straightConnector1">
            <a:avLst/>
          </a:prstGeom>
          <a:noFill/>
          <a:ln w="19050" cap="flat" cmpd="sng">
            <a:solidFill>
              <a:srgbClr val="000000"/>
            </a:solidFill>
            <a:prstDash val="lgDashDot"/>
            <a:miter lim="8000"/>
            <a:headEnd type="none" w="sm" len="sm"/>
            <a:tailEnd type="triangle" w="med" len="med"/>
          </a:ln>
        </p:spPr>
      </p:cxnSp>
      <p:cxnSp>
        <p:nvCxnSpPr>
          <p:cNvPr id="878" name="Google Shape;878;g475845831e_0_50"/>
          <p:cNvCxnSpPr/>
          <p:nvPr/>
        </p:nvCxnSpPr>
        <p:spPr>
          <a:xfrm>
            <a:off x="3947600" y="4482889"/>
            <a:ext cx="794400" cy="7500"/>
          </a:xfrm>
          <a:prstGeom prst="straightConnector1">
            <a:avLst/>
          </a:prstGeom>
          <a:noFill/>
          <a:ln w="19050" cap="flat" cmpd="sng">
            <a:solidFill>
              <a:srgbClr val="000000"/>
            </a:solidFill>
            <a:prstDash val="lgDashDot"/>
            <a:miter lim="8000"/>
            <a:headEnd type="none" w="sm" len="sm"/>
            <a:tailEnd type="triangle" w="med" len="med"/>
          </a:ln>
        </p:spPr>
      </p:cxnSp>
      <p:cxnSp>
        <p:nvCxnSpPr>
          <p:cNvPr id="879" name="Google Shape;879;g475845831e_0_50"/>
          <p:cNvCxnSpPr/>
          <p:nvPr/>
        </p:nvCxnSpPr>
        <p:spPr>
          <a:xfrm>
            <a:off x="3969377" y="3893228"/>
            <a:ext cx="763800" cy="5400"/>
          </a:xfrm>
          <a:prstGeom prst="straightConnector1">
            <a:avLst/>
          </a:prstGeom>
          <a:noFill/>
          <a:ln w="19050" cap="flat" cmpd="sng">
            <a:solidFill>
              <a:srgbClr val="000000"/>
            </a:solidFill>
            <a:prstDash val="lgDashDot"/>
            <a:miter lim="8000"/>
            <a:headEnd type="none" w="sm" len="sm"/>
            <a:tailEnd type="triangle" w="med" len="med"/>
          </a:ln>
        </p:spPr>
      </p:cxnSp>
      <p:grpSp>
        <p:nvGrpSpPr>
          <p:cNvPr id="880" name="Google Shape;880;g475845831e_0_50"/>
          <p:cNvGrpSpPr/>
          <p:nvPr/>
        </p:nvGrpSpPr>
        <p:grpSpPr>
          <a:xfrm>
            <a:off x="382430" y="3660379"/>
            <a:ext cx="759000" cy="237900"/>
            <a:chOff x="0" y="0"/>
            <a:chExt cx="759000" cy="237900"/>
          </a:xfrm>
        </p:grpSpPr>
        <p:sp>
          <p:nvSpPr>
            <p:cNvPr id="881" name="Google Shape;881;g475845831e_0_50"/>
            <p:cNvSpPr/>
            <p:nvPr/>
          </p:nvSpPr>
          <p:spPr>
            <a:xfrm>
              <a:off x="0" y="54115"/>
              <a:ext cx="7590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882" name="Google Shape;882;g475845831e_0_50"/>
            <p:cNvSpPr/>
            <p:nvPr/>
          </p:nvSpPr>
          <p:spPr>
            <a:xfrm>
              <a:off x="0" y="0"/>
              <a:ext cx="7590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&lt;1, V&gt;</a:t>
              </a:r>
              <a:endParaRPr/>
            </a:p>
          </p:txBody>
        </p:sp>
      </p:grpSp>
      <p:grpSp>
        <p:nvGrpSpPr>
          <p:cNvPr id="883" name="Google Shape;883;g475845831e_0_50"/>
          <p:cNvGrpSpPr/>
          <p:nvPr/>
        </p:nvGrpSpPr>
        <p:grpSpPr>
          <a:xfrm>
            <a:off x="378912" y="3958246"/>
            <a:ext cx="759000" cy="237900"/>
            <a:chOff x="0" y="0"/>
            <a:chExt cx="759000" cy="237900"/>
          </a:xfrm>
        </p:grpSpPr>
        <p:sp>
          <p:nvSpPr>
            <p:cNvPr id="884" name="Google Shape;884;g475845831e_0_50"/>
            <p:cNvSpPr/>
            <p:nvPr/>
          </p:nvSpPr>
          <p:spPr>
            <a:xfrm>
              <a:off x="0" y="54115"/>
              <a:ext cx="7590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885" name="Google Shape;885;g475845831e_0_50"/>
            <p:cNvSpPr/>
            <p:nvPr/>
          </p:nvSpPr>
          <p:spPr>
            <a:xfrm>
              <a:off x="0" y="0"/>
              <a:ext cx="7590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&lt;100, V&gt;</a:t>
              </a:r>
              <a:endParaRPr/>
            </a:p>
          </p:txBody>
        </p:sp>
      </p:grpSp>
      <p:grpSp>
        <p:nvGrpSpPr>
          <p:cNvPr id="886" name="Google Shape;886;g475845831e_0_50"/>
          <p:cNvGrpSpPr/>
          <p:nvPr/>
        </p:nvGrpSpPr>
        <p:grpSpPr>
          <a:xfrm>
            <a:off x="4760502" y="3720979"/>
            <a:ext cx="783300" cy="237900"/>
            <a:chOff x="0" y="0"/>
            <a:chExt cx="783300" cy="237900"/>
          </a:xfrm>
        </p:grpSpPr>
        <p:sp>
          <p:nvSpPr>
            <p:cNvPr id="887" name="Google Shape;887;g475845831e_0_50"/>
            <p:cNvSpPr/>
            <p:nvPr/>
          </p:nvSpPr>
          <p:spPr>
            <a:xfrm>
              <a:off x="0" y="57478"/>
              <a:ext cx="783300" cy="1230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888" name="Google Shape;888;g475845831e_0_50"/>
            <p:cNvSpPr/>
            <p:nvPr/>
          </p:nvSpPr>
          <p:spPr>
            <a:xfrm>
              <a:off x="0" y="0"/>
              <a:ext cx="7833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&lt;1, </a:t>
              </a:r>
              <a:r>
                <a:rPr lang="en-US" altLang="zh-TW" sz="1100" b="0" i="0" u="none" strike="noStrike" cap="none" dirty="0">
                  <a:solidFill>
                    <a:srgbClr val="000000"/>
                  </a:solidFill>
                  <a:latin typeface="Calibri"/>
                  <a:ea typeface="Calibri"/>
                  <a:cs typeface="Calibri"/>
                  <a:sym typeface="Calibri"/>
                </a:rPr>
                <a:t>V</a:t>
              </a:r>
              <a:r>
                <a:rPr lang="en-US" sz="1100" b="0" i="0" u="none" strike="noStrike" cap="none" dirty="0">
                  <a:solidFill>
                    <a:srgbClr val="000000"/>
                  </a:solidFill>
                  <a:latin typeface="Calibri"/>
                  <a:ea typeface="Calibri"/>
                  <a:cs typeface="Calibri"/>
                  <a:sym typeface="Calibri"/>
                </a:rPr>
                <a:t>&gt;</a:t>
              </a:r>
              <a:endParaRPr dirty="0"/>
            </a:p>
          </p:txBody>
        </p:sp>
      </p:grpSp>
      <p:grpSp>
        <p:nvGrpSpPr>
          <p:cNvPr id="889" name="Google Shape;889;g475845831e_0_50"/>
          <p:cNvGrpSpPr/>
          <p:nvPr/>
        </p:nvGrpSpPr>
        <p:grpSpPr>
          <a:xfrm>
            <a:off x="4767702" y="4052109"/>
            <a:ext cx="776100" cy="237900"/>
            <a:chOff x="0" y="0"/>
            <a:chExt cx="776100" cy="237900"/>
          </a:xfrm>
        </p:grpSpPr>
        <p:sp>
          <p:nvSpPr>
            <p:cNvPr id="890" name="Google Shape;890;g475845831e_0_50"/>
            <p:cNvSpPr/>
            <p:nvPr/>
          </p:nvSpPr>
          <p:spPr>
            <a:xfrm>
              <a:off x="0" y="67929"/>
              <a:ext cx="776100" cy="1020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891" name="Google Shape;891;g475845831e_0_50"/>
            <p:cNvSpPr/>
            <p:nvPr/>
          </p:nvSpPr>
          <p:spPr>
            <a:xfrm>
              <a:off x="0" y="0"/>
              <a:ext cx="7761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&lt;50, </a:t>
              </a:r>
              <a:r>
                <a:rPr lang="en-US" altLang="zh-TW" sz="1100" b="0" i="0" u="none" strike="noStrike" cap="none" dirty="0">
                  <a:solidFill>
                    <a:srgbClr val="000000"/>
                  </a:solidFill>
                  <a:latin typeface="Calibri"/>
                  <a:ea typeface="Calibri"/>
                  <a:cs typeface="Calibri"/>
                  <a:sym typeface="Calibri"/>
                </a:rPr>
                <a:t>V</a:t>
              </a:r>
              <a:r>
                <a:rPr lang="en-US" sz="1100" b="0" i="0" u="none" strike="noStrike" cap="none" dirty="0">
                  <a:solidFill>
                    <a:srgbClr val="000000"/>
                  </a:solidFill>
                  <a:latin typeface="Calibri"/>
                  <a:ea typeface="Calibri"/>
                  <a:cs typeface="Calibri"/>
                  <a:sym typeface="Calibri"/>
                </a:rPr>
                <a:t>&gt;</a:t>
              </a:r>
              <a:endParaRPr dirty="0"/>
            </a:p>
          </p:txBody>
        </p:sp>
      </p:grpSp>
      <p:sp>
        <p:nvSpPr>
          <p:cNvPr id="892" name="Google Shape;892;g475845831e_0_50"/>
          <p:cNvSpPr/>
          <p:nvPr/>
        </p:nvSpPr>
        <p:spPr>
          <a:xfrm>
            <a:off x="796034" y="1417955"/>
            <a:ext cx="4830600" cy="292500"/>
          </a:xfrm>
          <a:prstGeom prst="rect">
            <a:avLst/>
          </a:prstGeom>
          <a:solidFill>
            <a:srgbClr val="FFFFFF"/>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500"/>
              <a:buFont typeface="Calibri"/>
              <a:buNone/>
            </a:pPr>
            <a:endParaRPr sz="1500" b="0" i="0" u="none" strike="noStrike" cap="none">
              <a:solidFill>
                <a:srgbClr val="000000"/>
              </a:solidFill>
              <a:latin typeface="Calibri"/>
              <a:ea typeface="Calibri"/>
              <a:cs typeface="Calibri"/>
              <a:sym typeface="Calibri"/>
            </a:endParaRPr>
          </a:p>
        </p:txBody>
      </p:sp>
      <p:sp>
        <p:nvSpPr>
          <p:cNvPr id="893" name="Google Shape;893;g475845831e_0_50"/>
          <p:cNvSpPr/>
          <p:nvPr/>
        </p:nvSpPr>
        <p:spPr>
          <a:xfrm>
            <a:off x="-11140" y="1460403"/>
            <a:ext cx="1143900" cy="686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dirty="0">
                <a:solidFill>
                  <a:srgbClr val="000000"/>
                </a:solidFill>
                <a:latin typeface="Calibri"/>
                <a:ea typeface="Calibri"/>
                <a:cs typeface="Calibri"/>
                <a:sym typeface="Calibri"/>
              </a:rPr>
              <a:t>data-</a:t>
            </a:r>
            <a:endParaRPr sz="1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dirty="0">
                <a:solidFill>
                  <a:srgbClr val="000000"/>
                </a:solidFill>
                <a:latin typeface="Calibri"/>
                <a:ea typeface="Calibri"/>
                <a:cs typeface="Calibri"/>
                <a:sym typeface="Calibri"/>
              </a:rPr>
              <a:t>center</a:t>
            </a:r>
            <a:endParaRPr dirty="0"/>
          </a:p>
        </p:txBody>
      </p:sp>
      <p:sp>
        <p:nvSpPr>
          <p:cNvPr id="894" name="Google Shape;894;g475845831e_0_50"/>
          <p:cNvSpPr/>
          <p:nvPr/>
        </p:nvSpPr>
        <p:spPr>
          <a:xfrm>
            <a:off x="4404365" y="2317544"/>
            <a:ext cx="313500" cy="227700"/>
          </a:xfrm>
          <a:prstGeom prst="rect">
            <a:avLst/>
          </a:prstGeom>
          <a:noFill/>
          <a:ln>
            <a:noFill/>
          </a:ln>
        </p:spPr>
        <p:txBody>
          <a:bodyPr spcFirstLastPara="1" wrap="square" lIns="34275" tIns="34275" rIns="34275" bIns="34275" anchor="t" anchorCtr="0">
            <a:noAutofit/>
          </a:bodyPr>
          <a:lstStyle/>
          <a:p>
            <a:pPr marL="0" marR="0" lvl="0" indent="0" algn="ctr" rtl="0">
              <a:lnSpc>
                <a:spcPct val="100000"/>
              </a:lnSpc>
              <a:spcBef>
                <a:spcPts val="0"/>
              </a:spcBef>
              <a:spcAft>
                <a:spcPts val="0"/>
              </a:spcAft>
              <a:buClr>
                <a:srgbClr val="000000"/>
              </a:buClr>
              <a:buSzPts val="1200"/>
              <a:buFont typeface="Calibri"/>
              <a:buNone/>
            </a:pPr>
            <a:endParaRPr/>
          </a:p>
        </p:txBody>
      </p:sp>
      <p:sp>
        <p:nvSpPr>
          <p:cNvPr id="895" name="Google Shape;895;g475845831e_0_50"/>
          <p:cNvSpPr/>
          <p:nvPr/>
        </p:nvSpPr>
        <p:spPr>
          <a:xfrm>
            <a:off x="5009289" y="3817700"/>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dirty="0">
                <a:solidFill>
                  <a:srgbClr val="000000"/>
                </a:solidFill>
                <a:latin typeface="Calibri"/>
                <a:ea typeface="Calibri"/>
                <a:cs typeface="Calibri"/>
                <a:sym typeface="Calibri"/>
              </a:rPr>
              <a:t>....</a:t>
            </a:r>
            <a:endParaRPr dirty="0"/>
          </a:p>
        </p:txBody>
      </p:sp>
      <p:sp>
        <p:nvSpPr>
          <p:cNvPr id="896" name="Google Shape;896;g475845831e_0_50"/>
          <p:cNvSpPr/>
          <p:nvPr/>
        </p:nvSpPr>
        <p:spPr>
          <a:xfrm>
            <a:off x="651436" y="3772668"/>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897" name="Google Shape;897;g475845831e_0_50"/>
          <p:cNvGrpSpPr/>
          <p:nvPr/>
        </p:nvGrpSpPr>
        <p:grpSpPr>
          <a:xfrm>
            <a:off x="378912" y="4346469"/>
            <a:ext cx="759000" cy="237900"/>
            <a:chOff x="0" y="0"/>
            <a:chExt cx="759000" cy="237900"/>
          </a:xfrm>
        </p:grpSpPr>
        <p:sp>
          <p:nvSpPr>
            <p:cNvPr id="898" name="Google Shape;898;g475845831e_0_50"/>
            <p:cNvSpPr/>
            <p:nvPr/>
          </p:nvSpPr>
          <p:spPr>
            <a:xfrm>
              <a:off x="0" y="54115"/>
              <a:ext cx="7590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899" name="Google Shape;899;g475845831e_0_50"/>
            <p:cNvSpPr/>
            <p:nvPr/>
          </p:nvSpPr>
          <p:spPr>
            <a:xfrm>
              <a:off x="0" y="0"/>
              <a:ext cx="7590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&lt;301, V&gt;</a:t>
              </a:r>
              <a:endParaRPr/>
            </a:p>
          </p:txBody>
        </p:sp>
      </p:grpSp>
      <p:sp>
        <p:nvSpPr>
          <p:cNvPr id="900" name="Google Shape;900;g475845831e_0_50"/>
          <p:cNvSpPr/>
          <p:nvPr/>
        </p:nvSpPr>
        <p:spPr>
          <a:xfrm>
            <a:off x="3606285" y="3418772"/>
            <a:ext cx="683100" cy="366000"/>
          </a:xfrm>
          <a:prstGeom prst="rect">
            <a:avLst/>
          </a:prstGeom>
          <a:noFill/>
          <a:ln>
            <a:noFill/>
          </a:ln>
        </p:spPr>
        <p:txBody>
          <a:bodyPr spcFirstLastPara="1" wrap="square" lIns="34275" tIns="34275" rIns="34275" bIns="34275" anchor="t" anchorCtr="0">
            <a:noAutofit/>
          </a:bodyPr>
          <a:lstStyle/>
          <a:p>
            <a:pPr marL="0" marR="0" lvl="0" indent="0" algn="l" rtl="0">
              <a:lnSpc>
                <a:spcPct val="8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Migration</a:t>
            </a:r>
            <a:endParaRPr/>
          </a:p>
          <a:p>
            <a:pPr marL="0" marR="0" lvl="0" indent="0" algn="l" rtl="0">
              <a:lnSpc>
                <a:spcPct val="8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controller</a:t>
            </a:r>
            <a:endParaRPr/>
          </a:p>
        </p:txBody>
      </p:sp>
      <p:sp>
        <p:nvSpPr>
          <p:cNvPr id="901" name="Google Shape;901;g475845831e_0_50"/>
          <p:cNvSpPr/>
          <p:nvPr/>
        </p:nvSpPr>
        <p:spPr>
          <a:xfrm>
            <a:off x="650462" y="4148776"/>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904" name="Google Shape;904;g475845831e_0_50"/>
          <p:cNvSpPr/>
          <p:nvPr/>
        </p:nvSpPr>
        <p:spPr>
          <a:xfrm>
            <a:off x="2593400" y="1400506"/>
            <a:ext cx="10704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Client program 1</a:t>
            </a:r>
            <a:endParaRPr/>
          </a:p>
        </p:txBody>
      </p:sp>
      <p:grpSp>
        <p:nvGrpSpPr>
          <p:cNvPr id="908" name="Google Shape;908;g475845831e_0_50"/>
          <p:cNvGrpSpPr/>
          <p:nvPr/>
        </p:nvGrpSpPr>
        <p:grpSpPr>
          <a:xfrm>
            <a:off x="4793680" y="4537115"/>
            <a:ext cx="775200" cy="237900"/>
            <a:chOff x="0" y="-1"/>
            <a:chExt cx="775200" cy="237900"/>
          </a:xfrm>
        </p:grpSpPr>
        <p:sp>
          <p:nvSpPr>
            <p:cNvPr id="909" name="Google Shape;909;g475845831e_0_50"/>
            <p:cNvSpPr/>
            <p:nvPr/>
          </p:nvSpPr>
          <p:spPr>
            <a:xfrm>
              <a:off x="0" y="58319"/>
              <a:ext cx="775200" cy="1212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910" name="Google Shape;910;g475845831e_0_50"/>
            <p:cNvSpPr/>
            <p:nvPr/>
          </p:nvSpPr>
          <p:spPr>
            <a:xfrm>
              <a:off x="0" y="-1"/>
              <a:ext cx="7752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&lt;500, V&gt;</a:t>
              </a:r>
              <a:endParaRPr dirty="0"/>
            </a:p>
          </p:txBody>
        </p:sp>
      </p:grpSp>
      <p:sp>
        <p:nvSpPr>
          <p:cNvPr id="912" name="Google Shape;912;g475845831e_0_50"/>
          <p:cNvSpPr/>
          <p:nvPr/>
        </p:nvSpPr>
        <p:spPr>
          <a:xfrm>
            <a:off x="3842894" y="3738654"/>
            <a:ext cx="62858" cy="26006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913" name="Google Shape;913;g475845831e_0_50"/>
          <p:cNvSpPr/>
          <p:nvPr/>
        </p:nvSpPr>
        <p:spPr>
          <a:xfrm>
            <a:off x="3823430" y="4316133"/>
            <a:ext cx="62858" cy="26006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914" name="Google Shape;914;g475845831e_0_50"/>
          <p:cNvSpPr/>
          <p:nvPr/>
        </p:nvSpPr>
        <p:spPr>
          <a:xfrm>
            <a:off x="1851876" y="3414639"/>
            <a:ext cx="790200" cy="366000"/>
          </a:xfrm>
          <a:prstGeom prst="rect">
            <a:avLst/>
          </a:prstGeom>
          <a:noFill/>
          <a:ln>
            <a:noFill/>
          </a:ln>
        </p:spPr>
        <p:txBody>
          <a:bodyPr spcFirstLastPara="1" wrap="square" lIns="34275" tIns="34275" rIns="34275" bIns="34275" anchor="t" anchorCtr="0">
            <a:noAutofit/>
          </a:bodyPr>
          <a:lstStyle/>
          <a:p>
            <a:pPr marL="0" marR="0" lvl="0" indent="0" algn="l" rtl="0">
              <a:lnSpc>
                <a:spcPct val="8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Migration</a:t>
            </a:r>
            <a:endParaRPr/>
          </a:p>
          <a:p>
            <a:pPr marL="0" marR="0" lvl="0" indent="0" algn="l" rtl="0">
              <a:lnSpc>
                <a:spcPct val="8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controller</a:t>
            </a:r>
            <a:endParaRPr/>
          </a:p>
        </p:txBody>
      </p:sp>
      <p:cxnSp>
        <p:nvCxnSpPr>
          <p:cNvPr id="915" name="Google Shape;915;g475845831e_0_50"/>
          <p:cNvCxnSpPr/>
          <p:nvPr/>
        </p:nvCxnSpPr>
        <p:spPr>
          <a:xfrm>
            <a:off x="2305318" y="3883581"/>
            <a:ext cx="1420800" cy="16200"/>
          </a:xfrm>
          <a:prstGeom prst="straightConnector1">
            <a:avLst/>
          </a:prstGeom>
          <a:noFill/>
          <a:ln w="19050" cap="flat" cmpd="sng">
            <a:solidFill>
              <a:srgbClr val="000000"/>
            </a:solidFill>
            <a:prstDash val="lgDashDot"/>
            <a:miter lim="8000"/>
            <a:headEnd type="none" w="sm" len="sm"/>
            <a:tailEnd type="triangle" w="med" len="med"/>
          </a:ln>
        </p:spPr>
      </p:cxnSp>
      <p:sp>
        <p:nvSpPr>
          <p:cNvPr id="919" name="Google Shape;919;g475845831e_0_50"/>
          <p:cNvSpPr/>
          <p:nvPr/>
        </p:nvSpPr>
        <p:spPr>
          <a:xfrm>
            <a:off x="3762712" y="3998514"/>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cxnSp>
        <p:nvCxnSpPr>
          <p:cNvPr id="920" name="Google Shape;920;g475845831e_0_50"/>
          <p:cNvCxnSpPr/>
          <p:nvPr/>
        </p:nvCxnSpPr>
        <p:spPr>
          <a:xfrm>
            <a:off x="1407168" y="4479563"/>
            <a:ext cx="721800" cy="0"/>
          </a:xfrm>
          <a:prstGeom prst="straightConnector1">
            <a:avLst/>
          </a:prstGeom>
          <a:noFill/>
          <a:ln w="19050" cap="flat" cmpd="sng">
            <a:solidFill>
              <a:srgbClr val="000000"/>
            </a:solidFill>
            <a:prstDash val="lgDashDot"/>
            <a:miter lim="8000"/>
            <a:headEnd type="none" w="sm" len="sm"/>
            <a:tailEnd type="triangle" w="med" len="med"/>
          </a:ln>
        </p:spPr>
      </p:cxnSp>
      <p:cxnSp>
        <p:nvCxnSpPr>
          <p:cNvPr id="921" name="Google Shape;921;g475845831e_0_50"/>
          <p:cNvCxnSpPr/>
          <p:nvPr/>
        </p:nvCxnSpPr>
        <p:spPr>
          <a:xfrm>
            <a:off x="1389206" y="3879472"/>
            <a:ext cx="733800" cy="4200"/>
          </a:xfrm>
          <a:prstGeom prst="straightConnector1">
            <a:avLst/>
          </a:prstGeom>
          <a:noFill/>
          <a:ln w="19050" cap="flat" cmpd="sng">
            <a:solidFill>
              <a:srgbClr val="000000"/>
            </a:solidFill>
            <a:prstDash val="lgDashDot"/>
            <a:miter lim="8000"/>
            <a:headEnd type="none" w="sm" len="sm"/>
            <a:tailEnd type="triangle" w="med" len="med"/>
          </a:ln>
        </p:spPr>
      </p:cxnSp>
      <p:grpSp>
        <p:nvGrpSpPr>
          <p:cNvPr id="922" name="Google Shape;922;g475845831e_0_50"/>
          <p:cNvGrpSpPr/>
          <p:nvPr/>
        </p:nvGrpSpPr>
        <p:grpSpPr>
          <a:xfrm>
            <a:off x="377503" y="4669951"/>
            <a:ext cx="759000" cy="237900"/>
            <a:chOff x="0" y="0"/>
            <a:chExt cx="759000" cy="237900"/>
          </a:xfrm>
        </p:grpSpPr>
        <p:sp>
          <p:nvSpPr>
            <p:cNvPr id="923" name="Google Shape;923;g475845831e_0_50"/>
            <p:cNvSpPr/>
            <p:nvPr/>
          </p:nvSpPr>
          <p:spPr>
            <a:xfrm>
              <a:off x="0" y="54115"/>
              <a:ext cx="7590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924" name="Google Shape;924;g475845831e_0_50"/>
            <p:cNvSpPr/>
            <p:nvPr/>
          </p:nvSpPr>
          <p:spPr>
            <a:xfrm>
              <a:off x="0" y="0"/>
              <a:ext cx="7590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&lt;400, V&gt;</a:t>
              </a:r>
              <a:endParaRPr/>
            </a:p>
          </p:txBody>
        </p:sp>
      </p:grpSp>
      <p:sp>
        <p:nvSpPr>
          <p:cNvPr id="925" name="Google Shape;925;g475845831e_0_50"/>
          <p:cNvSpPr/>
          <p:nvPr/>
        </p:nvSpPr>
        <p:spPr>
          <a:xfrm>
            <a:off x="650461" y="4476340"/>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928" name="Google Shape;928;g475845831e_0_50"/>
          <p:cNvSpPr/>
          <p:nvPr/>
        </p:nvSpPr>
        <p:spPr>
          <a:xfrm>
            <a:off x="2175870" y="4335272"/>
            <a:ext cx="62858" cy="26006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929" name="Google Shape;929;g475845831e_0_50"/>
          <p:cNvSpPr/>
          <p:nvPr/>
        </p:nvSpPr>
        <p:spPr>
          <a:xfrm>
            <a:off x="2169916" y="3734751"/>
            <a:ext cx="62858" cy="26006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grpSp>
        <p:nvGrpSpPr>
          <p:cNvPr id="930" name="Google Shape;930;g475845831e_0_50"/>
          <p:cNvGrpSpPr/>
          <p:nvPr/>
        </p:nvGrpSpPr>
        <p:grpSpPr>
          <a:xfrm>
            <a:off x="4118384" y="1437162"/>
            <a:ext cx="593703" cy="259238"/>
            <a:chOff x="0" y="0"/>
            <a:chExt cx="593703" cy="259238"/>
          </a:xfrm>
        </p:grpSpPr>
        <p:grpSp>
          <p:nvGrpSpPr>
            <p:cNvPr id="931" name="Google Shape;931;g475845831e_0_50"/>
            <p:cNvGrpSpPr/>
            <p:nvPr/>
          </p:nvGrpSpPr>
          <p:grpSpPr>
            <a:xfrm>
              <a:off x="0" y="0"/>
              <a:ext cx="518400" cy="227700"/>
              <a:chOff x="0" y="0"/>
              <a:chExt cx="518400" cy="227700"/>
            </a:xfrm>
          </p:grpSpPr>
          <p:sp>
            <p:nvSpPr>
              <p:cNvPr id="932" name="Google Shape;932;g475845831e_0_50"/>
              <p:cNvSpPr/>
              <p:nvPr/>
            </p:nvSpPr>
            <p:spPr>
              <a:xfrm>
                <a:off x="0" y="21732"/>
                <a:ext cx="518400" cy="1842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33" name="Google Shape;933;g475845831e_0_50"/>
              <p:cNvSpPr/>
              <p:nvPr/>
            </p:nvSpPr>
            <p:spPr>
              <a:xfrm>
                <a:off x="0" y="0"/>
                <a:ext cx="518400" cy="2277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grpSp>
          <p:nvGrpSpPr>
            <p:cNvPr id="934" name="Google Shape;934;g475845831e_0_50"/>
            <p:cNvGrpSpPr/>
            <p:nvPr/>
          </p:nvGrpSpPr>
          <p:grpSpPr>
            <a:xfrm>
              <a:off x="33446" y="23241"/>
              <a:ext cx="518400" cy="227700"/>
              <a:chOff x="0" y="0"/>
              <a:chExt cx="518400" cy="227700"/>
            </a:xfrm>
          </p:grpSpPr>
          <p:sp>
            <p:nvSpPr>
              <p:cNvPr id="935" name="Google Shape;935;g475845831e_0_50"/>
              <p:cNvSpPr/>
              <p:nvPr/>
            </p:nvSpPr>
            <p:spPr>
              <a:xfrm>
                <a:off x="0" y="21732"/>
                <a:ext cx="518400" cy="1842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36" name="Google Shape;936;g475845831e_0_50"/>
              <p:cNvSpPr/>
              <p:nvPr/>
            </p:nvSpPr>
            <p:spPr>
              <a:xfrm>
                <a:off x="0" y="0"/>
                <a:ext cx="518400" cy="2277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a:p>
            </p:txBody>
          </p:sp>
        </p:grpSp>
        <p:grpSp>
          <p:nvGrpSpPr>
            <p:cNvPr id="937" name="Google Shape;937;g475845831e_0_50"/>
            <p:cNvGrpSpPr/>
            <p:nvPr/>
          </p:nvGrpSpPr>
          <p:grpSpPr>
            <a:xfrm>
              <a:off x="75303" y="61838"/>
              <a:ext cx="518400" cy="197400"/>
              <a:chOff x="0" y="0"/>
              <a:chExt cx="518400" cy="197400"/>
            </a:xfrm>
          </p:grpSpPr>
          <p:sp>
            <p:nvSpPr>
              <p:cNvPr id="938" name="Google Shape;938;g475845831e_0_50"/>
              <p:cNvSpPr/>
              <p:nvPr/>
            </p:nvSpPr>
            <p:spPr>
              <a:xfrm>
                <a:off x="0" y="6477"/>
                <a:ext cx="518400" cy="1842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200"/>
                  <a:buFont typeface="Calibri"/>
                  <a:buNone/>
                </a:pPr>
                <a:endParaRPr sz="1200" b="0" i="0" u="none" strike="noStrike" cap="none">
                  <a:solidFill>
                    <a:srgbClr val="000000"/>
                  </a:solidFill>
                  <a:latin typeface="Calibri"/>
                  <a:ea typeface="Calibri"/>
                  <a:cs typeface="Calibri"/>
                  <a:sym typeface="Calibri"/>
                </a:endParaRPr>
              </a:p>
            </p:txBody>
          </p:sp>
          <p:sp>
            <p:nvSpPr>
              <p:cNvPr id="939" name="Google Shape;939;g475845831e_0_50"/>
              <p:cNvSpPr/>
              <p:nvPr/>
            </p:nvSpPr>
            <p:spPr>
              <a:xfrm>
                <a:off x="0" y="0"/>
                <a:ext cx="518400" cy="1974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read(…)</a:t>
                </a:r>
                <a:endParaRPr/>
              </a:p>
            </p:txBody>
          </p:sp>
        </p:grpSp>
      </p:grpSp>
      <p:grpSp>
        <p:nvGrpSpPr>
          <p:cNvPr id="940" name="Google Shape;940;g475845831e_0_50"/>
          <p:cNvGrpSpPr/>
          <p:nvPr/>
        </p:nvGrpSpPr>
        <p:grpSpPr>
          <a:xfrm>
            <a:off x="4860861" y="1438688"/>
            <a:ext cx="668133" cy="256690"/>
            <a:chOff x="0" y="0"/>
            <a:chExt cx="668133" cy="256690"/>
          </a:xfrm>
        </p:grpSpPr>
        <p:grpSp>
          <p:nvGrpSpPr>
            <p:cNvPr id="941" name="Google Shape;941;g475845831e_0_50"/>
            <p:cNvGrpSpPr/>
            <p:nvPr/>
          </p:nvGrpSpPr>
          <p:grpSpPr>
            <a:xfrm>
              <a:off x="0" y="0"/>
              <a:ext cx="565800" cy="227700"/>
              <a:chOff x="0" y="0"/>
              <a:chExt cx="565800" cy="227700"/>
            </a:xfrm>
          </p:grpSpPr>
          <p:sp>
            <p:nvSpPr>
              <p:cNvPr id="942" name="Google Shape;942;g475845831e_0_50"/>
              <p:cNvSpPr/>
              <p:nvPr/>
            </p:nvSpPr>
            <p:spPr>
              <a:xfrm>
                <a:off x="0" y="21732"/>
                <a:ext cx="565800" cy="184200"/>
              </a:xfrm>
              <a:prstGeom prst="rect">
                <a:avLst/>
              </a:prstGeom>
              <a:solidFill>
                <a:srgbClr val="FFFFFF"/>
              </a:solidFill>
              <a:ln w="12700" cap="flat" cmpd="sng">
                <a:solidFill>
                  <a:srgbClr val="31538F"/>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43" name="Google Shape;943;g475845831e_0_50"/>
              <p:cNvSpPr/>
              <p:nvPr/>
            </p:nvSpPr>
            <p:spPr>
              <a:xfrm>
                <a:off x="0" y="0"/>
                <a:ext cx="565800" cy="2277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get(…)</a:t>
                </a:r>
                <a:endParaRPr/>
              </a:p>
            </p:txBody>
          </p:sp>
        </p:grpSp>
        <p:grpSp>
          <p:nvGrpSpPr>
            <p:cNvPr id="944" name="Google Shape;944;g475845831e_0_50"/>
            <p:cNvGrpSpPr/>
            <p:nvPr/>
          </p:nvGrpSpPr>
          <p:grpSpPr>
            <a:xfrm>
              <a:off x="36515" y="23241"/>
              <a:ext cx="565800" cy="227700"/>
              <a:chOff x="0" y="0"/>
              <a:chExt cx="565800" cy="227700"/>
            </a:xfrm>
          </p:grpSpPr>
          <p:sp>
            <p:nvSpPr>
              <p:cNvPr id="945" name="Google Shape;945;g475845831e_0_50"/>
              <p:cNvSpPr/>
              <p:nvPr/>
            </p:nvSpPr>
            <p:spPr>
              <a:xfrm>
                <a:off x="0" y="21732"/>
                <a:ext cx="565800" cy="184200"/>
              </a:xfrm>
              <a:prstGeom prst="rect">
                <a:avLst/>
              </a:prstGeom>
              <a:solidFill>
                <a:srgbClr val="FFFFFF"/>
              </a:solidFill>
              <a:ln w="12700" cap="flat" cmpd="sng">
                <a:solidFill>
                  <a:srgbClr val="31538F"/>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46" name="Google Shape;946;g475845831e_0_50"/>
              <p:cNvSpPr/>
              <p:nvPr/>
            </p:nvSpPr>
            <p:spPr>
              <a:xfrm>
                <a:off x="0" y="0"/>
                <a:ext cx="565800" cy="2277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get(…)</a:t>
                </a:r>
                <a:endParaRPr/>
              </a:p>
            </p:txBody>
          </p:sp>
        </p:grpSp>
        <p:grpSp>
          <p:nvGrpSpPr>
            <p:cNvPr id="947" name="Google Shape;947;g475845831e_0_50"/>
            <p:cNvGrpSpPr/>
            <p:nvPr/>
          </p:nvGrpSpPr>
          <p:grpSpPr>
            <a:xfrm>
              <a:off x="102333" y="59290"/>
              <a:ext cx="565800" cy="197400"/>
              <a:chOff x="0" y="0"/>
              <a:chExt cx="565800" cy="197400"/>
            </a:xfrm>
          </p:grpSpPr>
          <p:sp>
            <p:nvSpPr>
              <p:cNvPr id="948" name="Google Shape;948;g475845831e_0_50"/>
              <p:cNvSpPr/>
              <p:nvPr/>
            </p:nvSpPr>
            <p:spPr>
              <a:xfrm>
                <a:off x="0" y="15305"/>
                <a:ext cx="565800" cy="166800"/>
              </a:xfrm>
              <a:prstGeom prst="rect">
                <a:avLst/>
              </a:prstGeom>
              <a:solidFill>
                <a:srgbClr val="FFFFFF"/>
              </a:solidFill>
              <a:ln w="12700" cap="flat" cmpd="sng">
                <a:solidFill>
                  <a:srgbClr val="31538F"/>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200"/>
                  <a:buFont typeface="Calibri"/>
                  <a:buNone/>
                </a:pPr>
                <a:endParaRPr sz="1200" b="0" i="0" u="none" strike="noStrike" cap="none">
                  <a:solidFill>
                    <a:srgbClr val="000000"/>
                  </a:solidFill>
                  <a:latin typeface="Calibri"/>
                  <a:ea typeface="Calibri"/>
                  <a:cs typeface="Calibri"/>
                  <a:sym typeface="Calibri"/>
                </a:endParaRPr>
              </a:p>
            </p:txBody>
          </p:sp>
          <p:sp>
            <p:nvSpPr>
              <p:cNvPr id="949" name="Google Shape;949;g475845831e_0_50"/>
              <p:cNvSpPr/>
              <p:nvPr/>
            </p:nvSpPr>
            <p:spPr>
              <a:xfrm>
                <a:off x="0" y="0"/>
                <a:ext cx="565800" cy="1974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write(…)</a:t>
                </a:r>
                <a:endParaRPr/>
              </a:p>
            </p:txBody>
          </p:sp>
        </p:grpSp>
      </p:grpSp>
      <p:sp>
        <p:nvSpPr>
          <p:cNvPr id="950" name="Google Shape;950;g475845831e_0_50"/>
          <p:cNvSpPr/>
          <p:nvPr/>
        </p:nvSpPr>
        <p:spPr>
          <a:xfrm>
            <a:off x="2101860" y="3985603"/>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958" name="Google Shape;958;g475845831e_0_50"/>
          <p:cNvGrpSpPr/>
          <p:nvPr/>
        </p:nvGrpSpPr>
        <p:grpSpPr>
          <a:xfrm>
            <a:off x="4802252" y="4795734"/>
            <a:ext cx="775200" cy="237900"/>
            <a:chOff x="0" y="-1"/>
            <a:chExt cx="775200" cy="237900"/>
          </a:xfrm>
        </p:grpSpPr>
        <p:sp>
          <p:nvSpPr>
            <p:cNvPr id="959" name="Google Shape;959;g475845831e_0_50"/>
            <p:cNvSpPr/>
            <p:nvPr/>
          </p:nvSpPr>
          <p:spPr>
            <a:xfrm>
              <a:off x="0" y="62523"/>
              <a:ext cx="775200" cy="1128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960" name="Google Shape;960;g475845831e_0_50"/>
            <p:cNvSpPr/>
            <p:nvPr/>
          </p:nvSpPr>
          <p:spPr>
            <a:xfrm>
              <a:off x="0" y="-1"/>
              <a:ext cx="7752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&lt;600,V&gt;</a:t>
              </a:r>
              <a:endParaRPr dirty="0"/>
            </a:p>
          </p:txBody>
        </p:sp>
      </p:grpSp>
      <p:sp>
        <p:nvSpPr>
          <p:cNvPr id="963" name="Google Shape;963;g475845831e_0_50"/>
          <p:cNvSpPr/>
          <p:nvPr/>
        </p:nvSpPr>
        <p:spPr>
          <a:xfrm>
            <a:off x="2951666" y="3975452"/>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dirty="0">
                <a:solidFill>
                  <a:srgbClr val="000000"/>
                </a:solidFill>
                <a:latin typeface="Calibri"/>
                <a:ea typeface="Calibri"/>
                <a:cs typeface="Calibri"/>
                <a:sym typeface="Calibri"/>
              </a:rPr>
              <a:t>....</a:t>
            </a:r>
            <a:endParaRPr dirty="0"/>
          </a:p>
        </p:txBody>
      </p:sp>
      <p:sp>
        <p:nvSpPr>
          <p:cNvPr id="964" name="Google Shape;964;g475845831e_0_50"/>
          <p:cNvSpPr txBox="1">
            <a:spLocks noGrp="1"/>
          </p:cNvSpPr>
          <p:nvPr>
            <p:ph type="title"/>
          </p:nvPr>
        </p:nvSpPr>
        <p:spPr>
          <a:xfrm>
            <a:off x="244638" y="36047"/>
            <a:ext cx="7886700" cy="994200"/>
          </a:xfrm>
          <a:prstGeom prst="rect">
            <a:avLst/>
          </a:prstGeom>
          <a:noFill/>
          <a:ln>
            <a:noFill/>
          </a:ln>
        </p:spPr>
        <p:txBody>
          <a:bodyPr spcFirstLastPara="1" wrap="square" lIns="34275" tIns="34275" rIns="34275" bIns="34275" anchor="ctr" anchorCtr="0">
            <a:noAutofit/>
          </a:bodyPr>
          <a:lstStyle/>
          <a:p>
            <a:pPr lvl="0" algn="l">
              <a:buSzPts val="3300"/>
            </a:pPr>
            <a:r>
              <a:rPr lang="en-US" sz="3200" dirty="0"/>
              <a:t>How does Fulva track the migrated KV tuples</a:t>
            </a:r>
            <a:endParaRPr sz="3200" dirty="0"/>
          </a:p>
        </p:txBody>
      </p:sp>
      <p:sp>
        <p:nvSpPr>
          <p:cNvPr id="965" name="Google Shape;965;g475845831e_0_50"/>
          <p:cNvSpPr txBox="1"/>
          <p:nvPr/>
        </p:nvSpPr>
        <p:spPr>
          <a:xfrm>
            <a:off x="5877741" y="1530528"/>
            <a:ext cx="3143418" cy="1245380"/>
          </a:xfrm>
          <a:prstGeom prst="rect">
            <a:avLst/>
          </a:prstGeom>
          <a:noFill/>
          <a:ln>
            <a:noFill/>
          </a:ln>
        </p:spPr>
        <p:txBody>
          <a:bodyPr spcFirstLastPara="1" wrap="square" lIns="91425" tIns="91425" rIns="91425" bIns="91425" anchor="t" anchorCtr="0">
            <a:noAutofit/>
          </a:bodyPr>
          <a:lstStyle/>
          <a:p>
            <a:pPr marL="425450" lvl="0" indent="-285750">
              <a:buSzPct val="170000"/>
              <a:buFont typeface="Arial" panose="020B0604020202020204" pitchFamily="34" charset="0"/>
              <a:buChar char="•"/>
            </a:pPr>
            <a:r>
              <a:rPr lang="en-US" dirty="0">
                <a:latin typeface="+mj-lt"/>
                <a:ea typeface="Calibri"/>
                <a:cs typeface="Calibri"/>
                <a:sym typeface="Calibri"/>
              </a:rPr>
              <a:t>Fulva maintains a simple data structure called “migration completion ranges” (MCR)</a:t>
            </a:r>
            <a:endParaRPr lang="en-US" dirty="0">
              <a:latin typeface="+mj-lt"/>
            </a:endParaRPr>
          </a:p>
          <a:p>
            <a:pPr marL="139700" lvl="0" algn="l" rtl="0">
              <a:spcBef>
                <a:spcPts val="0"/>
              </a:spcBef>
              <a:spcAft>
                <a:spcPts val="0"/>
              </a:spcAft>
              <a:buSzPct val="170000"/>
            </a:pPr>
            <a:endParaRPr lang="en-US" dirty="0"/>
          </a:p>
          <a:p>
            <a:pPr marL="425450" lvl="0" indent="-285750" algn="l" rtl="0">
              <a:spcBef>
                <a:spcPts val="0"/>
              </a:spcBef>
              <a:spcAft>
                <a:spcPts val="0"/>
              </a:spcAft>
              <a:buSzPct val="170000"/>
              <a:buFont typeface="Arial" panose="020B0604020202020204" pitchFamily="34" charset="0"/>
              <a:buChar char="•"/>
            </a:pPr>
            <a:r>
              <a:rPr lang="en-US" dirty="0"/>
              <a:t>Key idea: Destination periodically piggybacks the metadata of the latest key of migrated tuple to its reply to the clients</a:t>
            </a:r>
            <a:endParaRPr lang="en-US" dirty="0">
              <a:solidFill>
                <a:schemeClr val="tx1"/>
              </a:solidFill>
            </a:endParaRPr>
          </a:p>
          <a:p>
            <a:pPr marL="425450" lvl="0" indent="-285750" algn="l" rtl="0">
              <a:spcBef>
                <a:spcPts val="0"/>
              </a:spcBef>
              <a:spcAft>
                <a:spcPts val="0"/>
              </a:spcAft>
              <a:buSzPct val="170000"/>
              <a:buFont typeface="Arial" panose="020B0604020202020204" pitchFamily="34" charset="0"/>
              <a:buChar char="•"/>
            </a:pPr>
            <a:endParaRPr lang="en-US" dirty="0"/>
          </a:p>
          <a:p>
            <a:pPr marL="425450" lvl="0" indent="-285750" algn="l" rtl="0">
              <a:spcBef>
                <a:spcPts val="0"/>
              </a:spcBef>
              <a:spcAft>
                <a:spcPts val="0"/>
              </a:spcAft>
              <a:buSzPct val="170000"/>
              <a:buFont typeface="Arial" panose="020B0604020202020204" pitchFamily="34" charset="0"/>
              <a:buChar char="•"/>
            </a:pPr>
            <a:r>
              <a:rPr lang="en-US" dirty="0"/>
              <a:t>MCR stores the key range of migrated tuple in each client’s RPC library</a:t>
            </a:r>
            <a:endParaRPr dirty="0"/>
          </a:p>
        </p:txBody>
      </p:sp>
      <p:sp>
        <p:nvSpPr>
          <p:cNvPr id="966" name="Google Shape;966;g475845831e_0_50"/>
          <p:cNvSpPr/>
          <p:nvPr/>
        </p:nvSpPr>
        <p:spPr>
          <a:xfrm>
            <a:off x="2419347" y="1716588"/>
            <a:ext cx="1625100" cy="237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500" b="0" i="0" u="none" strike="noStrike" cap="none" dirty="0">
                <a:solidFill>
                  <a:srgbClr val="000000"/>
                </a:solidFill>
                <a:latin typeface="Calibri"/>
                <a:ea typeface="Calibri"/>
                <a:cs typeface="Calibri"/>
                <a:sym typeface="Calibri"/>
              </a:rPr>
              <a:t>Fulva RPC Library</a:t>
            </a:r>
            <a:endParaRPr dirty="0"/>
          </a:p>
        </p:txBody>
      </p:sp>
      <p:sp>
        <p:nvSpPr>
          <p:cNvPr id="967" name="Google Shape;967;g475845831e_0_50"/>
          <p:cNvSpPr/>
          <p:nvPr/>
        </p:nvSpPr>
        <p:spPr>
          <a:xfrm>
            <a:off x="835305" y="1948838"/>
            <a:ext cx="4381500" cy="553200"/>
          </a:xfrm>
          <a:prstGeom prst="roundRect">
            <a:avLst>
              <a:gd name="adj" fmla="val 16667"/>
            </a:avLst>
          </a:prstGeom>
          <a:noFill/>
          <a:ln w="12700" cap="flat" cmpd="sng">
            <a:solidFill>
              <a:srgbClr val="000000"/>
            </a:solidFill>
            <a:prstDash val="dash"/>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grpSp>
        <p:nvGrpSpPr>
          <p:cNvPr id="968" name="Google Shape;968;g475845831e_0_50"/>
          <p:cNvGrpSpPr/>
          <p:nvPr/>
        </p:nvGrpSpPr>
        <p:grpSpPr>
          <a:xfrm>
            <a:off x="918959" y="1982338"/>
            <a:ext cx="3081661" cy="647400"/>
            <a:chOff x="-82098" y="-296585"/>
            <a:chExt cx="3081661" cy="647400"/>
          </a:xfrm>
        </p:grpSpPr>
        <p:sp>
          <p:nvSpPr>
            <p:cNvPr id="969" name="Google Shape;969;g475845831e_0_50"/>
            <p:cNvSpPr/>
            <p:nvPr/>
          </p:nvSpPr>
          <p:spPr>
            <a:xfrm>
              <a:off x="29263" y="-258451"/>
              <a:ext cx="2970300" cy="4287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970" name="Google Shape;970;g475845831e_0_50"/>
            <p:cNvSpPr/>
            <p:nvPr/>
          </p:nvSpPr>
          <p:spPr>
            <a:xfrm>
              <a:off x="-82098" y="-296585"/>
              <a:ext cx="3004500" cy="647400"/>
            </a:xfrm>
            <a:prstGeom prst="rect">
              <a:avLst/>
            </a:prstGeom>
            <a:noFill/>
            <a:ln>
              <a:noFill/>
            </a:ln>
          </p:spPr>
          <p:txBody>
            <a:bodyPr spcFirstLastPara="1" wrap="square" lIns="34275" tIns="34275" rIns="34275" bIns="34275" anchor="t" anchorCtr="0">
              <a:noAutofit/>
            </a:bodyPr>
            <a:lstStyle/>
            <a:p>
              <a:pPr marL="0" marR="0" lvl="0" indent="0" algn="r" rtl="0">
                <a:lnSpc>
                  <a:spcPct val="100000"/>
                </a:lnSpc>
                <a:spcBef>
                  <a:spcPts val="0"/>
                </a:spcBef>
                <a:spcAft>
                  <a:spcPts val="0"/>
                </a:spcAft>
                <a:buClr>
                  <a:srgbClr val="000000"/>
                </a:buClr>
                <a:buSzPts val="1000"/>
                <a:buFont typeface="Calibri"/>
                <a:buNone/>
              </a:pPr>
              <a:r>
                <a:rPr lang="en-US" sz="1000" b="1" i="0" u="none" strike="noStrike" cap="none" dirty="0">
                  <a:solidFill>
                    <a:srgbClr val="00B050"/>
                  </a:solidFill>
                  <a:latin typeface="Calibri"/>
                  <a:ea typeface="Calibri"/>
                  <a:cs typeface="Calibri"/>
                  <a:sym typeface="Calibri"/>
                </a:rPr>
                <a:t>Migration Completion Ranges: </a:t>
              </a:r>
              <a:r>
                <a:rPr lang="en-US" sz="1000" b="1" dirty="0">
                  <a:solidFill>
                    <a:srgbClr val="00B050"/>
                  </a:solidFill>
                  <a:latin typeface="Calibri"/>
                  <a:ea typeface="Calibri"/>
                  <a:cs typeface="Calibri"/>
                  <a:sym typeface="Calibri"/>
                </a:rPr>
                <a:t>Empty</a:t>
              </a:r>
              <a:endParaRPr sz="1000" b="1" dirty="0">
                <a:solidFill>
                  <a:srgbClr val="00B050"/>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1000"/>
                <a:buFont typeface="Calibri"/>
                <a:buNone/>
              </a:pPr>
              <a:endParaRPr dirty="0"/>
            </a:p>
          </p:txBody>
        </p:sp>
      </p:grpSp>
      <p:grpSp>
        <p:nvGrpSpPr>
          <p:cNvPr id="971" name="Google Shape;971;g475845831e_0_50"/>
          <p:cNvGrpSpPr/>
          <p:nvPr/>
        </p:nvGrpSpPr>
        <p:grpSpPr>
          <a:xfrm>
            <a:off x="4048732" y="2062058"/>
            <a:ext cx="777846" cy="268800"/>
            <a:chOff x="0" y="0"/>
            <a:chExt cx="777846" cy="268800"/>
          </a:xfrm>
        </p:grpSpPr>
        <p:sp>
          <p:nvSpPr>
            <p:cNvPr id="972" name="Google Shape;972;g475845831e_0_50"/>
            <p:cNvSpPr/>
            <p:nvPr/>
          </p:nvSpPr>
          <p:spPr>
            <a:xfrm>
              <a:off x="0" y="0"/>
              <a:ext cx="777600" cy="268800"/>
            </a:xfrm>
            <a:prstGeom prst="diamond">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73" name="Google Shape;973;g475845831e_0_50"/>
            <p:cNvSpPr/>
            <p:nvPr/>
          </p:nvSpPr>
          <p:spPr>
            <a:xfrm>
              <a:off x="49746" y="2353"/>
              <a:ext cx="7281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000"/>
                <a:buFont typeface="Calibri"/>
                <a:buNone/>
              </a:pPr>
              <a:r>
                <a:rPr lang="en-US" sz="1000" b="0" i="0" u="none" strike="noStrike" cap="none">
                  <a:solidFill>
                    <a:srgbClr val="000000"/>
                  </a:solidFill>
                  <a:latin typeface="Calibri"/>
                  <a:ea typeface="Calibri"/>
                  <a:cs typeface="Calibri"/>
                  <a:sym typeface="Calibri"/>
                </a:rPr>
                <a:t>migrated?</a:t>
              </a:r>
              <a:endParaRPr/>
            </a:p>
          </p:txBody>
        </p:sp>
      </p:grpSp>
      <p:grpSp>
        <p:nvGrpSpPr>
          <p:cNvPr id="121" name="Google Shape;886;g475845831e_0_50"/>
          <p:cNvGrpSpPr/>
          <p:nvPr/>
        </p:nvGrpSpPr>
        <p:grpSpPr>
          <a:xfrm>
            <a:off x="277449" y="3812400"/>
            <a:ext cx="1251081" cy="237900"/>
            <a:chOff x="-18191" y="-7869"/>
            <a:chExt cx="801491" cy="237900"/>
          </a:xfrm>
        </p:grpSpPr>
        <p:sp>
          <p:nvSpPr>
            <p:cNvPr id="122" name="Google Shape;887;g475845831e_0_50"/>
            <p:cNvSpPr/>
            <p:nvPr/>
          </p:nvSpPr>
          <p:spPr>
            <a:xfrm>
              <a:off x="0" y="57478"/>
              <a:ext cx="783300" cy="123000"/>
            </a:xfrm>
            <a:prstGeom prst="rect">
              <a:avLst/>
            </a:prstGeom>
            <a:solidFill>
              <a:schemeClr val="bg1"/>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23" name="Google Shape;888;g475845831e_0_50"/>
            <p:cNvSpPr/>
            <p:nvPr/>
          </p:nvSpPr>
          <p:spPr>
            <a:xfrm>
              <a:off x="-18191" y="-7869"/>
              <a:ext cx="7833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dirty="0">
                  <a:latin typeface="Calibri"/>
                  <a:cs typeface="Calibri"/>
                  <a:sym typeface="Calibri"/>
                </a:rPr>
                <a:t>&lt;1,V&gt; - &lt;50,V&gt;</a:t>
              </a:r>
              <a:endParaRPr dirty="0"/>
            </a:p>
          </p:txBody>
        </p:sp>
      </p:grpSp>
      <p:grpSp>
        <p:nvGrpSpPr>
          <p:cNvPr id="130" name="Google Shape;968;g475845831e_0_50"/>
          <p:cNvGrpSpPr/>
          <p:nvPr/>
        </p:nvGrpSpPr>
        <p:grpSpPr>
          <a:xfrm>
            <a:off x="919875" y="1980809"/>
            <a:ext cx="3080991" cy="647400"/>
            <a:chOff x="-1" y="-1"/>
            <a:chExt cx="3080991" cy="647400"/>
          </a:xfrm>
        </p:grpSpPr>
        <p:sp>
          <p:nvSpPr>
            <p:cNvPr id="131" name="Google Shape;969;g475845831e_0_50"/>
            <p:cNvSpPr/>
            <p:nvPr/>
          </p:nvSpPr>
          <p:spPr>
            <a:xfrm>
              <a:off x="110690" y="23842"/>
              <a:ext cx="2970300" cy="4287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32" name="Google Shape;970;g475845831e_0_50"/>
            <p:cNvSpPr/>
            <p:nvPr/>
          </p:nvSpPr>
          <p:spPr>
            <a:xfrm>
              <a:off x="-1" y="-1"/>
              <a:ext cx="3004500" cy="647400"/>
            </a:xfrm>
            <a:prstGeom prst="rect">
              <a:avLst/>
            </a:prstGeom>
            <a:noFill/>
            <a:ln>
              <a:noFill/>
            </a:ln>
          </p:spPr>
          <p:txBody>
            <a:bodyPr spcFirstLastPara="1" wrap="square" lIns="34275" tIns="34275" rIns="34275" bIns="34275" anchor="t" anchorCtr="0">
              <a:noAutofit/>
            </a:bodyPr>
            <a:lstStyle/>
            <a:p>
              <a:pPr marL="0" marR="0" lvl="0" indent="0" algn="r" rtl="0">
                <a:lnSpc>
                  <a:spcPct val="100000"/>
                </a:lnSpc>
                <a:spcBef>
                  <a:spcPts val="0"/>
                </a:spcBef>
                <a:spcAft>
                  <a:spcPts val="0"/>
                </a:spcAft>
                <a:buClr>
                  <a:srgbClr val="000000"/>
                </a:buClr>
                <a:buSzPts val="1000"/>
                <a:buFont typeface="Calibri"/>
                <a:buNone/>
              </a:pPr>
              <a:r>
                <a:rPr lang="en-US" sz="1000" b="1" i="0" u="none" strike="noStrike" cap="none" dirty="0">
                  <a:solidFill>
                    <a:srgbClr val="00B050"/>
                  </a:solidFill>
                  <a:latin typeface="Calibri"/>
                  <a:ea typeface="Calibri"/>
                  <a:cs typeface="Calibri"/>
                  <a:sym typeface="Calibri"/>
                </a:rPr>
                <a:t>Migration Completion Ranges: </a:t>
              </a:r>
              <a:r>
                <a:rPr lang="en-US" sz="1000" b="1" dirty="0">
                  <a:solidFill>
                    <a:srgbClr val="00B050"/>
                  </a:solidFill>
                  <a:latin typeface="Calibri"/>
                  <a:ea typeface="Calibri"/>
                  <a:cs typeface="Calibri"/>
                  <a:sym typeface="Calibri"/>
                </a:rPr>
                <a:t>[1-50]</a:t>
              </a:r>
              <a:endParaRPr sz="1000" b="1" dirty="0">
                <a:solidFill>
                  <a:srgbClr val="00B050"/>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1000"/>
                <a:buFont typeface="Calibri"/>
                <a:buNone/>
              </a:pPr>
              <a:endParaRPr dirty="0"/>
            </a:p>
          </p:txBody>
        </p:sp>
      </p:grpSp>
      <p:sp>
        <p:nvSpPr>
          <p:cNvPr id="137" name="Google Shape;969;g475845831e_0_50"/>
          <p:cNvSpPr/>
          <p:nvPr/>
        </p:nvSpPr>
        <p:spPr>
          <a:xfrm>
            <a:off x="1012495" y="2012966"/>
            <a:ext cx="2970300" cy="4287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40" name="Google Shape;969;g475845831e_0_50"/>
          <p:cNvSpPr/>
          <p:nvPr/>
        </p:nvSpPr>
        <p:spPr>
          <a:xfrm>
            <a:off x="1024057" y="2004632"/>
            <a:ext cx="2970300" cy="4287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42" name="Slide Number Placeholder 1">
            <a:extLst>
              <a:ext uri="{FF2B5EF4-FFF2-40B4-BE49-F238E27FC236}">
                <a16:creationId xmlns:a16="http://schemas.microsoft.com/office/drawing/2014/main" id="{2BCD40E4-B996-5A42-AFA1-F6A16F916B7F}"/>
              </a:ext>
            </a:extLst>
          </p:cNvPr>
          <p:cNvSpPr>
            <a:spLocks noGrp="1"/>
          </p:cNvSpPr>
          <p:nvPr>
            <p:ph type="sldNum" idx="12"/>
          </p:nvPr>
        </p:nvSpPr>
        <p:spPr>
          <a:xfrm>
            <a:off x="8684345" y="4700819"/>
            <a:ext cx="336814" cy="318396"/>
          </a:xfrm>
        </p:spPr>
        <p:txBody>
          <a:bodyPr/>
          <a:lstStyle/>
          <a:p>
            <a:pPr marL="0" lvl="0" indent="0" algn="r" rtl="0">
              <a:spcBef>
                <a:spcPts val="0"/>
              </a:spcBef>
              <a:spcAft>
                <a:spcPts val="0"/>
              </a:spcAft>
              <a:buNone/>
            </a:pPr>
            <a:fld id="{00000000-1234-1234-1234-123412341234}" type="slidenum">
              <a:rPr lang="en-US" smtClean="0"/>
              <a:t>13</a:t>
            </a:fld>
            <a:endParaRPr lang="en-US"/>
          </a:p>
        </p:txBody>
      </p:sp>
      <p:cxnSp>
        <p:nvCxnSpPr>
          <p:cNvPr id="3" name="Straight Arrow Connector 2">
            <a:extLst>
              <a:ext uri="{FF2B5EF4-FFF2-40B4-BE49-F238E27FC236}">
                <a16:creationId xmlns:a16="http://schemas.microsoft.com/office/drawing/2014/main" id="{492E9312-7923-3D42-9C8C-9561964BDCD4}"/>
              </a:ext>
            </a:extLst>
          </p:cNvPr>
          <p:cNvCxnSpPr>
            <a:cxnSpLocks/>
          </p:cNvCxnSpPr>
          <p:nvPr/>
        </p:nvCxnSpPr>
        <p:spPr>
          <a:xfrm>
            <a:off x="4038656" y="2663352"/>
            <a:ext cx="484954" cy="37940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18AC7456-A243-CB49-BC5C-B206A3287523}"/>
              </a:ext>
            </a:extLst>
          </p:cNvPr>
          <p:cNvCxnSpPr>
            <a:cxnSpLocks/>
          </p:cNvCxnSpPr>
          <p:nvPr/>
        </p:nvCxnSpPr>
        <p:spPr>
          <a:xfrm flipH="1" flipV="1">
            <a:off x="4315534" y="2660091"/>
            <a:ext cx="510798" cy="37736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EFFC2EBA-1F74-9C48-89ED-1D244A434ED2}"/>
              </a:ext>
            </a:extLst>
          </p:cNvPr>
          <p:cNvCxnSpPr>
            <a:cxnSpLocks/>
          </p:cNvCxnSpPr>
          <p:nvPr/>
        </p:nvCxnSpPr>
        <p:spPr>
          <a:xfrm>
            <a:off x="4038656" y="2658714"/>
            <a:ext cx="484954" cy="37940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5BD7B72B-1550-8349-9D61-DADCCE8F5F33}"/>
              </a:ext>
            </a:extLst>
          </p:cNvPr>
          <p:cNvCxnSpPr>
            <a:cxnSpLocks/>
          </p:cNvCxnSpPr>
          <p:nvPr/>
        </p:nvCxnSpPr>
        <p:spPr>
          <a:xfrm flipH="1" flipV="1">
            <a:off x="4325728" y="2667761"/>
            <a:ext cx="510798" cy="37736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FFFC75D-C9BD-5A4E-B29A-FCDA19ACA5A1}"/>
              </a:ext>
            </a:extLst>
          </p:cNvPr>
          <p:cNvSpPr txBox="1"/>
          <p:nvPr/>
        </p:nvSpPr>
        <p:spPr>
          <a:xfrm>
            <a:off x="4648112" y="2720364"/>
            <a:ext cx="1620866" cy="276999"/>
          </a:xfrm>
          <a:prstGeom prst="rect">
            <a:avLst/>
          </a:prstGeom>
          <a:noFill/>
        </p:spPr>
        <p:txBody>
          <a:bodyPr wrap="square" rtlCol="0">
            <a:spAutoFit/>
          </a:bodyPr>
          <a:lstStyle/>
          <a:p>
            <a:r>
              <a:rPr lang="en-US" sz="1200" b="1" dirty="0">
                <a:solidFill>
                  <a:srgbClr val="00B050"/>
                </a:solidFill>
              </a:rPr>
              <a:t>&lt;1,V&gt;;[1-50]</a:t>
            </a:r>
          </a:p>
        </p:txBody>
      </p:sp>
      <p:sp>
        <p:nvSpPr>
          <p:cNvPr id="149" name="Google Shape;911;g475845831e_0_50">
            <a:extLst>
              <a:ext uri="{FF2B5EF4-FFF2-40B4-BE49-F238E27FC236}">
                <a16:creationId xmlns:a16="http://schemas.microsoft.com/office/drawing/2014/main" id="{636D4921-59A6-DA4E-B43F-FB19A18F3EF3}"/>
              </a:ext>
            </a:extLst>
          </p:cNvPr>
          <p:cNvSpPr/>
          <p:nvPr/>
        </p:nvSpPr>
        <p:spPr>
          <a:xfrm>
            <a:off x="5009289" y="4598974"/>
            <a:ext cx="521100" cy="258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dirty="0">
                <a:solidFill>
                  <a:srgbClr val="000000"/>
                </a:solidFill>
                <a:latin typeface="Calibri"/>
                <a:ea typeface="Calibri"/>
                <a:cs typeface="Calibri"/>
                <a:sym typeface="Calibri"/>
              </a:rPr>
              <a:t>....</a:t>
            </a:r>
            <a:endParaRPr dirty="0"/>
          </a:p>
        </p:txBody>
      </p:sp>
      <p:sp>
        <p:nvSpPr>
          <p:cNvPr id="150" name="TextBox 149">
            <a:extLst>
              <a:ext uri="{FF2B5EF4-FFF2-40B4-BE49-F238E27FC236}">
                <a16:creationId xmlns:a16="http://schemas.microsoft.com/office/drawing/2014/main" id="{33FFED93-37C1-054E-BBFA-BAF44E3BACB9}"/>
              </a:ext>
            </a:extLst>
          </p:cNvPr>
          <p:cNvSpPr txBox="1"/>
          <p:nvPr/>
        </p:nvSpPr>
        <p:spPr>
          <a:xfrm>
            <a:off x="3576192" y="2711909"/>
            <a:ext cx="650263" cy="280525"/>
          </a:xfrm>
          <a:prstGeom prst="rect">
            <a:avLst/>
          </a:prstGeom>
          <a:noFill/>
        </p:spPr>
        <p:txBody>
          <a:bodyPr wrap="square" rtlCol="0">
            <a:spAutoFit/>
          </a:bodyPr>
          <a:lstStyle/>
          <a:p>
            <a:r>
              <a:rPr lang="en-US" sz="1200" b="1" dirty="0">
                <a:solidFill>
                  <a:srgbClr val="00B050"/>
                </a:solidFill>
              </a:rPr>
              <a:t>Get(1)</a:t>
            </a:r>
          </a:p>
        </p:txBody>
      </p:sp>
      <p:sp>
        <p:nvSpPr>
          <p:cNvPr id="4" name="Oval 3">
            <a:extLst>
              <a:ext uri="{FF2B5EF4-FFF2-40B4-BE49-F238E27FC236}">
                <a16:creationId xmlns:a16="http://schemas.microsoft.com/office/drawing/2014/main" id="{1950590D-BF9A-6F41-B5D4-49EC490564D5}"/>
              </a:ext>
            </a:extLst>
          </p:cNvPr>
          <p:cNvSpPr/>
          <p:nvPr/>
        </p:nvSpPr>
        <p:spPr>
          <a:xfrm>
            <a:off x="650461" y="1505477"/>
            <a:ext cx="3712492" cy="138803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xit" presetSubtype="0" fill="hold" grpId="2" nodeType="afterEffect">
                                  <p:stCondLst>
                                    <p:cond delay="2000"/>
                                  </p:stCondLst>
                                  <p:childTnLst>
                                    <p:animEffect transition="out" filter="fade">
                                      <p:cBhvr>
                                        <p:cTn id="10" dur="500"/>
                                        <p:tgtEl>
                                          <p:spTgt spid="4"/>
                                        </p:tgtEl>
                                      </p:cBhvr>
                                    </p:animEffect>
                                    <p:set>
                                      <p:cBhvr>
                                        <p:cTn id="11" dur="1" fill="hold">
                                          <p:stCondLst>
                                            <p:cond delay="499"/>
                                          </p:stCondLst>
                                        </p:cTn>
                                        <p:tgtEl>
                                          <p:spTgt spid="4"/>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1"/>
                                        </p:tgtEl>
                                        <p:attrNameLst>
                                          <p:attrName>style.visibility</p:attrName>
                                        </p:attrNameLst>
                                      </p:cBhvr>
                                      <p:to>
                                        <p:strVal val="visible"/>
                                      </p:to>
                                    </p:set>
                                    <p:animEffect transition="in" filter="fade">
                                      <p:cBhvr>
                                        <p:cTn id="16" dur="500"/>
                                        <p:tgtEl>
                                          <p:spTgt spid="121"/>
                                        </p:tgtEl>
                                      </p:cBhvr>
                                    </p:animEffect>
                                  </p:childTnLst>
                                </p:cTn>
                              </p:par>
                              <p:par>
                                <p:cTn id="17" presetID="42" presetClass="path" presetSubtype="0" accel="50000" decel="50000" fill="hold" nodeType="withEffect">
                                  <p:stCondLst>
                                    <p:cond delay="0"/>
                                  </p:stCondLst>
                                  <p:childTnLst>
                                    <p:animMotion origin="layout" path="M -4.72222E-6 -0.00247 L 0.41719 -0.0108 " pathEditMode="relative" rAng="0" ptsTypes="AA">
                                      <p:cBhvr>
                                        <p:cTn id="18" dur="2000" fill="hold"/>
                                        <p:tgtEl>
                                          <p:spTgt spid="121"/>
                                        </p:tgtEl>
                                        <p:attrNameLst>
                                          <p:attrName>ppt_x</p:attrName>
                                          <p:attrName>ppt_y</p:attrName>
                                        </p:attrNameLst>
                                      </p:cBhvr>
                                      <p:rCtr x="20851" y="-432"/>
                                    </p:animMotion>
                                  </p:childTnLst>
                                </p:cTn>
                              </p:par>
                            </p:childTnLst>
                          </p:cTn>
                        </p:par>
                        <p:par>
                          <p:cTn id="19" fill="hold">
                            <p:stCondLst>
                              <p:cond delay="2000"/>
                            </p:stCondLst>
                            <p:childTnLst>
                              <p:par>
                                <p:cTn id="20" presetID="10" presetClass="exit" presetSubtype="0" fill="hold" nodeType="afterEffect">
                                  <p:stCondLst>
                                    <p:cond delay="0"/>
                                  </p:stCondLst>
                                  <p:childTnLst>
                                    <p:animEffect transition="out" filter="fade">
                                      <p:cBhvr>
                                        <p:cTn id="21" dur="500"/>
                                        <p:tgtEl>
                                          <p:spTgt spid="121"/>
                                        </p:tgtEl>
                                      </p:cBhvr>
                                    </p:animEffect>
                                    <p:set>
                                      <p:cBhvr>
                                        <p:cTn id="22" dur="1" fill="hold">
                                          <p:stCondLst>
                                            <p:cond delay="499"/>
                                          </p:stCondLst>
                                        </p:cTn>
                                        <p:tgtEl>
                                          <p:spTgt spid="121"/>
                                        </p:tgtEl>
                                        <p:attrNameLst>
                                          <p:attrName>style.visibility</p:attrName>
                                        </p:attrNameLst>
                                      </p:cBhvr>
                                      <p:to>
                                        <p:strVal val="hidden"/>
                                      </p:to>
                                    </p:set>
                                  </p:childTnLst>
                                </p:cTn>
                              </p:par>
                            </p:childTnLst>
                          </p:cTn>
                        </p:par>
                        <p:par>
                          <p:cTn id="23" fill="hold">
                            <p:stCondLst>
                              <p:cond delay="2500"/>
                            </p:stCondLst>
                            <p:childTnLst>
                              <p:par>
                                <p:cTn id="24" presetID="10" presetClass="entr" presetSubtype="0" fill="hold" grpId="0" nodeType="afterEffect">
                                  <p:stCondLst>
                                    <p:cond delay="0"/>
                                  </p:stCondLst>
                                  <p:childTnLst>
                                    <p:set>
                                      <p:cBhvr>
                                        <p:cTn id="25" dur="1" fill="hold">
                                          <p:stCondLst>
                                            <p:cond delay="0"/>
                                          </p:stCondLst>
                                        </p:cTn>
                                        <p:tgtEl>
                                          <p:spTgt spid="895"/>
                                        </p:tgtEl>
                                        <p:attrNameLst>
                                          <p:attrName>style.visibility</p:attrName>
                                        </p:attrNameLst>
                                      </p:cBhvr>
                                      <p:to>
                                        <p:strVal val="visible"/>
                                      </p:to>
                                    </p:set>
                                    <p:animEffect transition="in" filter="fade">
                                      <p:cBhvr>
                                        <p:cTn id="26" dur="500"/>
                                        <p:tgtEl>
                                          <p:spTgt spid="895"/>
                                        </p:tgtEl>
                                      </p:cBhvr>
                                    </p:animEffect>
                                  </p:childTnLst>
                                </p:cTn>
                              </p:par>
                              <p:par>
                                <p:cTn id="27" presetID="10" presetClass="entr" presetSubtype="0" fill="hold" nodeType="withEffect">
                                  <p:stCondLst>
                                    <p:cond delay="0"/>
                                  </p:stCondLst>
                                  <p:childTnLst>
                                    <p:set>
                                      <p:cBhvr>
                                        <p:cTn id="28" dur="1" fill="hold">
                                          <p:stCondLst>
                                            <p:cond delay="0"/>
                                          </p:stCondLst>
                                        </p:cTn>
                                        <p:tgtEl>
                                          <p:spTgt spid="886"/>
                                        </p:tgtEl>
                                        <p:attrNameLst>
                                          <p:attrName>style.visibility</p:attrName>
                                        </p:attrNameLst>
                                      </p:cBhvr>
                                      <p:to>
                                        <p:strVal val="visible"/>
                                      </p:to>
                                    </p:set>
                                    <p:animEffect transition="in" filter="fade">
                                      <p:cBhvr>
                                        <p:cTn id="29" dur="500"/>
                                        <p:tgtEl>
                                          <p:spTgt spid="886"/>
                                        </p:tgtEl>
                                      </p:cBhvr>
                                    </p:animEffect>
                                  </p:childTnLst>
                                </p:cTn>
                              </p:par>
                              <p:par>
                                <p:cTn id="30" presetID="10" presetClass="entr" presetSubtype="0" fill="hold" nodeType="withEffect">
                                  <p:stCondLst>
                                    <p:cond delay="0"/>
                                  </p:stCondLst>
                                  <p:childTnLst>
                                    <p:set>
                                      <p:cBhvr>
                                        <p:cTn id="31" dur="1" fill="hold">
                                          <p:stCondLst>
                                            <p:cond delay="0"/>
                                          </p:stCondLst>
                                        </p:cTn>
                                        <p:tgtEl>
                                          <p:spTgt spid="889"/>
                                        </p:tgtEl>
                                        <p:attrNameLst>
                                          <p:attrName>style.visibility</p:attrName>
                                        </p:attrNameLst>
                                      </p:cBhvr>
                                      <p:to>
                                        <p:strVal val="visible"/>
                                      </p:to>
                                    </p:set>
                                    <p:animEffect transition="in" filter="fade">
                                      <p:cBhvr>
                                        <p:cTn id="32" dur="500"/>
                                        <p:tgtEl>
                                          <p:spTgt spid="88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0"/>
                                        </p:tgtEl>
                                        <p:attrNameLst>
                                          <p:attrName>style.visibility</p:attrName>
                                        </p:attrNameLst>
                                      </p:cBhvr>
                                      <p:to>
                                        <p:strVal val="visible"/>
                                      </p:to>
                                    </p:set>
                                    <p:animEffect transition="in" filter="fade">
                                      <p:cBhvr>
                                        <p:cTn id="40" dur="500"/>
                                        <p:tgtEl>
                                          <p:spTgt spid="15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nodeType="clickEffect">
                                  <p:stCondLst>
                                    <p:cond delay="0"/>
                                  </p:stCondLst>
                                  <p:childTnLst>
                                    <p:animEffect transition="out" filter="fade">
                                      <p:cBhvr>
                                        <p:cTn id="44" dur="500"/>
                                        <p:tgtEl>
                                          <p:spTgt spid="3"/>
                                        </p:tgtEl>
                                      </p:cBhvr>
                                    </p:animEffect>
                                    <p:set>
                                      <p:cBhvr>
                                        <p:cTn id="45" dur="1" fill="hold">
                                          <p:stCondLst>
                                            <p:cond delay="499"/>
                                          </p:stCondLst>
                                        </p:cTn>
                                        <p:tgtEl>
                                          <p:spTgt spid="3"/>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500"/>
                                        <p:tgtEl>
                                          <p:spTgt spid="150"/>
                                        </p:tgtEl>
                                      </p:cBhvr>
                                    </p:animEffect>
                                    <p:set>
                                      <p:cBhvr>
                                        <p:cTn id="48" dur="1" fill="hold">
                                          <p:stCondLst>
                                            <p:cond delay="499"/>
                                          </p:stCondLst>
                                        </p:cTn>
                                        <p:tgtEl>
                                          <p:spTgt spid="150"/>
                                        </p:tgtEl>
                                        <p:attrNameLst>
                                          <p:attrName>style.visibility</p:attrName>
                                        </p:attrNameLst>
                                      </p:cBhvr>
                                      <p:to>
                                        <p:strVal val="hidden"/>
                                      </p:to>
                                    </p:set>
                                  </p:childTnLst>
                                </p:cTn>
                              </p:par>
                              <p:par>
                                <p:cTn id="49" presetID="10" presetClass="entr" presetSubtype="0" fill="hold" nodeType="withEffect">
                                  <p:stCondLst>
                                    <p:cond delay="0"/>
                                  </p:stCondLst>
                                  <p:childTnLst>
                                    <p:set>
                                      <p:cBhvr>
                                        <p:cTn id="50" dur="1" fill="hold">
                                          <p:stCondLst>
                                            <p:cond delay="0"/>
                                          </p:stCondLst>
                                        </p:cTn>
                                        <p:tgtEl>
                                          <p:spTgt spid="143"/>
                                        </p:tgtEl>
                                        <p:attrNameLst>
                                          <p:attrName>style.visibility</p:attrName>
                                        </p:attrNameLst>
                                      </p:cBhvr>
                                      <p:to>
                                        <p:strVal val="visible"/>
                                      </p:to>
                                    </p:set>
                                    <p:animEffect transition="in" filter="fade">
                                      <p:cBhvr>
                                        <p:cTn id="51" dur="2000"/>
                                        <p:tgtEl>
                                          <p:spTgt spid="14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
                                        </p:tgtEl>
                                        <p:attrNameLst>
                                          <p:attrName>style.visibility</p:attrName>
                                        </p:attrNameLst>
                                      </p:cBhvr>
                                      <p:to>
                                        <p:strVal val="visible"/>
                                      </p:to>
                                    </p:set>
                                    <p:animEffect transition="in" filter="fade">
                                      <p:cBhvr>
                                        <p:cTn id="54" dur="2000"/>
                                        <p:tgtEl>
                                          <p:spTgt spid="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nodeType="clickEffect">
                                  <p:stCondLst>
                                    <p:cond delay="0"/>
                                  </p:stCondLst>
                                  <p:childTnLst>
                                    <p:animEffect transition="out" filter="fade">
                                      <p:cBhvr>
                                        <p:cTn id="58" dur="500"/>
                                        <p:tgtEl>
                                          <p:spTgt spid="143"/>
                                        </p:tgtEl>
                                      </p:cBhvr>
                                    </p:animEffect>
                                    <p:set>
                                      <p:cBhvr>
                                        <p:cTn id="59" dur="1" fill="hold">
                                          <p:stCondLst>
                                            <p:cond delay="499"/>
                                          </p:stCondLst>
                                        </p:cTn>
                                        <p:tgtEl>
                                          <p:spTgt spid="143"/>
                                        </p:tgtEl>
                                        <p:attrNameLst>
                                          <p:attrName>style.visibility</p:attrName>
                                        </p:attrNameLst>
                                      </p:cBhvr>
                                      <p:to>
                                        <p:strVal val="hidden"/>
                                      </p:to>
                                    </p:set>
                                  </p:childTnLst>
                                </p:cTn>
                              </p:par>
                              <p:par>
                                <p:cTn id="60" presetID="10" presetClass="exit" presetSubtype="0" fill="hold" grpId="1" nodeType="withEffect">
                                  <p:stCondLst>
                                    <p:cond delay="0"/>
                                  </p:stCondLst>
                                  <p:childTnLst>
                                    <p:animEffect transition="out" filter="fade">
                                      <p:cBhvr>
                                        <p:cTn id="61" dur="500"/>
                                        <p:tgtEl>
                                          <p:spTgt spid="2"/>
                                        </p:tgtEl>
                                      </p:cBhvr>
                                    </p:animEffect>
                                    <p:set>
                                      <p:cBhvr>
                                        <p:cTn id="62" dur="1" fill="hold">
                                          <p:stCondLst>
                                            <p:cond delay="499"/>
                                          </p:stCondLst>
                                        </p:cTn>
                                        <p:tgtEl>
                                          <p:spTgt spid="2"/>
                                        </p:tgtEl>
                                        <p:attrNameLst>
                                          <p:attrName>style.visibility</p:attrName>
                                        </p:attrNameLst>
                                      </p:cBhvr>
                                      <p:to>
                                        <p:strVal val="hidden"/>
                                      </p:to>
                                    </p:set>
                                  </p:childTnLst>
                                </p:cTn>
                              </p:par>
                              <p:par>
                                <p:cTn id="63" presetID="10" presetClass="entr" presetSubtype="0" fill="hold" grpId="0" nodeType="with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fade">
                                      <p:cBhvr>
                                        <p:cTn id="65" dur="500"/>
                                        <p:tgtEl>
                                          <p:spTgt spid="4"/>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nodeType="clickEffect">
                                  <p:stCondLst>
                                    <p:cond delay="0"/>
                                  </p:stCondLst>
                                  <p:childTnLst>
                                    <p:animEffect transition="out" filter="fade">
                                      <p:cBhvr>
                                        <p:cTn id="69" dur="500"/>
                                        <p:tgtEl>
                                          <p:spTgt spid="968"/>
                                        </p:tgtEl>
                                      </p:cBhvr>
                                    </p:animEffect>
                                    <p:set>
                                      <p:cBhvr>
                                        <p:cTn id="70" dur="1" fill="hold">
                                          <p:stCondLst>
                                            <p:cond delay="499"/>
                                          </p:stCondLst>
                                        </p:cTn>
                                        <p:tgtEl>
                                          <p:spTgt spid="968"/>
                                        </p:tgtEl>
                                        <p:attrNameLst>
                                          <p:attrName>style.visibility</p:attrName>
                                        </p:attrNameLst>
                                      </p:cBhvr>
                                      <p:to>
                                        <p:strVal val="hidden"/>
                                      </p:to>
                                    </p:set>
                                  </p:childTnLst>
                                </p:cTn>
                              </p:par>
                              <p:par>
                                <p:cTn id="71" presetID="10" presetClass="entr" presetSubtype="0" fill="hold" nodeType="withEffect">
                                  <p:stCondLst>
                                    <p:cond delay="0"/>
                                  </p:stCondLst>
                                  <p:childTnLst>
                                    <p:set>
                                      <p:cBhvr>
                                        <p:cTn id="72" dur="1" fill="hold">
                                          <p:stCondLst>
                                            <p:cond delay="0"/>
                                          </p:stCondLst>
                                        </p:cTn>
                                        <p:tgtEl>
                                          <p:spTgt spid="130"/>
                                        </p:tgtEl>
                                        <p:attrNameLst>
                                          <p:attrName>style.visibility</p:attrName>
                                        </p:attrNameLst>
                                      </p:cBhvr>
                                      <p:to>
                                        <p:strVal val="visible"/>
                                      </p:to>
                                    </p:set>
                                    <p:animEffect transition="in" filter="fade">
                                      <p:cBhvr>
                                        <p:cTn id="73" dur="5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5" grpId="0"/>
      <p:bldP spid="2" grpId="0"/>
      <p:bldP spid="2" grpId="1"/>
      <p:bldP spid="150" grpId="0"/>
      <p:bldP spid="150" grpId="1"/>
      <p:bldP spid="4" grpId="0" animBg="1"/>
      <p:bldP spid="4" grpId="1" animBg="1"/>
      <p:bldP spid="4" grpId="2"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grpSp>
        <p:nvGrpSpPr>
          <p:cNvPr id="978" name="Google Shape;978;g625fbb7380_0_274"/>
          <p:cNvGrpSpPr/>
          <p:nvPr/>
        </p:nvGrpSpPr>
        <p:grpSpPr>
          <a:xfrm>
            <a:off x="639579" y="1129894"/>
            <a:ext cx="4778401" cy="1301723"/>
            <a:chOff x="0" y="-1"/>
            <a:chExt cx="4778401" cy="1301723"/>
          </a:xfrm>
        </p:grpSpPr>
        <p:grpSp>
          <p:nvGrpSpPr>
            <p:cNvPr id="979" name="Google Shape;979;g625fbb7380_0_274"/>
            <p:cNvGrpSpPr/>
            <p:nvPr/>
          </p:nvGrpSpPr>
          <p:grpSpPr>
            <a:xfrm>
              <a:off x="0" y="37784"/>
              <a:ext cx="4778401" cy="1263938"/>
              <a:chOff x="0" y="-1"/>
              <a:chExt cx="4778401" cy="1263938"/>
            </a:xfrm>
          </p:grpSpPr>
          <p:sp>
            <p:nvSpPr>
              <p:cNvPr id="980" name="Google Shape;980;g625fbb7380_0_274"/>
              <p:cNvSpPr/>
              <p:nvPr/>
            </p:nvSpPr>
            <p:spPr>
              <a:xfrm>
                <a:off x="0" y="308137"/>
                <a:ext cx="4778400" cy="955800"/>
              </a:xfrm>
              <a:prstGeom prst="rect">
                <a:avLst/>
              </a:prstGeom>
              <a:solidFill>
                <a:srgbClr val="FEE59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81" name="Google Shape;981;g625fbb7380_0_274"/>
              <p:cNvSpPr/>
              <p:nvPr/>
            </p:nvSpPr>
            <p:spPr>
              <a:xfrm>
                <a:off x="1" y="-1"/>
                <a:ext cx="4778400" cy="3066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500"/>
                  <a:buFont typeface="Calibri"/>
                  <a:buNone/>
                </a:pPr>
                <a:endParaRPr sz="1500" b="0" i="0" u="none" strike="noStrike" cap="none">
                  <a:solidFill>
                    <a:srgbClr val="000000"/>
                  </a:solidFill>
                  <a:latin typeface="Calibri"/>
                  <a:ea typeface="Calibri"/>
                  <a:cs typeface="Calibri"/>
                  <a:sym typeface="Calibri"/>
                </a:endParaRPr>
              </a:p>
            </p:txBody>
          </p:sp>
        </p:grpSp>
        <p:sp>
          <p:nvSpPr>
            <p:cNvPr id="982" name="Google Shape;982;g625fbb7380_0_274"/>
            <p:cNvSpPr/>
            <p:nvPr/>
          </p:nvSpPr>
          <p:spPr>
            <a:xfrm>
              <a:off x="1657735" y="-1"/>
              <a:ext cx="1421400" cy="1974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Client program N</a:t>
              </a:r>
              <a:endParaRPr/>
            </a:p>
          </p:txBody>
        </p:sp>
      </p:grpSp>
      <p:grpSp>
        <p:nvGrpSpPr>
          <p:cNvPr id="983" name="Google Shape;983;g625fbb7380_0_274"/>
          <p:cNvGrpSpPr/>
          <p:nvPr/>
        </p:nvGrpSpPr>
        <p:grpSpPr>
          <a:xfrm>
            <a:off x="689140" y="1248405"/>
            <a:ext cx="4840200" cy="1289559"/>
            <a:chOff x="-1" y="0"/>
            <a:chExt cx="4840200" cy="1289559"/>
          </a:xfrm>
        </p:grpSpPr>
        <p:grpSp>
          <p:nvGrpSpPr>
            <p:cNvPr id="984" name="Google Shape;984;g625fbb7380_0_274"/>
            <p:cNvGrpSpPr/>
            <p:nvPr/>
          </p:nvGrpSpPr>
          <p:grpSpPr>
            <a:xfrm>
              <a:off x="-1" y="36762"/>
              <a:ext cx="4840200" cy="1252797"/>
              <a:chOff x="0" y="-1"/>
              <a:chExt cx="4840200" cy="1252797"/>
            </a:xfrm>
          </p:grpSpPr>
          <p:sp>
            <p:nvSpPr>
              <p:cNvPr id="985" name="Google Shape;985;g625fbb7380_0_274"/>
              <p:cNvSpPr/>
              <p:nvPr/>
            </p:nvSpPr>
            <p:spPr>
              <a:xfrm>
                <a:off x="0" y="296996"/>
                <a:ext cx="4840200" cy="955800"/>
              </a:xfrm>
              <a:prstGeom prst="rect">
                <a:avLst/>
              </a:prstGeom>
              <a:solidFill>
                <a:srgbClr val="FEE59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86" name="Google Shape;986;g625fbb7380_0_274"/>
              <p:cNvSpPr/>
              <p:nvPr/>
            </p:nvSpPr>
            <p:spPr>
              <a:xfrm>
                <a:off x="0" y="-1"/>
                <a:ext cx="4840200" cy="3066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500"/>
                  <a:buFont typeface="Calibri"/>
                  <a:buNone/>
                </a:pPr>
                <a:endParaRPr sz="1500" b="0" i="0" u="none" strike="noStrike" cap="none">
                  <a:solidFill>
                    <a:srgbClr val="000000"/>
                  </a:solidFill>
                  <a:latin typeface="Calibri"/>
                  <a:ea typeface="Calibri"/>
                  <a:cs typeface="Calibri"/>
                  <a:sym typeface="Calibri"/>
                </a:endParaRPr>
              </a:p>
            </p:txBody>
          </p:sp>
        </p:grpSp>
        <p:sp>
          <p:nvSpPr>
            <p:cNvPr id="987" name="Google Shape;987;g625fbb7380_0_274"/>
            <p:cNvSpPr/>
            <p:nvPr/>
          </p:nvSpPr>
          <p:spPr>
            <a:xfrm>
              <a:off x="1806785" y="0"/>
              <a:ext cx="1440000" cy="1974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Client program 2</a:t>
              </a:r>
              <a:endParaRPr/>
            </a:p>
          </p:txBody>
        </p:sp>
      </p:grpSp>
      <p:sp>
        <p:nvSpPr>
          <p:cNvPr id="988" name="Google Shape;988;g625fbb7380_0_274"/>
          <p:cNvSpPr/>
          <p:nvPr/>
        </p:nvSpPr>
        <p:spPr>
          <a:xfrm>
            <a:off x="795264" y="1708025"/>
            <a:ext cx="4831500" cy="955800"/>
          </a:xfrm>
          <a:prstGeom prst="rect">
            <a:avLst/>
          </a:prstGeom>
          <a:solidFill>
            <a:srgbClr val="FEE599"/>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89" name="Google Shape;989;g625fbb7380_0_274"/>
          <p:cNvSpPr/>
          <p:nvPr/>
        </p:nvSpPr>
        <p:spPr>
          <a:xfrm>
            <a:off x="122841" y="3012229"/>
            <a:ext cx="2585994" cy="2026500"/>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cxnSp>
        <p:nvCxnSpPr>
          <p:cNvPr id="990" name="Google Shape;990;g625fbb7380_0_274"/>
          <p:cNvCxnSpPr/>
          <p:nvPr/>
        </p:nvCxnSpPr>
        <p:spPr>
          <a:xfrm flipH="1">
            <a:off x="2017860" y="2641154"/>
            <a:ext cx="2413800" cy="347700"/>
          </a:xfrm>
          <a:prstGeom prst="straightConnector1">
            <a:avLst/>
          </a:prstGeom>
          <a:noFill/>
          <a:ln w="19050" cap="flat" cmpd="sng">
            <a:solidFill>
              <a:schemeClr val="tx2"/>
            </a:solidFill>
            <a:prstDash val="solid"/>
            <a:miter lim="8000"/>
            <a:headEnd type="none" w="sm" len="sm"/>
            <a:tailEnd type="triangle" w="med" len="med"/>
          </a:ln>
        </p:spPr>
      </p:cxnSp>
      <p:cxnSp>
        <p:nvCxnSpPr>
          <p:cNvPr id="991" name="Google Shape;991;g625fbb7380_0_274"/>
          <p:cNvCxnSpPr>
            <a:cxnSpLocks/>
          </p:cNvCxnSpPr>
          <p:nvPr/>
        </p:nvCxnSpPr>
        <p:spPr>
          <a:xfrm>
            <a:off x="4433355" y="2627147"/>
            <a:ext cx="464021" cy="398079"/>
          </a:xfrm>
          <a:prstGeom prst="straightConnector1">
            <a:avLst/>
          </a:prstGeom>
          <a:noFill/>
          <a:ln w="19050" cap="flat" cmpd="sng">
            <a:solidFill>
              <a:schemeClr val="tx2"/>
            </a:solidFill>
            <a:prstDash val="solid"/>
            <a:miter lim="8000"/>
            <a:headEnd type="none" w="sm" len="sm"/>
            <a:tailEnd type="triangle" w="med" len="med"/>
          </a:ln>
        </p:spPr>
      </p:cxnSp>
      <p:sp>
        <p:nvSpPr>
          <p:cNvPr id="992" name="Google Shape;992;g625fbb7380_0_274"/>
          <p:cNvSpPr/>
          <p:nvPr/>
        </p:nvSpPr>
        <p:spPr>
          <a:xfrm>
            <a:off x="277368" y="3319840"/>
            <a:ext cx="1193562" cy="1668762"/>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993" name="Google Shape;993;g625fbb7380_0_274"/>
          <p:cNvSpPr/>
          <p:nvPr/>
        </p:nvSpPr>
        <p:spPr>
          <a:xfrm>
            <a:off x="433357" y="2996746"/>
            <a:ext cx="728400" cy="278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500" b="1" i="0" u="none" strike="noStrike" cap="none" dirty="0">
                <a:solidFill>
                  <a:srgbClr val="000000"/>
                </a:solidFill>
                <a:latin typeface="Calibri"/>
                <a:ea typeface="Calibri"/>
                <a:cs typeface="Calibri"/>
                <a:sym typeface="Calibri"/>
              </a:rPr>
              <a:t>Source</a:t>
            </a:r>
            <a:endParaRPr dirty="0"/>
          </a:p>
        </p:txBody>
      </p:sp>
      <p:sp>
        <p:nvSpPr>
          <p:cNvPr id="994" name="Google Shape;994;g625fbb7380_0_274"/>
          <p:cNvSpPr/>
          <p:nvPr/>
        </p:nvSpPr>
        <p:spPr>
          <a:xfrm>
            <a:off x="3285231" y="3025226"/>
            <a:ext cx="1037400" cy="278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500" b="1" i="0" u="none" strike="noStrike" cap="none">
                <a:solidFill>
                  <a:srgbClr val="000000"/>
                </a:solidFill>
                <a:latin typeface="Calibri"/>
                <a:ea typeface="Calibri"/>
                <a:cs typeface="Calibri"/>
                <a:sym typeface="Calibri"/>
              </a:rPr>
              <a:t>Destination</a:t>
            </a:r>
            <a:endParaRPr/>
          </a:p>
        </p:txBody>
      </p:sp>
      <p:sp>
        <p:nvSpPr>
          <p:cNvPr id="995" name="Google Shape;995;g625fbb7380_0_274"/>
          <p:cNvSpPr/>
          <p:nvPr/>
        </p:nvSpPr>
        <p:spPr>
          <a:xfrm>
            <a:off x="391440" y="3337981"/>
            <a:ext cx="1245900" cy="237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key-value store</a:t>
            </a:r>
            <a:endParaRPr/>
          </a:p>
        </p:txBody>
      </p:sp>
      <p:sp>
        <p:nvSpPr>
          <p:cNvPr id="996" name="Google Shape;996;g625fbb7380_0_274"/>
          <p:cNvSpPr/>
          <p:nvPr/>
        </p:nvSpPr>
        <p:spPr>
          <a:xfrm>
            <a:off x="1658764" y="3381647"/>
            <a:ext cx="920400" cy="1613400"/>
          </a:xfrm>
          <a:prstGeom prst="rect">
            <a:avLst/>
          </a:prstGeom>
          <a:solidFill>
            <a:srgbClr val="FEE599"/>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Calibri"/>
              <a:buNone/>
            </a:pPr>
            <a:endParaRPr sz="1100" b="0" i="0" u="none" strike="noStrike" cap="none">
              <a:solidFill>
                <a:srgbClr val="000000"/>
              </a:solidFill>
              <a:latin typeface="Calibri"/>
              <a:ea typeface="Calibri"/>
              <a:cs typeface="Calibri"/>
              <a:sym typeface="Calibri"/>
            </a:endParaRPr>
          </a:p>
        </p:txBody>
      </p:sp>
      <p:sp>
        <p:nvSpPr>
          <p:cNvPr id="997" name="Google Shape;997;g625fbb7380_0_274"/>
          <p:cNvSpPr/>
          <p:nvPr/>
        </p:nvSpPr>
        <p:spPr>
          <a:xfrm>
            <a:off x="3264095" y="2999199"/>
            <a:ext cx="2556838" cy="2039400"/>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998" name="Google Shape;998;g625fbb7380_0_274"/>
          <p:cNvSpPr/>
          <p:nvPr/>
        </p:nvSpPr>
        <p:spPr>
          <a:xfrm>
            <a:off x="4517479" y="3344754"/>
            <a:ext cx="1193562" cy="1650240"/>
          </a:xfrm>
          <a:custGeom>
            <a:avLst/>
            <a:gdLst/>
            <a:ahLst/>
            <a:cxnLst/>
            <a:rect l="l" t="t" r="r" b="b"/>
            <a:pathLst>
              <a:path w="21600" h="21600" extrusionOk="0">
                <a:moveTo>
                  <a:pt x="21600" y="1953"/>
                </a:moveTo>
                <a:cubicBezTo>
                  <a:pt x="21600" y="3031"/>
                  <a:pt x="16765" y="3906"/>
                  <a:pt x="10800" y="3906"/>
                </a:cubicBezTo>
                <a:cubicBezTo>
                  <a:pt x="4835" y="3906"/>
                  <a:pt x="0" y="3031"/>
                  <a:pt x="0" y="1953"/>
                </a:cubicBezTo>
                <a:cubicBezTo>
                  <a:pt x="0" y="874"/>
                  <a:pt x="4835" y="0"/>
                  <a:pt x="10800" y="0"/>
                </a:cubicBezTo>
                <a:cubicBezTo>
                  <a:pt x="16765" y="0"/>
                  <a:pt x="21600" y="874"/>
                  <a:pt x="21600" y="1953"/>
                </a:cubicBezTo>
                <a:lnTo>
                  <a:pt x="21600" y="19647"/>
                </a:lnTo>
                <a:cubicBezTo>
                  <a:pt x="21600" y="20726"/>
                  <a:pt x="16765" y="21600"/>
                  <a:pt x="10800" y="21600"/>
                </a:cubicBezTo>
                <a:cubicBezTo>
                  <a:pt x="4835" y="21600"/>
                  <a:pt x="0" y="20726"/>
                  <a:pt x="0" y="19647"/>
                </a:cubicBezTo>
                <a:lnTo>
                  <a:pt x="0" y="1953"/>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999" name="Google Shape;999;g625fbb7380_0_274"/>
          <p:cNvSpPr/>
          <p:nvPr/>
        </p:nvSpPr>
        <p:spPr>
          <a:xfrm>
            <a:off x="4604552" y="3320212"/>
            <a:ext cx="1055400" cy="237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200" b="0" i="0" u="none" strike="noStrike" cap="none">
                <a:solidFill>
                  <a:srgbClr val="000000"/>
                </a:solidFill>
                <a:latin typeface="Calibri"/>
                <a:ea typeface="Calibri"/>
                <a:cs typeface="Calibri"/>
                <a:sym typeface="Calibri"/>
              </a:rPr>
              <a:t>key-value store</a:t>
            </a:r>
            <a:endParaRPr sz="1200"/>
          </a:p>
        </p:txBody>
      </p:sp>
      <p:sp>
        <p:nvSpPr>
          <p:cNvPr id="1000" name="Google Shape;1000;g625fbb7380_0_274"/>
          <p:cNvSpPr/>
          <p:nvPr/>
        </p:nvSpPr>
        <p:spPr>
          <a:xfrm>
            <a:off x="3384353" y="3376383"/>
            <a:ext cx="921000" cy="1607100"/>
          </a:xfrm>
          <a:prstGeom prst="rect">
            <a:avLst/>
          </a:prstGeom>
          <a:solidFill>
            <a:srgbClr val="FEE599"/>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Calibri"/>
              <a:buNone/>
            </a:pPr>
            <a:endParaRPr sz="1100" b="0" i="0" u="none" strike="noStrike" cap="none">
              <a:solidFill>
                <a:srgbClr val="000000"/>
              </a:solidFill>
              <a:latin typeface="Calibri"/>
              <a:ea typeface="Calibri"/>
              <a:cs typeface="Calibri"/>
              <a:sym typeface="Calibri"/>
            </a:endParaRPr>
          </a:p>
        </p:txBody>
      </p:sp>
      <p:cxnSp>
        <p:nvCxnSpPr>
          <p:cNvPr id="1001" name="Google Shape;1001;g625fbb7380_0_274"/>
          <p:cNvCxnSpPr/>
          <p:nvPr/>
        </p:nvCxnSpPr>
        <p:spPr>
          <a:xfrm>
            <a:off x="2247718" y="4446839"/>
            <a:ext cx="1427100" cy="1500"/>
          </a:xfrm>
          <a:prstGeom prst="straightConnector1">
            <a:avLst/>
          </a:prstGeom>
          <a:noFill/>
          <a:ln w="19050" cap="flat" cmpd="sng">
            <a:solidFill>
              <a:srgbClr val="000000"/>
            </a:solidFill>
            <a:prstDash val="lgDashDot"/>
            <a:miter lim="8000"/>
            <a:headEnd type="none" w="sm" len="sm"/>
            <a:tailEnd type="triangle" w="med" len="med"/>
          </a:ln>
        </p:spPr>
      </p:cxnSp>
      <p:cxnSp>
        <p:nvCxnSpPr>
          <p:cNvPr id="1002" name="Google Shape;1002;g625fbb7380_0_274"/>
          <p:cNvCxnSpPr/>
          <p:nvPr/>
        </p:nvCxnSpPr>
        <p:spPr>
          <a:xfrm>
            <a:off x="3890000" y="4444633"/>
            <a:ext cx="794400" cy="7500"/>
          </a:xfrm>
          <a:prstGeom prst="straightConnector1">
            <a:avLst/>
          </a:prstGeom>
          <a:noFill/>
          <a:ln w="19050" cap="flat" cmpd="sng">
            <a:solidFill>
              <a:srgbClr val="000000"/>
            </a:solidFill>
            <a:prstDash val="lgDashDot"/>
            <a:miter lim="8000"/>
            <a:headEnd type="none" w="sm" len="sm"/>
            <a:tailEnd type="triangle" w="med" len="med"/>
          </a:ln>
        </p:spPr>
      </p:cxnSp>
      <p:cxnSp>
        <p:nvCxnSpPr>
          <p:cNvPr id="1003" name="Google Shape;1003;g625fbb7380_0_274"/>
          <p:cNvCxnSpPr/>
          <p:nvPr/>
        </p:nvCxnSpPr>
        <p:spPr>
          <a:xfrm>
            <a:off x="3911777" y="3854972"/>
            <a:ext cx="763800" cy="5400"/>
          </a:xfrm>
          <a:prstGeom prst="straightConnector1">
            <a:avLst/>
          </a:prstGeom>
          <a:noFill/>
          <a:ln w="19050" cap="flat" cmpd="sng">
            <a:solidFill>
              <a:srgbClr val="000000"/>
            </a:solidFill>
            <a:prstDash val="lgDashDot"/>
            <a:miter lim="8000"/>
            <a:headEnd type="none" w="sm" len="sm"/>
            <a:tailEnd type="triangle" w="med" len="med"/>
          </a:ln>
        </p:spPr>
      </p:cxnSp>
      <p:grpSp>
        <p:nvGrpSpPr>
          <p:cNvPr id="1004" name="Google Shape;1004;g625fbb7380_0_274"/>
          <p:cNvGrpSpPr/>
          <p:nvPr/>
        </p:nvGrpSpPr>
        <p:grpSpPr>
          <a:xfrm>
            <a:off x="324830" y="3622123"/>
            <a:ext cx="759000" cy="237900"/>
            <a:chOff x="0" y="0"/>
            <a:chExt cx="759000" cy="237900"/>
          </a:xfrm>
        </p:grpSpPr>
        <p:sp>
          <p:nvSpPr>
            <p:cNvPr id="1005" name="Google Shape;1005;g625fbb7380_0_274"/>
            <p:cNvSpPr/>
            <p:nvPr/>
          </p:nvSpPr>
          <p:spPr>
            <a:xfrm>
              <a:off x="0" y="54115"/>
              <a:ext cx="7590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006" name="Google Shape;1006;g625fbb7380_0_274"/>
            <p:cNvSpPr/>
            <p:nvPr/>
          </p:nvSpPr>
          <p:spPr>
            <a:xfrm>
              <a:off x="0" y="0"/>
              <a:ext cx="7590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&lt;1, V&gt;</a:t>
              </a:r>
              <a:endParaRPr/>
            </a:p>
          </p:txBody>
        </p:sp>
      </p:grpSp>
      <p:grpSp>
        <p:nvGrpSpPr>
          <p:cNvPr id="1007" name="Google Shape;1007;g625fbb7380_0_274"/>
          <p:cNvGrpSpPr/>
          <p:nvPr/>
        </p:nvGrpSpPr>
        <p:grpSpPr>
          <a:xfrm>
            <a:off x="321312" y="3919990"/>
            <a:ext cx="759000" cy="237900"/>
            <a:chOff x="0" y="0"/>
            <a:chExt cx="759000" cy="237900"/>
          </a:xfrm>
        </p:grpSpPr>
        <p:sp>
          <p:nvSpPr>
            <p:cNvPr id="1008" name="Google Shape;1008;g625fbb7380_0_274"/>
            <p:cNvSpPr/>
            <p:nvPr/>
          </p:nvSpPr>
          <p:spPr>
            <a:xfrm>
              <a:off x="0" y="54115"/>
              <a:ext cx="7590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009" name="Google Shape;1009;g625fbb7380_0_274"/>
            <p:cNvSpPr/>
            <p:nvPr/>
          </p:nvSpPr>
          <p:spPr>
            <a:xfrm>
              <a:off x="0" y="0"/>
              <a:ext cx="7590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&lt;100, V&gt;</a:t>
              </a:r>
              <a:endParaRPr/>
            </a:p>
          </p:txBody>
        </p:sp>
      </p:grpSp>
      <p:sp>
        <p:nvSpPr>
          <p:cNvPr id="1016" name="Google Shape;1016;g625fbb7380_0_274"/>
          <p:cNvSpPr/>
          <p:nvPr/>
        </p:nvSpPr>
        <p:spPr>
          <a:xfrm>
            <a:off x="796034" y="1410695"/>
            <a:ext cx="4830600" cy="292500"/>
          </a:xfrm>
          <a:prstGeom prst="rect">
            <a:avLst/>
          </a:prstGeom>
          <a:solidFill>
            <a:srgbClr val="FFFFFF"/>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500"/>
              <a:buFont typeface="Calibri"/>
              <a:buNone/>
            </a:pPr>
            <a:endParaRPr sz="1500" b="0" i="0" u="none" strike="noStrike" cap="none">
              <a:solidFill>
                <a:srgbClr val="000000"/>
              </a:solidFill>
              <a:latin typeface="Calibri"/>
              <a:ea typeface="Calibri"/>
              <a:cs typeface="Calibri"/>
              <a:sym typeface="Calibri"/>
            </a:endParaRPr>
          </a:p>
        </p:txBody>
      </p:sp>
      <p:sp>
        <p:nvSpPr>
          <p:cNvPr id="1017" name="Google Shape;1017;g625fbb7380_0_274"/>
          <p:cNvSpPr/>
          <p:nvPr/>
        </p:nvSpPr>
        <p:spPr>
          <a:xfrm>
            <a:off x="2419347" y="1709328"/>
            <a:ext cx="1625100" cy="237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500" b="0" i="0" u="none" strike="noStrike" cap="none">
                <a:solidFill>
                  <a:srgbClr val="000000"/>
                </a:solidFill>
                <a:latin typeface="Calibri"/>
                <a:ea typeface="Calibri"/>
                <a:cs typeface="Calibri"/>
                <a:sym typeface="Calibri"/>
              </a:rPr>
              <a:t>Fulva RPC Library</a:t>
            </a:r>
            <a:endParaRPr/>
          </a:p>
        </p:txBody>
      </p:sp>
      <p:sp>
        <p:nvSpPr>
          <p:cNvPr id="1018" name="Google Shape;1018;g625fbb7380_0_274"/>
          <p:cNvSpPr/>
          <p:nvPr/>
        </p:nvSpPr>
        <p:spPr>
          <a:xfrm>
            <a:off x="835305" y="1941578"/>
            <a:ext cx="4381500" cy="553200"/>
          </a:xfrm>
          <a:prstGeom prst="roundRect">
            <a:avLst>
              <a:gd name="adj" fmla="val 16667"/>
            </a:avLst>
          </a:prstGeom>
          <a:noFill/>
          <a:ln w="12700" cap="flat" cmpd="sng">
            <a:solidFill>
              <a:srgbClr val="000000"/>
            </a:solidFill>
            <a:prstDash val="dash"/>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019" name="Google Shape;1019;g625fbb7380_0_274"/>
          <p:cNvSpPr/>
          <p:nvPr/>
        </p:nvSpPr>
        <p:spPr>
          <a:xfrm>
            <a:off x="-41452" y="1538374"/>
            <a:ext cx="1143900" cy="686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dirty="0">
                <a:solidFill>
                  <a:srgbClr val="000000"/>
                </a:solidFill>
                <a:latin typeface="Calibri"/>
                <a:ea typeface="Calibri"/>
                <a:cs typeface="Calibri"/>
                <a:sym typeface="Calibri"/>
              </a:rPr>
              <a:t>data-</a:t>
            </a:r>
            <a:endParaRPr sz="1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dirty="0">
                <a:solidFill>
                  <a:srgbClr val="000000"/>
                </a:solidFill>
                <a:latin typeface="Calibri"/>
                <a:ea typeface="Calibri"/>
                <a:cs typeface="Calibri"/>
                <a:sym typeface="Calibri"/>
              </a:rPr>
              <a:t>center</a:t>
            </a:r>
            <a:endParaRPr dirty="0"/>
          </a:p>
        </p:txBody>
      </p:sp>
      <p:sp>
        <p:nvSpPr>
          <p:cNvPr id="1020" name="Google Shape;1020;g625fbb7380_0_274"/>
          <p:cNvSpPr/>
          <p:nvPr/>
        </p:nvSpPr>
        <p:spPr>
          <a:xfrm>
            <a:off x="4404365" y="2310284"/>
            <a:ext cx="313500" cy="227700"/>
          </a:xfrm>
          <a:prstGeom prst="rect">
            <a:avLst/>
          </a:prstGeom>
          <a:noFill/>
          <a:ln>
            <a:noFill/>
          </a:ln>
        </p:spPr>
        <p:txBody>
          <a:bodyPr spcFirstLastPara="1" wrap="square" lIns="34275" tIns="34275" rIns="34275" bIns="34275" anchor="t"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No</a:t>
            </a:r>
            <a:endParaRPr/>
          </a:p>
        </p:txBody>
      </p:sp>
      <p:cxnSp>
        <p:nvCxnSpPr>
          <p:cNvPr id="1021" name="Google Shape;1021;g625fbb7380_0_274"/>
          <p:cNvCxnSpPr/>
          <p:nvPr/>
        </p:nvCxnSpPr>
        <p:spPr>
          <a:xfrm>
            <a:off x="4437601" y="2323584"/>
            <a:ext cx="1200" cy="313200"/>
          </a:xfrm>
          <a:prstGeom prst="straightConnector1">
            <a:avLst/>
          </a:prstGeom>
          <a:noFill/>
          <a:ln w="9525" cap="flat" cmpd="sng">
            <a:solidFill>
              <a:schemeClr val="tx2"/>
            </a:solidFill>
            <a:prstDash val="solid"/>
            <a:miter lim="8000"/>
            <a:headEnd type="none" w="sm" len="sm"/>
            <a:tailEnd type="triangle" w="med" len="med"/>
          </a:ln>
        </p:spPr>
      </p:cxnSp>
      <p:cxnSp>
        <p:nvCxnSpPr>
          <p:cNvPr id="1022" name="Google Shape;1022;g625fbb7380_0_274"/>
          <p:cNvCxnSpPr/>
          <p:nvPr/>
        </p:nvCxnSpPr>
        <p:spPr>
          <a:xfrm flipH="1">
            <a:off x="5176817" y="2194236"/>
            <a:ext cx="4800" cy="478200"/>
          </a:xfrm>
          <a:prstGeom prst="straightConnector1">
            <a:avLst/>
          </a:prstGeom>
          <a:noFill/>
          <a:ln w="9525" cap="flat" cmpd="sng">
            <a:solidFill>
              <a:schemeClr val="tx2"/>
            </a:solidFill>
            <a:prstDash val="solid"/>
            <a:miter lim="8000"/>
            <a:headEnd type="none" w="sm" len="sm"/>
            <a:tailEnd type="none" w="sm" len="sm"/>
          </a:ln>
        </p:spPr>
      </p:cxnSp>
      <p:sp>
        <p:nvSpPr>
          <p:cNvPr id="1023" name="Google Shape;1023;g625fbb7380_0_274"/>
          <p:cNvSpPr/>
          <p:nvPr/>
        </p:nvSpPr>
        <p:spPr>
          <a:xfrm>
            <a:off x="4831313" y="1984534"/>
            <a:ext cx="313500" cy="227700"/>
          </a:xfrm>
          <a:prstGeom prst="rect">
            <a:avLst/>
          </a:prstGeom>
          <a:noFill/>
          <a:ln>
            <a:noFill/>
          </a:ln>
        </p:spPr>
        <p:txBody>
          <a:bodyPr spcFirstLastPara="1" wrap="square" lIns="34275" tIns="34275" rIns="34275" bIns="34275" anchor="t"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Yes</a:t>
            </a:r>
            <a:endParaRPr/>
          </a:p>
        </p:txBody>
      </p:sp>
      <p:sp>
        <p:nvSpPr>
          <p:cNvPr id="1025" name="Google Shape;1025;g625fbb7380_0_274"/>
          <p:cNvSpPr/>
          <p:nvPr/>
        </p:nvSpPr>
        <p:spPr>
          <a:xfrm>
            <a:off x="593836" y="3734412"/>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1026" name="Google Shape;1026;g625fbb7380_0_274"/>
          <p:cNvGrpSpPr/>
          <p:nvPr/>
        </p:nvGrpSpPr>
        <p:grpSpPr>
          <a:xfrm>
            <a:off x="321312" y="4308213"/>
            <a:ext cx="759000" cy="237900"/>
            <a:chOff x="0" y="0"/>
            <a:chExt cx="759000" cy="237900"/>
          </a:xfrm>
        </p:grpSpPr>
        <p:sp>
          <p:nvSpPr>
            <p:cNvPr id="1027" name="Google Shape;1027;g625fbb7380_0_274"/>
            <p:cNvSpPr/>
            <p:nvPr/>
          </p:nvSpPr>
          <p:spPr>
            <a:xfrm>
              <a:off x="0" y="54115"/>
              <a:ext cx="7590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028" name="Google Shape;1028;g625fbb7380_0_274"/>
            <p:cNvSpPr/>
            <p:nvPr/>
          </p:nvSpPr>
          <p:spPr>
            <a:xfrm>
              <a:off x="0" y="0"/>
              <a:ext cx="7590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&lt;301, V&gt;</a:t>
              </a:r>
              <a:endParaRPr/>
            </a:p>
          </p:txBody>
        </p:sp>
      </p:grpSp>
      <p:sp>
        <p:nvSpPr>
          <p:cNvPr id="1029" name="Google Shape;1029;g625fbb7380_0_274"/>
          <p:cNvSpPr/>
          <p:nvPr/>
        </p:nvSpPr>
        <p:spPr>
          <a:xfrm>
            <a:off x="3548685" y="3380516"/>
            <a:ext cx="683100" cy="366000"/>
          </a:xfrm>
          <a:prstGeom prst="rect">
            <a:avLst/>
          </a:prstGeom>
          <a:noFill/>
          <a:ln>
            <a:noFill/>
          </a:ln>
        </p:spPr>
        <p:txBody>
          <a:bodyPr spcFirstLastPara="1" wrap="square" lIns="34275" tIns="34275" rIns="34275" bIns="34275" anchor="t" anchorCtr="0">
            <a:noAutofit/>
          </a:bodyPr>
          <a:lstStyle/>
          <a:p>
            <a:pPr marL="0" marR="0" lvl="0" indent="0" algn="l" rtl="0">
              <a:lnSpc>
                <a:spcPct val="8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Migration</a:t>
            </a:r>
            <a:endParaRPr/>
          </a:p>
          <a:p>
            <a:pPr marL="0" marR="0" lvl="0" indent="0" algn="l" rtl="0">
              <a:lnSpc>
                <a:spcPct val="8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controller</a:t>
            </a:r>
            <a:endParaRPr/>
          </a:p>
        </p:txBody>
      </p:sp>
      <p:cxnSp>
        <p:nvCxnSpPr>
          <p:cNvPr id="1030" name="Google Shape;1030;g625fbb7380_0_274"/>
          <p:cNvCxnSpPr/>
          <p:nvPr/>
        </p:nvCxnSpPr>
        <p:spPr>
          <a:xfrm>
            <a:off x="4826471" y="2189191"/>
            <a:ext cx="357600" cy="6300"/>
          </a:xfrm>
          <a:prstGeom prst="straightConnector1">
            <a:avLst/>
          </a:prstGeom>
          <a:noFill/>
          <a:ln w="9525" cap="flat" cmpd="sng">
            <a:solidFill>
              <a:schemeClr val="tx2"/>
            </a:solidFill>
            <a:prstDash val="solid"/>
            <a:miter lim="8000"/>
            <a:headEnd type="none" w="sm" len="sm"/>
            <a:tailEnd type="none" w="sm" len="sm"/>
          </a:ln>
        </p:spPr>
      </p:cxnSp>
      <p:cxnSp>
        <p:nvCxnSpPr>
          <p:cNvPr id="1031" name="Google Shape;1031;g625fbb7380_0_274"/>
          <p:cNvCxnSpPr/>
          <p:nvPr/>
        </p:nvCxnSpPr>
        <p:spPr>
          <a:xfrm flipH="1">
            <a:off x="4437436" y="1681040"/>
            <a:ext cx="4500" cy="373500"/>
          </a:xfrm>
          <a:prstGeom prst="straightConnector1">
            <a:avLst/>
          </a:prstGeom>
          <a:noFill/>
          <a:ln w="9525" cap="flat" cmpd="sng">
            <a:solidFill>
              <a:schemeClr val="tx2"/>
            </a:solidFill>
            <a:prstDash val="solid"/>
            <a:miter lim="8000"/>
            <a:headEnd type="none" w="sm" len="sm"/>
            <a:tailEnd type="none" w="sm" len="sm"/>
          </a:ln>
        </p:spPr>
      </p:cxnSp>
      <p:cxnSp>
        <p:nvCxnSpPr>
          <p:cNvPr id="1032" name="Google Shape;1032;g625fbb7380_0_274"/>
          <p:cNvCxnSpPr>
            <a:cxnSpLocks/>
          </p:cNvCxnSpPr>
          <p:nvPr/>
        </p:nvCxnSpPr>
        <p:spPr>
          <a:xfrm>
            <a:off x="4634336" y="2656890"/>
            <a:ext cx="410574" cy="331964"/>
          </a:xfrm>
          <a:prstGeom prst="straightConnector1">
            <a:avLst/>
          </a:prstGeom>
          <a:noFill/>
          <a:ln w="19050" cap="flat" cmpd="sng">
            <a:solidFill>
              <a:schemeClr val="tx2"/>
            </a:solidFill>
            <a:prstDash val="solid"/>
            <a:miter lim="8000"/>
            <a:headEnd type="triangle" w="med" len="med"/>
            <a:tailEnd type="none" w="sm" len="sm"/>
          </a:ln>
        </p:spPr>
      </p:cxnSp>
      <p:cxnSp>
        <p:nvCxnSpPr>
          <p:cNvPr id="1033" name="Google Shape;1033;g625fbb7380_0_274"/>
          <p:cNvCxnSpPr>
            <a:cxnSpLocks/>
          </p:cNvCxnSpPr>
          <p:nvPr/>
        </p:nvCxnSpPr>
        <p:spPr>
          <a:xfrm>
            <a:off x="5295078" y="2660761"/>
            <a:ext cx="325741" cy="360003"/>
          </a:xfrm>
          <a:prstGeom prst="straightConnector1">
            <a:avLst/>
          </a:prstGeom>
          <a:noFill/>
          <a:ln w="19050" cap="flat" cmpd="sng">
            <a:solidFill>
              <a:schemeClr val="tx2"/>
            </a:solidFill>
            <a:prstDash val="solid"/>
            <a:miter lim="8000"/>
            <a:headEnd type="triangle" w="med" len="med"/>
            <a:tailEnd type="none" w="sm" len="sm"/>
          </a:ln>
        </p:spPr>
      </p:cxnSp>
      <p:sp>
        <p:nvSpPr>
          <p:cNvPr id="1034" name="Google Shape;1034;g625fbb7380_0_274"/>
          <p:cNvSpPr/>
          <p:nvPr/>
        </p:nvSpPr>
        <p:spPr>
          <a:xfrm>
            <a:off x="592862" y="4110520"/>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1037" name="Google Shape;1037;g625fbb7380_0_274"/>
          <p:cNvSpPr/>
          <p:nvPr/>
        </p:nvSpPr>
        <p:spPr>
          <a:xfrm>
            <a:off x="2593400" y="1393246"/>
            <a:ext cx="10704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Client program 1</a:t>
            </a:r>
            <a:endParaRPr/>
          </a:p>
        </p:txBody>
      </p:sp>
      <p:sp>
        <p:nvSpPr>
          <p:cNvPr id="1045" name="Google Shape;1045;g625fbb7380_0_274"/>
          <p:cNvSpPr/>
          <p:nvPr/>
        </p:nvSpPr>
        <p:spPr>
          <a:xfrm>
            <a:off x="3785294" y="3700398"/>
            <a:ext cx="62858" cy="26006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046" name="Google Shape;1046;g625fbb7380_0_274"/>
          <p:cNvSpPr/>
          <p:nvPr/>
        </p:nvSpPr>
        <p:spPr>
          <a:xfrm>
            <a:off x="3765830" y="4277877"/>
            <a:ext cx="62858" cy="26006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047" name="Google Shape;1047;g625fbb7380_0_274"/>
          <p:cNvSpPr/>
          <p:nvPr/>
        </p:nvSpPr>
        <p:spPr>
          <a:xfrm>
            <a:off x="1794276" y="3376383"/>
            <a:ext cx="790200" cy="366000"/>
          </a:xfrm>
          <a:prstGeom prst="rect">
            <a:avLst/>
          </a:prstGeom>
          <a:noFill/>
          <a:ln>
            <a:noFill/>
          </a:ln>
        </p:spPr>
        <p:txBody>
          <a:bodyPr spcFirstLastPara="1" wrap="square" lIns="34275" tIns="34275" rIns="34275" bIns="34275" anchor="t" anchorCtr="0">
            <a:noAutofit/>
          </a:bodyPr>
          <a:lstStyle/>
          <a:p>
            <a:pPr marL="0" marR="0" lvl="0" indent="0" algn="l" rtl="0">
              <a:lnSpc>
                <a:spcPct val="8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Migration</a:t>
            </a:r>
            <a:endParaRPr/>
          </a:p>
          <a:p>
            <a:pPr marL="0" marR="0" lvl="0" indent="0" algn="l" rtl="0">
              <a:lnSpc>
                <a:spcPct val="8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controller</a:t>
            </a:r>
            <a:endParaRPr/>
          </a:p>
        </p:txBody>
      </p:sp>
      <p:cxnSp>
        <p:nvCxnSpPr>
          <p:cNvPr id="1048" name="Google Shape;1048;g625fbb7380_0_274"/>
          <p:cNvCxnSpPr/>
          <p:nvPr/>
        </p:nvCxnSpPr>
        <p:spPr>
          <a:xfrm>
            <a:off x="2247718" y="3845325"/>
            <a:ext cx="1420800" cy="16200"/>
          </a:xfrm>
          <a:prstGeom prst="straightConnector1">
            <a:avLst/>
          </a:prstGeom>
          <a:noFill/>
          <a:ln w="19050" cap="flat" cmpd="sng">
            <a:solidFill>
              <a:srgbClr val="000000"/>
            </a:solidFill>
            <a:prstDash val="lgDashDot"/>
            <a:miter lim="8000"/>
            <a:headEnd type="none" w="sm" len="sm"/>
            <a:tailEnd type="triangle" w="med" len="med"/>
          </a:ln>
        </p:spPr>
      </p:cxnSp>
      <p:sp>
        <p:nvSpPr>
          <p:cNvPr id="1052" name="Google Shape;1052;g625fbb7380_0_274"/>
          <p:cNvSpPr/>
          <p:nvPr/>
        </p:nvSpPr>
        <p:spPr>
          <a:xfrm>
            <a:off x="3822032" y="1682006"/>
            <a:ext cx="655218" cy="1974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dirty="0">
                <a:latin typeface="Calibri"/>
                <a:cs typeface="Calibri"/>
                <a:sym typeface="Calibri"/>
              </a:rPr>
              <a:t>Get(200)</a:t>
            </a:r>
            <a:endParaRPr dirty="0"/>
          </a:p>
        </p:txBody>
      </p:sp>
      <p:sp>
        <p:nvSpPr>
          <p:cNvPr id="1054" name="Google Shape;1054;g625fbb7380_0_274"/>
          <p:cNvSpPr/>
          <p:nvPr/>
        </p:nvSpPr>
        <p:spPr>
          <a:xfrm>
            <a:off x="3705112" y="3960258"/>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cxnSp>
        <p:nvCxnSpPr>
          <p:cNvPr id="1055" name="Google Shape;1055;g625fbb7380_0_274"/>
          <p:cNvCxnSpPr/>
          <p:nvPr/>
        </p:nvCxnSpPr>
        <p:spPr>
          <a:xfrm>
            <a:off x="1349568" y="4441307"/>
            <a:ext cx="721800" cy="0"/>
          </a:xfrm>
          <a:prstGeom prst="straightConnector1">
            <a:avLst/>
          </a:prstGeom>
          <a:noFill/>
          <a:ln w="19050" cap="flat" cmpd="sng">
            <a:solidFill>
              <a:srgbClr val="000000"/>
            </a:solidFill>
            <a:prstDash val="lgDashDot"/>
            <a:miter lim="8000"/>
            <a:headEnd type="none" w="sm" len="sm"/>
            <a:tailEnd type="triangle" w="med" len="med"/>
          </a:ln>
        </p:spPr>
      </p:cxnSp>
      <p:cxnSp>
        <p:nvCxnSpPr>
          <p:cNvPr id="1056" name="Google Shape;1056;g625fbb7380_0_274"/>
          <p:cNvCxnSpPr/>
          <p:nvPr/>
        </p:nvCxnSpPr>
        <p:spPr>
          <a:xfrm>
            <a:off x="1331606" y="3841216"/>
            <a:ext cx="733800" cy="4200"/>
          </a:xfrm>
          <a:prstGeom prst="straightConnector1">
            <a:avLst/>
          </a:prstGeom>
          <a:noFill/>
          <a:ln w="19050" cap="flat" cmpd="sng">
            <a:solidFill>
              <a:srgbClr val="000000"/>
            </a:solidFill>
            <a:prstDash val="lgDashDot"/>
            <a:miter lim="8000"/>
            <a:headEnd type="none" w="sm" len="sm"/>
            <a:tailEnd type="triangle" w="med" len="med"/>
          </a:ln>
        </p:spPr>
      </p:cxnSp>
      <p:grpSp>
        <p:nvGrpSpPr>
          <p:cNvPr id="1057" name="Google Shape;1057;g625fbb7380_0_274"/>
          <p:cNvGrpSpPr/>
          <p:nvPr/>
        </p:nvGrpSpPr>
        <p:grpSpPr>
          <a:xfrm>
            <a:off x="319903" y="4631695"/>
            <a:ext cx="759000" cy="237900"/>
            <a:chOff x="0" y="0"/>
            <a:chExt cx="759000" cy="237900"/>
          </a:xfrm>
        </p:grpSpPr>
        <p:sp>
          <p:nvSpPr>
            <p:cNvPr id="1058" name="Google Shape;1058;g625fbb7380_0_274"/>
            <p:cNvSpPr/>
            <p:nvPr/>
          </p:nvSpPr>
          <p:spPr>
            <a:xfrm>
              <a:off x="0" y="54115"/>
              <a:ext cx="7590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059" name="Google Shape;1059;g625fbb7380_0_274"/>
            <p:cNvSpPr/>
            <p:nvPr/>
          </p:nvSpPr>
          <p:spPr>
            <a:xfrm>
              <a:off x="0" y="0"/>
              <a:ext cx="7590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&lt;400, V&gt;</a:t>
              </a:r>
              <a:endParaRPr/>
            </a:p>
          </p:txBody>
        </p:sp>
      </p:grpSp>
      <p:sp>
        <p:nvSpPr>
          <p:cNvPr id="1060" name="Google Shape;1060;g625fbb7380_0_274"/>
          <p:cNvSpPr/>
          <p:nvPr/>
        </p:nvSpPr>
        <p:spPr>
          <a:xfrm>
            <a:off x="592861" y="4438084"/>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1063" name="Google Shape;1063;g625fbb7380_0_274"/>
          <p:cNvSpPr/>
          <p:nvPr/>
        </p:nvSpPr>
        <p:spPr>
          <a:xfrm>
            <a:off x="2118270" y="4297016"/>
            <a:ext cx="62858" cy="26006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064" name="Google Shape;1064;g625fbb7380_0_274"/>
          <p:cNvSpPr/>
          <p:nvPr/>
        </p:nvSpPr>
        <p:spPr>
          <a:xfrm>
            <a:off x="2112316" y="3696495"/>
            <a:ext cx="62858" cy="26006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grpSp>
        <p:nvGrpSpPr>
          <p:cNvPr id="1065" name="Google Shape;1065;g625fbb7380_0_274"/>
          <p:cNvGrpSpPr/>
          <p:nvPr/>
        </p:nvGrpSpPr>
        <p:grpSpPr>
          <a:xfrm>
            <a:off x="919875" y="1967532"/>
            <a:ext cx="3080991" cy="647400"/>
            <a:chOff x="-1" y="-1"/>
            <a:chExt cx="3080991" cy="647400"/>
          </a:xfrm>
        </p:grpSpPr>
        <p:sp>
          <p:nvSpPr>
            <p:cNvPr id="1066" name="Google Shape;1066;g625fbb7380_0_274"/>
            <p:cNvSpPr/>
            <p:nvPr/>
          </p:nvSpPr>
          <p:spPr>
            <a:xfrm>
              <a:off x="110690" y="23842"/>
              <a:ext cx="2970300" cy="4287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067" name="Google Shape;1067;g625fbb7380_0_274"/>
            <p:cNvSpPr/>
            <p:nvPr/>
          </p:nvSpPr>
          <p:spPr>
            <a:xfrm>
              <a:off x="-1" y="-1"/>
              <a:ext cx="3004500" cy="647400"/>
            </a:xfrm>
            <a:prstGeom prst="rect">
              <a:avLst/>
            </a:prstGeom>
            <a:noFill/>
            <a:ln>
              <a:noFill/>
            </a:ln>
          </p:spPr>
          <p:txBody>
            <a:bodyPr spcFirstLastPara="1" wrap="square" lIns="34275" tIns="34275" rIns="34275" bIns="34275" anchor="t" anchorCtr="0">
              <a:noAutofit/>
            </a:bodyPr>
            <a:lstStyle/>
            <a:p>
              <a:pPr marL="0" marR="0" lvl="0" indent="0" algn="r" rtl="0">
                <a:lnSpc>
                  <a:spcPct val="100000"/>
                </a:lnSpc>
                <a:spcBef>
                  <a:spcPts val="0"/>
                </a:spcBef>
                <a:spcAft>
                  <a:spcPts val="0"/>
                </a:spcAft>
                <a:buClr>
                  <a:srgbClr val="000000"/>
                </a:buClr>
                <a:buSzPts val="1000"/>
                <a:buFont typeface="Calibri"/>
                <a:buNone/>
              </a:pPr>
              <a:r>
                <a:rPr lang="en-US" sz="1000" b="1" i="0" u="none" strike="noStrike" cap="none" dirty="0">
                  <a:solidFill>
                    <a:srgbClr val="00B050"/>
                  </a:solidFill>
                  <a:latin typeface="Calibri"/>
                  <a:ea typeface="Calibri"/>
                  <a:cs typeface="Calibri"/>
                  <a:sym typeface="Calibri"/>
                </a:rPr>
                <a:t>Migration Completion Ranges: [1-100]</a:t>
              </a:r>
              <a:endParaRPr sz="1000" b="1" i="0" u="none" strike="noStrike" cap="none" dirty="0">
                <a:solidFill>
                  <a:srgbClr val="00B050"/>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1000"/>
                <a:buFont typeface="Calibri"/>
                <a:buNone/>
              </a:pPr>
              <a:endParaRPr dirty="0"/>
            </a:p>
          </p:txBody>
        </p:sp>
      </p:grpSp>
      <p:grpSp>
        <p:nvGrpSpPr>
          <p:cNvPr id="1068" name="Google Shape;1068;g625fbb7380_0_274"/>
          <p:cNvGrpSpPr/>
          <p:nvPr/>
        </p:nvGrpSpPr>
        <p:grpSpPr>
          <a:xfrm>
            <a:off x="4048732" y="2054798"/>
            <a:ext cx="777846" cy="268800"/>
            <a:chOff x="0" y="0"/>
            <a:chExt cx="777846" cy="268800"/>
          </a:xfrm>
        </p:grpSpPr>
        <p:sp>
          <p:nvSpPr>
            <p:cNvPr id="1069" name="Google Shape;1069;g625fbb7380_0_274"/>
            <p:cNvSpPr/>
            <p:nvPr/>
          </p:nvSpPr>
          <p:spPr>
            <a:xfrm>
              <a:off x="0" y="0"/>
              <a:ext cx="777600" cy="268800"/>
            </a:xfrm>
            <a:prstGeom prst="diamond">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070" name="Google Shape;1070;g625fbb7380_0_274"/>
            <p:cNvSpPr/>
            <p:nvPr/>
          </p:nvSpPr>
          <p:spPr>
            <a:xfrm>
              <a:off x="49746" y="2353"/>
              <a:ext cx="7281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000"/>
                <a:buFont typeface="Calibri"/>
                <a:buNone/>
              </a:pPr>
              <a:r>
                <a:rPr lang="en-US" sz="1000" b="0" i="0" u="none" strike="noStrike" cap="none">
                  <a:solidFill>
                    <a:srgbClr val="000000"/>
                  </a:solidFill>
                  <a:latin typeface="Calibri"/>
                  <a:ea typeface="Calibri"/>
                  <a:cs typeface="Calibri"/>
                  <a:sym typeface="Calibri"/>
                </a:rPr>
                <a:t>migrated?</a:t>
              </a:r>
              <a:endParaRPr/>
            </a:p>
          </p:txBody>
        </p:sp>
      </p:grpSp>
      <p:grpSp>
        <p:nvGrpSpPr>
          <p:cNvPr id="1071" name="Google Shape;1071;g625fbb7380_0_274"/>
          <p:cNvGrpSpPr/>
          <p:nvPr/>
        </p:nvGrpSpPr>
        <p:grpSpPr>
          <a:xfrm>
            <a:off x="4118384" y="1429902"/>
            <a:ext cx="593703" cy="259238"/>
            <a:chOff x="0" y="0"/>
            <a:chExt cx="593703" cy="259238"/>
          </a:xfrm>
        </p:grpSpPr>
        <p:grpSp>
          <p:nvGrpSpPr>
            <p:cNvPr id="1072" name="Google Shape;1072;g625fbb7380_0_274"/>
            <p:cNvGrpSpPr/>
            <p:nvPr/>
          </p:nvGrpSpPr>
          <p:grpSpPr>
            <a:xfrm>
              <a:off x="0" y="0"/>
              <a:ext cx="518400" cy="227700"/>
              <a:chOff x="0" y="0"/>
              <a:chExt cx="518400" cy="227700"/>
            </a:xfrm>
          </p:grpSpPr>
          <p:sp>
            <p:nvSpPr>
              <p:cNvPr id="1073" name="Google Shape;1073;g625fbb7380_0_274"/>
              <p:cNvSpPr/>
              <p:nvPr/>
            </p:nvSpPr>
            <p:spPr>
              <a:xfrm>
                <a:off x="0" y="21732"/>
                <a:ext cx="518400" cy="1842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074" name="Google Shape;1074;g625fbb7380_0_274"/>
              <p:cNvSpPr/>
              <p:nvPr/>
            </p:nvSpPr>
            <p:spPr>
              <a:xfrm>
                <a:off x="0" y="0"/>
                <a:ext cx="518400" cy="2277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a:p>
            </p:txBody>
          </p:sp>
        </p:grpSp>
        <p:grpSp>
          <p:nvGrpSpPr>
            <p:cNvPr id="1075" name="Google Shape;1075;g625fbb7380_0_274"/>
            <p:cNvGrpSpPr/>
            <p:nvPr/>
          </p:nvGrpSpPr>
          <p:grpSpPr>
            <a:xfrm>
              <a:off x="33446" y="23241"/>
              <a:ext cx="518400" cy="227700"/>
              <a:chOff x="0" y="0"/>
              <a:chExt cx="518400" cy="227700"/>
            </a:xfrm>
          </p:grpSpPr>
          <p:sp>
            <p:nvSpPr>
              <p:cNvPr id="1076" name="Google Shape;1076;g625fbb7380_0_274"/>
              <p:cNvSpPr/>
              <p:nvPr/>
            </p:nvSpPr>
            <p:spPr>
              <a:xfrm>
                <a:off x="0" y="21732"/>
                <a:ext cx="518400" cy="1842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077" name="Google Shape;1077;g625fbb7380_0_274"/>
              <p:cNvSpPr/>
              <p:nvPr/>
            </p:nvSpPr>
            <p:spPr>
              <a:xfrm>
                <a:off x="0" y="0"/>
                <a:ext cx="518400" cy="2277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a:p>
            </p:txBody>
          </p:sp>
        </p:grpSp>
        <p:grpSp>
          <p:nvGrpSpPr>
            <p:cNvPr id="1078" name="Google Shape;1078;g625fbb7380_0_274"/>
            <p:cNvGrpSpPr/>
            <p:nvPr/>
          </p:nvGrpSpPr>
          <p:grpSpPr>
            <a:xfrm>
              <a:off x="75303" y="61838"/>
              <a:ext cx="518400" cy="197400"/>
              <a:chOff x="0" y="0"/>
              <a:chExt cx="518400" cy="197400"/>
            </a:xfrm>
          </p:grpSpPr>
          <p:sp>
            <p:nvSpPr>
              <p:cNvPr id="1079" name="Google Shape;1079;g625fbb7380_0_274"/>
              <p:cNvSpPr/>
              <p:nvPr/>
            </p:nvSpPr>
            <p:spPr>
              <a:xfrm>
                <a:off x="0" y="6477"/>
                <a:ext cx="518400" cy="1842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200"/>
                  <a:buFont typeface="Calibri"/>
                  <a:buNone/>
                </a:pPr>
                <a:endParaRPr sz="1200" b="0" i="0" u="none" strike="noStrike" cap="none">
                  <a:solidFill>
                    <a:srgbClr val="000000"/>
                  </a:solidFill>
                  <a:latin typeface="Calibri"/>
                  <a:ea typeface="Calibri"/>
                  <a:cs typeface="Calibri"/>
                  <a:sym typeface="Calibri"/>
                </a:endParaRPr>
              </a:p>
            </p:txBody>
          </p:sp>
          <p:sp>
            <p:nvSpPr>
              <p:cNvPr id="1080" name="Google Shape;1080;g625fbb7380_0_274"/>
              <p:cNvSpPr/>
              <p:nvPr/>
            </p:nvSpPr>
            <p:spPr>
              <a:xfrm>
                <a:off x="0" y="0"/>
                <a:ext cx="518400" cy="1974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read(…)</a:t>
                </a:r>
                <a:endParaRPr/>
              </a:p>
            </p:txBody>
          </p:sp>
        </p:grpSp>
      </p:grpSp>
      <p:grpSp>
        <p:nvGrpSpPr>
          <p:cNvPr id="1081" name="Google Shape;1081;g625fbb7380_0_274"/>
          <p:cNvGrpSpPr/>
          <p:nvPr/>
        </p:nvGrpSpPr>
        <p:grpSpPr>
          <a:xfrm>
            <a:off x="4860861" y="1431428"/>
            <a:ext cx="668133" cy="256690"/>
            <a:chOff x="0" y="0"/>
            <a:chExt cx="668133" cy="256690"/>
          </a:xfrm>
        </p:grpSpPr>
        <p:grpSp>
          <p:nvGrpSpPr>
            <p:cNvPr id="1082" name="Google Shape;1082;g625fbb7380_0_274"/>
            <p:cNvGrpSpPr/>
            <p:nvPr/>
          </p:nvGrpSpPr>
          <p:grpSpPr>
            <a:xfrm>
              <a:off x="0" y="0"/>
              <a:ext cx="565800" cy="227700"/>
              <a:chOff x="0" y="0"/>
              <a:chExt cx="565800" cy="227700"/>
            </a:xfrm>
          </p:grpSpPr>
          <p:sp>
            <p:nvSpPr>
              <p:cNvPr id="1083" name="Google Shape;1083;g625fbb7380_0_274"/>
              <p:cNvSpPr/>
              <p:nvPr/>
            </p:nvSpPr>
            <p:spPr>
              <a:xfrm>
                <a:off x="0" y="21732"/>
                <a:ext cx="565800" cy="184200"/>
              </a:xfrm>
              <a:prstGeom prst="rect">
                <a:avLst/>
              </a:prstGeom>
              <a:solidFill>
                <a:srgbClr val="FFFFFF"/>
              </a:solidFill>
              <a:ln w="12700" cap="flat" cmpd="sng">
                <a:solidFill>
                  <a:srgbClr val="31538F"/>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084" name="Google Shape;1084;g625fbb7380_0_274"/>
              <p:cNvSpPr/>
              <p:nvPr/>
            </p:nvSpPr>
            <p:spPr>
              <a:xfrm>
                <a:off x="0" y="0"/>
                <a:ext cx="565800" cy="2277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get(…)</a:t>
                </a:r>
                <a:endParaRPr/>
              </a:p>
            </p:txBody>
          </p:sp>
        </p:grpSp>
        <p:grpSp>
          <p:nvGrpSpPr>
            <p:cNvPr id="1085" name="Google Shape;1085;g625fbb7380_0_274"/>
            <p:cNvGrpSpPr/>
            <p:nvPr/>
          </p:nvGrpSpPr>
          <p:grpSpPr>
            <a:xfrm>
              <a:off x="36515" y="23241"/>
              <a:ext cx="565800" cy="227700"/>
              <a:chOff x="0" y="0"/>
              <a:chExt cx="565800" cy="227700"/>
            </a:xfrm>
          </p:grpSpPr>
          <p:sp>
            <p:nvSpPr>
              <p:cNvPr id="1086" name="Google Shape;1086;g625fbb7380_0_274"/>
              <p:cNvSpPr/>
              <p:nvPr/>
            </p:nvSpPr>
            <p:spPr>
              <a:xfrm>
                <a:off x="0" y="21732"/>
                <a:ext cx="565800" cy="184200"/>
              </a:xfrm>
              <a:prstGeom prst="rect">
                <a:avLst/>
              </a:prstGeom>
              <a:solidFill>
                <a:srgbClr val="FFFFFF"/>
              </a:solidFill>
              <a:ln w="12700" cap="flat" cmpd="sng">
                <a:solidFill>
                  <a:srgbClr val="31538F"/>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087" name="Google Shape;1087;g625fbb7380_0_274"/>
              <p:cNvSpPr/>
              <p:nvPr/>
            </p:nvSpPr>
            <p:spPr>
              <a:xfrm>
                <a:off x="0" y="0"/>
                <a:ext cx="565800" cy="2277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get(…)</a:t>
                </a:r>
                <a:endParaRPr/>
              </a:p>
            </p:txBody>
          </p:sp>
        </p:grpSp>
        <p:grpSp>
          <p:nvGrpSpPr>
            <p:cNvPr id="1088" name="Google Shape;1088;g625fbb7380_0_274"/>
            <p:cNvGrpSpPr/>
            <p:nvPr/>
          </p:nvGrpSpPr>
          <p:grpSpPr>
            <a:xfrm>
              <a:off x="102333" y="59290"/>
              <a:ext cx="565800" cy="197400"/>
              <a:chOff x="0" y="0"/>
              <a:chExt cx="565800" cy="197400"/>
            </a:xfrm>
          </p:grpSpPr>
          <p:sp>
            <p:nvSpPr>
              <p:cNvPr id="1089" name="Google Shape;1089;g625fbb7380_0_274"/>
              <p:cNvSpPr/>
              <p:nvPr/>
            </p:nvSpPr>
            <p:spPr>
              <a:xfrm>
                <a:off x="0" y="15305"/>
                <a:ext cx="565800" cy="166800"/>
              </a:xfrm>
              <a:prstGeom prst="rect">
                <a:avLst/>
              </a:prstGeom>
              <a:solidFill>
                <a:srgbClr val="FFFFFF"/>
              </a:solidFill>
              <a:ln w="12700" cap="flat" cmpd="sng">
                <a:solidFill>
                  <a:srgbClr val="31538F"/>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200"/>
                  <a:buFont typeface="Calibri"/>
                  <a:buNone/>
                </a:pPr>
                <a:endParaRPr sz="1200" b="0" i="0" u="none" strike="noStrike" cap="none">
                  <a:solidFill>
                    <a:srgbClr val="000000"/>
                  </a:solidFill>
                  <a:latin typeface="Calibri"/>
                  <a:ea typeface="Calibri"/>
                  <a:cs typeface="Calibri"/>
                  <a:sym typeface="Calibri"/>
                </a:endParaRPr>
              </a:p>
            </p:txBody>
          </p:sp>
          <p:sp>
            <p:nvSpPr>
              <p:cNvPr id="1090" name="Google Shape;1090;g625fbb7380_0_274"/>
              <p:cNvSpPr/>
              <p:nvPr/>
            </p:nvSpPr>
            <p:spPr>
              <a:xfrm>
                <a:off x="0" y="0"/>
                <a:ext cx="565800" cy="1974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write(…)</a:t>
                </a:r>
                <a:endParaRPr/>
              </a:p>
            </p:txBody>
          </p:sp>
        </p:grpSp>
      </p:grpSp>
      <p:sp>
        <p:nvSpPr>
          <p:cNvPr id="1091" name="Google Shape;1091;g625fbb7380_0_274"/>
          <p:cNvSpPr/>
          <p:nvPr/>
        </p:nvSpPr>
        <p:spPr>
          <a:xfrm>
            <a:off x="2044260" y="3947347"/>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1104" name="Google Shape;1104;g625fbb7380_0_274"/>
          <p:cNvSpPr/>
          <p:nvPr/>
        </p:nvSpPr>
        <p:spPr>
          <a:xfrm>
            <a:off x="2894066" y="3937196"/>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dirty="0">
                <a:solidFill>
                  <a:srgbClr val="000000"/>
                </a:solidFill>
                <a:latin typeface="Calibri"/>
                <a:ea typeface="Calibri"/>
                <a:cs typeface="Calibri"/>
                <a:sym typeface="Calibri"/>
              </a:rPr>
              <a:t>....</a:t>
            </a:r>
            <a:endParaRPr dirty="0"/>
          </a:p>
        </p:txBody>
      </p:sp>
      <p:cxnSp>
        <p:nvCxnSpPr>
          <p:cNvPr id="1105" name="Google Shape;1105;g625fbb7380_0_274"/>
          <p:cNvCxnSpPr>
            <a:cxnSpLocks/>
          </p:cNvCxnSpPr>
          <p:nvPr/>
        </p:nvCxnSpPr>
        <p:spPr>
          <a:xfrm>
            <a:off x="5179144" y="2665223"/>
            <a:ext cx="281914" cy="360003"/>
          </a:xfrm>
          <a:prstGeom prst="straightConnector1">
            <a:avLst/>
          </a:prstGeom>
          <a:noFill/>
          <a:ln w="19050" cap="flat" cmpd="sng">
            <a:solidFill>
              <a:schemeClr val="tx2"/>
            </a:solidFill>
            <a:prstDash val="solid"/>
            <a:miter lim="8000"/>
            <a:headEnd type="none" w="sm" len="sm"/>
            <a:tailEnd type="triangle" w="med" len="med"/>
          </a:ln>
        </p:spPr>
      </p:cxnSp>
      <p:cxnSp>
        <p:nvCxnSpPr>
          <p:cNvPr id="1106" name="Google Shape;1106;g625fbb7380_0_274"/>
          <p:cNvCxnSpPr/>
          <p:nvPr/>
        </p:nvCxnSpPr>
        <p:spPr>
          <a:xfrm flipH="1">
            <a:off x="1627898" y="2663989"/>
            <a:ext cx="2146200" cy="333300"/>
          </a:xfrm>
          <a:prstGeom prst="straightConnector1">
            <a:avLst/>
          </a:prstGeom>
          <a:noFill/>
          <a:ln w="19050" cap="flat" cmpd="sng">
            <a:solidFill>
              <a:schemeClr val="tx2"/>
            </a:solidFill>
            <a:prstDash val="solid"/>
            <a:miter lim="8000"/>
            <a:headEnd type="triangle" w="med" len="med"/>
            <a:tailEnd type="none" w="sm" len="sm"/>
          </a:ln>
        </p:spPr>
      </p:cxnSp>
      <p:sp>
        <p:nvSpPr>
          <p:cNvPr id="1108" name="Google Shape;1108;g625fbb7380_0_274"/>
          <p:cNvSpPr txBox="1"/>
          <p:nvPr/>
        </p:nvSpPr>
        <p:spPr>
          <a:xfrm>
            <a:off x="5762146" y="1246024"/>
            <a:ext cx="3381854" cy="873838"/>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US" dirty="0"/>
              <a:t>Client needs only send read request to destination for tuples whose key is in MCR</a:t>
            </a:r>
            <a:endParaRPr dirty="0"/>
          </a:p>
        </p:txBody>
      </p:sp>
      <p:sp>
        <p:nvSpPr>
          <p:cNvPr id="133" name="Google Shape;1052;g625fbb7380_0_274"/>
          <p:cNvSpPr/>
          <p:nvPr/>
        </p:nvSpPr>
        <p:spPr>
          <a:xfrm>
            <a:off x="4472030" y="1694085"/>
            <a:ext cx="821985" cy="1974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dirty="0">
                <a:latin typeface="Calibri"/>
                <a:cs typeface="Calibri"/>
                <a:sym typeface="Calibri"/>
              </a:rPr>
              <a:t>Get(</a:t>
            </a:r>
            <a:r>
              <a:rPr lang="en-US" altLang="zh-TW" sz="1200" dirty="0">
                <a:latin typeface="Calibri"/>
                <a:cs typeface="Calibri"/>
                <a:sym typeface="Calibri"/>
              </a:rPr>
              <a:t>100</a:t>
            </a:r>
            <a:r>
              <a:rPr lang="en-US" sz="1200" dirty="0">
                <a:latin typeface="Calibri"/>
                <a:cs typeface="Calibri"/>
                <a:sym typeface="Calibri"/>
              </a:rPr>
              <a:t>)</a:t>
            </a:r>
            <a:endParaRPr dirty="0"/>
          </a:p>
        </p:txBody>
      </p:sp>
      <p:sp>
        <p:nvSpPr>
          <p:cNvPr id="130" name="Google Shape;964;g475845831e_0_50">
            <a:extLst>
              <a:ext uri="{FF2B5EF4-FFF2-40B4-BE49-F238E27FC236}">
                <a16:creationId xmlns:a16="http://schemas.microsoft.com/office/drawing/2014/main" id="{71D6DCCD-F02D-7B4D-8313-F37C5730BF2A}"/>
              </a:ext>
            </a:extLst>
          </p:cNvPr>
          <p:cNvSpPr txBox="1">
            <a:spLocks/>
          </p:cNvSpPr>
          <p:nvPr/>
        </p:nvSpPr>
        <p:spPr>
          <a:xfrm>
            <a:off x="244638" y="36047"/>
            <a:ext cx="7886700" cy="994200"/>
          </a:xfrm>
          <a:prstGeom prst="rect">
            <a:avLst/>
          </a:prstGeom>
          <a:noFill/>
          <a:ln>
            <a:noFill/>
          </a:ln>
        </p:spPr>
        <p:txBody>
          <a:bodyPr spcFirstLastPara="1" wrap="square" lIns="34275" tIns="34275" rIns="34275" bIns="34275" anchor="ctr"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000000"/>
              </a:buClr>
              <a:buSzPts val="4500"/>
              <a:buFont typeface="Calibri"/>
              <a:buNone/>
              <a:defRPr sz="45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800"/>
              <a:buFont typeface="Arial"/>
              <a:buNone/>
              <a:defRPr sz="2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2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2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2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2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2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2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2800" b="0" i="0" u="none" strike="noStrike" cap="none">
                <a:solidFill>
                  <a:srgbClr val="000000"/>
                </a:solidFill>
                <a:latin typeface="Arial"/>
                <a:ea typeface="Arial"/>
                <a:cs typeface="Arial"/>
                <a:sym typeface="Arial"/>
              </a:defRPr>
            </a:lvl9pPr>
          </a:lstStyle>
          <a:p>
            <a:pPr algn="l">
              <a:buSzPts val="3300"/>
            </a:pPr>
            <a:r>
              <a:rPr lang="en-US" sz="3200" dirty="0"/>
              <a:t>Migration Completion Ranges : Reduce Fulva’s extra bandwidth usage</a:t>
            </a:r>
            <a:endParaRPr lang="en-US" dirty="0"/>
          </a:p>
        </p:txBody>
      </p:sp>
      <p:sp>
        <p:nvSpPr>
          <p:cNvPr id="2" name="Slide Number Placeholder 1">
            <a:extLst>
              <a:ext uri="{FF2B5EF4-FFF2-40B4-BE49-F238E27FC236}">
                <a16:creationId xmlns:a16="http://schemas.microsoft.com/office/drawing/2014/main" id="{17041D2D-0FC4-2D4A-8A43-4C894F397B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131" name="Google Shape;1108;g625fbb7380_0_274">
            <a:extLst>
              <a:ext uri="{FF2B5EF4-FFF2-40B4-BE49-F238E27FC236}">
                <a16:creationId xmlns:a16="http://schemas.microsoft.com/office/drawing/2014/main" id="{C152B714-97E1-194C-9FD1-8B759E9E313C}"/>
              </a:ext>
            </a:extLst>
          </p:cNvPr>
          <p:cNvSpPr txBox="1"/>
          <p:nvPr/>
        </p:nvSpPr>
        <p:spPr>
          <a:xfrm>
            <a:off x="5762146" y="2053230"/>
            <a:ext cx="3293924" cy="873838"/>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US" dirty="0"/>
              <a:t>Suppose a client sends a read quest for the tuple of key 100, which is in MCR</a:t>
            </a:r>
            <a:endParaRPr dirty="0"/>
          </a:p>
        </p:txBody>
      </p:sp>
      <p:sp>
        <p:nvSpPr>
          <p:cNvPr id="134" name="Google Shape;1108;g625fbb7380_0_274">
            <a:extLst>
              <a:ext uri="{FF2B5EF4-FFF2-40B4-BE49-F238E27FC236}">
                <a16:creationId xmlns:a16="http://schemas.microsoft.com/office/drawing/2014/main" id="{D0339E27-2C22-7E45-AD61-7AEF6C8133C4}"/>
              </a:ext>
            </a:extLst>
          </p:cNvPr>
          <p:cNvSpPr txBox="1"/>
          <p:nvPr/>
        </p:nvSpPr>
        <p:spPr>
          <a:xfrm>
            <a:off x="5804392" y="2970619"/>
            <a:ext cx="3381854" cy="873838"/>
          </a:xfrm>
          <a:prstGeom prst="rect">
            <a:avLst/>
          </a:prstGeom>
          <a:noFill/>
          <a:ln>
            <a:noFill/>
          </a:ln>
        </p:spPr>
        <p:txBody>
          <a:bodyPr spcFirstLastPara="1" wrap="square" lIns="91425" tIns="91425" rIns="91425" bIns="91425" anchor="t" anchorCtr="0">
            <a:noAutofit/>
          </a:bodyPr>
          <a:lstStyle/>
          <a:p>
            <a:pPr marL="457200" lvl="0" indent="-317500">
              <a:buSzPts val="1400"/>
              <a:buChar char="●"/>
            </a:pPr>
            <a:r>
              <a:rPr lang="en-US" dirty="0"/>
              <a:t>Suppose a client sends a read quest for the tuple of key 200, which is not in MCR</a:t>
            </a:r>
            <a:endParaRPr dirty="0"/>
          </a:p>
        </p:txBody>
      </p:sp>
      <p:sp>
        <p:nvSpPr>
          <p:cNvPr id="135" name="Google Shape;1108;g625fbb7380_0_274">
            <a:extLst>
              <a:ext uri="{FF2B5EF4-FFF2-40B4-BE49-F238E27FC236}">
                <a16:creationId xmlns:a16="http://schemas.microsoft.com/office/drawing/2014/main" id="{94886469-585B-FF47-A579-2757ECE39EDB}"/>
              </a:ext>
            </a:extLst>
          </p:cNvPr>
          <p:cNvSpPr txBox="1"/>
          <p:nvPr/>
        </p:nvSpPr>
        <p:spPr>
          <a:xfrm>
            <a:off x="5804392" y="3843237"/>
            <a:ext cx="3215320" cy="570699"/>
          </a:xfrm>
          <a:prstGeom prst="rect">
            <a:avLst/>
          </a:prstGeom>
          <a:noFill/>
          <a:ln>
            <a:noFill/>
          </a:ln>
        </p:spPr>
        <p:txBody>
          <a:bodyPr spcFirstLastPara="1" wrap="square" lIns="91425" tIns="91425" rIns="91425" bIns="91425" anchor="t" anchorCtr="0">
            <a:noAutofit/>
          </a:bodyPr>
          <a:lstStyle/>
          <a:p>
            <a:pPr marL="457200" lvl="0" indent="-317500">
              <a:buSzPts val="1400"/>
              <a:buChar char="●"/>
            </a:pPr>
            <a:r>
              <a:rPr lang="en-US" dirty="0"/>
              <a:t>MCR is effective in reducing the number of double-read requests from client. </a:t>
            </a:r>
            <a:endParaRPr dirty="0"/>
          </a:p>
        </p:txBody>
      </p:sp>
      <p:grpSp>
        <p:nvGrpSpPr>
          <p:cNvPr id="214" name="Google Shape;886;g475845831e_0_50">
            <a:extLst>
              <a:ext uri="{FF2B5EF4-FFF2-40B4-BE49-F238E27FC236}">
                <a16:creationId xmlns:a16="http://schemas.microsoft.com/office/drawing/2014/main" id="{6954F774-ED5F-534E-B2E1-8CA4F2A1070F}"/>
              </a:ext>
            </a:extLst>
          </p:cNvPr>
          <p:cNvGrpSpPr/>
          <p:nvPr/>
        </p:nvGrpSpPr>
        <p:grpSpPr>
          <a:xfrm>
            <a:off x="4702902" y="3667188"/>
            <a:ext cx="783300" cy="237900"/>
            <a:chOff x="0" y="0"/>
            <a:chExt cx="783300" cy="237900"/>
          </a:xfrm>
        </p:grpSpPr>
        <p:sp>
          <p:nvSpPr>
            <p:cNvPr id="215" name="Google Shape;887;g475845831e_0_50">
              <a:extLst>
                <a:ext uri="{FF2B5EF4-FFF2-40B4-BE49-F238E27FC236}">
                  <a16:creationId xmlns:a16="http://schemas.microsoft.com/office/drawing/2014/main" id="{D76FE76B-3F89-4E4B-8233-0B1349105401}"/>
                </a:ext>
              </a:extLst>
            </p:cNvPr>
            <p:cNvSpPr/>
            <p:nvPr/>
          </p:nvSpPr>
          <p:spPr>
            <a:xfrm>
              <a:off x="0" y="57478"/>
              <a:ext cx="783300" cy="1230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16" name="Google Shape;888;g475845831e_0_50">
              <a:extLst>
                <a:ext uri="{FF2B5EF4-FFF2-40B4-BE49-F238E27FC236}">
                  <a16:creationId xmlns:a16="http://schemas.microsoft.com/office/drawing/2014/main" id="{03740B99-4C9D-E94E-BBE6-A679E0445C77}"/>
                </a:ext>
              </a:extLst>
            </p:cNvPr>
            <p:cNvSpPr/>
            <p:nvPr/>
          </p:nvSpPr>
          <p:spPr>
            <a:xfrm>
              <a:off x="0" y="0"/>
              <a:ext cx="7833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&lt;1, </a:t>
              </a:r>
              <a:r>
                <a:rPr lang="en-US" altLang="zh-TW" sz="1100" b="0" i="0" u="none" strike="noStrike" cap="none" dirty="0">
                  <a:solidFill>
                    <a:srgbClr val="000000"/>
                  </a:solidFill>
                  <a:latin typeface="Calibri"/>
                  <a:ea typeface="Calibri"/>
                  <a:cs typeface="Calibri"/>
                  <a:sym typeface="Calibri"/>
                </a:rPr>
                <a:t>V</a:t>
              </a:r>
              <a:r>
                <a:rPr lang="en-US" sz="1100" b="0" i="0" u="none" strike="noStrike" cap="none" dirty="0">
                  <a:solidFill>
                    <a:srgbClr val="000000"/>
                  </a:solidFill>
                  <a:latin typeface="Calibri"/>
                  <a:ea typeface="Calibri"/>
                  <a:cs typeface="Calibri"/>
                  <a:sym typeface="Calibri"/>
                </a:rPr>
                <a:t>&gt;</a:t>
              </a:r>
              <a:endParaRPr dirty="0"/>
            </a:p>
          </p:txBody>
        </p:sp>
      </p:grpSp>
      <p:grpSp>
        <p:nvGrpSpPr>
          <p:cNvPr id="217" name="Google Shape;889;g475845831e_0_50">
            <a:extLst>
              <a:ext uri="{FF2B5EF4-FFF2-40B4-BE49-F238E27FC236}">
                <a16:creationId xmlns:a16="http://schemas.microsoft.com/office/drawing/2014/main" id="{C33A8FB3-92ED-2C4C-86CA-FF66A9DC9FEA}"/>
              </a:ext>
            </a:extLst>
          </p:cNvPr>
          <p:cNvGrpSpPr/>
          <p:nvPr/>
        </p:nvGrpSpPr>
        <p:grpSpPr>
          <a:xfrm>
            <a:off x="4711741" y="3844935"/>
            <a:ext cx="776100" cy="237900"/>
            <a:chOff x="0" y="0"/>
            <a:chExt cx="776100" cy="237900"/>
          </a:xfrm>
        </p:grpSpPr>
        <p:sp>
          <p:nvSpPr>
            <p:cNvPr id="218" name="Google Shape;890;g475845831e_0_50">
              <a:extLst>
                <a:ext uri="{FF2B5EF4-FFF2-40B4-BE49-F238E27FC236}">
                  <a16:creationId xmlns:a16="http://schemas.microsoft.com/office/drawing/2014/main" id="{4EBA9A7C-380F-1F40-AAA3-892C400BB0FD}"/>
                </a:ext>
              </a:extLst>
            </p:cNvPr>
            <p:cNvSpPr/>
            <p:nvPr/>
          </p:nvSpPr>
          <p:spPr>
            <a:xfrm>
              <a:off x="0" y="67929"/>
              <a:ext cx="776100" cy="1020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19" name="Google Shape;891;g475845831e_0_50">
              <a:extLst>
                <a:ext uri="{FF2B5EF4-FFF2-40B4-BE49-F238E27FC236}">
                  <a16:creationId xmlns:a16="http://schemas.microsoft.com/office/drawing/2014/main" id="{34BD7DFB-C9FD-1E4C-8211-335FCC41DA7D}"/>
                </a:ext>
              </a:extLst>
            </p:cNvPr>
            <p:cNvSpPr/>
            <p:nvPr/>
          </p:nvSpPr>
          <p:spPr>
            <a:xfrm>
              <a:off x="0" y="0"/>
              <a:ext cx="7761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&lt;50, </a:t>
              </a:r>
              <a:r>
                <a:rPr lang="en-US" altLang="zh-TW" sz="1100" b="0" i="0" u="none" strike="noStrike" cap="none" dirty="0">
                  <a:solidFill>
                    <a:srgbClr val="000000"/>
                  </a:solidFill>
                  <a:latin typeface="Calibri"/>
                  <a:ea typeface="Calibri"/>
                  <a:cs typeface="Calibri"/>
                  <a:sym typeface="Calibri"/>
                </a:rPr>
                <a:t>V</a:t>
              </a:r>
              <a:r>
                <a:rPr lang="en-US" sz="1100" b="0" i="0" u="none" strike="noStrike" cap="none" dirty="0">
                  <a:solidFill>
                    <a:srgbClr val="000000"/>
                  </a:solidFill>
                  <a:latin typeface="Calibri"/>
                  <a:ea typeface="Calibri"/>
                  <a:cs typeface="Calibri"/>
                  <a:sym typeface="Calibri"/>
                </a:rPr>
                <a:t>&gt;</a:t>
              </a:r>
              <a:endParaRPr dirty="0"/>
            </a:p>
          </p:txBody>
        </p:sp>
      </p:grpSp>
      <p:sp>
        <p:nvSpPr>
          <p:cNvPr id="220" name="Google Shape;895;g475845831e_0_50">
            <a:extLst>
              <a:ext uri="{FF2B5EF4-FFF2-40B4-BE49-F238E27FC236}">
                <a16:creationId xmlns:a16="http://schemas.microsoft.com/office/drawing/2014/main" id="{4AA13E31-16AC-5445-AA39-0FE74565DD0B}"/>
              </a:ext>
            </a:extLst>
          </p:cNvPr>
          <p:cNvSpPr/>
          <p:nvPr/>
        </p:nvSpPr>
        <p:spPr>
          <a:xfrm>
            <a:off x="4957388" y="3692446"/>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dirty="0">
                <a:solidFill>
                  <a:srgbClr val="000000"/>
                </a:solidFill>
                <a:latin typeface="Calibri"/>
                <a:ea typeface="Calibri"/>
                <a:cs typeface="Calibri"/>
                <a:sym typeface="Calibri"/>
              </a:rPr>
              <a:t>....</a:t>
            </a:r>
            <a:endParaRPr dirty="0"/>
          </a:p>
        </p:txBody>
      </p:sp>
      <p:grpSp>
        <p:nvGrpSpPr>
          <p:cNvPr id="221" name="Google Shape;905;g475845831e_0_50">
            <a:extLst>
              <a:ext uri="{FF2B5EF4-FFF2-40B4-BE49-F238E27FC236}">
                <a16:creationId xmlns:a16="http://schemas.microsoft.com/office/drawing/2014/main" id="{6F571A1F-35A2-E34F-AAF2-9666D66F4270}"/>
              </a:ext>
            </a:extLst>
          </p:cNvPr>
          <p:cNvGrpSpPr/>
          <p:nvPr/>
        </p:nvGrpSpPr>
        <p:grpSpPr>
          <a:xfrm>
            <a:off x="4728060" y="4254932"/>
            <a:ext cx="767700" cy="237900"/>
            <a:chOff x="0" y="-1"/>
            <a:chExt cx="767700" cy="237900"/>
          </a:xfrm>
        </p:grpSpPr>
        <p:sp>
          <p:nvSpPr>
            <p:cNvPr id="222" name="Google Shape;906;g475845831e_0_50">
              <a:extLst>
                <a:ext uri="{FF2B5EF4-FFF2-40B4-BE49-F238E27FC236}">
                  <a16:creationId xmlns:a16="http://schemas.microsoft.com/office/drawing/2014/main" id="{7193D722-7357-D54E-985F-31600D433579}"/>
                </a:ext>
              </a:extLst>
            </p:cNvPr>
            <p:cNvSpPr/>
            <p:nvPr/>
          </p:nvSpPr>
          <p:spPr>
            <a:xfrm>
              <a:off x="0" y="42583"/>
              <a:ext cx="767700" cy="1527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Arial"/>
                <a:ea typeface="Arial"/>
                <a:cs typeface="Arial"/>
                <a:sym typeface="Arial"/>
              </a:endParaRPr>
            </a:p>
          </p:txBody>
        </p:sp>
        <p:sp>
          <p:nvSpPr>
            <p:cNvPr id="223" name="Google Shape;907;g475845831e_0_50">
              <a:extLst>
                <a:ext uri="{FF2B5EF4-FFF2-40B4-BE49-F238E27FC236}">
                  <a16:creationId xmlns:a16="http://schemas.microsoft.com/office/drawing/2014/main" id="{3C8E7DE0-C355-5846-BE7A-AC64145BA62D}"/>
                </a:ext>
              </a:extLst>
            </p:cNvPr>
            <p:cNvSpPr/>
            <p:nvPr/>
          </p:nvSpPr>
          <p:spPr>
            <a:xfrm>
              <a:off x="0" y="-1"/>
              <a:ext cx="7677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&lt;100, V&gt;</a:t>
              </a:r>
              <a:endParaRPr dirty="0"/>
            </a:p>
          </p:txBody>
        </p:sp>
      </p:grpSp>
      <p:grpSp>
        <p:nvGrpSpPr>
          <p:cNvPr id="224" name="Google Shape;908;g475845831e_0_50">
            <a:extLst>
              <a:ext uri="{FF2B5EF4-FFF2-40B4-BE49-F238E27FC236}">
                <a16:creationId xmlns:a16="http://schemas.microsoft.com/office/drawing/2014/main" id="{510E69E7-EDAC-F647-A1B2-BFAB26693619}"/>
              </a:ext>
            </a:extLst>
          </p:cNvPr>
          <p:cNvGrpSpPr/>
          <p:nvPr/>
        </p:nvGrpSpPr>
        <p:grpSpPr>
          <a:xfrm>
            <a:off x="4736080" y="4483324"/>
            <a:ext cx="775200" cy="237900"/>
            <a:chOff x="0" y="-1"/>
            <a:chExt cx="775200" cy="237900"/>
          </a:xfrm>
        </p:grpSpPr>
        <p:sp>
          <p:nvSpPr>
            <p:cNvPr id="225" name="Google Shape;909;g475845831e_0_50">
              <a:extLst>
                <a:ext uri="{FF2B5EF4-FFF2-40B4-BE49-F238E27FC236}">
                  <a16:creationId xmlns:a16="http://schemas.microsoft.com/office/drawing/2014/main" id="{82710FFF-DF32-6642-8008-227D2CD60C28}"/>
                </a:ext>
              </a:extLst>
            </p:cNvPr>
            <p:cNvSpPr/>
            <p:nvPr/>
          </p:nvSpPr>
          <p:spPr>
            <a:xfrm>
              <a:off x="0" y="58319"/>
              <a:ext cx="775200" cy="1212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26" name="Google Shape;910;g475845831e_0_50">
              <a:extLst>
                <a:ext uri="{FF2B5EF4-FFF2-40B4-BE49-F238E27FC236}">
                  <a16:creationId xmlns:a16="http://schemas.microsoft.com/office/drawing/2014/main" id="{05760458-A64F-D840-A108-F0B9ADB45D2D}"/>
                </a:ext>
              </a:extLst>
            </p:cNvPr>
            <p:cNvSpPr/>
            <p:nvPr/>
          </p:nvSpPr>
          <p:spPr>
            <a:xfrm>
              <a:off x="0" y="-1"/>
              <a:ext cx="7752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&lt;500, V&gt;</a:t>
              </a:r>
              <a:endParaRPr dirty="0"/>
            </a:p>
          </p:txBody>
        </p:sp>
      </p:grpSp>
      <p:sp>
        <p:nvSpPr>
          <p:cNvPr id="227" name="Google Shape;911;g475845831e_0_50">
            <a:extLst>
              <a:ext uri="{FF2B5EF4-FFF2-40B4-BE49-F238E27FC236}">
                <a16:creationId xmlns:a16="http://schemas.microsoft.com/office/drawing/2014/main" id="{AA9DA1F9-7B8D-544C-9038-68178925C370}"/>
              </a:ext>
            </a:extLst>
          </p:cNvPr>
          <p:cNvSpPr/>
          <p:nvPr/>
        </p:nvSpPr>
        <p:spPr>
          <a:xfrm>
            <a:off x="4945584" y="4307300"/>
            <a:ext cx="521100" cy="258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dirty="0">
                <a:solidFill>
                  <a:srgbClr val="000000"/>
                </a:solidFill>
                <a:latin typeface="Calibri"/>
                <a:ea typeface="Calibri"/>
                <a:cs typeface="Calibri"/>
                <a:sym typeface="Calibri"/>
              </a:rPr>
              <a:t>....</a:t>
            </a:r>
            <a:endParaRPr dirty="0"/>
          </a:p>
        </p:txBody>
      </p:sp>
      <p:sp>
        <p:nvSpPr>
          <p:cNvPr id="228" name="Google Shape;927;g475845831e_0_50">
            <a:extLst>
              <a:ext uri="{FF2B5EF4-FFF2-40B4-BE49-F238E27FC236}">
                <a16:creationId xmlns:a16="http://schemas.microsoft.com/office/drawing/2014/main" id="{3D8666FF-3575-D944-96BA-007ACA03CF24}"/>
              </a:ext>
            </a:extLst>
          </p:cNvPr>
          <p:cNvSpPr/>
          <p:nvPr/>
        </p:nvSpPr>
        <p:spPr>
          <a:xfrm>
            <a:off x="4950837" y="4076943"/>
            <a:ext cx="3384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229" name="Google Shape;955;g475845831e_0_50">
            <a:extLst>
              <a:ext uri="{FF2B5EF4-FFF2-40B4-BE49-F238E27FC236}">
                <a16:creationId xmlns:a16="http://schemas.microsoft.com/office/drawing/2014/main" id="{D3E6DA97-4926-AC4F-B988-23F5ECA73958}"/>
              </a:ext>
            </a:extLst>
          </p:cNvPr>
          <p:cNvGrpSpPr/>
          <p:nvPr/>
        </p:nvGrpSpPr>
        <p:grpSpPr>
          <a:xfrm>
            <a:off x="4714297" y="4022806"/>
            <a:ext cx="782400" cy="237900"/>
            <a:chOff x="0" y="0"/>
            <a:chExt cx="782400" cy="237900"/>
          </a:xfrm>
        </p:grpSpPr>
        <p:sp>
          <p:nvSpPr>
            <p:cNvPr id="230" name="Google Shape;956;g475845831e_0_50">
              <a:extLst>
                <a:ext uri="{FF2B5EF4-FFF2-40B4-BE49-F238E27FC236}">
                  <a16:creationId xmlns:a16="http://schemas.microsoft.com/office/drawing/2014/main" id="{1CEA44B3-DCBD-BD4D-A192-3B68758842A0}"/>
                </a:ext>
              </a:extLst>
            </p:cNvPr>
            <p:cNvSpPr/>
            <p:nvPr/>
          </p:nvSpPr>
          <p:spPr>
            <a:xfrm>
              <a:off x="0" y="54115"/>
              <a:ext cx="7824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31" name="Google Shape;957;g475845831e_0_50">
              <a:extLst>
                <a:ext uri="{FF2B5EF4-FFF2-40B4-BE49-F238E27FC236}">
                  <a16:creationId xmlns:a16="http://schemas.microsoft.com/office/drawing/2014/main" id="{8BE59223-1D51-CD47-8865-110755F8C8C0}"/>
                </a:ext>
              </a:extLst>
            </p:cNvPr>
            <p:cNvSpPr/>
            <p:nvPr/>
          </p:nvSpPr>
          <p:spPr>
            <a:xfrm>
              <a:off x="0" y="0"/>
              <a:ext cx="7824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&lt;51,V&gt;</a:t>
              </a:r>
              <a:endParaRPr dirty="0"/>
            </a:p>
          </p:txBody>
        </p:sp>
      </p:grpSp>
      <p:grpSp>
        <p:nvGrpSpPr>
          <p:cNvPr id="232" name="Google Shape;958;g475845831e_0_50">
            <a:extLst>
              <a:ext uri="{FF2B5EF4-FFF2-40B4-BE49-F238E27FC236}">
                <a16:creationId xmlns:a16="http://schemas.microsoft.com/office/drawing/2014/main" id="{FAF76A65-B040-A94D-B4D1-28E8235527DB}"/>
              </a:ext>
            </a:extLst>
          </p:cNvPr>
          <p:cNvGrpSpPr/>
          <p:nvPr/>
        </p:nvGrpSpPr>
        <p:grpSpPr>
          <a:xfrm>
            <a:off x="4744652" y="4741943"/>
            <a:ext cx="775200" cy="237900"/>
            <a:chOff x="0" y="-1"/>
            <a:chExt cx="775200" cy="237900"/>
          </a:xfrm>
        </p:grpSpPr>
        <p:sp>
          <p:nvSpPr>
            <p:cNvPr id="233" name="Google Shape;959;g475845831e_0_50">
              <a:extLst>
                <a:ext uri="{FF2B5EF4-FFF2-40B4-BE49-F238E27FC236}">
                  <a16:creationId xmlns:a16="http://schemas.microsoft.com/office/drawing/2014/main" id="{311CAD01-E81F-5241-9222-4128DB66A75A}"/>
                </a:ext>
              </a:extLst>
            </p:cNvPr>
            <p:cNvSpPr/>
            <p:nvPr/>
          </p:nvSpPr>
          <p:spPr>
            <a:xfrm>
              <a:off x="0" y="62523"/>
              <a:ext cx="775200" cy="1128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34" name="Google Shape;960;g475845831e_0_50">
              <a:extLst>
                <a:ext uri="{FF2B5EF4-FFF2-40B4-BE49-F238E27FC236}">
                  <a16:creationId xmlns:a16="http://schemas.microsoft.com/office/drawing/2014/main" id="{417936FF-58D8-E340-9AC8-ECAA7255089A}"/>
                </a:ext>
              </a:extLst>
            </p:cNvPr>
            <p:cNvSpPr/>
            <p:nvPr/>
          </p:nvSpPr>
          <p:spPr>
            <a:xfrm>
              <a:off x="0" y="-1"/>
              <a:ext cx="7752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&lt;600,V&gt;</a:t>
              </a:r>
              <a:endParaRPr dirty="0"/>
            </a:p>
          </p:txBody>
        </p:sp>
      </p:grpSp>
      <p:sp>
        <p:nvSpPr>
          <p:cNvPr id="235" name="Google Shape;911;g475845831e_0_50">
            <a:extLst>
              <a:ext uri="{FF2B5EF4-FFF2-40B4-BE49-F238E27FC236}">
                <a16:creationId xmlns:a16="http://schemas.microsoft.com/office/drawing/2014/main" id="{FD80F04B-8A49-8941-A7F8-E616CE980612}"/>
              </a:ext>
            </a:extLst>
          </p:cNvPr>
          <p:cNvSpPr/>
          <p:nvPr/>
        </p:nvSpPr>
        <p:spPr>
          <a:xfrm>
            <a:off x="4951689" y="4545183"/>
            <a:ext cx="521100" cy="258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dirty="0">
                <a:solidFill>
                  <a:srgbClr val="000000"/>
                </a:solidFill>
                <a:latin typeface="Calibri"/>
                <a:ea typeface="Calibri"/>
                <a:cs typeface="Calibri"/>
                <a:sym typeface="Calibri"/>
              </a:rPr>
              <a:t>....</a:t>
            </a:r>
            <a:endParaRPr dirty="0"/>
          </a:p>
        </p:txBody>
      </p:sp>
    </p:spTree>
    <p:extLst>
      <p:ext uri="{BB962C8B-B14F-4D97-AF65-F5344CB8AC3E}">
        <p14:creationId xmlns:p14="http://schemas.microsoft.com/office/powerpoint/2010/main" val="696744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fade">
                                      <p:cBhvr>
                                        <p:cTn id="7" dur="500"/>
                                        <p:tgtEl>
                                          <p:spTgt spid="1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1"/>
                                        </p:tgtEl>
                                        <p:attrNameLst>
                                          <p:attrName>style.visibility</p:attrName>
                                        </p:attrNameLst>
                                      </p:cBhvr>
                                      <p:to>
                                        <p:strVal val="visible"/>
                                      </p:to>
                                    </p:set>
                                    <p:animEffect transition="in" filter="fade">
                                      <p:cBhvr>
                                        <p:cTn id="12" dur="500"/>
                                        <p:tgtEl>
                                          <p:spTgt spid="103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3"/>
                                        </p:tgtEl>
                                        <p:attrNameLst>
                                          <p:attrName>style.visibility</p:attrName>
                                        </p:attrNameLst>
                                      </p:cBhvr>
                                      <p:to>
                                        <p:strVal val="visible"/>
                                      </p:to>
                                    </p:set>
                                    <p:animEffect transition="in" filter="fade">
                                      <p:cBhvr>
                                        <p:cTn id="15" dur="500"/>
                                        <p:tgtEl>
                                          <p:spTgt spid="133"/>
                                        </p:tgtEl>
                                      </p:cBhvr>
                                    </p:animEffect>
                                  </p:childTnLst>
                                </p:cTn>
                              </p:par>
                            </p:childTnLst>
                          </p:cTn>
                        </p:par>
                        <p:par>
                          <p:cTn id="16" fill="hold">
                            <p:stCondLst>
                              <p:cond delay="500"/>
                            </p:stCondLst>
                            <p:childTnLst>
                              <p:par>
                                <p:cTn id="17" presetID="32" presetClass="emph" presetSubtype="0" fill="hold" nodeType="afterEffect">
                                  <p:stCondLst>
                                    <p:cond delay="0"/>
                                  </p:stCondLst>
                                  <p:childTnLst>
                                    <p:animRot by="120000">
                                      <p:cBhvr>
                                        <p:cTn id="18" dur="100" fill="hold">
                                          <p:stCondLst>
                                            <p:cond delay="0"/>
                                          </p:stCondLst>
                                        </p:cTn>
                                        <p:tgtEl>
                                          <p:spTgt spid="1068"/>
                                        </p:tgtEl>
                                        <p:attrNameLst>
                                          <p:attrName>r</p:attrName>
                                        </p:attrNameLst>
                                      </p:cBhvr>
                                    </p:animRot>
                                    <p:animRot by="-240000">
                                      <p:cBhvr>
                                        <p:cTn id="19" dur="200" fill="hold">
                                          <p:stCondLst>
                                            <p:cond delay="200"/>
                                          </p:stCondLst>
                                        </p:cTn>
                                        <p:tgtEl>
                                          <p:spTgt spid="1068"/>
                                        </p:tgtEl>
                                        <p:attrNameLst>
                                          <p:attrName>r</p:attrName>
                                        </p:attrNameLst>
                                      </p:cBhvr>
                                    </p:animRot>
                                    <p:animRot by="240000">
                                      <p:cBhvr>
                                        <p:cTn id="20" dur="200" fill="hold">
                                          <p:stCondLst>
                                            <p:cond delay="400"/>
                                          </p:stCondLst>
                                        </p:cTn>
                                        <p:tgtEl>
                                          <p:spTgt spid="1068"/>
                                        </p:tgtEl>
                                        <p:attrNameLst>
                                          <p:attrName>r</p:attrName>
                                        </p:attrNameLst>
                                      </p:cBhvr>
                                    </p:animRot>
                                    <p:animRot by="-240000">
                                      <p:cBhvr>
                                        <p:cTn id="21" dur="200" fill="hold">
                                          <p:stCondLst>
                                            <p:cond delay="600"/>
                                          </p:stCondLst>
                                        </p:cTn>
                                        <p:tgtEl>
                                          <p:spTgt spid="1068"/>
                                        </p:tgtEl>
                                        <p:attrNameLst>
                                          <p:attrName>r</p:attrName>
                                        </p:attrNameLst>
                                      </p:cBhvr>
                                    </p:animRot>
                                    <p:animRot by="120000">
                                      <p:cBhvr>
                                        <p:cTn id="22" dur="200" fill="hold">
                                          <p:stCondLst>
                                            <p:cond delay="800"/>
                                          </p:stCondLst>
                                        </p:cTn>
                                        <p:tgtEl>
                                          <p:spTgt spid="1068"/>
                                        </p:tgtEl>
                                        <p:attrNameLst>
                                          <p:attrName>r</p:attrName>
                                        </p:attrNameLst>
                                      </p:cBhvr>
                                    </p:animRot>
                                  </p:childTnLst>
                                </p:cTn>
                              </p:par>
                            </p:childTnLst>
                          </p:cTn>
                        </p:par>
                        <p:par>
                          <p:cTn id="23" fill="hold">
                            <p:stCondLst>
                              <p:cond delay="1500"/>
                            </p:stCondLst>
                            <p:childTnLst>
                              <p:par>
                                <p:cTn id="24" presetID="10" presetClass="entr" presetSubtype="0" fill="hold" grpId="0" nodeType="afterEffect">
                                  <p:stCondLst>
                                    <p:cond delay="0"/>
                                  </p:stCondLst>
                                  <p:childTnLst>
                                    <p:set>
                                      <p:cBhvr>
                                        <p:cTn id="25" dur="1" fill="hold">
                                          <p:stCondLst>
                                            <p:cond delay="0"/>
                                          </p:stCondLst>
                                        </p:cTn>
                                        <p:tgtEl>
                                          <p:spTgt spid="1023"/>
                                        </p:tgtEl>
                                        <p:attrNameLst>
                                          <p:attrName>style.visibility</p:attrName>
                                        </p:attrNameLst>
                                      </p:cBhvr>
                                      <p:to>
                                        <p:strVal val="visible"/>
                                      </p:to>
                                    </p:set>
                                    <p:animEffect transition="in" filter="fade">
                                      <p:cBhvr>
                                        <p:cTn id="26" dur="500"/>
                                        <p:tgtEl>
                                          <p:spTgt spid="1023"/>
                                        </p:tgtEl>
                                      </p:cBhvr>
                                    </p:animEffect>
                                  </p:childTnLst>
                                </p:cTn>
                              </p:par>
                              <p:par>
                                <p:cTn id="27" presetID="10" presetClass="entr" presetSubtype="0" fill="hold" nodeType="withEffect">
                                  <p:stCondLst>
                                    <p:cond delay="0"/>
                                  </p:stCondLst>
                                  <p:childTnLst>
                                    <p:set>
                                      <p:cBhvr>
                                        <p:cTn id="28" dur="1" fill="hold">
                                          <p:stCondLst>
                                            <p:cond delay="0"/>
                                          </p:stCondLst>
                                        </p:cTn>
                                        <p:tgtEl>
                                          <p:spTgt spid="1030"/>
                                        </p:tgtEl>
                                        <p:attrNameLst>
                                          <p:attrName>style.visibility</p:attrName>
                                        </p:attrNameLst>
                                      </p:cBhvr>
                                      <p:to>
                                        <p:strVal val="visible"/>
                                      </p:to>
                                    </p:set>
                                    <p:animEffect transition="in" filter="fade">
                                      <p:cBhvr>
                                        <p:cTn id="29" dur="500"/>
                                        <p:tgtEl>
                                          <p:spTgt spid="1030"/>
                                        </p:tgtEl>
                                      </p:cBhvr>
                                    </p:animEffect>
                                  </p:childTnLst>
                                </p:cTn>
                              </p:par>
                              <p:par>
                                <p:cTn id="30" presetID="10" presetClass="entr" presetSubtype="0" fill="hold" nodeType="withEffect">
                                  <p:stCondLst>
                                    <p:cond delay="0"/>
                                  </p:stCondLst>
                                  <p:childTnLst>
                                    <p:set>
                                      <p:cBhvr>
                                        <p:cTn id="31" dur="1" fill="hold">
                                          <p:stCondLst>
                                            <p:cond delay="0"/>
                                          </p:stCondLst>
                                        </p:cTn>
                                        <p:tgtEl>
                                          <p:spTgt spid="1022"/>
                                        </p:tgtEl>
                                        <p:attrNameLst>
                                          <p:attrName>style.visibility</p:attrName>
                                        </p:attrNameLst>
                                      </p:cBhvr>
                                      <p:to>
                                        <p:strVal val="visible"/>
                                      </p:to>
                                    </p:set>
                                    <p:animEffect transition="in" filter="fade">
                                      <p:cBhvr>
                                        <p:cTn id="32" dur="500"/>
                                        <p:tgtEl>
                                          <p:spTgt spid="1022"/>
                                        </p:tgtEl>
                                      </p:cBhvr>
                                    </p:animEffect>
                                  </p:childTnLst>
                                </p:cTn>
                              </p:par>
                              <p:par>
                                <p:cTn id="33" presetID="10" presetClass="entr" presetSubtype="0" fill="hold" nodeType="withEffect">
                                  <p:stCondLst>
                                    <p:cond delay="0"/>
                                  </p:stCondLst>
                                  <p:childTnLst>
                                    <p:set>
                                      <p:cBhvr>
                                        <p:cTn id="34" dur="1" fill="hold">
                                          <p:stCondLst>
                                            <p:cond delay="0"/>
                                          </p:stCondLst>
                                        </p:cTn>
                                        <p:tgtEl>
                                          <p:spTgt spid="1105"/>
                                        </p:tgtEl>
                                        <p:attrNameLst>
                                          <p:attrName>style.visibility</p:attrName>
                                        </p:attrNameLst>
                                      </p:cBhvr>
                                      <p:to>
                                        <p:strVal val="visible"/>
                                      </p:to>
                                    </p:set>
                                    <p:animEffect transition="in" filter="fade">
                                      <p:cBhvr>
                                        <p:cTn id="35" dur="500"/>
                                        <p:tgtEl>
                                          <p:spTgt spid="1105"/>
                                        </p:tgtEl>
                                      </p:cBhvr>
                                    </p:animEffect>
                                  </p:childTnLst>
                                </p:cTn>
                              </p:par>
                              <p:par>
                                <p:cTn id="36" presetID="10" presetClass="entr" presetSubtype="0" fill="hold" nodeType="withEffect">
                                  <p:stCondLst>
                                    <p:cond delay="0"/>
                                  </p:stCondLst>
                                  <p:childTnLst>
                                    <p:set>
                                      <p:cBhvr>
                                        <p:cTn id="37" dur="1" fill="hold">
                                          <p:stCondLst>
                                            <p:cond delay="0"/>
                                          </p:stCondLst>
                                        </p:cTn>
                                        <p:tgtEl>
                                          <p:spTgt spid="1033"/>
                                        </p:tgtEl>
                                        <p:attrNameLst>
                                          <p:attrName>style.visibility</p:attrName>
                                        </p:attrNameLst>
                                      </p:cBhvr>
                                      <p:to>
                                        <p:strVal val="visible"/>
                                      </p:to>
                                    </p:set>
                                    <p:animEffect transition="in" filter="fade">
                                      <p:cBhvr>
                                        <p:cTn id="38" dur="500"/>
                                        <p:tgtEl>
                                          <p:spTgt spid="10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34"/>
                                        </p:tgtEl>
                                        <p:attrNameLst>
                                          <p:attrName>style.visibility</p:attrName>
                                        </p:attrNameLst>
                                      </p:cBhvr>
                                      <p:to>
                                        <p:strVal val="visible"/>
                                      </p:to>
                                    </p:set>
                                    <p:animEffect transition="in" filter="fade">
                                      <p:cBhvr>
                                        <p:cTn id="43" dur="500"/>
                                        <p:tgtEl>
                                          <p:spTgt spid="13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nodeType="clickEffect">
                                  <p:stCondLst>
                                    <p:cond delay="0"/>
                                  </p:stCondLst>
                                  <p:childTnLst>
                                    <p:animEffect transition="out" filter="fade">
                                      <p:cBhvr>
                                        <p:cTn id="47" dur="500"/>
                                        <p:tgtEl>
                                          <p:spTgt spid="1031"/>
                                        </p:tgtEl>
                                      </p:cBhvr>
                                    </p:animEffect>
                                    <p:set>
                                      <p:cBhvr>
                                        <p:cTn id="48" dur="1" fill="hold">
                                          <p:stCondLst>
                                            <p:cond delay="499"/>
                                          </p:stCondLst>
                                        </p:cTn>
                                        <p:tgtEl>
                                          <p:spTgt spid="1031"/>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500"/>
                                        <p:tgtEl>
                                          <p:spTgt spid="133"/>
                                        </p:tgtEl>
                                      </p:cBhvr>
                                    </p:animEffect>
                                    <p:set>
                                      <p:cBhvr>
                                        <p:cTn id="51" dur="1" fill="hold">
                                          <p:stCondLst>
                                            <p:cond delay="499"/>
                                          </p:stCondLst>
                                        </p:cTn>
                                        <p:tgtEl>
                                          <p:spTgt spid="133"/>
                                        </p:tgtEl>
                                        <p:attrNameLst>
                                          <p:attrName>style.visibility</p:attrName>
                                        </p:attrNameLst>
                                      </p:cBhvr>
                                      <p:to>
                                        <p:strVal val="hidden"/>
                                      </p:to>
                                    </p:set>
                                  </p:childTnLst>
                                </p:cTn>
                              </p:par>
                              <p:par>
                                <p:cTn id="52" presetID="10" presetClass="exit" presetSubtype="0" fill="hold" grpId="1" nodeType="withEffect">
                                  <p:stCondLst>
                                    <p:cond delay="0"/>
                                  </p:stCondLst>
                                  <p:childTnLst>
                                    <p:animEffect transition="out" filter="fade">
                                      <p:cBhvr>
                                        <p:cTn id="53" dur="500"/>
                                        <p:tgtEl>
                                          <p:spTgt spid="1023"/>
                                        </p:tgtEl>
                                      </p:cBhvr>
                                    </p:animEffect>
                                    <p:set>
                                      <p:cBhvr>
                                        <p:cTn id="54" dur="1" fill="hold">
                                          <p:stCondLst>
                                            <p:cond delay="499"/>
                                          </p:stCondLst>
                                        </p:cTn>
                                        <p:tgtEl>
                                          <p:spTgt spid="1023"/>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1030"/>
                                        </p:tgtEl>
                                      </p:cBhvr>
                                    </p:animEffect>
                                    <p:set>
                                      <p:cBhvr>
                                        <p:cTn id="57" dur="1" fill="hold">
                                          <p:stCondLst>
                                            <p:cond delay="499"/>
                                          </p:stCondLst>
                                        </p:cTn>
                                        <p:tgtEl>
                                          <p:spTgt spid="1030"/>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500"/>
                                        <p:tgtEl>
                                          <p:spTgt spid="1022"/>
                                        </p:tgtEl>
                                      </p:cBhvr>
                                    </p:animEffect>
                                    <p:set>
                                      <p:cBhvr>
                                        <p:cTn id="60" dur="1" fill="hold">
                                          <p:stCondLst>
                                            <p:cond delay="499"/>
                                          </p:stCondLst>
                                        </p:cTn>
                                        <p:tgtEl>
                                          <p:spTgt spid="1022"/>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500"/>
                                        <p:tgtEl>
                                          <p:spTgt spid="1033"/>
                                        </p:tgtEl>
                                      </p:cBhvr>
                                    </p:animEffect>
                                    <p:set>
                                      <p:cBhvr>
                                        <p:cTn id="63" dur="1" fill="hold">
                                          <p:stCondLst>
                                            <p:cond delay="499"/>
                                          </p:stCondLst>
                                        </p:cTn>
                                        <p:tgtEl>
                                          <p:spTgt spid="1033"/>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500"/>
                                        <p:tgtEl>
                                          <p:spTgt spid="1105"/>
                                        </p:tgtEl>
                                      </p:cBhvr>
                                    </p:animEffect>
                                    <p:set>
                                      <p:cBhvr>
                                        <p:cTn id="66" dur="1" fill="hold">
                                          <p:stCondLst>
                                            <p:cond delay="499"/>
                                          </p:stCondLst>
                                        </p:cTn>
                                        <p:tgtEl>
                                          <p:spTgt spid="1105"/>
                                        </p:tgtEl>
                                        <p:attrNameLst>
                                          <p:attrName>style.visibility</p:attrName>
                                        </p:attrNameLst>
                                      </p:cBhvr>
                                      <p:to>
                                        <p:strVal val="hidden"/>
                                      </p:to>
                                    </p:set>
                                  </p:childTnLst>
                                </p:cTn>
                              </p:par>
                            </p:childTnLst>
                          </p:cTn>
                        </p:par>
                        <p:par>
                          <p:cTn id="67" fill="hold">
                            <p:stCondLst>
                              <p:cond delay="500"/>
                            </p:stCondLst>
                            <p:childTnLst>
                              <p:par>
                                <p:cTn id="68" presetID="10" presetClass="entr" presetSubtype="0" fill="hold" nodeType="afterEffect">
                                  <p:stCondLst>
                                    <p:cond delay="0"/>
                                  </p:stCondLst>
                                  <p:childTnLst>
                                    <p:set>
                                      <p:cBhvr>
                                        <p:cTn id="69" dur="1" fill="hold">
                                          <p:stCondLst>
                                            <p:cond delay="0"/>
                                          </p:stCondLst>
                                        </p:cTn>
                                        <p:tgtEl>
                                          <p:spTgt spid="1031"/>
                                        </p:tgtEl>
                                        <p:attrNameLst>
                                          <p:attrName>style.visibility</p:attrName>
                                        </p:attrNameLst>
                                      </p:cBhvr>
                                      <p:to>
                                        <p:strVal val="visible"/>
                                      </p:to>
                                    </p:set>
                                    <p:animEffect transition="in" filter="fade">
                                      <p:cBhvr>
                                        <p:cTn id="70" dur="500"/>
                                        <p:tgtEl>
                                          <p:spTgt spid="103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052"/>
                                        </p:tgtEl>
                                        <p:attrNameLst>
                                          <p:attrName>style.visibility</p:attrName>
                                        </p:attrNameLst>
                                      </p:cBhvr>
                                      <p:to>
                                        <p:strVal val="visible"/>
                                      </p:to>
                                    </p:set>
                                    <p:animEffect transition="in" filter="fade">
                                      <p:cBhvr>
                                        <p:cTn id="73" dur="500"/>
                                        <p:tgtEl>
                                          <p:spTgt spid="1052"/>
                                        </p:tgtEl>
                                      </p:cBhvr>
                                    </p:animEffect>
                                  </p:childTnLst>
                                </p:cTn>
                              </p:par>
                            </p:childTnLst>
                          </p:cTn>
                        </p:par>
                        <p:par>
                          <p:cTn id="74" fill="hold">
                            <p:stCondLst>
                              <p:cond delay="1000"/>
                            </p:stCondLst>
                            <p:childTnLst>
                              <p:par>
                                <p:cTn id="75" presetID="32" presetClass="emph" presetSubtype="0" fill="hold" nodeType="afterEffect">
                                  <p:stCondLst>
                                    <p:cond delay="0"/>
                                  </p:stCondLst>
                                  <p:childTnLst>
                                    <p:animRot by="120000">
                                      <p:cBhvr>
                                        <p:cTn id="76" dur="100" fill="hold">
                                          <p:stCondLst>
                                            <p:cond delay="0"/>
                                          </p:stCondLst>
                                        </p:cTn>
                                        <p:tgtEl>
                                          <p:spTgt spid="1068"/>
                                        </p:tgtEl>
                                        <p:attrNameLst>
                                          <p:attrName>r</p:attrName>
                                        </p:attrNameLst>
                                      </p:cBhvr>
                                    </p:animRot>
                                    <p:animRot by="-240000">
                                      <p:cBhvr>
                                        <p:cTn id="77" dur="200" fill="hold">
                                          <p:stCondLst>
                                            <p:cond delay="200"/>
                                          </p:stCondLst>
                                        </p:cTn>
                                        <p:tgtEl>
                                          <p:spTgt spid="1068"/>
                                        </p:tgtEl>
                                        <p:attrNameLst>
                                          <p:attrName>r</p:attrName>
                                        </p:attrNameLst>
                                      </p:cBhvr>
                                    </p:animRot>
                                    <p:animRot by="240000">
                                      <p:cBhvr>
                                        <p:cTn id="78" dur="200" fill="hold">
                                          <p:stCondLst>
                                            <p:cond delay="400"/>
                                          </p:stCondLst>
                                        </p:cTn>
                                        <p:tgtEl>
                                          <p:spTgt spid="1068"/>
                                        </p:tgtEl>
                                        <p:attrNameLst>
                                          <p:attrName>r</p:attrName>
                                        </p:attrNameLst>
                                      </p:cBhvr>
                                    </p:animRot>
                                    <p:animRot by="-240000">
                                      <p:cBhvr>
                                        <p:cTn id="79" dur="200" fill="hold">
                                          <p:stCondLst>
                                            <p:cond delay="600"/>
                                          </p:stCondLst>
                                        </p:cTn>
                                        <p:tgtEl>
                                          <p:spTgt spid="1068"/>
                                        </p:tgtEl>
                                        <p:attrNameLst>
                                          <p:attrName>r</p:attrName>
                                        </p:attrNameLst>
                                      </p:cBhvr>
                                    </p:animRot>
                                    <p:animRot by="120000">
                                      <p:cBhvr>
                                        <p:cTn id="80" dur="200" fill="hold">
                                          <p:stCondLst>
                                            <p:cond delay="800"/>
                                          </p:stCondLst>
                                        </p:cTn>
                                        <p:tgtEl>
                                          <p:spTgt spid="1068"/>
                                        </p:tgtEl>
                                        <p:attrNameLst>
                                          <p:attrName>r</p:attrName>
                                        </p:attrNameLst>
                                      </p:cBhvr>
                                    </p:animRot>
                                  </p:childTnLst>
                                </p:cTn>
                              </p:par>
                            </p:childTnLst>
                          </p:cTn>
                        </p:par>
                        <p:par>
                          <p:cTn id="81" fill="hold">
                            <p:stCondLst>
                              <p:cond delay="2000"/>
                            </p:stCondLst>
                            <p:childTnLst>
                              <p:par>
                                <p:cTn id="82" presetID="10" presetClass="entr" presetSubtype="0" fill="hold" nodeType="afterEffect">
                                  <p:stCondLst>
                                    <p:cond delay="0"/>
                                  </p:stCondLst>
                                  <p:childTnLst>
                                    <p:set>
                                      <p:cBhvr>
                                        <p:cTn id="83" dur="1" fill="hold">
                                          <p:stCondLst>
                                            <p:cond delay="0"/>
                                          </p:stCondLst>
                                        </p:cTn>
                                        <p:tgtEl>
                                          <p:spTgt spid="1021"/>
                                        </p:tgtEl>
                                        <p:attrNameLst>
                                          <p:attrName>style.visibility</p:attrName>
                                        </p:attrNameLst>
                                      </p:cBhvr>
                                      <p:to>
                                        <p:strVal val="visible"/>
                                      </p:to>
                                    </p:set>
                                    <p:animEffect transition="in" filter="fade">
                                      <p:cBhvr>
                                        <p:cTn id="84" dur="500"/>
                                        <p:tgtEl>
                                          <p:spTgt spid="1021"/>
                                        </p:tgtEl>
                                      </p:cBhvr>
                                    </p:animEffect>
                                  </p:childTnLst>
                                </p:cTn>
                              </p:par>
                              <p:par>
                                <p:cTn id="85" presetID="10" presetClass="entr" presetSubtype="0" fill="hold" nodeType="withEffect">
                                  <p:stCondLst>
                                    <p:cond delay="0"/>
                                  </p:stCondLst>
                                  <p:childTnLst>
                                    <p:set>
                                      <p:cBhvr>
                                        <p:cTn id="86" dur="1" fill="hold">
                                          <p:stCondLst>
                                            <p:cond delay="0"/>
                                          </p:stCondLst>
                                        </p:cTn>
                                        <p:tgtEl>
                                          <p:spTgt spid="990"/>
                                        </p:tgtEl>
                                        <p:attrNameLst>
                                          <p:attrName>style.visibility</p:attrName>
                                        </p:attrNameLst>
                                      </p:cBhvr>
                                      <p:to>
                                        <p:strVal val="visible"/>
                                      </p:to>
                                    </p:set>
                                    <p:animEffect transition="in" filter="fade">
                                      <p:cBhvr>
                                        <p:cTn id="87" dur="500"/>
                                        <p:tgtEl>
                                          <p:spTgt spid="990"/>
                                        </p:tgtEl>
                                      </p:cBhvr>
                                    </p:animEffect>
                                  </p:childTnLst>
                                </p:cTn>
                              </p:par>
                              <p:par>
                                <p:cTn id="88" presetID="10" presetClass="entr" presetSubtype="0" fill="hold" nodeType="withEffect">
                                  <p:stCondLst>
                                    <p:cond delay="0"/>
                                  </p:stCondLst>
                                  <p:childTnLst>
                                    <p:set>
                                      <p:cBhvr>
                                        <p:cTn id="89" dur="1" fill="hold">
                                          <p:stCondLst>
                                            <p:cond delay="0"/>
                                          </p:stCondLst>
                                        </p:cTn>
                                        <p:tgtEl>
                                          <p:spTgt spid="991"/>
                                        </p:tgtEl>
                                        <p:attrNameLst>
                                          <p:attrName>style.visibility</p:attrName>
                                        </p:attrNameLst>
                                      </p:cBhvr>
                                      <p:to>
                                        <p:strVal val="visible"/>
                                      </p:to>
                                    </p:set>
                                    <p:animEffect transition="in" filter="fade">
                                      <p:cBhvr>
                                        <p:cTn id="90" dur="500"/>
                                        <p:tgtEl>
                                          <p:spTgt spid="99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020"/>
                                        </p:tgtEl>
                                        <p:attrNameLst>
                                          <p:attrName>style.visibility</p:attrName>
                                        </p:attrNameLst>
                                      </p:cBhvr>
                                      <p:to>
                                        <p:strVal val="visible"/>
                                      </p:to>
                                    </p:set>
                                    <p:animEffect transition="in" filter="fade">
                                      <p:cBhvr>
                                        <p:cTn id="93" dur="500"/>
                                        <p:tgtEl>
                                          <p:spTgt spid="1020"/>
                                        </p:tgtEl>
                                      </p:cBhvr>
                                    </p:animEffect>
                                  </p:childTnLst>
                                </p:cTn>
                              </p:par>
                            </p:childTnLst>
                          </p:cTn>
                        </p:par>
                        <p:par>
                          <p:cTn id="94" fill="hold">
                            <p:stCondLst>
                              <p:cond delay="2500"/>
                            </p:stCondLst>
                            <p:childTnLst>
                              <p:par>
                                <p:cTn id="95" presetID="10" presetClass="entr" presetSubtype="0" fill="hold" nodeType="afterEffect">
                                  <p:stCondLst>
                                    <p:cond delay="0"/>
                                  </p:stCondLst>
                                  <p:childTnLst>
                                    <p:set>
                                      <p:cBhvr>
                                        <p:cTn id="96" dur="1" fill="hold">
                                          <p:stCondLst>
                                            <p:cond delay="0"/>
                                          </p:stCondLst>
                                        </p:cTn>
                                        <p:tgtEl>
                                          <p:spTgt spid="1106"/>
                                        </p:tgtEl>
                                        <p:attrNameLst>
                                          <p:attrName>style.visibility</p:attrName>
                                        </p:attrNameLst>
                                      </p:cBhvr>
                                      <p:to>
                                        <p:strVal val="visible"/>
                                      </p:to>
                                    </p:set>
                                    <p:animEffect transition="in" filter="fade">
                                      <p:cBhvr>
                                        <p:cTn id="97" dur="500"/>
                                        <p:tgtEl>
                                          <p:spTgt spid="1106"/>
                                        </p:tgtEl>
                                      </p:cBhvr>
                                    </p:animEffect>
                                  </p:childTnLst>
                                </p:cTn>
                              </p:par>
                              <p:par>
                                <p:cTn id="98" presetID="10" presetClass="entr" presetSubtype="0" fill="hold" nodeType="withEffect">
                                  <p:stCondLst>
                                    <p:cond delay="0"/>
                                  </p:stCondLst>
                                  <p:childTnLst>
                                    <p:set>
                                      <p:cBhvr>
                                        <p:cTn id="99" dur="1" fill="hold">
                                          <p:stCondLst>
                                            <p:cond delay="0"/>
                                          </p:stCondLst>
                                        </p:cTn>
                                        <p:tgtEl>
                                          <p:spTgt spid="1032"/>
                                        </p:tgtEl>
                                        <p:attrNameLst>
                                          <p:attrName>style.visibility</p:attrName>
                                        </p:attrNameLst>
                                      </p:cBhvr>
                                      <p:to>
                                        <p:strVal val="visible"/>
                                      </p:to>
                                    </p:set>
                                    <p:animEffect transition="in" filter="fade">
                                      <p:cBhvr>
                                        <p:cTn id="100" dur="500"/>
                                        <p:tgtEl>
                                          <p:spTgt spid="1032"/>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135"/>
                                        </p:tgtEl>
                                        <p:attrNameLst>
                                          <p:attrName>style.visibility</p:attrName>
                                        </p:attrNameLst>
                                      </p:cBhvr>
                                      <p:to>
                                        <p:strVal val="visible"/>
                                      </p:to>
                                    </p:set>
                                    <p:animEffect transition="in" filter="fade">
                                      <p:cBhvr>
                                        <p:cTn id="105"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0" grpId="0"/>
      <p:bldP spid="1023" grpId="0"/>
      <p:bldP spid="1023" grpId="1"/>
      <p:bldP spid="1052" grpId="0"/>
      <p:bldP spid="133" grpId="0"/>
      <p:bldP spid="133" grpId="1"/>
      <p:bldP spid="131" grpId="0"/>
      <p:bldP spid="134" grpId="0"/>
      <p:bldP spid="1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16"/>
          <p:cNvSpPr txBox="1">
            <a:spLocks noGrp="1"/>
          </p:cNvSpPr>
          <p:nvPr>
            <p:ph type="title"/>
          </p:nvPr>
        </p:nvSpPr>
        <p:spPr>
          <a:xfrm>
            <a:off x="628650" y="273844"/>
            <a:ext cx="7886700" cy="994200"/>
          </a:xfrm>
          <a:prstGeom prst="rect">
            <a:avLst/>
          </a:prstGeom>
          <a:noFill/>
          <a:ln>
            <a:noFill/>
          </a:ln>
        </p:spPr>
        <p:txBody>
          <a:bodyPr spcFirstLastPara="1" wrap="square" lIns="34275" tIns="34275" rIns="34275" bIns="34275" anchor="ctr" anchorCtr="0">
            <a:normAutofit fontScale="90000"/>
          </a:bodyPr>
          <a:lstStyle/>
          <a:p>
            <a:pPr>
              <a:buSzPts val="3135"/>
            </a:pPr>
            <a:r>
              <a:rPr lang="en-US" sz="3200" dirty="0"/>
              <a:t>However, MCR may not be effective in reducing extra bandwidth usage for high skew workload</a:t>
            </a:r>
            <a:endParaRPr dirty="0"/>
          </a:p>
        </p:txBody>
      </p:sp>
      <p:sp>
        <p:nvSpPr>
          <p:cNvPr id="5" name="Rectangle 4">
            <a:extLst>
              <a:ext uri="{FF2B5EF4-FFF2-40B4-BE49-F238E27FC236}">
                <a16:creationId xmlns:a16="http://schemas.microsoft.com/office/drawing/2014/main" id="{F4E25FA2-33E0-0541-A0D2-2D4797460B1A}"/>
              </a:ext>
            </a:extLst>
          </p:cNvPr>
          <p:cNvSpPr/>
          <p:nvPr/>
        </p:nvSpPr>
        <p:spPr>
          <a:xfrm>
            <a:off x="335434" y="3008957"/>
            <a:ext cx="2033194" cy="441063"/>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9607906-B82F-5642-9296-5FA5F04210CA}"/>
              </a:ext>
            </a:extLst>
          </p:cNvPr>
          <p:cNvSpPr/>
          <p:nvPr/>
        </p:nvSpPr>
        <p:spPr>
          <a:xfrm>
            <a:off x="3946493" y="3018299"/>
            <a:ext cx="87157" cy="441063"/>
          </a:xfrm>
          <a:prstGeom prst="rect">
            <a:avLst/>
          </a:prstGeom>
          <a:solidFill>
            <a:schemeClr val="accent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Brace 6">
            <a:extLst>
              <a:ext uri="{FF2B5EF4-FFF2-40B4-BE49-F238E27FC236}">
                <a16:creationId xmlns:a16="http://schemas.microsoft.com/office/drawing/2014/main" id="{A106A787-EB02-CE43-9AD9-36799EC3957D}"/>
              </a:ext>
            </a:extLst>
          </p:cNvPr>
          <p:cNvSpPr/>
          <p:nvPr/>
        </p:nvSpPr>
        <p:spPr>
          <a:xfrm rot="5400000" flipH="1">
            <a:off x="1228651" y="1791275"/>
            <a:ext cx="241987" cy="2033194"/>
          </a:xfrm>
          <a:prstGeom prst="rightBrace">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B1F8D1A6-3065-5D49-9967-707A89519151}"/>
              </a:ext>
            </a:extLst>
          </p:cNvPr>
          <p:cNvSpPr txBox="1"/>
          <p:nvPr/>
        </p:nvSpPr>
        <p:spPr>
          <a:xfrm>
            <a:off x="152400" y="2379101"/>
            <a:ext cx="2382383" cy="307777"/>
          </a:xfrm>
          <a:prstGeom prst="rect">
            <a:avLst/>
          </a:prstGeom>
          <a:noFill/>
        </p:spPr>
        <p:txBody>
          <a:bodyPr wrap="none" rtlCol="0">
            <a:spAutoFit/>
          </a:bodyPr>
          <a:lstStyle/>
          <a:p>
            <a:r>
              <a:rPr lang="en-US" dirty="0"/>
              <a:t>The keys of migrated tuples</a:t>
            </a:r>
          </a:p>
        </p:txBody>
      </p:sp>
      <p:sp>
        <p:nvSpPr>
          <p:cNvPr id="11" name="Right Brace 10">
            <a:extLst>
              <a:ext uri="{FF2B5EF4-FFF2-40B4-BE49-F238E27FC236}">
                <a16:creationId xmlns:a16="http://schemas.microsoft.com/office/drawing/2014/main" id="{FBD3D124-9C23-2F4B-AB68-BF4CEE158C36}"/>
              </a:ext>
            </a:extLst>
          </p:cNvPr>
          <p:cNvSpPr/>
          <p:nvPr/>
        </p:nvSpPr>
        <p:spPr>
          <a:xfrm rot="5400000" flipH="1">
            <a:off x="2994175" y="1920097"/>
            <a:ext cx="211004" cy="1806531"/>
          </a:xfrm>
          <a:prstGeom prst="rightBrace">
            <a:avLst/>
          </a:prstGeom>
          <a:ln>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BDC75C88-C70E-3644-881B-D2D80D2D28C1}"/>
              </a:ext>
            </a:extLst>
          </p:cNvPr>
          <p:cNvSpPr txBox="1"/>
          <p:nvPr/>
        </p:nvSpPr>
        <p:spPr>
          <a:xfrm>
            <a:off x="2535259" y="2114550"/>
            <a:ext cx="2472152" cy="523220"/>
          </a:xfrm>
          <a:prstGeom prst="rect">
            <a:avLst/>
          </a:prstGeom>
          <a:noFill/>
        </p:spPr>
        <p:txBody>
          <a:bodyPr wrap="none" rtlCol="0">
            <a:spAutoFit/>
          </a:bodyPr>
          <a:lstStyle/>
          <a:p>
            <a:pPr algn="ctr"/>
            <a:r>
              <a:rPr lang="en-US" dirty="0"/>
              <a:t>The keys of hot tuples </a:t>
            </a:r>
          </a:p>
          <a:p>
            <a:pPr algn="ctr"/>
            <a:r>
              <a:rPr lang="en-US" dirty="0"/>
              <a:t>(accessed by most requests)</a:t>
            </a:r>
          </a:p>
        </p:txBody>
      </p:sp>
      <p:sp>
        <p:nvSpPr>
          <p:cNvPr id="25" name="Slide Number Placeholder 1">
            <a:extLst>
              <a:ext uri="{FF2B5EF4-FFF2-40B4-BE49-F238E27FC236}">
                <a16:creationId xmlns:a16="http://schemas.microsoft.com/office/drawing/2014/main" id="{C3581E11-3042-9043-8255-089CA7C97F8D}"/>
              </a:ext>
            </a:extLst>
          </p:cNvPr>
          <p:cNvSpPr>
            <a:spLocks noGrp="1"/>
          </p:cNvSpPr>
          <p:nvPr>
            <p:ph type="sldNum" idx="12"/>
          </p:nvPr>
        </p:nvSpPr>
        <p:spPr>
          <a:xfrm>
            <a:off x="8684345" y="4700819"/>
            <a:ext cx="336814" cy="318396"/>
          </a:xfrm>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4" name="TextBox 3">
            <a:extLst>
              <a:ext uri="{FF2B5EF4-FFF2-40B4-BE49-F238E27FC236}">
                <a16:creationId xmlns:a16="http://schemas.microsoft.com/office/drawing/2014/main" id="{4138751C-C83D-3646-AC50-F2211E9467A8}"/>
              </a:ext>
            </a:extLst>
          </p:cNvPr>
          <p:cNvSpPr txBox="1"/>
          <p:nvPr/>
        </p:nvSpPr>
        <p:spPr>
          <a:xfrm>
            <a:off x="971836" y="3075599"/>
            <a:ext cx="593432" cy="738664"/>
          </a:xfrm>
          <a:prstGeom prst="rect">
            <a:avLst/>
          </a:prstGeom>
          <a:noFill/>
        </p:spPr>
        <p:txBody>
          <a:bodyPr wrap="none" rtlCol="0">
            <a:spAutoFit/>
          </a:bodyPr>
          <a:lstStyle/>
          <a:p>
            <a:r>
              <a:rPr lang="en-US" dirty="0"/>
              <a:t>MCR</a:t>
            </a:r>
          </a:p>
          <a:p>
            <a:endParaRPr lang="en-US" dirty="0"/>
          </a:p>
          <a:p>
            <a:endParaRPr lang="en-US" dirty="0"/>
          </a:p>
        </p:txBody>
      </p:sp>
      <p:sp>
        <p:nvSpPr>
          <p:cNvPr id="26" name="Rectangle 25">
            <a:extLst>
              <a:ext uri="{FF2B5EF4-FFF2-40B4-BE49-F238E27FC236}">
                <a16:creationId xmlns:a16="http://schemas.microsoft.com/office/drawing/2014/main" id="{B70B72D8-F1E2-F948-B454-C00279573BF4}"/>
              </a:ext>
            </a:extLst>
          </p:cNvPr>
          <p:cNvSpPr/>
          <p:nvPr/>
        </p:nvSpPr>
        <p:spPr>
          <a:xfrm>
            <a:off x="3513824" y="3007797"/>
            <a:ext cx="205336" cy="441063"/>
          </a:xfrm>
          <a:prstGeom prst="rect">
            <a:avLst/>
          </a:prstGeom>
          <a:solidFill>
            <a:schemeClr val="accent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8B135D2-4AF3-4041-BE1A-54533B98B151}"/>
              </a:ext>
            </a:extLst>
          </p:cNvPr>
          <p:cNvSpPr/>
          <p:nvPr/>
        </p:nvSpPr>
        <p:spPr>
          <a:xfrm>
            <a:off x="3081155" y="2999615"/>
            <a:ext cx="45719" cy="441063"/>
          </a:xfrm>
          <a:prstGeom prst="rect">
            <a:avLst/>
          </a:prstGeom>
          <a:solidFill>
            <a:schemeClr val="accent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3300A29-71D0-EA4D-AD84-44F1C6BD7FD5}"/>
              </a:ext>
            </a:extLst>
          </p:cNvPr>
          <p:cNvSpPr/>
          <p:nvPr/>
        </p:nvSpPr>
        <p:spPr>
          <a:xfrm>
            <a:off x="335434" y="3008957"/>
            <a:ext cx="3754418" cy="44106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ight Brace 27">
            <a:extLst>
              <a:ext uri="{FF2B5EF4-FFF2-40B4-BE49-F238E27FC236}">
                <a16:creationId xmlns:a16="http://schemas.microsoft.com/office/drawing/2014/main" id="{B35258EF-F635-7B49-AFA2-2664F380A2DD}"/>
              </a:ext>
            </a:extLst>
          </p:cNvPr>
          <p:cNvSpPr/>
          <p:nvPr/>
        </p:nvSpPr>
        <p:spPr>
          <a:xfrm rot="5400000">
            <a:off x="2098142" y="1990972"/>
            <a:ext cx="244579" cy="3762851"/>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53C0D94C-C8A6-3541-8B88-4E2B28839B86}"/>
              </a:ext>
            </a:extLst>
          </p:cNvPr>
          <p:cNvSpPr txBox="1"/>
          <p:nvPr/>
        </p:nvSpPr>
        <p:spPr>
          <a:xfrm>
            <a:off x="704673" y="3999867"/>
            <a:ext cx="3098925" cy="307777"/>
          </a:xfrm>
          <a:prstGeom prst="rect">
            <a:avLst/>
          </a:prstGeom>
          <a:noFill/>
        </p:spPr>
        <p:txBody>
          <a:bodyPr wrap="none" rtlCol="0">
            <a:spAutoFit/>
          </a:bodyPr>
          <a:lstStyle/>
          <a:p>
            <a:r>
              <a:rPr lang="en-US" dirty="0"/>
              <a:t>Key space that needs to be migrated</a:t>
            </a:r>
          </a:p>
        </p:txBody>
      </p:sp>
      <p:sp>
        <p:nvSpPr>
          <p:cNvPr id="148" name="Slide Number Placeholder 1">
            <a:extLst>
              <a:ext uri="{FF2B5EF4-FFF2-40B4-BE49-F238E27FC236}">
                <a16:creationId xmlns:a16="http://schemas.microsoft.com/office/drawing/2014/main" id="{B7DD427D-78DD-A54F-998C-3DA32F7B96E0}"/>
              </a:ext>
            </a:extLst>
          </p:cNvPr>
          <p:cNvSpPr txBox="1">
            <a:spLocks/>
          </p:cNvSpPr>
          <p:nvPr/>
        </p:nvSpPr>
        <p:spPr>
          <a:xfrm>
            <a:off x="8362409" y="4068680"/>
            <a:ext cx="197114" cy="208251"/>
          </a:xfrm>
          <a:prstGeom prst="rect">
            <a:avLst/>
          </a:prstGeom>
          <a:noFill/>
          <a:ln>
            <a:noFill/>
          </a:ln>
        </p:spPr>
        <p:txBody>
          <a:bodyPr spcFirstLastPara="1" wrap="square" lIns="34275" tIns="34275" rIns="34275" bIns="34275" anchor="ctr" anchorCtr="0">
            <a:sp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15</a:t>
            </a:fld>
            <a:endParaRPr lang="en-US" sz="1000">
              <a:solidFill>
                <a:srgbClr val="585858"/>
              </a:solidFill>
              <a:latin typeface="Arial"/>
              <a:ea typeface="Arial"/>
              <a:cs typeface="Arial"/>
              <a:sym typeface="Arial"/>
            </a:endParaRPr>
          </a:p>
        </p:txBody>
      </p:sp>
      <p:sp>
        <p:nvSpPr>
          <p:cNvPr id="149" name="Google Shape;306;p7">
            <a:extLst>
              <a:ext uri="{FF2B5EF4-FFF2-40B4-BE49-F238E27FC236}">
                <a16:creationId xmlns:a16="http://schemas.microsoft.com/office/drawing/2014/main" id="{5B0DFB12-57B0-364E-BE9E-867DDCECE76A}"/>
              </a:ext>
            </a:extLst>
          </p:cNvPr>
          <p:cNvSpPr/>
          <p:nvPr/>
        </p:nvSpPr>
        <p:spPr>
          <a:xfrm>
            <a:off x="7626298" y="2666756"/>
            <a:ext cx="1279838" cy="1688477"/>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50" name="Google Shape;307;p7">
            <a:extLst>
              <a:ext uri="{FF2B5EF4-FFF2-40B4-BE49-F238E27FC236}">
                <a16:creationId xmlns:a16="http://schemas.microsoft.com/office/drawing/2014/main" id="{0A0137C0-4491-3C46-9203-3F1D2E49FD49}"/>
              </a:ext>
            </a:extLst>
          </p:cNvPr>
          <p:cNvSpPr/>
          <p:nvPr/>
        </p:nvSpPr>
        <p:spPr>
          <a:xfrm>
            <a:off x="5127486" y="2681145"/>
            <a:ext cx="1313572" cy="1677488"/>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51" name="Google Shape;308;p7">
            <a:extLst>
              <a:ext uri="{FF2B5EF4-FFF2-40B4-BE49-F238E27FC236}">
                <a16:creationId xmlns:a16="http://schemas.microsoft.com/office/drawing/2014/main" id="{E74D3CC8-48D2-D240-98DF-873EF77EF275}"/>
              </a:ext>
            </a:extLst>
          </p:cNvPr>
          <p:cNvSpPr/>
          <p:nvPr/>
        </p:nvSpPr>
        <p:spPr>
          <a:xfrm>
            <a:off x="5190541" y="2923713"/>
            <a:ext cx="1142945" cy="1415754"/>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52" name="Google Shape;309;p7">
            <a:extLst>
              <a:ext uri="{FF2B5EF4-FFF2-40B4-BE49-F238E27FC236}">
                <a16:creationId xmlns:a16="http://schemas.microsoft.com/office/drawing/2014/main" id="{78A6545E-47B0-8044-9951-48FC50FA71D5}"/>
              </a:ext>
            </a:extLst>
          </p:cNvPr>
          <p:cNvSpPr/>
          <p:nvPr/>
        </p:nvSpPr>
        <p:spPr>
          <a:xfrm>
            <a:off x="5543214" y="2681145"/>
            <a:ext cx="14904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000" b="1" i="0" u="none" strike="noStrike" cap="none">
                <a:solidFill>
                  <a:srgbClr val="000000"/>
                </a:solidFill>
                <a:latin typeface="Calibri"/>
                <a:ea typeface="Calibri"/>
                <a:cs typeface="Calibri"/>
                <a:sym typeface="Calibri"/>
              </a:rPr>
              <a:t>Source</a:t>
            </a:r>
            <a:endParaRPr sz="1000"/>
          </a:p>
        </p:txBody>
      </p:sp>
      <p:sp>
        <p:nvSpPr>
          <p:cNvPr id="153" name="Google Shape;310;p7">
            <a:extLst>
              <a:ext uri="{FF2B5EF4-FFF2-40B4-BE49-F238E27FC236}">
                <a16:creationId xmlns:a16="http://schemas.microsoft.com/office/drawing/2014/main" id="{2BF0A5CD-0A33-E04B-A26C-E4FE5716D870}"/>
              </a:ext>
            </a:extLst>
          </p:cNvPr>
          <p:cNvSpPr/>
          <p:nvPr/>
        </p:nvSpPr>
        <p:spPr>
          <a:xfrm>
            <a:off x="5364234" y="2924704"/>
            <a:ext cx="15558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key-value store</a:t>
            </a:r>
            <a:endParaRPr sz="1000"/>
          </a:p>
        </p:txBody>
      </p:sp>
      <p:sp>
        <p:nvSpPr>
          <p:cNvPr id="154" name="Google Shape;312;p7">
            <a:extLst>
              <a:ext uri="{FF2B5EF4-FFF2-40B4-BE49-F238E27FC236}">
                <a16:creationId xmlns:a16="http://schemas.microsoft.com/office/drawing/2014/main" id="{87071F7C-159F-9441-B062-1A40397C6A2B}"/>
              </a:ext>
            </a:extLst>
          </p:cNvPr>
          <p:cNvSpPr/>
          <p:nvPr/>
        </p:nvSpPr>
        <p:spPr>
          <a:xfrm>
            <a:off x="5263762" y="3235108"/>
            <a:ext cx="947702" cy="162003"/>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55" name="Google Shape;313;p7">
            <a:extLst>
              <a:ext uri="{FF2B5EF4-FFF2-40B4-BE49-F238E27FC236}">
                <a16:creationId xmlns:a16="http://schemas.microsoft.com/office/drawing/2014/main" id="{2429FE87-2BC1-2C41-9591-B5BE6F355D45}"/>
              </a:ext>
            </a:extLst>
          </p:cNvPr>
          <p:cNvSpPr/>
          <p:nvPr/>
        </p:nvSpPr>
        <p:spPr>
          <a:xfrm>
            <a:off x="5263762" y="3204556"/>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&lt;1, V&gt;</a:t>
            </a:r>
            <a:endParaRPr sz="1000"/>
          </a:p>
        </p:txBody>
      </p:sp>
      <p:sp>
        <p:nvSpPr>
          <p:cNvPr id="156" name="Google Shape;315;p7">
            <a:extLst>
              <a:ext uri="{FF2B5EF4-FFF2-40B4-BE49-F238E27FC236}">
                <a16:creationId xmlns:a16="http://schemas.microsoft.com/office/drawing/2014/main" id="{0D9803CA-79CD-4A49-8EF5-54718883AFE0}"/>
              </a:ext>
            </a:extLst>
          </p:cNvPr>
          <p:cNvSpPr/>
          <p:nvPr/>
        </p:nvSpPr>
        <p:spPr>
          <a:xfrm>
            <a:off x="5270943" y="3510995"/>
            <a:ext cx="947702" cy="162003"/>
          </a:xfrm>
          <a:prstGeom prst="rect">
            <a:avLst/>
          </a:prstGeom>
          <a:solidFill>
            <a:srgbClr val="FF7E7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57" name="Google Shape;316;p7">
            <a:extLst>
              <a:ext uri="{FF2B5EF4-FFF2-40B4-BE49-F238E27FC236}">
                <a16:creationId xmlns:a16="http://schemas.microsoft.com/office/drawing/2014/main" id="{03C92CCF-BB1E-DE45-9DB6-C29E8803EED5}"/>
              </a:ext>
            </a:extLst>
          </p:cNvPr>
          <p:cNvSpPr/>
          <p:nvPr/>
        </p:nvSpPr>
        <p:spPr>
          <a:xfrm>
            <a:off x="5270943" y="3480443"/>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&lt;200, V&gt;</a:t>
            </a:r>
            <a:endParaRPr sz="1000" dirty="0"/>
          </a:p>
        </p:txBody>
      </p:sp>
      <p:sp>
        <p:nvSpPr>
          <p:cNvPr id="158" name="Google Shape;317;p7">
            <a:extLst>
              <a:ext uri="{FF2B5EF4-FFF2-40B4-BE49-F238E27FC236}">
                <a16:creationId xmlns:a16="http://schemas.microsoft.com/office/drawing/2014/main" id="{5E11CBE9-5A88-F84C-8723-96CA955DD74C}"/>
              </a:ext>
            </a:extLst>
          </p:cNvPr>
          <p:cNvSpPr/>
          <p:nvPr/>
        </p:nvSpPr>
        <p:spPr>
          <a:xfrm>
            <a:off x="5595854" y="3298379"/>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159" name="Google Shape;319;p7">
            <a:extLst>
              <a:ext uri="{FF2B5EF4-FFF2-40B4-BE49-F238E27FC236}">
                <a16:creationId xmlns:a16="http://schemas.microsoft.com/office/drawing/2014/main" id="{052AF3A5-33F5-074C-8BAA-6887CE03E46F}"/>
              </a:ext>
            </a:extLst>
          </p:cNvPr>
          <p:cNvSpPr/>
          <p:nvPr/>
        </p:nvSpPr>
        <p:spPr>
          <a:xfrm>
            <a:off x="5270943" y="3793654"/>
            <a:ext cx="947702" cy="16200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60" name="Google Shape;320;p7">
            <a:extLst>
              <a:ext uri="{FF2B5EF4-FFF2-40B4-BE49-F238E27FC236}">
                <a16:creationId xmlns:a16="http://schemas.microsoft.com/office/drawing/2014/main" id="{B9984702-3421-164E-B226-3D3293D78777}"/>
              </a:ext>
            </a:extLst>
          </p:cNvPr>
          <p:cNvSpPr/>
          <p:nvPr/>
        </p:nvSpPr>
        <p:spPr>
          <a:xfrm>
            <a:off x="5270943" y="3763102"/>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&lt;300, V&gt;</a:t>
            </a:r>
            <a:endParaRPr sz="1000"/>
          </a:p>
        </p:txBody>
      </p:sp>
      <p:sp>
        <p:nvSpPr>
          <p:cNvPr id="161" name="Google Shape;321;p7">
            <a:extLst>
              <a:ext uri="{FF2B5EF4-FFF2-40B4-BE49-F238E27FC236}">
                <a16:creationId xmlns:a16="http://schemas.microsoft.com/office/drawing/2014/main" id="{11C668FE-1569-4F4D-B55B-7726633E5363}"/>
              </a:ext>
            </a:extLst>
          </p:cNvPr>
          <p:cNvSpPr/>
          <p:nvPr/>
        </p:nvSpPr>
        <p:spPr>
          <a:xfrm>
            <a:off x="5598403" y="3577847"/>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162" name="Google Shape;323;p7">
            <a:extLst>
              <a:ext uri="{FF2B5EF4-FFF2-40B4-BE49-F238E27FC236}">
                <a16:creationId xmlns:a16="http://schemas.microsoft.com/office/drawing/2014/main" id="{336FFCD8-D705-274E-A209-00B7174EA3A2}"/>
              </a:ext>
            </a:extLst>
          </p:cNvPr>
          <p:cNvSpPr/>
          <p:nvPr/>
        </p:nvSpPr>
        <p:spPr>
          <a:xfrm>
            <a:off x="5270943" y="4072479"/>
            <a:ext cx="947702" cy="16200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63" name="Google Shape;324;p7">
            <a:extLst>
              <a:ext uri="{FF2B5EF4-FFF2-40B4-BE49-F238E27FC236}">
                <a16:creationId xmlns:a16="http://schemas.microsoft.com/office/drawing/2014/main" id="{10BED326-F66C-7748-8493-7980D072B1DB}"/>
              </a:ext>
            </a:extLst>
          </p:cNvPr>
          <p:cNvSpPr/>
          <p:nvPr/>
        </p:nvSpPr>
        <p:spPr>
          <a:xfrm>
            <a:off x="5270943" y="4041927"/>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&lt;400, V&gt;</a:t>
            </a:r>
            <a:endParaRPr sz="1000"/>
          </a:p>
        </p:txBody>
      </p:sp>
      <p:sp>
        <p:nvSpPr>
          <p:cNvPr id="164" name="Google Shape;325;p7">
            <a:extLst>
              <a:ext uri="{FF2B5EF4-FFF2-40B4-BE49-F238E27FC236}">
                <a16:creationId xmlns:a16="http://schemas.microsoft.com/office/drawing/2014/main" id="{D1365C82-0A5B-704C-B8A3-6809A103F36C}"/>
              </a:ext>
            </a:extLst>
          </p:cNvPr>
          <p:cNvSpPr/>
          <p:nvPr/>
        </p:nvSpPr>
        <p:spPr>
          <a:xfrm>
            <a:off x="5579944" y="3859608"/>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165" name="Google Shape;326;p7">
            <a:extLst>
              <a:ext uri="{FF2B5EF4-FFF2-40B4-BE49-F238E27FC236}">
                <a16:creationId xmlns:a16="http://schemas.microsoft.com/office/drawing/2014/main" id="{AEAD6ABA-340B-3C4E-8271-32CE5504E579}"/>
              </a:ext>
            </a:extLst>
          </p:cNvPr>
          <p:cNvSpPr/>
          <p:nvPr/>
        </p:nvSpPr>
        <p:spPr>
          <a:xfrm>
            <a:off x="7686038" y="2828493"/>
            <a:ext cx="1150249" cy="1496585"/>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66" name="Google Shape;327;p7">
            <a:extLst>
              <a:ext uri="{FF2B5EF4-FFF2-40B4-BE49-F238E27FC236}">
                <a16:creationId xmlns:a16="http://schemas.microsoft.com/office/drawing/2014/main" id="{273A03B6-A7EF-9E43-B55B-7BBC333DC576}"/>
              </a:ext>
            </a:extLst>
          </p:cNvPr>
          <p:cNvSpPr/>
          <p:nvPr/>
        </p:nvSpPr>
        <p:spPr>
          <a:xfrm>
            <a:off x="7976967" y="2614178"/>
            <a:ext cx="13134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000" b="1" i="0" u="none" strike="noStrike" cap="none" dirty="0">
                <a:solidFill>
                  <a:srgbClr val="000000"/>
                </a:solidFill>
                <a:latin typeface="Calibri"/>
                <a:ea typeface="Calibri"/>
                <a:cs typeface="Calibri"/>
                <a:sym typeface="Calibri"/>
              </a:rPr>
              <a:t>Destination</a:t>
            </a:r>
            <a:endParaRPr sz="1000" dirty="0"/>
          </a:p>
        </p:txBody>
      </p:sp>
      <p:sp>
        <p:nvSpPr>
          <p:cNvPr id="167" name="Google Shape;328;p7">
            <a:extLst>
              <a:ext uri="{FF2B5EF4-FFF2-40B4-BE49-F238E27FC236}">
                <a16:creationId xmlns:a16="http://schemas.microsoft.com/office/drawing/2014/main" id="{3E5A3988-CE17-A348-A87B-9FDAE04474BD}"/>
              </a:ext>
            </a:extLst>
          </p:cNvPr>
          <p:cNvSpPr/>
          <p:nvPr/>
        </p:nvSpPr>
        <p:spPr>
          <a:xfrm>
            <a:off x="7775342" y="2846069"/>
            <a:ext cx="15558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500"/>
              <a:buFont typeface="Calibri"/>
              <a:buNone/>
            </a:pPr>
            <a:r>
              <a:rPr lang="en-US" sz="1000" b="0" i="0" u="none" strike="noStrike" cap="none">
                <a:solidFill>
                  <a:srgbClr val="000000"/>
                </a:solidFill>
                <a:latin typeface="Calibri"/>
                <a:ea typeface="Calibri"/>
                <a:cs typeface="Calibri"/>
                <a:sym typeface="Calibri"/>
              </a:rPr>
              <a:t>key-value store</a:t>
            </a:r>
            <a:endParaRPr sz="1000"/>
          </a:p>
        </p:txBody>
      </p:sp>
      <p:sp>
        <p:nvSpPr>
          <p:cNvPr id="168" name="Google Shape;330;p7">
            <a:extLst>
              <a:ext uri="{FF2B5EF4-FFF2-40B4-BE49-F238E27FC236}">
                <a16:creationId xmlns:a16="http://schemas.microsoft.com/office/drawing/2014/main" id="{19304A79-A7BA-E741-B1A4-5115E19FEC1F}"/>
              </a:ext>
            </a:extLst>
          </p:cNvPr>
          <p:cNvSpPr/>
          <p:nvPr/>
        </p:nvSpPr>
        <p:spPr>
          <a:xfrm>
            <a:off x="7743778" y="3727684"/>
            <a:ext cx="947702" cy="16200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69" name="Google Shape;331;p7">
            <a:extLst>
              <a:ext uri="{FF2B5EF4-FFF2-40B4-BE49-F238E27FC236}">
                <a16:creationId xmlns:a16="http://schemas.microsoft.com/office/drawing/2014/main" id="{2712B7E8-32BD-884A-B0FE-4CC4BF2B6D23}"/>
              </a:ext>
            </a:extLst>
          </p:cNvPr>
          <p:cNvSpPr/>
          <p:nvPr/>
        </p:nvSpPr>
        <p:spPr>
          <a:xfrm>
            <a:off x="7743778" y="3697132"/>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&lt;500, V&gt;</a:t>
            </a:r>
            <a:endParaRPr sz="1000" dirty="0"/>
          </a:p>
        </p:txBody>
      </p:sp>
      <p:sp>
        <p:nvSpPr>
          <p:cNvPr id="170" name="Google Shape;333;p7">
            <a:extLst>
              <a:ext uri="{FF2B5EF4-FFF2-40B4-BE49-F238E27FC236}">
                <a16:creationId xmlns:a16="http://schemas.microsoft.com/office/drawing/2014/main" id="{4248D288-6AEA-C74F-BD05-0C3AFEE909C0}"/>
              </a:ext>
            </a:extLst>
          </p:cNvPr>
          <p:cNvSpPr/>
          <p:nvPr/>
        </p:nvSpPr>
        <p:spPr>
          <a:xfrm>
            <a:off x="7743778" y="4021893"/>
            <a:ext cx="947702" cy="162003"/>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71" name="Google Shape;334;p7">
            <a:extLst>
              <a:ext uri="{FF2B5EF4-FFF2-40B4-BE49-F238E27FC236}">
                <a16:creationId xmlns:a16="http://schemas.microsoft.com/office/drawing/2014/main" id="{6A29BB1F-DAD2-CE46-8900-D40B913DFF36}"/>
              </a:ext>
            </a:extLst>
          </p:cNvPr>
          <p:cNvSpPr/>
          <p:nvPr/>
        </p:nvSpPr>
        <p:spPr>
          <a:xfrm>
            <a:off x="7743778" y="3991341"/>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&lt;600, V&gt;</a:t>
            </a:r>
            <a:endParaRPr sz="1000" dirty="0"/>
          </a:p>
        </p:txBody>
      </p:sp>
      <p:sp>
        <p:nvSpPr>
          <p:cNvPr id="172" name="Google Shape;335;p7">
            <a:extLst>
              <a:ext uri="{FF2B5EF4-FFF2-40B4-BE49-F238E27FC236}">
                <a16:creationId xmlns:a16="http://schemas.microsoft.com/office/drawing/2014/main" id="{E8E5174F-C1A8-434A-9C1B-3A12FE54EC81}"/>
              </a:ext>
            </a:extLst>
          </p:cNvPr>
          <p:cNvSpPr/>
          <p:nvPr/>
        </p:nvSpPr>
        <p:spPr>
          <a:xfrm>
            <a:off x="8052779" y="3812109"/>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173" name="Google Shape;336;p7">
            <a:extLst>
              <a:ext uri="{FF2B5EF4-FFF2-40B4-BE49-F238E27FC236}">
                <a16:creationId xmlns:a16="http://schemas.microsoft.com/office/drawing/2014/main" id="{BBBB9431-ED82-F541-8E71-DB03D1089F21}"/>
              </a:ext>
            </a:extLst>
          </p:cNvPr>
          <p:cNvSpPr/>
          <p:nvPr/>
        </p:nvSpPr>
        <p:spPr>
          <a:xfrm>
            <a:off x="8084786" y="4091171"/>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174" name="Google Shape;341;p7">
            <a:extLst>
              <a:ext uri="{FF2B5EF4-FFF2-40B4-BE49-F238E27FC236}">
                <a16:creationId xmlns:a16="http://schemas.microsoft.com/office/drawing/2014/main" id="{507B64D9-A1EB-1A4C-8B46-4B01539D20DD}"/>
              </a:ext>
            </a:extLst>
          </p:cNvPr>
          <p:cNvSpPr/>
          <p:nvPr/>
        </p:nvSpPr>
        <p:spPr>
          <a:xfrm>
            <a:off x="7720048" y="3158258"/>
            <a:ext cx="947702" cy="162003"/>
          </a:xfrm>
          <a:prstGeom prst="rect">
            <a:avLst/>
          </a:prstGeom>
          <a:solidFill>
            <a:srgbClr val="B4A7D6"/>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75" name="Google Shape;342;p7">
            <a:extLst>
              <a:ext uri="{FF2B5EF4-FFF2-40B4-BE49-F238E27FC236}">
                <a16:creationId xmlns:a16="http://schemas.microsoft.com/office/drawing/2014/main" id="{E120D545-0657-B941-A3EC-970BD7AEEF5E}"/>
              </a:ext>
            </a:extLst>
          </p:cNvPr>
          <p:cNvSpPr/>
          <p:nvPr/>
        </p:nvSpPr>
        <p:spPr>
          <a:xfrm>
            <a:off x="7720048" y="3127706"/>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&lt;1, V&gt;</a:t>
            </a:r>
            <a:endParaRPr sz="1000" dirty="0"/>
          </a:p>
        </p:txBody>
      </p:sp>
      <p:sp>
        <p:nvSpPr>
          <p:cNvPr id="176" name="Google Shape;344;p7">
            <a:extLst>
              <a:ext uri="{FF2B5EF4-FFF2-40B4-BE49-F238E27FC236}">
                <a16:creationId xmlns:a16="http://schemas.microsoft.com/office/drawing/2014/main" id="{A76B62BD-4802-F24D-A3AB-B9D3B0BE3F29}"/>
              </a:ext>
            </a:extLst>
          </p:cNvPr>
          <p:cNvSpPr/>
          <p:nvPr/>
        </p:nvSpPr>
        <p:spPr>
          <a:xfrm>
            <a:off x="7733975" y="3476599"/>
            <a:ext cx="947702" cy="162003"/>
          </a:xfrm>
          <a:prstGeom prst="rect">
            <a:avLst/>
          </a:prstGeom>
          <a:solidFill>
            <a:srgbClr val="B4A7D6"/>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77" name="Google Shape;345;p7">
            <a:extLst>
              <a:ext uri="{FF2B5EF4-FFF2-40B4-BE49-F238E27FC236}">
                <a16:creationId xmlns:a16="http://schemas.microsoft.com/office/drawing/2014/main" id="{34F55985-B4F6-EC42-8D23-94C60F1A1513}"/>
              </a:ext>
            </a:extLst>
          </p:cNvPr>
          <p:cNvSpPr/>
          <p:nvPr/>
        </p:nvSpPr>
        <p:spPr>
          <a:xfrm>
            <a:off x="7733975" y="3446047"/>
            <a:ext cx="947702" cy="223108"/>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r>
              <a:rPr lang="en-US" sz="1000" b="0" i="0" u="none" strike="noStrike" cap="none" dirty="0">
                <a:solidFill>
                  <a:srgbClr val="000000"/>
                </a:solidFill>
                <a:latin typeface="Calibri"/>
                <a:ea typeface="Calibri"/>
                <a:cs typeface="Calibri"/>
                <a:sym typeface="Calibri"/>
              </a:rPr>
              <a:t>&lt;100, V&gt;</a:t>
            </a:r>
            <a:endParaRPr sz="1000" dirty="0"/>
          </a:p>
        </p:txBody>
      </p:sp>
      <p:cxnSp>
        <p:nvCxnSpPr>
          <p:cNvPr id="178" name="Google Shape;346;p7">
            <a:extLst>
              <a:ext uri="{FF2B5EF4-FFF2-40B4-BE49-F238E27FC236}">
                <a16:creationId xmlns:a16="http://schemas.microsoft.com/office/drawing/2014/main" id="{0835D03C-DC4D-A349-A1E6-1427785BF13C}"/>
              </a:ext>
            </a:extLst>
          </p:cNvPr>
          <p:cNvCxnSpPr>
            <a:cxnSpLocks/>
          </p:cNvCxnSpPr>
          <p:nvPr/>
        </p:nvCxnSpPr>
        <p:spPr>
          <a:xfrm flipV="1">
            <a:off x="6466773" y="4050297"/>
            <a:ext cx="1159525" cy="22182"/>
          </a:xfrm>
          <a:prstGeom prst="straightConnector1">
            <a:avLst/>
          </a:prstGeom>
          <a:noFill/>
          <a:ln w="9525" cap="flat" cmpd="sng">
            <a:solidFill>
              <a:srgbClr val="8E7CC3"/>
            </a:solidFill>
            <a:prstDash val="solid"/>
            <a:round/>
            <a:headEnd type="none" w="sm" len="sm"/>
            <a:tailEnd type="triangle" w="med" len="med"/>
          </a:ln>
        </p:spPr>
      </p:cxnSp>
      <p:sp>
        <p:nvSpPr>
          <p:cNvPr id="179" name="Google Shape;347;p7">
            <a:extLst>
              <a:ext uri="{FF2B5EF4-FFF2-40B4-BE49-F238E27FC236}">
                <a16:creationId xmlns:a16="http://schemas.microsoft.com/office/drawing/2014/main" id="{D769A455-FE7A-3345-B2D8-D3EB0B9E2415}"/>
              </a:ext>
            </a:extLst>
          </p:cNvPr>
          <p:cNvSpPr/>
          <p:nvPr/>
        </p:nvSpPr>
        <p:spPr>
          <a:xfrm>
            <a:off x="8029049" y="3236254"/>
            <a:ext cx="638701" cy="223108"/>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000" b="0" i="0" u="none" strike="noStrike" cap="none">
                <a:solidFill>
                  <a:srgbClr val="000000"/>
                </a:solidFill>
                <a:latin typeface="Calibri"/>
                <a:ea typeface="Calibri"/>
                <a:cs typeface="Calibri"/>
                <a:sym typeface="Calibri"/>
              </a:rPr>
              <a:t>....</a:t>
            </a:r>
            <a:endParaRPr sz="1000"/>
          </a:p>
        </p:txBody>
      </p:sp>
      <p:sp>
        <p:nvSpPr>
          <p:cNvPr id="181" name="Google Shape;350;p7">
            <a:extLst>
              <a:ext uri="{FF2B5EF4-FFF2-40B4-BE49-F238E27FC236}">
                <a16:creationId xmlns:a16="http://schemas.microsoft.com/office/drawing/2014/main" id="{368FBF9B-3D2D-9347-8E7D-EFA9F5A96434}"/>
              </a:ext>
            </a:extLst>
          </p:cNvPr>
          <p:cNvSpPr/>
          <p:nvPr/>
        </p:nvSpPr>
        <p:spPr>
          <a:xfrm>
            <a:off x="6324527" y="3446047"/>
            <a:ext cx="660480" cy="238723"/>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endParaRPr/>
          </a:p>
        </p:txBody>
      </p:sp>
      <p:sp>
        <p:nvSpPr>
          <p:cNvPr id="183" name="Google Shape;353;p7">
            <a:extLst>
              <a:ext uri="{FF2B5EF4-FFF2-40B4-BE49-F238E27FC236}">
                <a16:creationId xmlns:a16="http://schemas.microsoft.com/office/drawing/2014/main" id="{7357FABB-DFFF-2E4B-AB23-AA65332627CB}"/>
              </a:ext>
            </a:extLst>
          </p:cNvPr>
          <p:cNvSpPr/>
          <p:nvPr/>
        </p:nvSpPr>
        <p:spPr>
          <a:xfrm>
            <a:off x="6327106" y="3807396"/>
            <a:ext cx="660480" cy="238723"/>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endParaRPr/>
          </a:p>
        </p:txBody>
      </p:sp>
      <p:sp>
        <p:nvSpPr>
          <p:cNvPr id="188" name="Google Shape;353;p7">
            <a:extLst>
              <a:ext uri="{FF2B5EF4-FFF2-40B4-BE49-F238E27FC236}">
                <a16:creationId xmlns:a16="http://schemas.microsoft.com/office/drawing/2014/main" id="{24FFF17C-7D6D-6B48-BE08-B01D6A55A802}"/>
              </a:ext>
            </a:extLst>
          </p:cNvPr>
          <p:cNvSpPr/>
          <p:nvPr/>
        </p:nvSpPr>
        <p:spPr>
          <a:xfrm>
            <a:off x="6327106" y="3815689"/>
            <a:ext cx="660480" cy="238723"/>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endParaRPr/>
          </a:p>
        </p:txBody>
      </p:sp>
      <p:sp>
        <p:nvSpPr>
          <p:cNvPr id="193" name="Google Shape;353;p7">
            <a:extLst>
              <a:ext uri="{FF2B5EF4-FFF2-40B4-BE49-F238E27FC236}">
                <a16:creationId xmlns:a16="http://schemas.microsoft.com/office/drawing/2014/main" id="{780651E6-B7F3-0946-ADE9-8A7864E33E25}"/>
              </a:ext>
            </a:extLst>
          </p:cNvPr>
          <p:cNvSpPr/>
          <p:nvPr/>
        </p:nvSpPr>
        <p:spPr>
          <a:xfrm>
            <a:off x="6327106" y="3815689"/>
            <a:ext cx="660480" cy="238723"/>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000000"/>
              </a:buClr>
              <a:buSzPts val="1500"/>
              <a:buFont typeface="Calibri"/>
              <a:buNone/>
            </a:pPr>
            <a:endParaRPr/>
          </a:p>
        </p:txBody>
      </p:sp>
      <p:sp>
        <p:nvSpPr>
          <p:cNvPr id="196" name="TextBox 195">
            <a:extLst>
              <a:ext uri="{FF2B5EF4-FFF2-40B4-BE49-F238E27FC236}">
                <a16:creationId xmlns:a16="http://schemas.microsoft.com/office/drawing/2014/main" id="{AE6E9FBF-303A-0D49-8E82-85D81ACCECD7}"/>
              </a:ext>
            </a:extLst>
          </p:cNvPr>
          <p:cNvSpPr txBox="1"/>
          <p:nvPr/>
        </p:nvSpPr>
        <p:spPr>
          <a:xfrm>
            <a:off x="6428092" y="1969942"/>
            <a:ext cx="643125" cy="307777"/>
          </a:xfrm>
          <a:prstGeom prst="rect">
            <a:avLst/>
          </a:prstGeom>
          <a:noFill/>
        </p:spPr>
        <p:txBody>
          <a:bodyPr wrap="none" rtlCol="0">
            <a:spAutoFit/>
          </a:bodyPr>
          <a:lstStyle/>
          <a:p>
            <a:r>
              <a:rPr lang="en-US"/>
              <a:t>Client</a:t>
            </a:r>
          </a:p>
        </p:txBody>
      </p:sp>
      <p:cxnSp>
        <p:nvCxnSpPr>
          <p:cNvPr id="197" name="Straight Arrow Connector 196">
            <a:extLst>
              <a:ext uri="{FF2B5EF4-FFF2-40B4-BE49-F238E27FC236}">
                <a16:creationId xmlns:a16="http://schemas.microsoft.com/office/drawing/2014/main" id="{A2547EF2-3F9D-8F42-B963-2F8E162EF973}"/>
              </a:ext>
            </a:extLst>
          </p:cNvPr>
          <p:cNvCxnSpPr>
            <a:cxnSpLocks/>
          </p:cNvCxnSpPr>
          <p:nvPr/>
        </p:nvCxnSpPr>
        <p:spPr>
          <a:xfrm flipH="1">
            <a:off x="5722301" y="2239605"/>
            <a:ext cx="712656" cy="392956"/>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49298B93-E767-6841-9233-A1657C3CF20B}"/>
              </a:ext>
            </a:extLst>
          </p:cNvPr>
          <p:cNvCxnSpPr>
            <a:cxnSpLocks/>
          </p:cNvCxnSpPr>
          <p:nvPr/>
        </p:nvCxnSpPr>
        <p:spPr>
          <a:xfrm>
            <a:off x="7103399" y="2259334"/>
            <a:ext cx="792055" cy="390185"/>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8A3883B5-A301-0E42-9FAE-06FCF75EF5FE}"/>
              </a:ext>
            </a:extLst>
          </p:cNvPr>
          <p:cNvCxnSpPr>
            <a:cxnSpLocks/>
          </p:cNvCxnSpPr>
          <p:nvPr/>
        </p:nvCxnSpPr>
        <p:spPr>
          <a:xfrm flipV="1">
            <a:off x="5509938" y="2163402"/>
            <a:ext cx="877568" cy="46915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a:extLst>
              <a:ext uri="{FF2B5EF4-FFF2-40B4-BE49-F238E27FC236}">
                <a16:creationId xmlns:a16="http://schemas.microsoft.com/office/drawing/2014/main" id="{F0801793-E4EC-1449-AD80-DFF618E75E9F}"/>
              </a:ext>
            </a:extLst>
          </p:cNvPr>
          <p:cNvCxnSpPr>
            <a:cxnSpLocks/>
          </p:cNvCxnSpPr>
          <p:nvPr/>
        </p:nvCxnSpPr>
        <p:spPr>
          <a:xfrm flipH="1" flipV="1">
            <a:off x="7152730" y="2179539"/>
            <a:ext cx="932057" cy="464384"/>
          </a:xfrm>
          <a:prstGeom prst="straightConnector1">
            <a:avLst/>
          </a:prstGeom>
          <a:ln w="2857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9C8C1B3A-8C99-1D45-BA79-EDC04DFB2BD1}"/>
              </a:ext>
            </a:extLst>
          </p:cNvPr>
          <p:cNvSpPr/>
          <p:nvPr/>
        </p:nvSpPr>
        <p:spPr>
          <a:xfrm>
            <a:off x="2196411" y="3018299"/>
            <a:ext cx="45719" cy="441063"/>
          </a:xfrm>
          <a:prstGeom prst="rect">
            <a:avLst/>
          </a:prstGeom>
          <a:solidFill>
            <a:schemeClr val="accent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2F52D23-C30D-1145-A458-A3B71EA14228}"/>
              </a:ext>
            </a:extLst>
          </p:cNvPr>
          <p:cNvSpPr txBox="1"/>
          <p:nvPr/>
        </p:nvSpPr>
        <p:spPr>
          <a:xfrm>
            <a:off x="208807" y="3483579"/>
            <a:ext cx="284052" cy="307777"/>
          </a:xfrm>
          <a:prstGeom prst="rect">
            <a:avLst/>
          </a:prstGeom>
          <a:noFill/>
        </p:spPr>
        <p:txBody>
          <a:bodyPr wrap="none" rtlCol="0">
            <a:spAutoFit/>
          </a:bodyPr>
          <a:lstStyle/>
          <a:p>
            <a:r>
              <a:rPr lang="en-US" dirty="0"/>
              <a:t>0</a:t>
            </a:r>
          </a:p>
        </p:txBody>
      </p:sp>
      <p:sp>
        <p:nvSpPr>
          <p:cNvPr id="75" name="TextBox 74">
            <a:extLst>
              <a:ext uri="{FF2B5EF4-FFF2-40B4-BE49-F238E27FC236}">
                <a16:creationId xmlns:a16="http://schemas.microsoft.com/office/drawing/2014/main" id="{C2F72F2B-8AC4-1449-93E5-6DB533C7D815}"/>
              </a:ext>
            </a:extLst>
          </p:cNvPr>
          <p:cNvSpPr txBox="1"/>
          <p:nvPr/>
        </p:nvSpPr>
        <p:spPr>
          <a:xfrm>
            <a:off x="3939512" y="3437151"/>
            <a:ext cx="482824" cy="307777"/>
          </a:xfrm>
          <a:prstGeom prst="rect">
            <a:avLst/>
          </a:prstGeom>
          <a:noFill/>
        </p:spPr>
        <p:txBody>
          <a:bodyPr wrap="none" rtlCol="0">
            <a:spAutoFit/>
          </a:bodyPr>
          <a:lstStyle/>
          <a:p>
            <a:r>
              <a:rPr lang="en-US" dirty="0"/>
              <a:t>200</a:t>
            </a:r>
          </a:p>
        </p:txBody>
      </p:sp>
      <p:sp>
        <p:nvSpPr>
          <p:cNvPr id="2" name="TextBox 1">
            <a:extLst>
              <a:ext uri="{FF2B5EF4-FFF2-40B4-BE49-F238E27FC236}">
                <a16:creationId xmlns:a16="http://schemas.microsoft.com/office/drawing/2014/main" id="{CBCBFE89-617F-1747-A315-4AB8D3273585}"/>
              </a:ext>
            </a:extLst>
          </p:cNvPr>
          <p:cNvSpPr txBox="1"/>
          <p:nvPr/>
        </p:nvSpPr>
        <p:spPr>
          <a:xfrm>
            <a:off x="2136289" y="3495586"/>
            <a:ext cx="482824" cy="307777"/>
          </a:xfrm>
          <a:prstGeom prst="rect">
            <a:avLst/>
          </a:prstGeom>
          <a:noFill/>
        </p:spPr>
        <p:txBody>
          <a:bodyPr wrap="none" rtlCol="0">
            <a:spAutoFit/>
          </a:bodyPr>
          <a:lstStyle/>
          <a:p>
            <a:r>
              <a:rPr lang="en-US" dirty="0"/>
              <a:t>100</a:t>
            </a:r>
          </a:p>
        </p:txBody>
      </p:sp>
    </p:spTree>
    <p:extLst>
      <p:ext uri="{BB962C8B-B14F-4D97-AF65-F5344CB8AC3E}">
        <p14:creationId xmlns:p14="http://schemas.microsoft.com/office/powerpoint/2010/main" val="18730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27"/>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26"/>
                                        </p:tgtEl>
                                        <p:attrNameLst>
                                          <p:attrName>r</p:attrName>
                                        </p:attrNameLst>
                                      </p:cBhvr>
                                    </p:animRot>
                                  </p:childTnLst>
                                </p:cTn>
                              </p:par>
                              <p:par>
                                <p:cTn id="9" presetID="8" presetClass="emph" presetSubtype="0" fill="hold" grpId="0" nodeType="withEffect">
                                  <p:stCondLst>
                                    <p:cond delay="0"/>
                                  </p:stCondLst>
                                  <p:childTnLst>
                                    <p:animRot by="21600000">
                                      <p:cBhvr>
                                        <p:cTn id="10" dur="2000" fill="hold"/>
                                        <p:tgtEl>
                                          <p:spTgt spid="72"/>
                                        </p:tgtEl>
                                        <p:attrNameLst>
                                          <p:attrName>r</p:attrName>
                                        </p:attrNameLst>
                                      </p:cBhvr>
                                    </p:animRot>
                                  </p:childTnLst>
                                </p:cTn>
                              </p:par>
                              <p:par>
                                <p:cTn id="11" presetID="8" presetClass="emph" presetSubtype="0" fill="hold" grpId="0" nodeType="withEffect">
                                  <p:stCondLst>
                                    <p:cond delay="0"/>
                                  </p:stCondLst>
                                  <p:childTnLst>
                                    <p:animRot by="21600000">
                                      <p:cBhvr>
                                        <p:cTn id="12" dur="2000" fill="hold"/>
                                        <p:tgtEl>
                                          <p:spTgt spid="6"/>
                                        </p:tgtEl>
                                        <p:attrNameLst>
                                          <p:attrName>r</p:attrName>
                                        </p:attrNameLst>
                                      </p:cBhvr>
                                    </p:animRo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7"/>
                                        </p:tgtEl>
                                        <p:attrNameLst>
                                          <p:attrName>style.visibility</p:attrName>
                                        </p:attrNameLst>
                                      </p:cBhvr>
                                      <p:to>
                                        <p:strVal val="visible"/>
                                      </p:to>
                                    </p:set>
                                    <p:animEffect transition="in" filter="fade">
                                      <p:cBhvr>
                                        <p:cTn id="17" dur="500"/>
                                        <p:tgtEl>
                                          <p:spTgt spid="197"/>
                                        </p:tgtEl>
                                      </p:cBhvr>
                                    </p:animEffect>
                                  </p:childTnLst>
                                </p:cTn>
                              </p:par>
                              <p:par>
                                <p:cTn id="18" presetID="10" presetClass="entr" presetSubtype="0" fill="hold" nodeType="withEffect">
                                  <p:stCondLst>
                                    <p:cond delay="0"/>
                                  </p:stCondLst>
                                  <p:childTnLst>
                                    <p:set>
                                      <p:cBhvr>
                                        <p:cTn id="19" dur="1" fill="hold">
                                          <p:stCondLst>
                                            <p:cond delay="0"/>
                                          </p:stCondLst>
                                        </p:cTn>
                                        <p:tgtEl>
                                          <p:spTgt spid="198"/>
                                        </p:tgtEl>
                                        <p:attrNameLst>
                                          <p:attrName>style.visibility</p:attrName>
                                        </p:attrNameLst>
                                      </p:cBhvr>
                                      <p:to>
                                        <p:strVal val="visible"/>
                                      </p:to>
                                    </p:set>
                                    <p:animEffect transition="in" filter="fade">
                                      <p:cBhvr>
                                        <p:cTn id="20" dur="500"/>
                                        <p:tgtEl>
                                          <p:spTgt spid="198"/>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199"/>
                                        </p:tgtEl>
                                        <p:attrNameLst>
                                          <p:attrName>style.visibility</p:attrName>
                                        </p:attrNameLst>
                                      </p:cBhvr>
                                      <p:to>
                                        <p:strVal val="visible"/>
                                      </p:to>
                                    </p:set>
                                    <p:animEffect transition="in" filter="fade">
                                      <p:cBhvr>
                                        <p:cTn id="24" dur="500"/>
                                        <p:tgtEl>
                                          <p:spTgt spid="199"/>
                                        </p:tgtEl>
                                      </p:cBhvr>
                                    </p:animEffect>
                                  </p:childTnLst>
                                </p:cTn>
                              </p:par>
                              <p:par>
                                <p:cTn id="25" presetID="10" presetClass="entr" presetSubtype="0" fill="hold" nodeType="withEffect">
                                  <p:stCondLst>
                                    <p:cond delay="0"/>
                                  </p:stCondLst>
                                  <p:childTnLst>
                                    <p:set>
                                      <p:cBhvr>
                                        <p:cTn id="26" dur="1" fill="hold">
                                          <p:stCondLst>
                                            <p:cond delay="0"/>
                                          </p:stCondLst>
                                        </p:cTn>
                                        <p:tgtEl>
                                          <p:spTgt spid="200"/>
                                        </p:tgtEl>
                                        <p:attrNameLst>
                                          <p:attrName>style.visibility</p:attrName>
                                        </p:attrNameLst>
                                      </p:cBhvr>
                                      <p:to>
                                        <p:strVal val="visible"/>
                                      </p:to>
                                    </p:set>
                                    <p:animEffect transition="in" filter="fade">
                                      <p:cBhvr>
                                        <p:cTn id="27" dur="500"/>
                                        <p:tgtEl>
                                          <p:spTgt spid="200"/>
                                        </p:tgtEl>
                                      </p:cBhvr>
                                    </p:animEffect>
                                  </p:childTnLst>
                                </p:cTn>
                              </p:par>
                            </p:childTnLst>
                          </p:cTn>
                        </p:par>
                        <p:par>
                          <p:cTn id="28" fill="hold">
                            <p:stCondLst>
                              <p:cond delay="1000"/>
                            </p:stCondLst>
                            <p:childTnLst>
                              <p:par>
                                <p:cTn id="29" presetID="10" presetClass="exit" presetSubtype="0" fill="hold" nodeType="afterEffect">
                                  <p:stCondLst>
                                    <p:cond delay="0"/>
                                  </p:stCondLst>
                                  <p:childTnLst>
                                    <p:animEffect transition="out" filter="fade">
                                      <p:cBhvr>
                                        <p:cTn id="30" dur="500"/>
                                        <p:tgtEl>
                                          <p:spTgt spid="197"/>
                                        </p:tgtEl>
                                      </p:cBhvr>
                                    </p:animEffect>
                                    <p:set>
                                      <p:cBhvr>
                                        <p:cTn id="31" dur="1" fill="hold">
                                          <p:stCondLst>
                                            <p:cond delay="499"/>
                                          </p:stCondLst>
                                        </p:cTn>
                                        <p:tgtEl>
                                          <p:spTgt spid="197"/>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500"/>
                                        <p:tgtEl>
                                          <p:spTgt spid="198"/>
                                        </p:tgtEl>
                                      </p:cBhvr>
                                    </p:animEffect>
                                    <p:set>
                                      <p:cBhvr>
                                        <p:cTn id="34" dur="1" fill="hold">
                                          <p:stCondLst>
                                            <p:cond delay="499"/>
                                          </p:stCondLst>
                                        </p:cTn>
                                        <p:tgtEl>
                                          <p:spTgt spid="198"/>
                                        </p:tgtEl>
                                        <p:attrNameLst>
                                          <p:attrName>style.visibility</p:attrName>
                                        </p:attrNameLst>
                                      </p:cBhvr>
                                      <p:to>
                                        <p:strVal val="hidden"/>
                                      </p:to>
                                    </p:set>
                                  </p:childTnLst>
                                </p:cTn>
                              </p:par>
                            </p:childTnLst>
                          </p:cTn>
                        </p:par>
                        <p:par>
                          <p:cTn id="35" fill="hold">
                            <p:stCondLst>
                              <p:cond delay="1500"/>
                            </p:stCondLst>
                            <p:childTnLst>
                              <p:par>
                                <p:cTn id="36" presetID="10" presetClass="exit" presetSubtype="0" fill="hold" nodeType="afterEffect">
                                  <p:stCondLst>
                                    <p:cond delay="0"/>
                                  </p:stCondLst>
                                  <p:childTnLst>
                                    <p:animEffect transition="out" filter="fade">
                                      <p:cBhvr>
                                        <p:cTn id="37" dur="500"/>
                                        <p:tgtEl>
                                          <p:spTgt spid="199"/>
                                        </p:tgtEl>
                                      </p:cBhvr>
                                    </p:animEffect>
                                    <p:set>
                                      <p:cBhvr>
                                        <p:cTn id="38" dur="1" fill="hold">
                                          <p:stCondLst>
                                            <p:cond delay="499"/>
                                          </p:stCondLst>
                                        </p:cTn>
                                        <p:tgtEl>
                                          <p:spTgt spid="199"/>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500"/>
                                        <p:tgtEl>
                                          <p:spTgt spid="200"/>
                                        </p:tgtEl>
                                      </p:cBhvr>
                                    </p:animEffect>
                                    <p:set>
                                      <p:cBhvr>
                                        <p:cTn id="41" dur="1" fill="hold">
                                          <p:stCondLst>
                                            <p:cond delay="499"/>
                                          </p:stCondLst>
                                        </p:cTn>
                                        <p:tgtEl>
                                          <p:spTgt spid="200"/>
                                        </p:tgtEl>
                                        <p:attrNameLst>
                                          <p:attrName>style.visibility</p:attrName>
                                        </p:attrNameLst>
                                      </p:cBhvr>
                                      <p:to>
                                        <p:strVal val="hidden"/>
                                      </p:to>
                                    </p:set>
                                  </p:childTnLst>
                                </p:cTn>
                              </p:par>
                            </p:childTnLst>
                          </p:cTn>
                        </p:par>
                        <p:par>
                          <p:cTn id="42" fill="hold">
                            <p:stCondLst>
                              <p:cond delay="2000"/>
                            </p:stCondLst>
                            <p:childTnLst>
                              <p:par>
                                <p:cTn id="43" presetID="10" presetClass="exit" presetSubtype="0" fill="hold" nodeType="afterEffect">
                                  <p:stCondLst>
                                    <p:cond delay="0"/>
                                  </p:stCondLst>
                                  <p:childTnLst>
                                    <p:animEffect transition="out" filter="fade">
                                      <p:cBhvr>
                                        <p:cTn id="44" dur="500"/>
                                        <p:tgtEl>
                                          <p:spTgt spid="197"/>
                                        </p:tgtEl>
                                      </p:cBhvr>
                                    </p:animEffect>
                                    <p:set>
                                      <p:cBhvr>
                                        <p:cTn id="45" dur="1" fill="hold">
                                          <p:stCondLst>
                                            <p:cond delay="499"/>
                                          </p:stCondLst>
                                        </p:cTn>
                                        <p:tgtEl>
                                          <p:spTgt spid="197"/>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500"/>
                                        <p:tgtEl>
                                          <p:spTgt spid="198"/>
                                        </p:tgtEl>
                                      </p:cBhvr>
                                    </p:animEffect>
                                    <p:set>
                                      <p:cBhvr>
                                        <p:cTn id="48" dur="1" fill="hold">
                                          <p:stCondLst>
                                            <p:cond delay="499"/>
                                          </p:stCondLst>
                                        </p:cTn>
                                        <p:tgtEl>
                                          <p:spTgt spid="198"/>
                                        </p:tgtEl>
                                        <p:attrNameLst>
                                          <p:attrName>style.visibility</p:attrName>
                                        </p:attrNameLst>
                                      </p:cBhvr>
                                      <p:to>
                                        <p:strVal val="hidden"/>
                                      </p:to>
                                    </p:set>
                                  </p:childTnLst>
                                </p:cTn>
                              </p:par>
                            </p:childTnLst>
                          </p:cTn>
                        </p:par>
                        <p:par>
                          <p:cTn id="49" fill="hold">
                            <p:stCondLst>
                              <p:cond delay="2500"/>
                            </p:stCondLst>
                            <p:childTnLst>
                              <p:par>
                                <p:cTn id="50" presetID="10" presetClass="entr" presetSubtype="0" fill="hold" nodeType="afterEffect">
                                  <p:stCondLst>
                                    <p:cond delay="0"/>
                                  </p:stCondLst>
                                  <p:childTnLst>
                                    <p:set>
                                      <p:cBhvr>
                                        <p:cTn id="51" dur="1" fill="hold">
                                          <p:stCondLst>
                                            <p:cond delay="0"/>
                                          </p:stCondLst>
                                        </p:cTn>
                                        <p:tgtEl>
                                          <p:spTgt spid="197"/>
                                        </p:tgtEl>
                                        <p:attrNameLst>
                                          <p:attrName>style.visibility</p:attrName>
                                        </p:attrNameLst>
                                      </p:cBhvr>
                                      <p:to>
                                        <p:strVal val="visible"/>
                                      </p:to>
                                    </p:set>
                                    <p:animEffect transition="in" filter="fade">
                                      <p:cBhvr>
                                        <p:cTn id="52" dur="500"/>
                                        <p:tgtEl>
                                          <p:spTgt spid="197"/>
                                        </p:tgtEl>
                                      </p:cBhvr>
                                    </p:animEffect>
                                  </p:childTnLst>
                                </p:cTn>
                              </p:par>
                              <p:par>
                                <p:cTn id="53" presetID="10" presetClass="entr" presetSubtype="0" fill="hold" nodeType="withEffect">
                                  <p:stCondLst>
                                    <p:cond delay="0"/>
                                  </p:stCondLst>
                                  <p:childTnLst>
                                    <p:set>
                                      <p:cBhvr>
                                        <p:cTn id="54" dur="1" fill="hold">
                                          <p:stCondLst>
                                            <p:cond delay="0"/>
                                          </p:stCondLst>
                                        </p:cTn>
                                        <p:tgtEl>
                                          <p:spTgt spid="198"/>
                                        </p:tgtEl>
                                        <p:attrNameLst>
                                          <p:attrName>style.visibility</p:attrName>
                                        </p:attrNameLst>
                                      </p:cBhvr>
                                      <p:to>
                                        <p:strVal val="visible"/>
                                      </p:to>
                                    </p:set>
                                    <p:animEffect transition="in" filter="fade">
                                      <p:cBhvr>
                                        <p:cTn id="55" dur="500"/>
                                        <p:tgtEl>
                                          <p:spTgt spid="198"/>
                                        </p:tgtEl>
                                      </p:cBhvr>
                                    </p:animEffect>
                                  </p:childTnLst>
                                </p:cTn>
                              </p:par>
                            </p:childTnLst>
                          </p:cTn>
                        </p:par>
                        <p:par>
                          <p:cTn id="56" fill="hold">
                            <p:stCondLst>
                              <p:cond delay="3000"/>
                            </p:stCondLst>
                            <p:childTnLst>
                              <p:par>
                                <p:cTn id="57" presetID="10" presetClass="entr" presetSubtype="0" fill="hold" nodeType="afterEffect">
                                  <p:stCondLst>
                                    <p:cond delay="0"/>
                                  </p:stCondLst>
                                  <p:childTnLst>
                                    <p:set>
                                      <p:cBhvr>
                                        <p:cTn id="58" dur="1" fill="hold">
                                          <p:stCondLst>
                                            <p:cond delay="0"/>
                                          </p:stCondLst>
                                        </p:cTn>
                                        <p:tgtEl>
                                          <p:spTgt spid="199"/>
                                        </p:tgtEl>
                                        <p:attrNameLst>
                                          <p:attrName>style.visibility</p:attrName>
                                        </p:attrNameLst>
                                      </p:cBhvr>
                                      <p:to>
                                        <p:strVal val="visible"/>
                                      </p:to>
                                    </p:set>
                                    <p:animEffect transition="in" filter="fade">
                                      <p:cBhvr>
                                        <p:cTn id="59" dur="500"/>
                                        <p:tgtEl>
                                          <p:spTgt spid="199"/>
                                        </p:tgtEl>
                                      </p:cBhvr>
                                    </p:animEffect>
                                  </p:childTnLst>
                                </p:cTn>
                              </p:par>
                              <p:par>
                                <p:cTn id="60" presetID="10" presetClass="entr" presetSubtype="0" fill="hold" nodeType="withEffect">
                                  <p:stCondLst>
                                    <p:cond delay="0"/>
                                  </p:stCondLst>
                                  <p:childTnLst>
                                    <p:set>
                                      <p:cBhvr>
                                        <p:cTn id="61" dur="1" fill="hold">
                                          <p:stCondLst>
                                            <p:cond delay="0"/>
                                          </p:stCondLst>
                                        </p:cTn>
                                        <p:tgtEl>
                                          <p:spTgt spid="200"/>
                                        </p:tgtEl>
                                        <p:attrNameLst>
                                          <p:attrName>style.visibility</p:attrName>
                                        </p:attrNameLst>
                                      </p:cBhvr>
                                      <p:to>
                                        <p:strVal val="visible"/>
                                      </p:to>
                                    </p:set>
                                    <p:animEffect transition="in" filter="fade">
                                      <p:cBhvr>
                                        <p:cTn id="62" dur="500"/>
                                        <p:tgtEl>
                                          <p:spTgt spid="200"/>
                                        </p:tgtEl>
                                      </p:cBhvr>
                                    </p:animEffect>
                                  </p:childTnLst>
                                </p:cTn>
                              </p:par>
                            </p:childTnLst>
                          </p:cTn>
                        </p:par>
                        <p:par>
                          <p:cTn id="63" fill="hold">
                            <p:stCondLst>
                              <p:cond delay="3500"/>
                            </p:stCondLst>
                            <p:childTnLst>
                              <p:par>
                                <p:cTn id="64" presetID="10" presetClass="exit" presetSubtype="0" fill="hold" nodeType="afterEffect">
                                  <p:stCondLst>
                                    <p:cond delay="0"/>
                                  </p:stCondLst>
                                  <p:childTnLst>
                                    <p:animEffect transition="out" filter="fade">
                                      <p:cBhvr>
                                        <p:cTn id="65" dur="500"/>
                                        <p:tgtEl>
                                          <p:spTgt spid="197"/>
                                        </p:tgtEl>
                                      </p:cBhvr>
                                    </p:animEffect>
                                    <p:set>
                                      <p:cBhvr>
                                        <p:cTn id="66" dur="1" fill="hold">
                                          <p:stCondLst>
                                            <p:cond delay="499"/>
                                          </p:stCondLst>
                                        </p:cTn>
                                        <p:tgtEl>
                                          <p:spTgt spid="197"/>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500"/>
                                        <p:tgtEl>
                                          <p:spTgt spid="198"/>
                                        </p:tgtEl>
                                      </p:cBhvr>
                                    </p:animEffect>
                                    <p:set>
                                      <p:cBhvr>
                                        <p:cTn id="69" dur="1" fill="hold">
                                          <p:stCondLst>
                                            <p:cond delay="499"/>
                                          </p:stCondLst>
                                        </p:cTn>
                                        <p:tgtEl>
                                          <p:spTgt spid="198"/>
                                        </p:tgtEl>
                                        <p:attrNameLst>
                                          <p:attrName>style.visibility</p:attrName>
                                        </p:attrNameLst>
                                      </p:cBhvr>
                                      <p:to>
                                        <p:strVal val="hidden"/>
                                      </p:to>
                                    </p:set>
                                  </p:childTnLst>
                                </p:cTn>
                              </p:par>
                            </p:childTnLst>
                          </p:cTn>
                        </p:par>
                        <p:par>
                          <p:cTn id="70" fill="hold">
                            <p:stCondLst>
                              <p:cond delay="4000"/>
                            </p:stCondLst>
                            <p:childTnLst>
                              <p:par>
                                <p:cTn id="71" presetID="10" presetClass="exit" presetSubtype="0" fill="hold" nodeType="afterEffect">
                                  <p:stCondLst>
                                    <p:cond delay="0"/>
                                  </p:stCondLst>
                                  <p:childTnLst>
                                    <p:animEffect transition="out" filter="fade">
                                      <p:cBhvr>
                                        <p:cTn id="72" dur="500"/>
                                        <p:tgtEl>
                                          <p:spTgt spid="199"/>
                                        </p:tgtEl>
                                      </p:cBhvr>
                                    </p:animEffect>
                                    <p:set>
                                      <p:cBhvr>
                                        <p:cTn id="73" dur="1" fill="hold">
                                          <p:stCondLst>
                                            <p:cond delay="499"/>
                                          </p:stCondLst>
                                        </p:cTn>
                                        <p:tgtEl>
                                          <p:spTgt spid="199"/>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500"/>
                                        <p:tgtEl>
                                          <p:spTgt spid="200"/>
                                        </p:tgtEl>
                                      </p:cBhvr>
                                    </p:animEffect>
                                    <p:set>
                                      <p:cBhvr>
                                        <p:cTn id="76" dur="1" fill="hold">
                                          <p:stCondLst>
                                            <p:cond delay="499"/>
                                          </p:stCondLst>
                                        </p:cTn>
                                        <p:tgtEl>
                                          <p:spTgt spid="200"/>
                                        </p:tgtEl>
                                        <p:attrNameLst>
                                          <p:attrName>style.visibility</p:attrName>
                                        </p:attrNameLst>
                                      </p:cBhvr>
                                      <p:to>
                                        <p:strVal val="hidden"/>
                                      </p:to>
                                    </p:set>
                                  </p:childTnLst>
                                </p:cTn>
                              </p:par>
                            </p:childTnLst>
                          </p:cTn>
                        </p:par>
                        <p:par>
                          <p:cTn id="77" fill="hold">
                            <p:stCondLst>
                              <p:cond delay="4500"/>
                            </p:stCondLst>
                            <p:childTnLst>
                              <p:par>
                                <p:cTn id="78" presetID="10" presetClass="entr" presetSubtype="0" fill="hold" nodeType="afterEffect">
                                  <p:stCondLst>
                                    <p:cond delay="0"/>
                                  </p:stCondLst>
                                  <p:childTnLst>
                                    <p:set>
                                      <p:cBhvr>
                                        <p:cTn id="79" dur="1" fill="hold">
                                          <p:stCondLst>
                                            <p:cond delay="0"/>
                                          </p:stCondLst>
                                        </p:cTn>
                                        <p:tgtEl>
                                          <p:spTgt spid="197"/>
                                        </p:tgtEl>
                                        <p:attrNameLst>
                                          <p:attrName>style.visibility</p:attrName>
                                        </p:attrNameLst>
                                      </p:cBhvr>
                                      <p:to>
                                        <p:strVal val="visible"/>
                                      </p:to>
                                    </p:set>
                                    <p:animEffect transition="in" filter="fade">
                                      <p:cBhvr>
                                        <p:cTn id="80" dur="500"/>
                                        <p:tgtEl>
                                          <p:spTgt spid="197"/>
                                        </p:tgtEl>
                                      </p:cBhvr>
                                    </p:animEffect>
                                  </p:childTnLst>
                                </p:cTn>
                              </p:par>
                              <p:par>
                                <p:cTn id="81" presetID="10" presetClass="entr" presetSubtype="0" fill="hold" nodeType="withEffect">
                                  <p:stCondLst>
                                    <p:cond delay="0"/>
                                  </p:stCondLst>
                                  <p:childTnLst>
                                    <p:set>
                                      <p:cBhvr>
                                        <p:cTn id="82" dur="1" fill="hold">
                                          <p:stCondLst>
                                            <p:cond delay="0"/>
                                          </p:stCondLst>
                                        </p:cTn>
                                        <p:tgtEl>
                                          <p:spTgt spid="198"/>
                                        </p:tgtEl>
                                        <p:attrNameLst>
                                          <p:attrName>style.visibility</p:attrName>
                                        </p:attrNameLst>
                                      </p:cBhvr>
                                      <p:to>
                                        <p:strVal val="visible"/>
                                      </p:to>
                                    </p:set>
                                    <p:animEffect transition="in" filter="fade">
                                      <p:cBhvr>
                                        <p:cTn id="83" dur="500"/>
                                        <p:tgtEl>
                                          <p:spTgt spid="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6" grpId="0" animBg="1"/>
      <p:bldP spid="27" grpId="0" animBg="1"/>
      <p:bldP spid="7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50"/>
        <p:cNvGrpSpPr/>
        <p:nvPr/>
      </p:nvGrpSpPr>
      <p:grpSpPr>
        <a:xfrm>
          <a:off x="0" y="0"/>
          <a:ext cx="0" cy="0"/>
          <a:chOff x="0" y="0"/>
          <a:chExt cx="0" cy="0"/>
        </a:xfrm>
      </p:grpSpPr>
      <p:grpSp>
        <p:nvGrpSpPr>
          <p:cNvPr id="1251" name="Google Shape;1251;p26"/>
          <p:cNvGrpSpPr/>
          <p:nvPr/>
        </p:nvGrpSpPr>
        <p:grpSpPr>
          <a:xfrm>
            <a:off x="811035" y="1044166"/>
            <a:ext cx="4778281" cy="1301625"/>
            <a:chOff x="0" y="-1"/>
            <a:chExt cx="4778280" cy="1301623"/>
          </a:xfrm>
        </p:grpSpPr>
        <p:grpSp>
          <p:nvGrpSpPr>
            <p:cNvPr id="1252" name="Google Shape;1252;p26"/>
            <p:cNvGrpSpPr/>
            <p:nvPr/>
          </p:nvGrpSpPr>
          <p:grpSpPr>
            <a:xfrm>
              <a:off x="0" y="37784"/>
              <a:ext cx="4778280" cy="1263838"/>
              <a:chOff x="0" y="-1"/>
              <a:chExt cx="4778279" cy="1263837"/>
            </a:xfrm>
          </p:grpSpPr>
          <p:sp>
            <p:nvSpPr>
              <p:cNvPr id="1253" name="Google Shape;1253;p26"/>
              <p:cNvSpPr/>
              <p:nvPr/>
            </p:nvSpPr>
            <p:spPr>
              <a:xfrm>
                <a:off x="0" y="308137"/>
                <a:ext cx="4778279" cy="955699"/>
              </a:xfrm>
              <a:prstGeom prst="rect">
                <a:avLst/>
              </a:prstGeom>
              <a:solidFill>
                <a:srgbClr val="FEE59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254" name="Google Shape;1254;p26"/>
              <p:cNvSpPr/>
              <p:nvPr/>
            </p:nvSpPr>
            <p:spPr>
              <a:xfrm>
                <a:off x="1" y="-1"/>
                <a:ext cx="4778278" cy="306675"/>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500"/>
                  <a:buFont typeface="Calibri"/>
                  <a:buNone/>
                </a:pPr>
                <a:endParaRPr sz="1500" b="0" i="0" u="none" strike="noStrike" cap="none">
                  <a:solidFill>
                    <a:srgbClr val="000000"/>
                  </a:solidFill>
                  <a:latin typeface="Calibri"/>
                  <a:ea typeface="Calibri"/>
                  <a:cs typeface="Calibri"/>
                  <a:sym typeface="Calibri"/>
                </a:endParaRPr>
              </a:p>
            </p:txBody>
          </p:sp>
        </p:grpSp>
        <p:sp>
          <p:nvSpPr>
            <p:cNvPr id="1255" name="Google Shape;1255;p26"/>
            <p:cNvSpPr/>
            <p:nvPr/>
          </p:nvSpPr>
          <p:spPr>
            <a:xfrm>
              <a:off x="1657735" y="-1"/>
              <a:ext cx="1421449" cy="197283"/>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Client program N</a:t>
              </a:r>
              <a:endParaRPr/>
            </a:p>
          </p:txBody>
        </p:sp>
      </p:grpSp>
      <p:grpSp>
        <p:nvGrpSpPr>
          <p:cNvPr id="1256" name="Google Shape;1256;p26"/>
          <p:cNvGrpSpPr/>
          <p:nvPr/>
        </p:nvGrpSpPr>
        <p:grpSpPr>
          <a:xfrm>
            <a:off x="860596" y="1162677"/>
            <a:ext cx="4840175" cy="1289460"/>
            <a:chOff x="-1" y="0"/>
            <a:chExt cx="4840174" cy="1289459"/>
          </a:xfrm>
        </p:grpSpPr>
        <p:grpSp>
          <p:nvGrpSpPr>
            <p:cNvPr id="1257" name="Google Shape;1257;p26"/>
            <p:cNvGrpSpPr/>
            <p:nvPr/>
          </p:nvGrpSpPr>
          <p:grpSpPr>
            <a:xfrm>
              <a:off x="-1" y="36762"/>
              <a:ext cx="4840174" cy="1252697"/>
              <a:chOff x="0" y="-1"/>
              <a:chExt cx="4840172" cy="1252696"/>
            </a:xfrm>
          </p:grpSpPr>
          <p:sp>
            <p:nvSpPr>
              <p:cNvPr id="1258" name="Google Shape;1258;p26"/>
              <p:cNvSpPr/>
              <p:nvPr/>
            </p:nvSpPr>
            <p:spPr>
              <a:xfrm>
                <a:off x="0" y="296996"/>
                <a:ext cx="4840171" cy="955699"/>
              </a:xfrm>
              <a:prstGeom prst="rect">
                <a:avLst/>
              </a:prstGeom>
              <a:solidFill>
                <a:srgbClr val="FEE599"/>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259" name="Google Shape;1259;p26"/>
              <p:cNvSpPr/>
              <p:nvPr/>
            </p:nvSpPr>
            <p:spPr>
              <a:xfrm>
                <a:off x="0" y="-1"/>
                <a:ext cx="4840172" cy="306675"/>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500"/>
                  <a:buFont typeface="Calibri"/>
                  <a:buNone/>
                </a:pPr>
                <a:endParaRPr sz="1500" b="0" i="0" u="none" strike="noStrike" cap="none">
                  <a:solidFill>
                    <a:srgbClr val="000000"/>
                  </a:solidFill>
                  <a:latin typeface="Calibri"/>
                  <a:ea typeface="Calibri"/>
                  <a:cs typeface="Calibri"/>
                  <a:sym typeface="Calibri"/>
                </a:endParaRPr>
              </a:p>
            </p:txBody>
          </p:sp>
        </p:grpSp>
        <p:sp>
          <p:nvSpPr>
            <p:cNvPr id="1260" name="Google Shape;1260;p26"/>
            <p:cNvSpPr/>
            <p:nvPr/>
          </p:nvSpPr>
          <p:spPr>
            <a:xfrm>
              <a:off x="1806785" y="0"/>
              <a:ext cx="1439862" cy="197282"/>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Client program 2</a:t>
              </a:r>
              <a:endParaRPr/>
            </a:p>
          </p:txBody>
        </p:sp>
      </p:grpSp>
      <p:sp>
        <p:nvSpPr>
          <p:cNvPr id="1261" name="Google Shape;1261;p26"/>
          <p:cNvSpPr/>
          <p:nvPr/>
        </p:nvSpPr>
        <p:spPr>
          <a:xfrm>
            <a:off x="966720" y="1622297"/>
            <a:ext cx="4831585" cy="955699"/>
          </a:xfrm>
          <a:prstGeom prst="rect">
            <a:avLst/>
          </a:prstGeom>
          <a:solidFill>
            <a:srgbClr val="FEE599"/>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262" name="Google Shape;1262;p26"/>
          <p:cNvSpPr/>
          <p:nvPr/>
        </p:nvSpPr>
        <p:spPr>
          <a:xfrm>
            <a:off x="122841" y="2926501"/>
            <a:ext cx="2638641" cy="2026475"/>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263" name="Google Shape;1263;p26"/>
          <p:cNvSpPr/>
          <p:nvPr/>
        </p:nvSpPr>
        <p:spPr>
          <a:xfrm>
            <a:off x="329886" y="3234112"/>
            <a:ext cx="1193542" cy="1668748"/>
          </a:xfrm>
          <a:custGeom>
            <a:avLst/>
            <a:gdLst/>
            <a:ahLst/>
            <a:cxnLst/>
            <a:rect l="l" t="t" r="r" b="b"/>
            <a:pathLst>
              <a:path w="21600" h="21600" extrusionOk="0">
                <a:moveTo>
                  <a:pt x="21600" y="1931"/>
                </a:moveTo>
                <a:cubicBezTo>
                  <a:pt x="21600" y="2998"/>
                  <a:pt x="16765" y="3862"/>
                  <a:pt x="10800" y="3862"/>
                </a:cubicBezTo>
                <a:cubicBezTo>
                  <a:pt x="4835" y="3862"/>
                  <a:pt x="0" y="2998"/>
                  <a:pt x="0" y="1931"/>
                </a:cubicBezTo>
                <a:cubicBezTo>
                  <a:pt x="0" y="865"/>
                  <a:pt x="4835" y="0"/>
                  <a:pt x="10800" y="0"/>
                </a:cubicBezTo>
                <a:cubicBezTo>
                  <a:pt x="16765" y="0"/>
                  <a:pt x="21600" y="865"/>
                  <a:pt x="21600" y="1931"/>
                </a:cubicBezTo>
                <a:lnTo>
                  <a:pt x="21600" y="19669"/>
                </a:lnTo>
                <a:cubicBezTo>
                  <a:pt x="21600" y="20735"/>
                  <a:pt x="16765" y="21600"/>
                  <a:pt x="10800" y="21600"/>
                </a:cubicBezTo>
                <a:cubicBezTo>
                  <a:pt x="4835" y="21600"/>
                  <a:pt x="0" y="20735"/>
                  <a:pt x="0" y="19669"/>
                </a:cubicBezTo>
                <a:lnTo>
                  <a:pt x="0" y="1931"/>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264" name="Google Shape;1264;p26"/>
          <p:cNvSpPr/>
          <p:nvPr/>
        </p:nvSpPr>
        <p:spPr>
          <a:xfrm>
            <a:off x="281166" y="2897553"/>
            <a:ext cx="728426" cy="278646"/>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500" b="1" i="0" u="none" strike="noStrike" cap="none" dirty="0">
                <a:solidFill>
                  <a:srgbClr val="000000"/>
                </a:solidFill>
                <a:latin typeface="Calibri"/>
                <a:ea typeface="Calibri"/>
                <a:cs typeface="Calibri"/>
                <a:sym typeface="Calibri"/>
              </a:rPr>
              <a:t>Source</a:t>
            </a:r>
            <a:endParaRPr dirty="0"/>
          </a:p>
        </p:txBody>
      </p:sp>
      <p:sp>
        <p:nvSpPr>
          <p:cNvPr id="1265" name="Google Shape;1265;p26"/>
          <p:cNvSpPr/>
          <p:nvPr/>
        </p:nvSpPr>
        <p:spPr>
          <a:xfrm>
            <a:off x="3337749" y="2939498"/>
            <a:ext cx="1037382" cy="278646"/>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500" b="1" i="0" u="none" strike="noStrike" cap="none">
                <a:solidFill>
                  <a:srgbClr val="000000"/>
                </a:solidFill>
                <a:latin typeface="Calibri"/>
                <a:ea typeface="Calibri"/>
                <a:cs typeface="Calibri"/>
                <a:sym typeface="Calibri"/>
              </a:rPr>
              <a:t>Destination</a:t>
            </a:r>
            <a:endParaRPr/>
          </a:p>
        </p:txBody>
      </p:sp>
      <p:sp>
        <p:nvSpPr>
          <p:cNvPr id="1266" name="Google Shape;1266;p26"/>
          <p:cNvSpPr/>
          <p:nvPr/>
        </p:nvSpPr>
        <p:spPr>
          <a:xfrm>
            <a:off x="443958" y="3252253"/>
            <a:ext cx="1245916" cy="237964"/>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key-value store</a:t>
            </a:r>
            <a:endParaRPr/>
          </a:p>
        </p:txBody>
      </p:sp>
      <p:sp>
        <p:nvSpPr>
          <p:cNvPr id="1267" name="Google Shape;1267;p26"/>
          <p:cNvSpPr/>
          <p:nvPr/>
        </p:nvSpPr>
        <p:spPr>
          <a:xfrm>
            <a:off x="1711282" y="3295919"/>
            <a:ext cx="920383" cy="1613251"/>
          </a:xfrm>
          <a:prstGeom prst="rect">
            <a:avLst/>
          </a:prstGeom>
          <a:solidFill>
            <a:srgbClr val="FEE599"/>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Calibri"/>
              <a:buNone/>
            </a:pPr>
            <a:endParaRPr sz="1100" b="0" i="0" u="none" strike="noStrike" cap="none">
              <a:solidFill>
                <a:srgbClr val="000000"/>
              </a:solidFill>
              <a:latin typeface="Calibri"/>
              <a:ea typeface="Calibri"/>
              <a:cs typeface="Calibri"/>
              <a:sym typeface="Calibri"/>
            </a:endParaRPr>
          </a:p>
        </p:txBody>
      </p:sp>
      <p:sp>
        <p:nvSpPr>
          <p:cNvPr id="1268" name="Google Shape;1268;p26"/>
          <p:cNvSpPr/>
          <p:nvPr/>
        </p:nvSpPr>
        <p:spPr>
          <a:xfrm>
            <a:off x="3316613" y="2913471"/>
            <a:ext cx="2645827" cy="2039448"/>
          </a:xfrm>
          <a:prstGeom prst="rect">
            <a:avLst/>
          </a:prstGeom>
          <a:noFill/>
          <a:ln w="254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269" name="Google Shape;1269;p26"/>
          <p:cNvSpPr/>
          <p:nvPr/>
        </p:nvSpPr>
        <p:spPr>
          <a:xfrm>
            <a:off x="4569997" y="3259026"/>
            <a:ext cx="1193543" cy="1650250"/>
          </a:xfrm>
          <a:custGeom>
            <a:avLst/>
            <a:gdLst/>
            <a:ahLst/>
            <a:cxnLst/>
            <a:rect l="l" t="t" r="r" b="b"/>
            <a:pathLst>
              <a:path w="21600" h="21600" extrusionOk="0">
                <a:moveTo>
                  <a:pt x="21600" y="1953"/>
                </a:moveTo>
                <a:cubicBezTo>
                  <a:pt x="21600" y="3031"/>
                  <a:pt x="16765" y="3906"/>
                  <a:pt x="10800" y="3906"/>
                </a:cubicBezTo>
                <a:cubicBezTo>
                  <a:pt x="4835" y="3906"/>
                  <a:pt x="0" y="3031"/>
                  <a:pt x="0" y="1953"/>
                </a:cubicBezTo>
                <a:cubicBezTo>
                  <a:pt x="0" y="874"/>
                  <a:pt x="4835" y="0"/>
                  <a:pt x="10800" y="0"/>
                </a:cubicBezTo>
                <a:cubicBezTo>
                  <a:pt x="16765" y="0"/>
                  <a:pt x="21600" y="874"/>
                  <a:pt x="21600" y="1953"/>
                </a:cubicBezTo>
                <a:lnTo>
                  <a:pt x="21600" y="19647"/>
                </a:lnTo>
                <a:cubicBezTo>
                  <a:pt x="21600" y="20726"/>
                  <a:pt x="16765" y="21600"/>
                  <a:pt x="10800" y="21600"/>
                </a:cubicBezTo>
                <a:cubicBezTo>
                  <a:pt x="4835" y="21600"/>
                  <a:pt x="0" y="20726"/>
                  <a:pt x="0" y="19647"/>
                </a:cubicBezTo>
                <a:lnTo>
                  <a:pt x="0" y="1953"/>
                </a:lnTo>
              </a:path>
            </a:pathLst>
          </a:custGeom>
          <a:no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270" name="Google Shape;1270;p26"/>
          <p:cNvSpPr/>
          <p:nvPr/>
        </p:nvSpPr>
        <p:spPr>
          <a:xfrm>
            <a:off x="4657070" y="3234484"/>
            <a:ext cx="1055401" cy="237965"/>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200" b="0" i="0" u="none" strike="noStrike" cap="none" dirty="0">
                <a:solidFill>
                  <a:srgbClr val="000000"/>
                </a:solidFill>
                <a:latin typeface="Calibri"/>
                <a:ea typeface="Calibri"/>
                <a:cs typeface="Calibri"/>
                <a:sym typeface="Calibri"/>
              </a:rPr>
              <a:t>key-value store</a:t>
            </a:r>
            <a:endParaRPr sz="1200" dirty="0"/>
          </a:p>
        </p:txBody>
      </p:sp>
      <p:sp>
        <p:nvSpPr>
          <p:cNvPr id="1271" name="Google Shape;1271;p26"/>
          <p:cNvSpPr/>
          <p:nvPr/>
        </p:nvSpPr>
        <p:spPr>
          <a:xfrm>
            <a:off x="3436871" y="3290655"/>
            <a:ext cx="921104" cy="1607006"/>
          </a:xfrm>
          <a:prstGeom prst="rect">
            <a:avLst/>
          </a:prstGeom>
          <a:solidFill>
            <a:srgbClr val="FEE599"/>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Calibri"/>
              <a:buNone/>
            </a:pPr>
            <a:endParaRPr sz="1100" b="0" i="0" u="none" strike="noStrike" cap="none">
              <a:solidFill>
                <a:srgbClr val="000000"/>
              </a:solidFill>
              <a:latin typeface="Calibri"/>
              <a:ea typeface="Calibri"/>
              <a:cs typeface="Calibri"/>
              <a:sym typeface="Calibri"/>
            </a:endParaRPr>
          </a:p>
        </p:txBody>
      </p:sp>
      <p:cxnSp>
        <p:nvCxnSpPr>
          <p:cNvPr id="1272" name="Google Shape;1272;p26"/>
          <p:cNvCxnSpPr/>
          <p:nvPr/>
        </p:nvCxnSpPr>
        <p:spPr>
          <a:xfrm>
            <a:off x="2300236" y="4361111"/>
            <a:ext cx="1427061" cy="1442"/>
          </a:xfrm>
          <a:prstGeom prst="straightConnector1">
            <a:avLst/>
          </a:prstGeom>
          <a:noFill/>
          <a:ln w="19050" cap="flat" cmpd="sng">
            <a:solidFill>
              <a:srgbClr val="000000"/>
            </a:solidFill>
            <a:prstDash val="lgDashDot"/>
            <a:miter lim="8000"/>
            <a:headEnd type="none" w="sm" len="sm"/>
            <a:tailEnd type="triangle" w="med" len="med"/>
          </a:ln>
        </p:spPr>
      </p:cxnSp>
      <p:cxnSp>
        <p:nvCxnSpPr>
          <p:cNvPr id="1273" name="Google Shape;1273;p26"/>
          <p:cNvCxnSpPr/>
          <p:nvPr/>
        </p:nvCxnSpPr>
        <p:spPr>
          <a:xfrm>
            <a:off x="3942518" y="4358905"/>
            <a:ext cx="794254" cy="7448"/>
          </a:xfrm>
          <a:prstGeom prst="straightConnector1">
            <a:avLst/>
          </a:prstGeom>
          <a:noFill/>
          <a:ln w="19050" cap="flat" cmpd="sng">
            <a:solidFill>
              <a:srgbClr val="000000"/>
            </a:solidFill>
            <a:prstDash val="lgDashDot"/>
            <a:miter lim="8000"/>
            <a:headEnd type="none" w="sm" len="sm"/>
            <a:tailEnd type="triangle" w="med" len="med"/>
          </a:ln>
        </p:spPr>
      </p:cxnSp>
      <p:cxnSp>
        <p:nvCxnSpPr>
          <p:cNvPr id="1274" name="Google Shape;1274;p26"/>
          <p:cNvCxnSpPr/>
          <p:nvPr/>
        </p:nvCxnSpPr>
        <p:spPr>
          <a:xfrm>
            <a:off x="3964295" y="3769244"/>
            <a:ext cx="763742" cy="5526"/>
          </a:xfrm>
          <a:prstGeom prst="straightConnector1">
            <a:avLst/>
          </a:prstGeom>
          <a:noFill/>
          <a:ln w="19050" cap="flat" cmpd="sng">
            <a:solidFill>
              <a:srgbClr val="000000"/>
            </a:solidFill>
            <a:prstDash val="lgDashDot"/>
            <a:miter lim="8000"/>
            <a:headEnd type="none" w="sm" len="sm"/>
            <a:tailEnd type="triangle" w="med" len="med"/>
          </a:ln>
        </p:spPr>
      </p:cxnSp>
      <p:grpSp>
        <p:nvGrpSpPr>
          <p:cNvPr id="1275" name="Google Shape;1275;p26"/>
          <p:cNvGrpSpPr/>
          <p:nvPr/>
        </p:nvGrpSpPr>
        <p:grpSpPr>
          <a:xfrm>
            <a:off x="377348" y="3536395"/>
            <a:ext cx="758938" cy="237966"/>
            <a:chOff x="0" y="0"/>
            <a:chExt cx="758937" cy="237964"/>
          </a:xfrm>
        </p:grpSpPr>
        <p:sp>
          <p:nvSpPr>
            <p:cNvPr id="1276" name="Google Shape;1276;p26"/>
            <p:cNvSpPr/>
            <p:nvPr/>
          </p:nvSpPr>
          <p:spPr>
            <a:xfrm>
              <a:off x="0" y="54115"/>
              <a:ext cx="758937" cy="129734"/>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277" name="Google Shape;1277;p26"/>
            <p:cNvSpPr/>
            <p:nvPr/>
          </p:nvSpPr>
          <p:spPr>
            <a:xfrm>
              <a:off x="0" y="0"/>
              <a:ext cx="758937" cy="237964"/>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&lt;1, V&gt;</a:t>
              </a:r>
              <a:endParaRPr/>
            </a:p>
          </p:txBody>
        </p:sp>
      </p:grpSp>
      <p:grpSp>
        <p:nvGrpSpPr>
          <p:cNvPr id="1278" name="Google Shape;1278;p26"/>
          <p:cNvGrpSpPr/>
          <p:nvPr/>
        </p:nvGrpSpPr>
        <p:grpSpPr>
          <a:xfrm>
            <a:off x="373830" y="3834262"/>
            <a:ext cx="758938" cy="237965"/>
            <a:chOff x="0" y="0"/>
            <a:chExt cx="758937" cy="237964"/>
          </a:xfrm>
        </p:grpSpPr>
        <p:sp>
          <p:nvSpPr>
            <p:cNvPr id="1279" name="Google Shape;1279;p26"/>
            <p:cNvSpPr/>
            <p:nvPr/>
          </p:nvSpPr>
          <p:spPr>
            <a:xfrm>
              <a:off x="0" y="54115"/>
              <a:ext cx="758937" cy="129734"/>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280" name="Google Shape;1280;p26"/>
            <p:cNvSpPr/>
            <p:nvPr/>
          </p:nvSpPr>
          <p:spPr>
            <a:xfrm>
              <a:off x="0" y="0"/>
              <a:ext cx="758937" cy="237964"/>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&lt;100, V&gt;</a:t>
              </a:r>
              <a:endParaRPr/>
            </a:p>
          </p:txBody>
        </p:sp>
      </p:grpSp>
      <p:sp>
        <p:nvSpPr>
          <p:cNvPr id="1287" name="Google Shape;1287;p26"/>
          <p:cNvSpPr/>
          <p:nvPr/>
        </p:nvSpPr>
        <p:spPr>
          <a:xfrm>
            <a:off x="967490" y="1324967"/>
            <a:ext cx="4830624" cy="292380"/>
          </a:xfrm>
          <a:prstGeom prst="rect">
            <a:avLst/>
          </a:prstGeom>
          <a:solidFill>
            <a:srgbClr val="FFFFFF"/>
          </a:solidFill>
          <a:ln w="1905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500"/>
              <a:buFont typeface="Calibri"/>
              <a:buNone/>
            </a:pPr>
            <a:endParaRPr sz="1500" b="0" i="0" u="none" strike="noStrike" cap="none">
              <a:solidFill>
                <a:srgbClr val="000000"/>
              </a:solidFill>
              <a:latin typeface="Calibri"/>
              <a:ea typeface="Calibri"/>
              <a:cs typeface="Calibri"/>
              <a:sym typeface="Calibri"/>
            </a:endParaRPr>
          </a:p>
        </p:txBody>
      </p:sp>
      <p:sp>
        <p:nvSpPr>
          <p:cNvPr id="1288" name="Google Shape;1288;p26"/>
          <p:cNvSpPr/>
          <p:nvPr/>
        </p:nvSpPr>
        <p:spPr>
          <a:xfrm>
            <a:off x="1006761" y="1855850"/>
            <a:ext cx="4381604" cy="553287"/>
          </a:xfrm>
          <a:prstGeom prst="roundRect">
            <a:avLst>
              <a:gd name="adj" fmla="val 16667"/>
            </a:avLst>
          </a:prstGeom>
          <a:noFill/>
          <a:ln w="12700" cap="flat" cmpd="sng">
            <a:solidFill>
              <a:srgbClr val="000000"/>
            </a:solidFill>
            <a:prstDash val="dash"/>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289" name="Google Shape;1289;p26"/>
          <p:cNvSpPr/>
          <p:nvPr/>
        </p:nvSpPr>
        <p:spPr>
          <a:xfrm>
            <a:off x="88494" y="1180817"/>
            <a:ext cx="1143812" cy="686849"/>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a:solidFill>
                  <a:srgbClr val="000000"/>
                </a:solidFill>
                <a:latin typeface="Calibri"/>
                <a:ea typeface="Calibri"/>
                <a:cs typeface="Calibri"/>
                <a:sym typeface="Calibri"/>
              </a:rPr>
              <a:t>data-</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a:solidFill>
                  <a:srgbClr val="000000"/>
                </a:solidFill>
                <a:latin typeface="Calibri"/>
                <a:ea typeface="Calibri"/>
                <a:cs typeface="Calibri"/>
                <a:sym typeface="Calibri"/>
              </a:rPr>
              <a:t>center</a:t>
            </a:r>
            <a:endParaRPr/>
          </a:p>
        </p:txBody>
      </p:sp>
      <p:sp>
        <p:nvSpPr>
          <p:cNvPr id="1291" name="Google Shape;1291;p26"/>
          <p:cNvSpPr/>
          <p:nvPr/>
        </p:nvSpPr>
        <p:spPr>
          <a:xfrm>
            <a:off x="646354" y="3648684"/>
            <a:ext cx="511484" cy="227794"/>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1292" name="Google Shape;1292;p26"/>
          <p:cNvGrpSpPr/>
          <p:nvPr/>
        </p:nvGrpSpPr>
        <p:grpSpPr>
          <a:xfrm>
            <a:off x="373830" y="4222485"/>
            <a:ext cx="758938" cy="237965"/>
            <a:chOff x="0" y="0"/>
            <a:chExt cx="758937" cy="237964"/>
          </a:xfrm>
        </p:grpSpPr>
        <p:sp>
          <p:nvSpPr>
            <p:cNvPr id="1293" name="Google Shape;1293;p26"/>
            <p:cNvSpPr/>
            <p:nvPr/>
          </p:nvSpPr>
          <p:spPr>
            <a:xfrm>
              <a:off x="0" y="54115"/>
              <a:ext cx="758937" cy="129734"/>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294" name="Google Shape;1294;p26"/>
            <p:cNvSpPr/>
            <p:nvPr/>
          </p:nvSpPr>
          <p:spPr>
            <a:xfrm>
              <a:off x="0" y="0"/>
              <a:ext cx="758937" cy="237964"/>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&lt;301, V&gt;</a:t>
              </a:r>
              <a:endParaRPr/>
            </a:p>
          </p:txBody>
        </p:sp>
      </p:grpSp>
      <p:sp>
        <p:nvSpPr>
          <p:cNvPr id="1295" name="Google Shape;1295;p26"/>
          <p:cNvSpPr/>
          <p:nvPr/>
        </p:nvSpPr>
        <p:spPr>
          <a:xfrm>
            <a:off x="3601203" y="3294788"/>
            <a:ext cx="683019" cy="366112"/>
          </a:xfrm>
          <a:prstGeom prst="rect">
            <a:avLst/>
          </a:prstGeom>
          <a:noFill/>
          <a:ln>
            <a:noFill/>
          </a:ln>
        </p:spPr>
        <p:txBody>
          <a:bodyPr spcFirstLastPara="1" wrap="square" lIns="34275" tIns="34275" rIns="34275" bIns="34275" anchor="t" anchorCtr="0">
            <a:noAutofit/>
          </a:bodyPr>
          <a:lstStyle/>
          <a:p>
            <a:pPr marL="0" marR="0" lvl="0" indent="0" algn="l" rtl="0">
              <a:lnSpc>
                <a:spcPct val="8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Migration</a:t>
            </a:r>
            <a:endParaRPr/>
          </a:p>
          <a:p>
            <a:pPr marL="0" marR="0" lvl="0" indent="0" algn="l" rtl="0">
              <a:lnSpc>
                <a:spcPct val="8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controller</a:t>
            </a:r>
            <a:endParaRPr/>
          </a:p>
        </p:txBody>
      </p:sp>
      <p:sp>
        <p:nvSpPr>
          <p:cNvPr id="1296" name="Google Shape;1296;p26"/>
          <p:cNvSpPr/>
          <p:nvPr/>
        </p:nvSpPr>
        <p:spPr>
          <a:xfrm>
            <a:off x="645380" y="4024792"/>
            <a:ext cx="511484" cy="227794"/>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1299" name="Google Shape;1299;p26"/>
          <p:cNvSpPr/>
          <p:nvPr/>
        </p:nvSpPr>
        <p:spPr>
          <a:xfrm>
            <a:off x="2764856" y="1307518"/>
            <a:ext cx="1070537" cy="227795"/>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Client program 1</a:t>
            </a:r>
            <a:endParaRPr/>
          </a:p>
        </p:txBody>
      </p:sp>
      <p:sp>
        <p:nvSpPr>
          <p:cNvPr id="1307" name="Google Shape;1307;p26"/>
          <p:cNvSpPr/>
          <p:nvPr/>
        </p:nvSpPr>
        <p:spPr>
          <a:xfrm>
            <a:off x="3837812" y="3614670"/>
            <a:ext cx="62869" cy="260083"/>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308" name="Google Shape;1308;p26"/>
          <p:cNvSpPr/>
          <p:nvPr/>
        </p:nvSpPr>
        <p:spPr>
          <a:xfrm>
            <a:off x="3818348" y="4192149"/>
            <a:ext cx="62869" cy="26008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309" name="Google Shape;1309;p26"/>
          <p:cNvSpPr/>
          <p:nvPr/>
        </p:nvSpPr>
        <p:spPr>
          <a:xfrm>
            <a:off x="1846794" y="3290655"/>
            <a:ext cx="790169" cy="366112"/>
          </a:xfrm>
          <a:prstGeom prst="rect">
            <a:avLst/>
          </a:prstGeom>
          <a:noFill/>
          <a:ln>
            <a:noFill/>
          </a:ln>
        </p:spPr>
        <p:txBody>
          <a:bodyPr spcFirstLastPara="1" wrap="square" lIns="34275" tIns="34275" rIns="34275" bIns="34275" anchor="t" anchorCtr="0">
            <a:noAutofit/>
          </a:bodyPr>
          <a:lstStyle/>
          <a:p>
            <a:pPr marL="0" marR="0" lvl="0" indent="0" algn="l" rtl="0">
              <a:lnSpc>
                <a:spcPct val="8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Migration</a:t>
            </a:r>
            <a:endParaRPr/>
          </a:p>
          <a:p>
            <a:pPr marL="0" marR="0" lvl="0" indent="0" algn="l" rtl="0">
              <a:lnSpc>
                <a:spcPct val="8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controller</a:t>
            </a:r>
            <a:endParaRPr/>
          </a:p>
        </p:txBody>
      </p:sp>
      <p:cxnSp>
        <p:nvCxnSpPr>
          <p:cNvPr id="1310" name="Google Shape;1310;p26"/>
          <p:cNvCxnSpPr/>
          <p:nvPr/>
        </p:nvCxnSpPr>
        <p:spPr>
          <a:xfrm>
            <a:off x="2300236" y="3759597"/>
            <a:ext cx="1420815" cy="16337"/>
          </a:xfrm>
          <a:prstGeom prst="straightConnector1">
            <a:avLst/>
          </a:prstGeom>
          <a:noFill/>
          <a:ln w="19050" cap="flat" cmpd="sng">
            <a:solidFill>
              <a:srgbClr val="000000"/>
            </a:solidFill>
            <a:prstDash val="lgDashDot"/>
            <a:miter lim="8000"/>
            <a:headEnd type="none" w="sm" len="sm"/>
            <a:tailEnd type="triangle" w="med" len="med"/>
          </a:ln>
        </p:spPr>
      </p:cxnSp>
      <p:sp>
        <p:nvSpPr>
          <p:cNvPr id="1314" name="Google Shape;1314;p26"/>
          <p:cNvSpPr/>
          <p:nvPr/>
        </p:nvSpPr>
        <p:spPr>
          <a:xfrm>
            <a:off x="3757630" y="3874530"/>
            <a:ext cx="511484" cy="227794"/>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cxnSp>
        <p:nvCxnSpPr>
          <p:cNvPr id="1315" name="Google Shape;1315;p26"/>
          <p:cNvCxnSpPr/>
          <p:nvPr/>
        </p:nvCxnSpPr>
        <p:spPr>
          <a:xfrm>
            <a:off x="1402086" y="4355579"/>
            <a:ext cx="721699" cy="1"/>
          </a:xfrm>
          <a:prstGeom prst="straightConnector1">
            <a:avLst/>
          </a:prstGeom>
          <a:noFill/>
          <a:ln w="19050" cap="flat" cmpd="sng">
            <a:solidFill>
              <a:srgbClr val="000000"/>
            </a:solidFill>
            <a:prstDash val="lgDashDot"/>
            <a:miter lim="8000"/>
            <a:headEnd type="none" w="sm" len="sm"/>
            <a:tailEnd type="triangle" w="med" len="med"/>
          </a:ln>
        </p:spPr>
      </p:cxnSp>
      <p:cxnSp>
        <p:nvCxnSpPr>
          <p:cNvPr id="1316" name="Google Shape;1316;p26"/>
          <p:cNvCxnSpPr/>
          <p:nvPr/>
        </p:nvCxnSpPr>
        <p:spPr>
          <a:xfrm>
            <a:off x="1384124" y="3755488"/>
            <a:ext cx="733712" cy="4085"/>
          </a:xfrm>
          <a:prstGeom prst="straightConnector1">
            <a:avLst/>
          </a:prstGeom>
          <a:noFill/>
          <a:ln w="19050" cap="flat" cmpd="sng">
            <a:solidFill>
              <a:srgbClr val="000000"/>
            </a:solidFill>
            <a:prstDash val="lgDashDot"/>
            <a:miter lim="8000"/>
            <a:headEnd type="none" w="sm" len="sm"/>
            <a:tailEnd type="triangle" w="med" len="med"/>
          </a:ln>
        </p:spPr>
      </p:cxnSp>
      <p:grpSp>
        <p:nvGrpSpPr>
          <p:cNvPr id="1317" name="Google Shape;1317;p26"/>
          <p:cNvGrpSpPr/>
          <p:nvPr/>
        </p:nvGrpSpPr>
        <p:grpSpPr>
          <a:xfrm>
            <a:off x="372421" y="4545967"/>
            <a:ext cx="758939" cy="237965"/>
            <a:chOff x="0" y="0"/>
            <a:chExt cx="758937" cy="237964"/>
          </a:xfrm>
        </p:grpSpPr>
        <p:sp>
          <p:nvSpPr>
            <p:cNvPr id="1318" name="Google Shape;1318;p26"/>
            <p:cNvSpPr/>
            <p:nvPr/>
          </p:nvSpPr>
          <p:spPr>
            <a:xfrm>
              <a:off x="0" y="54115"/>
              <a:ext cx="758937" cy="129734"/>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319" name="Google Shape;1319;p26"/>
            <p:cNvSpPr/>
            <p:nvPr/>
          </p:nvSpPr>
          <p:spPr>
            <a:xfrm>
              <a:off x="0" y="0"/>
              <a:ext cx="758937" cy="237964"/>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&lt;400, V&gt;</a:t>
              </a:r>
              <a:endParaRPr/>
            </a:p>
          </p:txBody>
        </p:sp>
      </p:grpSp>
      <p:sp>
        <p:nvSpPr>
          <p:cNvPr id="1320" name="Google Shape;1320;p26"/>
          <p:cNvSpPr/>
          <p:nvPr/>
        </p:nvSpPr>
        <p:spPr>
          <a:xfrm>
            <a:off x="645379" y="4352356"/>
            <a:ext cx="511484" cy="227794"/>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1323" name="Google Shape;1323;p26"/>
          <p:cNvSpPr/>
          <p:nvPr/>
        </p:nvSpPr>
        <p:spPr>
          <a:xfrm>
            <a:off x="2170788" y="4211288"/>
            <a:ext cx="62870" cy="26008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324" name="Google Shape;1324;p26"/>
          <p:cNvSpPr/>
          <p:nvPr/>
        </p:nvSpPr>
        <p:spPr>
          <a:xfrm>
            <a:off x="2164834" y="3610767"/>
            <a:ext cx="62870" cy="26008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grpSp>
        <p:nvGrpSpPr>
          <p:cNvPr id="1325" name="Google Shape;1325;p26"/>
          <p:cNvGrpSpPr/>
          <p:nvPr/>
        </p:nvGrpSpPr>
        <p:grpSpPr>
          <a:xfrm>
            <a:off x="1091331" y="1881804"/>
            <a:ext cx="3080925" cy="647291"/>
            <a:chOff x="-1" y="-1"/>
            <a:chExt cx="3080924" cy="647290"/>
          </a:xfrm>
        </p:grpSpPr>
        <p:sp>
          <p:nvSpPr>
            <p:cNvPr id="1326" name="Google Shape;1326;p26"/>
            <p:cNvSpPr/>
            <p:nvPr/>
          </p:nvSpPr>
          <p:spPr>
            <a:xfrm>
              <a:off x="110690" y="23842"/>
              <a:ext cx="2970233" cy="428638"/>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327" name="Google Shape;1327;p26"/>
            <p:cNvSpPr/>
            <p:nvPr/>
          </p:nvSpPr>
          <p:spPr>
            <a:xfrm>
              <a:off x="-1" y="-1"/>
              <a:ext cx="3004364" cy="647290"/>
            </a:xfrm>
            <a:prstGeom prst="rect">
              <a:avLst/>
            </a:prstGeom>
            <a:noFill/>
            <a:ln>
              <a:noFill/>
            </a:ln>
          </p:spPr>
          <p:txBody>
            <a:bodyPr spcFirstLastPara="1" wrap="square" lIns="34275" tIns="34275" rIns="34275" bIns="34275" anchor="t" anchorCtr="0">
              <a:noAutofit/>
            </a:bodyPr>
            <a:lstStyle/>
            <a:p>
              <a:pPr lvl="0" algn="r">
                <a:buSzPts val="1000"/>
              </a:pPr>
              <a:r>
                <a:rPr lang="en-US" sz="1000" dirty="0">
                  <a:latin typeface="Calibri"/>
                  <a:ea typeface="Calibri"/>
                  <a:cs typeface="Calibri"/>
                  <a:sym typeface="Calibri"/>
                </a:rPr>
                <a:t>Migration Completion Ranges: [1-100]</a:t>
              </a:r>
              <a:endParaRPr lang="en-US" sz="1000" dirty="0"/>
            </a:p>
            <a:p>
              <a:pPr marL="0" marR="0" lvl="0" indent="0" algn="r" rtl="0">
                <a:lnSpc>
                  <a:spcPct val="100000"/>
                </a:lnSpc>
                <a:spcBef>
                  <a:spcPts val="0"/>
                </a:spcBef>
                <a:spcAft>
                  <a:spcPts val="0"/>
                </a:spcAft>
                <a:buClr>
                  <a:srgbClr val="000000"/>
                </a:buClr>
                <a:buSzPts val="1000"/>
                <a:buFont typeface="Calibri"/>
                <a:buNone/>
              </a:pPr>
              <a:r>
                <a:rPr lang="en-US" sz="1000" b="1" i="0" u="none" strike="noStrike" cap="none" dirty="0">
                  <a:solidFill>
                    <a:srgbClr val="9900FF"/>
                  </a:solidFill>
                  <a:latin typeface="Calibri"/>
                  <a:ea typeface="Calibri"/>
                  <a:cs typeface="Calibri"/>
                  <a:sym typeface="Calibri"/>
                </a:rPr>
                <a:t>Sampling Pulled Hashes: </a:t>
              </a:r>
              <a:r>
                <a:rPr lang="en-US" sz="1000" b="1" dirty="0">
                  <a:solidFill>
                    <a:srgbClr val="9900FF"/>
                  </a:solidFill>
                  <a:latin typeface="Calibri"/>
                  <a:ea typeface="Calibri"/>
                  <a:cs typeface="Calibri"/>
                  <a:sym typeface="Calibri"/>
                </a:rPr>
                <a:t>Empty</a:t>
              </a:r>
              <a:endParaRPr b="1" dirty="0">
                <a:solidFill>
                  <a:srgbClr val="9900FF"/>
                </a:solidFill>
              </a:endParaRPr>
            </a:p>
          </p:txBody>
        </p:sp>
      </p:grpSp>
      <p:grpSp>
        <p:nvGrpSpPr>
          <p:cNvPr id="1328" name="Google Shape;1328;p26"/>
          <p:cNvGrpSpPr/>
          <p:nvPr/>
        </p:nvGrpSpPr>
        <p:grpSpPr>
          <a:xfrm>
            <a:off x="4220188" y="1969070"/>
            <a:ext cx="777796" cy="268788"/>
            <a:chOff x="0" y="0"/>
            <a:chExt cx="777795" cy="268787"/>
          </a:xfrm>
        </p:grpSpPr>
        <p:sp>
          <p:nvSpPr>
            <p:cNvPr id="1329" name="Google Shape;1329;p26"/>
            <p:cNvSpPr/>
            <p:nvPr/>
          </p:nvSpPr>
          <p:spPr>
            <a:xfrm>
              <a:off x="0" y="0"/>
              <a:ext cx="777740" cy="268787"/>
            </a:xfrm>
            <a:prstGeom prst="diamond">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30" name="Google Shape;1330;p26"/>
            <p:cNvSpPr/>
            <p:nvPr/>
          </p:nvSpPr>
          <p:spPr>
            <a:xfrm>
              <a:off x="49746" y="2353"/>
              <a:ext cx="728049" cy="227794"/>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000"/>
                <a:buFont typeface="Calibri"/>
                <a:buNone/>
              </a:pPr>
              <a:r>
                <a:rPr lang="en-US" sz="1000" b="0" i="0" u="none" strike="noStrike" cap="none">
                  <a:solidFill>
                    <a:srgbClr val="000000"/>
                  </a:solidFill>
                  <a:latin typeface="Calibri"/>
                  <a:ea typeface="Calibri"/>
                  <a:cs typeface="Calibri"/>
                  <a:sym typeface="Calibri"/>
                </a:rPr>
                <a:t>migrated?</a:t>
              </a:r>
              <a:endParaRPr/>
            </a:p>
          </p:txBody>
        </p:sp>
      </p:grpSp>
      <p:grpSp>
        <p:nvGrpSpPr>
          <p:cNvPr id="1331" name="Google Shape;1331;p26"/>
          <p:cNvGrpSpPr/>
          <p:nvPr/>
        </p:nvGrpSpPr>
        <p:grpSpPr>
          <a:xfrm>
            <a:off x="4289840" y="1344174"/>
            <a:ext cx="593604" cy="259124"/>
            <a:chOff x="0" y="0"/>
            <a:chExt cx="593602" cy="259122"/>
          </a:xfrm>
        </p:grpSpPr>
        <p:grpSp>
          <p:nvGrpSpPr>
            <p:cNvPr id="1332" name="Google Shape;1332;p26"/>
            <p:cNvGrpSpPr/>
            <p:nvPr/>
          </p:nvGrpSpPr>
          <p:grpSpPr>
            <a:xfrm>
              <a:off x="0" y="0"/>
              <a:ext cx="518299" cy="227795"/>
              <a:chOff x="0" y="0"/>
              <a:chExt cx="518298" cy="227794"/>
            </a:xfrm>
          </p:grpSpPr>
          <p:sp>
            <p:nvSpPr>
              <p:cNvPr id="1333" name="Google Shape;1333;p26"/>
              <p:cNvSpPr/>
              <p:nvPr/>
            </p:nvSpPr>
            <p:spPr>
              <a:xfrm>
                <a:off x="0" y="21732"/>
                <a:ext cx="518298" cy="184329"/>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34" name="Google Shape;1334;p26"/>
              <p:cNvSpPr/>
              <p:nvPr/>
            </p:nvSpPr>
            <p:spPr>
              <a:xfrm>
                <a:off x="0" y="0"/>
                <a:ext cx="518298" cy="227794"/>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a:p>
            </p:txBody>
          </p:sp>
        </p:grpSp>
        <p:grpSp>
          <p:nvGrpSpPr>
            <p:cNvPr id="1335" name="Google Shape;1335;p26"/>
            <p:cNvGrpSpPr/>
            <p:nvPr/>
          </p:nvGrpSpPr>
          <p:grpSpPr>
            <a:xfrm>
              <a:off x="33446" y="23241"/>
              <a:ext cx="518299" cy="227795"/>
              <a:chOff x="0" y="0"/>
              <a:chExt cx="518298" cy="227794"/>
            </a:xfrm>
          </p:grpSpPr>
          <p:sp>
            <p:nvSpPr>
              <p:cNvPr id="1336" name="Google Shape;1336;p26"/>
              <p:cNvSpPr/>
              <p:nvPr/>
            </p:nvSpPr>
            <p:spPr>
              <a:xfrm>
                <a:off x="0" y="21732"/>
                <a:ext cx="518298" cy="184329"/>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37" name="Google Shape;1337;p26"/>
              <p:cNvSpPr/>
              <p:nvPr/>
            </p:nvSpPr>
            <p:spPr>
              <a:xfrm>
                <a:off x="0" y="0"/>
                <a:ext cx="518298" cy="227794"/>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a:p>
            </p:txBody>
          </p:sp>
        </p:grpSp>
        <p:grpSp>
          <p:nvGrpSpPr>
            <p:cNvPr id="1338" name="Google Shape;1338;p26"/>
            <p:cNvGrpSpPr/>
            <p:nvPr/>
          </p:nvGrpSpPr>
          <p:grpSpPr>
            <a:xfrm>
              <a:off x="75303" y="61838"/>
              <a:ext cx="518299" cy="197284"/>
              <a:chOff x="0" y="0"/>
              <a:chExt cx="518298" cy="197282"/>
            </a:xfrm>
          </p:grpSpPr>
          <p:sp>
            <p:nvSpPr>
              <p:cNvPr id="1339" name="Google Shape;1339;p26"/>
              <p:cNvSpPr/>
              <p:nvPr/>
            </p:nvSpPr>
            <p:spPr>
              <a:xfrm>
                <a:off x="0" y="6477"/>
                <a:ext cx="518298" cy="184328"/>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200"/>
                  <a:buFont typeface="Calibri"/>
                  <a:buNone/>
                </a:pPr>
                <a:endParaRPr sz="1200" b="0" i="0" u="none" strike="noStrike" cap="none">
                  <a:solidFill>
                    <a:srgbClr val="000000"/>
                  </a:solidFill>
                  <a:latin typeface="Calibri"/>
                  <a:ea typeface="Calibri"/>
                  <a:cs typeface="Calibri"/>
                  <a:sym typeface="Calibri"/>
                </a:endParaRPr>
              </a:p>
            </p:txBody>
          </p:sp>
          <p:sp>
            <p:nvSpPr>
              <p:cNvPr id="1340" name="Google Shape;1340;p26"/>
              <p:cNvSpPr/>
              <p:nvPr/>
            </p:nvSpPr>
            <p:spPr>
              <a:xfrm>
                <a:off x="0" y="0"/>
                <a:ext cx="518298" cy="197282"/>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read(…)</a:t>
                </a:r>
                <a:endParaRPr/>
              </a:p>
            </p:txBody>
          </p:sp>
        </p:grpSp>
      </p:grpSp>
      <p:grpSp>
        <p:nvGrpSpPr>
          <p:cNvPr id="1341" name="Google Shape;1341;p26"/>
          <p:cNvGrpSpPr/>
          <p:nvPr/>
        </p:nvGrpSpPr>
        <p:grpSpPr>
          <a:xfrm>
            <a:off x="5032317" y="1345700"/>
            <a:ext cx="668204" cy="256576"/>
            <a:chOff x="0" y="0"/>
            <a:chExt cx="668202" cy="256574"/>
          </a:xfrm>
        </p:grpSpPr>
        <p:grpSp>
          <p:nvGrpSpPr>
            <p:cNvPr id="1342" name="Google Shape;1342;p26"/>
            <p:cNvGrpSpPr/>
            <p:nvPr/>
          </p:nvGrpSpPr>
          <p:grpSpPr>
            <a:xfrm>
              <a:off x="0" y="0"/>
              <a:ext cx="565868" cy="227795"/>
              <a:chOff x="0" y="0"/>
              <a:chExt cx="565867" cy="227794"/>
            </a:xfrm>
          </p:grpSpPr>
          <p:sp>
            <p:nvSpPr>
              <p:cNvPr id="1343" name="Google Shape;1343;p26"/>
              <p:cNvSpPr/>
              <p:nvPr/>
            </p:nvSpPr>
            <p:spPr>
              <a:xfrm>
                <a:off x="0" y="21732"/>
                <a:ext cx="565867" cy="184329"/>
              </a:xfrm>
              <a:prstGeom prst="rect">
                <a:avLst/>
              </a:prstGeom>
              <a:solidFill>
                <a:srgbClr val="FFFFFF"/>
              </a:solidFill>
              <a:ln w="12700" cap="flat" cmpd="sng">
                <a:solidFill>
                  <a:srgbClr val="31538F"/>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44" name="Google Shape;1344;p26"/>
              <p:cNvSpPr/>
              <p:nvPr/>
            </p:nvSpPr>
            <p:spPr>
              <a:xfrm>
                <a:off x="0" y="0"/>
                <a:ext cx="565867" cy="227794"/>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get(…)</a:t>
                </a:r>
                <a:endParaRPr/>
              </a:p>
            </p:txBody>
          </p:sp>
        </p:grpSp>
        <p:grpSp>
          <p:nvGrpSpPr>
            <p:cNvPr id="1345" name="Google Shape;1345;p26"/>
            <p:cNvGrpSpPr/>
            <p:nvPr/>
          </p:nvGrpSpPr>
          <p:grpSpPr>
            <a:xfrm>
              <a:off x="36515" y="23241"/>
              <a:ext cx="565869" cy="227795"/>
              <a:chOff x="0" y="0"/>
              <a:chExt cx="565867" cy="227794"/>
            </a:xfrm>
          </p:grpSpPr>
          <p:sp>
            <p:nvSpPr>
              <p:cNvPr id="1346" name="Google Shape;1346;p26"/>
              <p:cNvSpPr/>
              <p:nvPr/>
            </p:nvSpPr>
            <p:spPr>
              <a:xfrm>
                <a:off x="0" y="21732"/>
                <a:ext cx="565867" cy="184329"/>
              </a:xfrm>
              <a:prstGeom prst="rect">
                <a:avLst/>
              </a:prstGeom>
              <a:solidFill>
                <a:srgbClr val="FFFFFF"/>
              </a:solidFill>
              <a:ln w="12700" cap="flat" cmpd="sng">
                <a:solidFill>
                  <a:srgbClr val="31538F"/>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47" name="Google Shape;1347;p26"/>
              <p:cNvSpPr/>
              <p:nvPr/>
            </p:nvSpPr>
            <p:spPr>
              <a:xfrm>
                <a:off x="0" y="0"/>
                <a:ext cx="565867" cy="227794"/>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get(…)</a:t>
                </a:r>
                <a:endParaRPr/>
              </a:p>
            </p:txBody>
          </p:sp>
        </p:grpSp>
        <p:grpSp>
          <p:nvGrpSpPr>
            <p:cNvPr id="1348" name="Google Shape;1348;p26"/>
            <p:cNvGrpSpPr/>
            <p:nvPr/>
          </p:nvGrpSpPr>
          <p:grpSpPr>
            <a:xfrm>
              <a:off x="102333" y="59290"/>
              <a:ext cx="565869" cy="197284"/>
              <a:chOff x="0" y="0"/>
              <a:chExt cx="565867" cy="197282"/>
            </a:xfrm>
          </p:grpSpPr>
          <p:sp>
            <p:nvSpPr>
              <p:cNvPr id="1349" name="Google Shape;1349;p26"/>
              <p:cNvSpPr/>
              <p:nvPr/>
            </p:nvSpPr>
            <p:spPr>
              <a:xfrm>
                <a:off x="0" y="15305"/>
                <a:ext cx="565867" cy="166672"/>
              </a:xfrm>
              <a:prstGeom prst="rect">
                <a:avLst/>
              </a:prstGeom>
              <a:solidFill>
                <a:srgbClr val="FFFFFF"/>
              </a:solidFill>
              <a:ln w="12700" cap="flat" cmpd="sng">
                <a:solidFill>
                  <a:srgbClr val="31538F"/>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200"/>
                  <a:buFont typeface="Calibri"/>
                  <a:buNone/>
                </a:pPr>
                <a:endParaRPr sz="1200" b="0" i="0" u="none" strike="noStrike" cap="none">
                  <a:solidFill>
                    <a:srgbClr val="000000"/>
                  </a:solidFill>
                  <a:latin typeface="Calibri"/>
                  <a:ea typeface="Calibri"/>
                  <a:cs typeface="Calibri"/>
                  <a:sym typeface="Calibri"/>
                </a:endParaRPr>
              </a:p>
            </p:txBody>
          </p:sp>
          <p:sp>
            <p:nvSpPr>
              <p:cNvPr id="1350" name="Google Shape;1350;p26"/>
              <p:cNvSpPr/>
              <p:nvPr/>
            </p:nvSpPr>
            <p:spPr>
              <a:xfrm>
                <a:off x="0" y="0"/>
                <a:ext cx="565867" cy="197282"/>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write(…)</a:t>
                </a:r>
                <a:endParaRPr/>
              </a:p>
            </p:txBody>
          </p:sp>
        </p:grpSp>
      </p:grpSp>
      <p:sp>
        <p:nvSpPr>
          <p:cNvPr id="1351" name="Google Shape;1351;p26"/>
          <p:cNvSpPr/>
          <p:nvPr/>
        </p:nvSpPr>
        <p:spPr>
          <a:xfrm>
            <a:off x="2096778" y="3861619"/>
            <a:ext cx="511484" cy="227794"/>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sp>
        <p:nvSpPr>
          <p:cNvPr id="1364" name="Google Shape;1364;p26"/>
          <p:cNvSpPr/>
          <p:nvPr/>
        </p:nvSpPr>
        <p:spPr>
          <a:xfrm>
            <a:off x="2946584" y="3851468"/>
            <a:ext cx="511485" cy="227794"/>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cxnSp>
        <p:nvCxnSpPr>
          <p:cNvPr id="1368" name="Google Shape;1368;p26"/>
          <p:cNvCxnSpPr/>
          <p:nvPr/>
        </p:nvCxnSpPr>
        <p:spPr>
          <a:xfrm>
            <a:off x="2300236" y="4724034"/>
            <a:ext cx="1467422" cy="1"/>
          </a:xfrm>
          <a:prstGeom prst="straightConnector1">
            <a:avLst/>
          </a:prstGeom>
          <a:noFill/>
          <a:ln w="19050" cap="flat" cmpd="sng">
            <a:solidFill>
              <a:srgbClr val="7030A0"/>
            </a:solidFill>
            <a:prstDash val="solid"/>
            <a:miter lim="8000"/>
            <a:headEnd type="none" w="sm" len="sm"/>
            <a:tailEnd type="triangle" w="med" len="med"/>
          </a:ln>
        </p:spPr>
      </p:cxnSp>
      <p:sp>
        <p:nvSpPr>
          <p:cNvPr id="1369" name="Google Shape;1369;p26"/>
          <p:cNvSpPr/>
          <p:nvPr/>
        </p:nvSpPr>
        <p:spPr>
          <a:xfrm>
            <a:off x="2656364" y="4415969"/>
            <a:ext cx="760619" cy="366112"/>
          </a:xfrm>
          <a:prstGeom prst="rect">
            <a:avLst/>
          </a:prstGeom>
          <a:noFill/>
          <a:ln>
            <a:noFill/>
          </a:ln>
        </p:spPr>
        <p:txBody>
          <a:bodyPr spcFirstLastPara="1" wrap="square" lIns="34275" tIns="34275" rIns="34275" bIns="34275" anchor="t" anchorCtr="0">
            <a:noAutofit/>
          </a:bodyPr>
          <a:lstStyle/>
          <a:p>
            <a:pPr marL="0" marR="0" lvl="0" indent="0" algn="ctr" rtl="0">
              <a:lnSpc>
                <a:spcPct val="8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sampling pull</a:t>
            </a:r>
            <a:endParaRPr/>
          </a:p>
        </p:txBody>
      </p:sp>
      <p:sp>
        <p:nvSpPr>
          <p:cNvPr id="1370" name="Google Shape;1370;p26"/>
          <p:cNvSpPr/>
          <p:nvPr/>
        </p:nvSpPr>
        <p:spPr>
          <a:xfrm>
            <a:off x="3823194" y="4537464"/>
            <a:ext cx="62869" cy="26008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cxnSp>
        <p:nvCxnSpPr>
          <p:cNvPr id="1371" name="Google Shape;1371;p26"/>
          <p:cNvCxnSpPr/>
          <p:nvPr/>
        </p:nvCxnSpPr>
        <p:spPr>
          <a:xfrm>
            <a:off x="3926240" y="4724034"/>
            <a:ext cx="810349" cy="1"/>
          </a:xfrm>
          <a:prstGeom prst="straightConnector1">
            <a:avLst/>
          </a:prstGeom>
          <a:noFill/>
          <a:ln w="19050" cap="flat" cmpd="sng">
            <a:solidFill>
              <a:srgbClr val="7030A0"/>
            </a:solidFill>
            <a:prstDash val="solid"/>
            <a:miter lim="8000"/>
            <a:headEnd type="none" w="sm" len="sm"/>
            <a:tailEnd type="triangle" w="med" len="med"/>
          </a:ln>
        </p:spPr>
      </p:cxnSp>
      <p:sp>
        <p:nvSpPr>
          <p:cNvPr id="1372" name="Google Shape;1372;p26"/>
          <p:cNvSpPr/>
          <p:nvPr/>
        </p:nvSpPr>
        <p:spPr>
          <a:xfrm>
            <a:off x="2169195" y="4579473"/>
            <a:ext cx="62870" cy="260084"/>
          </a:xfrm>
          <a:custGeom>
            <a:avLst/>
            <a:gdLst/>
            <a:ahLst/>
            <a:cxnLst/>
            <a:rect l="l" t="t" r="r" b="b"/>
            <a:pathLst>
              <a:path w="19521" h="21600" extrusionOk="0">
                <a:moveTo>
                  <a:pt x="10808" y="0"/>
                </a:moveTo>
                <a:cubicBezTo>
                  <a:pt x="14708" y="1494"/>
                  <a:pt x="18608" y="2989"/>
                  <a:pt x="16808" y="5298"/>
                </a:cubicBezTo>
                <a:cubicBezTo>
                  <a:pt x="15008" y="7608"/>
                  <a:pt x="-392" y="11683"/>
                  <a:pt x="8" y="13857"/>
                </a:cubicBezTo>
                <a:cubicBezTo>
                  <a:pt x="408" y="16030"/>
                  <a:pt x="17208" y="17185"/>
                  <a:pt x="19208" y="18340"/>
                </a:cubicBezTo>
                <a:cubicBezTo>
                  <a:pt x="21208" y="19494"/>
                  <a:pt x="13008" y="20242"/>
                  <a:pt x="12008" y="20785"/>
                </a:cubicBezTo>
                <a:cubicBezTo>
                  <a:pt x="11008" y="21328"/>
                  <a:pt x="13208" y="21600"/>
                  <a:pt x="13208" y="21600"/>
                </a:cubicBezTo>
              </a:path>
            </a:pathLst>
          </a:custGeom>
          <a:noFill/>
          <a:ln w="12700" cap="flat" cmpd="sng">
            <a:solidFill>
              <a:srgbClr val="000000"/>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cxnSp>
        <p:nvCxnSpPr>
          <p:cNvPr id="1373" name="Google Shape;1373;p26"/>
          <p:cNvCxnSpPr/>
          <p:nvPr/>
        </p:nvCxnSpPr>
        <p:spPr>
          <a:xfrm>
            <a:off x="1381080" y="4711772"/>
            <a:ext cx="751970" cy="1"/>
          </a:xfrm>
          <a:prstGeom prst="straightConnector1">
            <a:avLst/>
          </a:prstGeom>
          <a:noFill/>
          <a:ln w="19050" cap="flat" cmpd="sng">
            <a:solidFill>
              <a:srgbClr val="7030A0"/>
            </a:solidFill>
            <a:prstDash val="solid"/>
            <a:miter lim="8000"/>
            <a:headEnd type="none" w="sm" len="sm"/>
            <a:tailEnd type="triangle" w="med" len="med"/>
          </a:ln>
        </p:spPr>
      </p:cxnSp>
      <p:grpSp>
        <p:nvGrpSpPr>
          <p:cNvPr id="1376" name="Google Shape;1376;p26"/>
          <p:cNvGrpSpPr/>
          <p:nvPr/>
        </p:nvGrpSpPr>
        <p:grpSpPr>
          <a:xfrm>
            <a:off x="4395732" y="2943003"/>
            <a:ext cx="1502580" cy="255646"/>
            <a:chOff x="0" y="-1"/>
            <a:chExt cx="1502579" cy="255644"/>
          </a:xfrm>
        </p:grpSpPr>
        <p:sp>
          <p:nvSpPr>
            <p:cNvPr id="1377" name="Google Shape;1377;p26"/>
            <p:cNvSpPr/>
            <p:nvPr/>
          </p:nvSpPr>
          <p:spPr>
            <a:xfrm>
              <a:off x="0" y="10807"/>
              <a:ext cx="1502579" cy="234029"/>
            </a:xfrm>
            <a:prstGeom prst="rect">
              <a:avLst/>
            </a:prstGeom>
            <a:solidFill>
              <a:srgbClr val="FEE599"/>
            </a:solidFill>
            <a:ln w="1905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78" name="Google Shape;1378;p26"/>
            <p:cNvSpPr/>
            <p:nvPr/>
          </p:nvSpPr>
          <p:spPr>
            <a:xfrm>
              <a:off x="0" y="-1"/>
              <a:ext cx="1502579" cy="255644"/>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200"/>
                <a:buFont typeface="Calibri"/>
                <a:buNone/>
              </a:pPr>
              <a:r>
                <a:rPr lang="en-US" sz="1200" b="0" i="0" u="none" strike="noStrike" cap="none" dirty="0">
                  <a:solidFill>
                    <a:srgbClr val="000000"/>
                  </a:solidFill>
                  <a:latin typeface="Calibri"/>
                  <a:ea typeface="Calibri"/>
                  <a:cs typeface="Calibri"/>
                  <a:sym typeface="Calibri"/>
                </a:rPr>
                <a:t>sampling puller {200}</a:t>
              </a:r>
              <a:endParaRPr dirty="0"/>
            </a:p>
          </p:txBody>
        </p:sp>
      </p:grpSp>
      <p:cxnSp>
        <p:nvCxnSpPr>
          <p:cNvPr id="1379" name="Google Shape;1379;p26"/>
          <p:cNvCxnSpPr>
            <a:cxnSpLocks/>
          </p:cNvCxnSpPr>
          <p:nvPr/>
        </p:nvCxnSpPr>
        <p:spPr>
          <a:xfrm>
            <a:off x="3524977" y="2569262"/>
            <a:ext cx="310035" cy="347877"/>
          </a:xfrm>
          <a:prstGeom prst="straightConnector1">
            <a:avLst/>
          </a:prstGeom>
          <a:noFill/>
          <a:ln w="19050" cap="flat" cmpd="sng">
            <a:solidFill>
              <a:srgbClr val="0070C0"/>
            </a:solidFill>
            <a:prstDash val="solid"/>
            <a:miter lim="8000"/>
            <a:headEnd type="none" w="sm" len="sm"/>
            <a:tailEnd type="triangle" w="med" len="med"/>
          </a:ln>
        </p:spPr>
      </p:cxnSp>
      <p:cxnSp>
        <p:nvCxnSpPr>
          <p:cNvPr id="1380" name="Google Shape;1380;p26"/>
          <p:cNvCxnSpPr>
            <a:cxnSpLocks/>
          </p:cNvCxnSpPr>
          <p:nvPr/>
        </p:nvCxnSpPr>
        <p:spPr>
          <a:xfrm>
            <a:off x="4190579" y="2580290"/>
            <a:ext cx="290676" cy="324776"/>
          </a:xfrm>
          <a:prstGeom prst="straightConnector1">
            <a:avLst/>
          </a:prstGeom>
          <a:noFill/>
          <a:ln w="19050" cap="flat" cmpd="sng">
            <a:solidFill>
              <a:srgbClr val="0070C0"/>
            </a:solidFill>
            <a:prstDash val="solid"/>
            <a:miter lim="8000"/>
            <a:headEnd type="none" w="sm" len="sm"/>
            <a:tailEnd type="triangle" w="med" len="med"/>
          </a:ln>
        </p:spPr>
      </p:cxnSp>
      <p:cxnSp>
        <p:nvCxnSpPr>
          <p:cNvPr id="1381" name="Google Shape;1381;p26"/>
          <p:cNvCxnSpPr>
            <a:cxnSpLocks/>
            <a:endCxn id="1378" idx="0"/>
          </p:cNvCxnSpPr>
          <p:nvPr/>
        </p:nvCxnSpPr>
        <p:spPr>
          <a:xfrm>
            <a:off x="4847188" y="2559540"/>
            <a:ext cx="299834" cy="383463"/>
          </a:xfrm>
          <a:prstGeom prst="straightConnector1">
            <a:avLst/>
          </a:prstGeom>
          <a:noFill/>
          <a:ln w="19050" cap="flat" cmpd="sng">
            <a:solidFill>
              <a:srgbClr val="0070C0"/>
            </a:solidFill>
            <a:prstDash val="solid"/>
            <a:miter lim="8000"/>
            <a:headEnd type="none" w="sm" len="sm"/>
            <a:tailEnd type="triangle" w="med" len="med"/>
          </a:ln>
        </p:spPr>
      </p:cxnSp>
      <p:cxnSp>
        <p:nvCxnSpPr>
          <p:cNvPr id="1382" name="Google Shape;1382;p26"/>
          <p:cNvCxnSpPr>
            <a:cxnSpLocks/>
          </p:cNvCxnSpPr>
          <p:nvPr/>
        </p:nvCxnSpPr>
        <p:spPr>
          <a:xfrm>
            <a:off x="5577171" y="2569262"/>
            <a:ext cx="298756" cy="375146"/>
          </a:xfrm>
          <a:prstGeom prst="straightConnector1">
            <a:avLst/>
          </a:prstGeom>
          <a:noFill/>
          <a:ln w="19050" cap="flat" cmpd="sng">
            <a:solidFill>
              <a:srgbClr val="0070C0"/>
            </a:solidFill>
            <a:prstDash val="solid"/>
            <a:miter lim="8000"/>
            <a:headEnd type="none" w="sm" len="sm"/>
            <a:tailEnd type="triangle" w="med" len="med"/>
          </a:ln>
        </p:spPr>
      </p:cxnSp>
      <p:sp>
        <p:nvSpPr>
          <p:cNvPr id="1383" name="Google Shape;1383;p26"/>
          <p:cNvSpPr/>
          <p:nvPr/>
        </p:nvSpPr>
        <p:spPr>
          <a:xfrm>
            <a:off x="3284647" y="2648865"/>
            <a:ext cx="316556" cy="261570"/>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200</a:t>
            </a:r>
            <a:endParaRPr dirty="0"/>
          </a:p>
        </p:txBody>
      </p:sp>
      <p:sp>
        <p:nvSpPr>
          <p:cNvPr id="1384" name="Google Shape;1384;p26"/>
          <p:cNvSpPr/>
          <p:nvPr/>
        </p:nvSpPr>
        <p:spPr>
          <a:xfrm>
            <a:off x="4647700" y="2607503"/>
            <a:ext cx="316556" cy="261570"/>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200</a:t>
            </a:r>
            <a:endParaRPr dirty="0"/>
          </a:p>
        </p:txBody>
      </p:sp>
      <p:sp>
        <p:nvSpPr>
          <p:cNvPr id="1385" name="Google Shape;1385;p26"/>
          <p:cNvSpPr/>
          <p:nvPr/>
        </p:nvSpPr>
        <p:spPr>
          <a:xfrm>
            <a:off x="5342658" y="2594405"/>
            <a:ext cx="316556" cy="261570"/>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200</a:t>
            </a:r>
            <a:endParaRPr dirty="0"/>
          </a:p>
        </p:txBody>
      </p:sp>
      <p:sp>
        <p:nvSpPr>
          <p:cNvPr id="1386" name="Google Shape;1386;p26"/>
          <p:cNvSpPr/>
          <p:nvPr/>
        </p:nvSpPr>
        <p:spPr>
          <a:xfrm>
            <a:off x="4152785" y="2613776"/>
            <a:ext cx="174946" cy="256541"/>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1</a:t>
            </a:r>
            <a:endParaRPr dirty="0"/>
          </a:p>
        </p:txBody>
      </p:sp>
      <p:cxnSp>
        <p:nvCxnSpPr>
          <p:cNvPr id="1387" name="Google Shape;1387;p26"/>
          <p:cNvCxnSpPr>
            <a:cxnSpLocks/>
          </p:cNvCxnSpPr>
          <p:nvPr/>
        </p:nvCxnSpPr>
        <p:spPr>
          <a:xfrm>
            <a:off x="3743447" y="2576915"/>
            <a:ext cx="298782" cy="320638"/>
          </a:xfrm>
          <a:prstGeom prst="straightConnector1">
            <a:avLst/>
          </a:prstGeom>
          <a:noFill/>
          <a:ln w="19050" cap="flat" cmpd="sng">
            <a:solidFill>
              <a:srgbClr val="854B7A"/>
            </a:solidFill>
            <a:prstDash val="dash"/>
            <a:miter lim="8000"/>
            <a:headEnd type="triangle" w="med" len="med"/>
            <a:tailEnd type="none" w="sm" len="sm"/>
          </a:ln>
        </p:spPr>
      </p:cxnSp>
      <p:cxnSp>
        <p:nvCxnSpPr>
          <p:cNvPr id="1389" name="Google Shape;1389;p26"/>
          <p:cNvCxnSpPr>
            <a:cxnSpLocks/>
          </p:cNvCxnSpPr>
          <p:nvPr/>
        </p:nvCxnSpPr>
        <p:spPr>
          <a:xfrm>
            <a:off x="5041878" y="2576922"/>
            <a:ext cx="260722" cy="320631"/>
          </a:xfrm>
          <a:prstGeom prst="straightConnector1">
            <a:avLst/>
          </a:prstGeom>
          <a:noFill/>
          <a:ln w="19050" cap="flat" cmpd="sng">
            <a:solidFill>
              <a:srgbClr val="854B7A"/>
            </a:solidFill>
            <a:prstDash val="dash"/>
            <a:miter lim="8000"/>
            <a:headEnd type="triangle" w="med" len="med"/>
            <a:tailEnd type="none" w="sm" len="sm"/>
          </a:ln>
        </p:spPr>
      </p:cxnSp>
      <p:sp>
        <p:nvSpPr>
          <p:cNvPr id="1391" name="Google Shape;1391;p26"/>
          <p:cNvSpPr txBox="1">
            <a:spLocks noGrp="1"/>
          </p:cNvSpPr>
          <p:nvPr>
            <p:ph type="title"/>
          </p:nvPr>
        </p:nvSpPr>
        <p:spPr>
          <a:xfrm>
            <a:off x="583422" y="36302"/>
            <a:ext cx="7886701" cy="994201"/>
          </a:xfrm>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300"/>
              <a:buFont typeface="Calibri"/>
              <a:buNone/>
            </a:pPr>
            <a:r>
              <a:rPr lang="en-US" sz="3300"/>
              <a:t>Sample Puller’s workflow</a:t>
            </a:r>
            <a:endParaRPr/>
          </a:p>
        </p:txBody>
      </p:sp>
      <p:sp>
        <p:nvSpPr>
          <p:cNvPr id="1393" name="Google Shape;1393;p26"/>
          <p:cNvSpPr/>
          <p:nvPr/>
        </p:nvSpPr>
        <p:spPr>
          <a:xfrm>
            <a:off x="2457453" y="1623600"/>
            <a:ext cx="1758300" cy="237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500"/>
              <a:buFont typeface="Calibri"/>
              <a:buNone/>
            </a:pPr>
            <a:r>
              <a:rPr lang="en-US" sz="1500" b="0" i="0" u="none" strike="noStrike" cap="none">
                <a:solidFill>
                  <a:srgbClr val="000000"/>
                </a:solidFill>
                <a:latin typeface="Calibri"/>
                <a:ea typeface="Calibri"/>
                <a:cs typeface="Calibri"/>
                <a:sym typeface="Calibri"/>
              </a:rPr>
              <a:t>Fulva RPC Library</a:t>
            </a:r>
            <a:endParaRPr/>
          </a:p>
        </p:txBody>
      </p:sp>
      <p:grpSp>
        <p:nvGrpSpPr>
          <p:cNvPr id="145" name="Google Shape;1365;p26"/>
          <p:cNvGrpSpPr/>
          <p:nvPr/>
        </p:nvGrpSpPr>
        <p:grpSpPr>
          <a:xfrm>
            <a:off x="484314" y="4019291"/>
            <a:ext cx="782482" cy="237966"/>
            <a:chOff x="0" y="0"/>
            <a:chExt cx="782480" cy="237964"/>
          </a:xfrm>
        </p:grpSpPr>
        <p:sp>
          <p:nvSpPr>
            <p:cNvPr id="146" name="Google Shape;1366;p26"/>
            <p:cNvSpPr/>
            <p:nvPr/>
          </p:nvSpPr>
          <p:spPr>
            <a:xfrm>
              <a:off x="0" y="54114"/>
              <a:ext cx="782480" cy="129734"/>
            </a:xfrm>
            <a:prstGeom prst="rect">
              <a:avLst/>
            </a:prstGeom>
            <a:solidFill>
              <a:srgbClr val="FFC5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500"/>
                <a:buFont typeface="Calibri"/>
                <a:buNone/>
              </a:pPr>
              <a:endParaRPr sz="1500" b="0" i="0" u="none" strike="noStrike" cap="none">
                <a:solidFill>
                  <a:srgbClr val="000000"/>
                </a:solidFill>
                <a:latin typeface="Calibri"/>
                <a:ea typeface="Calibri"/>
                <a:cs typeface="Calibri"/>
                <a:sym typeface="Calibri"/>
              </a:endParaRPr>
            </a:p>
          </p:txBody>
        </p:sp>
        <p:sp>
          <p:nvSpPr>
            <p:cNvPr id="147" name="Google Shape;1367;p26"/>
            <p:cNvSpPr/>
            <p:nvPr/>
          </p:nvSpPr>
          <p:spPr>
            <a:xfrm>
              <a:off x="0" y="0"/>
              <a:ext cx="782480" cy="237964"/>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&lt;200, V&gt;</a:t>
              </a:r>
              <a:endParaRPr dirty="0"/>
            </a:p>
          </p:txBody>
        </p:sp>
      </p:grpSp>
      <p:grpSp>
        <p:nvGrpSpPr>
          <p:cNvPr id="149" name="Google Shape;1325;p26"/>
          <p:cNvGrpSpPr/>
          <p:nvPr/>
        </p:nvGrpSpPr>
        <p:grpSpPr>
          <a:xfrm>
            <a:off x="1077008" y="1885328"/>
            <a:ext cx="3095248" cy="647291"/>
            <a:chOff x="-14324" y="11190"/>
            <a:chExt cx="3095247" cy="647290"/>
          </a:xfrm>
        </p:grpSpPr>
        <p:sp>
          <p:nvSpPr>
            <p:cNvPr id="150" name="Google Shape;1326;p26"/>
            <p:cNvSpPr/>
            <p:nvPr/>
          </p:nvSpPr>
          <p:spPr>
            <a:xfrm>
              <a:off x="110690" y="23842"/>
              <a:ext cx="2970233" cy="428638"/>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51" name="Google Shape;1327;p26"/>
            <p:cNvSpPr/>
            <p:nvPr/>
          </p:nvSpPr>
          <p:spPr>
            <a:xfrm>
              <a:off x="-14324" y="11190"/>
              <a:ext cx="3004364" cy="647290"/>
            </a:xfrm>
            <a:prstGeom prst="rect">
              <a:avLst/>
            </a:prstGeom>
            <a:noFill/>
            <a:ln>
              <a:noFill/>
            </a:ln>
          </p:spPr>
          <p:txBody>
            <a:bodyPr spcFirstLastPara="1" wrap="square" lIns="34275" tIns="34275" rIns="34275" bIns="34275" anchor="t" anchorCtr="0">
              <a:noAutofit/>
            </a:bodyPr>
            <a:lstStyle/>
            <a:p>
              <a:pPr marL="0" marR="0" lvl="0" indent="0" algn="r" rtl="0">
                <a:lnSpc>
                  <a:spcPct val="100000"/>
                </a:lnSpc>
                <a:spcBef>
                  <a:spcPts val="0"/>
                </a:spcBef>
                <a:spcAft>
                  <a:spcPts val="0"/>
                </a:spcAft>
                <a:buClr>
                  <a:srgbClr val="000000"/>
                </a:buClr>
                <a:buSzPts val="1000"/>
                <a:buFont typeface="Calibri"/>
                <a:buNone/>
              </a:pPr>
              <a:r>
                <a:rPr lang="en-US" sz="1000" b="0" i="0" u="none" strike="noStrike" cap="none" dirty="0">
                  <a:solidFill>
                    <a:srgbClr val="000000"/>
                  </a:solidFill>
                  <a:latin typeface="Calibri"/>
                  <a:ea typeface="Calibri"/>
                  <a:cs typeface="Calibri"/>
                  <a:sym typeface="Calibri"/>
                </a:rPr>
                <a:t>Migration Completion Ranges: [1-100]</a:t>
              </a:r>
              <a:endParaRPr lang="en-US" dirty="0"/>
            </a:p>
            <a:p>
              <a:pPr marL="0" marR="0" lvl="0" indent="0" algn="r" rtl="0">
                <a:lnSpc>
                  <a:spcPct val="100000"/>
                </a:lnSpc>
                <a:spcBef>
                  <a:spcPts val="0"/>
                </a:spcBef>
                <a:spcAft>
                  <a:spcPts val="0"/>
                </a:spcAft>
                <a:buClr>
                  <a:srgbClr val="000000"/>
                </a:buClr>
                <a:buSzPts val="1000"/>
                <a:buFont typeface="Calibri"/>
                <a:buNone/>
              </a:pPr>
              <a:r>
                <a:rPr lang="en-US" sz="1000" b="1" i="0" u="none" strike="noStrike" cap="none" dirty="0">
                  <a:solidFill>
                    <a:srgbClr val="9900FF"/>
                  </a:solidFill>
                  <a:latin typeface="Calibri"/>
                  <a:ea typeface="Calibri"/>
                  <a:cs typeface="Calibri"/>
                  <a:sym typeface="Calibri"/>
                </a:rPr>
                <a:t>Sampling Pulled Hashes: </a:t>
              </a:r>
              <a:r>
                <a:rPr lang="en-US" sz="1000" b="1" dirty="0">
                  <a:solidFill>
                    <a:srgbClr val="9900FF"/>
                  </a:solidFill>
                  <a:latin typeface="Calibri"/>
                  <a:ea typeface="Calibri"/>
                  <a:cs typeface="Calibri"/>
                  <a:sym typeface="Calibri"/>
                </a:rPr>
                <a:t>[200]</a:t>
              </a:r>
              <a:endParaRPr b="1" dirty="0">
                <a:solidFill>
                  <a:srgbClr val="9900FF"/>
                </a:solidFill>
              </a:endParaRPr>
            </a:p>
          </p:txBody>
        </p:sp>
      </p:grpSp>
      <p:sp>
        <p:nvSpPr>
          <p:cNvPr id="2" name="Slide Number Placeholder 1">
            <a:extLst>
              <a:ext uri="{FF2B5EF4-FFF2-40B4-BE49-F238E27FC236}">
                <a16:creationId xmlns:a16="http://schemas.microsoft.com/office/drawing/2014/main" id="{7C038E47-188A-634C-A56A-693AFC04D71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142" name="Google Shape;1246;p25">
            <a:extLst>
              <a:ext uri="{FF2B5EF4-FFF2-40B4-BE49-F238E27FC236}">
                <a16:creationId xmlns:a16="http://schemas.microsoft.com/office/drawing/2014/main" id="{29E2F42F-B6D4-8145-A29D-10892B82AE14}"/>
              </a:ext>
            </a:extLst>
          </p:cNvPr>
          <p:cNvSpPr txBox="1"/>
          <p:nvPr/>
        </p:nvSpPr>
        <p:spPr>
          <a:xfrm>
            <a:off x="5889190" y="860048"/>
            <a:ext cx="3258879" cy="1668600"/>
          </a:xfrm>
          <a:prstGeom prst="rect">
            <a:avLst/>
          </a:prstGeom>
          <a:noFill/>
          <a:ln>
            <a:noFill/>
          </a:ln>
        </p:spPr>
        <p:txBody>
          <a:bodyPr spcFirstLastPara="1" wrap="square" lIns="91425" tIns="91425" rIns="91425" bIns="91425" anchor="t" anchorCtr="0">
            <a:noAutofit/>
          </a:bodyPr>
          <a:lstStyle/>
          <a:p>
            <a:pPr marL="457200" indent="-317500">
              <a:buSzPts val="1400"/>
              <a:buFont typeface="Arial"/>
              <a:buChar char="●"/>
            </a:pPr>
            <a:r>
              <a:rPr lang="en-US" dirty="0"/>
              <a:t>Key idea of </a:t>
            </a:r>
            <a:r>
              <a:rPr lang="en-US" dirty="0" err="1"/>
              <a:t>SampPull</a:t>
            </a:r>
            <a:r>
              <a:rPr lang="en-US" dirty="0"/>
              <a:t>: Hot tuples can be efficiently identified through sampling incoming requests on destination.</a:t>
            </a:r>
          </a:p>
          <a:p>
            <a:pPr marL="457200" indent="-317500">
              <a:buSzPts val="1400"/>
              <a:buFont typeface="Arial"/>
              <a:buChar char="●"/>
            </a:pPr>
            <a:endParaRPr lang="en-US" dirty="0"/>
          </a:p>
          <a:p>
            <a:pPr marL="457200" indent="-317500">
              <a:buSzPts val="1400"/>
              <a:buFont typeface="Arial"/>
              <a:buChar char="●"/>
            </a:pPr>
            <a:r>
              <a:rPr lang="en-US" dirty="0" err="1"/>
              <a:t>SampPull</a:t>
            </a:r>
            <a:r>
              <a:rPr lang="en-US" dirty="0"/>
              <a:t>: sample a small faction p (</a:t>
            </a:r>
            <a:r>
              <a:rPr lang="en-US" altLang="zh-TW" dirty="0"/>
              <a:t>1%</a:t>
            </a:r>
            <a:r>
              <a:rPr lang="en-US" dirty="0"/>
              <a:t> by default) of incoming requests</a:t>
            </a:r>
          </a:p>
          <a:p>
            <a:pPr marL="139700">
              <a:buSzPts val="1400"/>
            </a:pPr>
            <a:endParaRPr lang="en-US" dirty="0"/>
          </a:p>
          <a:p>
            <a:pPr marL="457200" indent="-317500">
              <a:buSzPts val="1400"/>
              <a:buFont typeface="Arial"/>
              <a:buChar char="●"/>
            </a:pPr>
            <a:r>
              <a:rPr lang="en-US" dirty="0"/>
              <a:t>Fulva’s end-to-end performance is insensitive to the choice of p.</a:t>
            </a:r>
          </a:p>
        </p:txBody>
      </p:sp>
      <p:sp>
        <p:nvSpPr>
          <p:cNvPr id="14" name="TextBox 13">
            <a:extLst>
              <a:ext uri="{FF2B5EF4-FFF2-40B4-BE49-F238E27FC236}">
                <a16:creationId xmlns:a16="http://schemas.microsoft.com/office/drawing/2014/main" id="{21890464-2E8E-3749-A502-9A693B35833B}"/>
              </a:ext>
            </a:extLst>
          </p:cNvPr>
          <p:cNvSpPr txBox="1"/>
          <p:nvPr/>
        </p:nvSpPr>
        <p:spPr>
          <a:xfrm>
            <a:off x="5849428" y="3523317"/>
            <a:ext cx="3007090" cy="523220"/>
          </a:xfrm>
          <a:prstGeom prst="rect">
            <a:avLst/>
          </a:prstGeom>
          <a:noFill/>
        </p:spPr>
        <p:txBody>
          <a:bodyPr wrap="square" rtlCol="0">
            <a:spAutoFit/>
          </a:bodyPr>
          <a:lstStyle/>
          <a:p>
            <a:pPr marL="457200" indent="-317500">
              <a:buSzPts val="1400"/>
              <a:buFont typeface="Arial"/>
              <a:buChar char="●"/>
            </a:pPr>
            <a:r>
              <a:rPr lang="en-US" dirty="0" err="1"/>
              <a:t>SampPull</a:t>
            </a:r>
            <a:r>
              <a:rPr lang="en-US" dirty="0"/>
              <a:t> is light-weight and efficient</a:t>
            </a:r>
          </a:p>
        </p:txBody>
      </p:sp>
      <p:grpSp>
        <p:nvGrpSpPr>
          <p:cNvPr id="136" name="Google Shape;886;g475845831e_0_50">
            <a:extLst>
              <a:ext uri="{FF2B5EF4-FFF2-40B4-BE49-F238E27FC236}">
                <a16:creationId xmlns:a16="http://schemas.microsoft.com/office/drawing/2014/main" id="{21A8B316-A322-B54D-A44F-008116866478}"/>
              </a:ext>
            </a:extLst>
          </p:cNvPr>
          <p:cNvGrpSpPr/>
          <p:nvPr/>
        </p:nvGrpSpPr>
        <p:grpSpPr>
          <a:xfrm>
            <a:off x="4814017" y="3545591"/>
            <a:ext cx="783300" cy="237900"/>
            <a:chOff x="0" y="0"/>
            <a:chExt cx="783300" cy="237900"/>
          </a:xfrm>
        </p:grpSpPr>
        <p:sp>
          <p:nvSpPr>
            <p:cNvPr id="137" name="Google Shape;887;g475845831e_0_50">
              <a:extLst>
                <a:ext uri="{FF2B5EF4-FFF2-40B4-BE49-F238E27FC236}">
                  <a16:creationId xmlns:a16="http://schemas.microsoft.com/office/drawing/2014/main" id="{B9A0D5C1-E74E-B64F-8BB5-05C627E6BFFA}"/>
                </a:ext>
              </a:extLst>
            </p:cNvPr>
            <p:cNvSpPr/>
            <p:nvPr/>
          </p:nvSpPr>
          <p:spPr>
            <a:xfrm>
              <a:off x="0" y="57478"/>
              <a:ext cx="783300" cy="1230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38" name="Google Shape;888;g475845831e_0_50">
              <a:extLst>
                <a:ext uri="{FF2B5EF4-FFF2-40B4-BE49-F238E27FC236}">
                  <a16:creationId xmlns:a16="http://schemas.microsoft.com/office/drawing/2014/main" id="{69BAE523-7F94-1A47-ACBC-07D6BE09BD8A}"/>
                </a:ext>
              </a:extLst>
            </p:cNvPr>
            <p:cNvSpPr/>
            <p:nvPr/>
          </p:nvSpPr>
          <p:spPr>
            <a:xfrm>
              <a:off x="0" y="0"/>
              <a:ext cx="7833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&lt;1, </a:t>
              </a:r>
              <a:r>
                <a:rPr lang="en-US" altLang="zh-TW" sz="1100" b="0" i="0" u="none" strike="noStrike" cap="none" dirty="0">
                  <a:solidFill>
                    <a:srgbClr val="000000"/>
                  </a:solidFill>
                  <a:latin typeface="Calibri"/>
                  <a:ea typeface="Calibri"/>
                  <a:cs typeface="Calibri"/>
                  <a:sym typeface="Calibri"/>
                </a:rPr>
                <a:t>V</a:t>
              </a:r>
              <a:r>
                <a:rPr lang="en-US" sz="1100" b="0" i="0" u="none" strike="noStrike" cap="none" dirty="0">
                  <a:solidFill>
                    <a:srgbClr val="000000"/>
                  </a:solidFill>
                  <a:latin typeface="Calibri"/>
                  <a:ea typeface="Calibri"/>
                  <a:cs typeface="Calibri"/>
                  <a:sym typeface="Calibri"/>
                </a:rPr>
                <a:t>&gt;</a:t>
              </a:r>
              <a:endParaRPr dirty="0"/>
            </a:p>
          </p:txBody>
        </p:sp>
      </p:grpSp>
      <p:grpSp>
        <p:nvGrpSpPr>
          <p:cNvPr id="139" name="Google Shape;889;g475845831e_0_50">
            <a:extLst>
              <a:ext uri="{FF2B5EF4-FFF2-40B4-BE49-F238E27FC236}">
                <a16:creationId xmlns:a16="http://schemas.microsoft.com/office/drawing/2014/main" id="{572463D5-264E-2441-AAFF-AB7044DE26D0}"/>
              </a:ext>
            </a:extLst>
          </p:cNvPr>
          <p:cNvGrpSpPr/>
          <p:nvPr/>
        </p:nvGrpSpPr>
        <p:grpSpPr>
          <a:xfrm>
            <a:off x="4822856" y="3723338"/>
            <a:ext cx="776100" cy="237900"/>
            <a:chOff x="0" y="0"/>
            <a:chExt cx="776100" cy="237900"/>
          </a:xfrm>
        </p:grpSpPr>
        <p:sp>
          <p:nvSpPr>
            <p:cNvPr id="140" name="Google Shape;890;g475845831e_0_50">
              <a:extLst>
                <a:ext uri="{FF2B5EF4-FFF2-40B4-BE49-F238E27FC236}">
                  <a16:creationId xmlns:a16="http://schemas.microsoft.com/office/drawing/2014/main" id="{21B49044-B3B3-1947-8404-8426DFACFB30}"/>
                </a:ext>
              </a:extLst>
            </p:cNvPr>
            <p:cNvSpPr/>
            <p:nvPr/>
          </p:nvSpPr>
          <p:spPr>
            <a:xfrm>
              <a:off x="0" y="67929"/>
              <a:ext cx="776100" cy="1020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41" name="Google Shape;891;g475845831e_0_50">
              <a:extLst>
                <a:ext uri="{FF2B5EF4-FFF2-40B4-BE49-F238E27FC236}">
                  <a16:creationId xmlns:a16="http://schemas.microsoft.com/office/drawing/2014/main" id="{FC9B3A63-B421-E941-B0E8-27C09E9CA5BC}"/>
                </a:ext>
              </a:extLst>
            </p:cNvPr>
            <p:cNvSpPr/>
            <p:nvPr/>
          </p:nvSpPr>
          <p:spPr>
            <a:xfrm>
              <a:off x="0" y="0"/>
              <a:ext cx="7761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&lt;50, </a:t>
              </a:r>
              <a:r>
                <a:rPr lang="en-US" altLang="zh-TW" sz="1100" b="0" i="0" u="none" strike="noStrike" cap="none" dirty="0">
                  <a:solidFill>
                    <a:srgbClr val="000000"/>
                  </a:solidFill>
                  <a:latin typeface="Calibri"/>
                  <a:ea typeface="Calibri"/>
                  <a:cs typeface="Calibri"/>
                  <a:sym typeface="Calibri"/>
                </a:rPr>
                <a:t>V</a:t>
              </a:r>
              <a:r>
                <a:rPr lang="en-US" sz="1100" b="0" i="0" u="none" strike="noStrike" cap="none" dirty="0">
                  <a:solidFill>
                    <a:srgbClr val="000000"/>
                  </a:solidFill>
                  <a:latin typeface="Calibri"/>
                  <a:ea typeface="Calibri"/>
                  <a:cs typeface="Calibri"/>
                  <a:sym typeface="Calibri"/>
                </a:rPr>
                <a:t>&gt;</a:t>
              </a:r>
              <a:endParaRPr dirty="0"/>
            </a:p>
          </p:txBody>
        </p:sp>
      </p:grpSp>
      <p:sp>
        <p:nvSpPr>
          <p:cNvPr id="143" name="Google Shape;895;g475845831e_0_50">
            <a:extLst>
              <a:ext uri="{FF2B5EF4-FFF2-40B4-BE49-F238E27FC236}">
                <a16:creationId xmlns:a16="http://schemas.microsoft.com/office/drawing/2014/main" id="{E8502AA9-F492-5548-B2C0-661908E37474}"/>
              </a:ext>
            </a:extLst>
          </p:cNvPr>
          <p:cNvSpPr/>
          <p:nvPr/>
        </p:nvSpPr>
        <p:spPr>
          <a:xfrm>
            <a:off x="5068503" y="3570849"/>
            <a:ext cx="5115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dirty="0">
                <a:solidFill>
                  <a:srgbClr val="000000"/>
                </a:solidFill>
                <a:latin typeface="Calibri"/>
                <a:ea typeface="Calibri"/>
                <a:cs typeface="Calibri"/>
                <a:sym typeface="Calibri"/>
              </a:rPr>
              <a:t>....</a:t>
            </a:r>
            <a:endParaRPr dirty="0"/>
          </a:p>
        </p:txBody>
      </p:sp>
      <p:grpSp>
        <p:nvGrpSpPr>
          <p:cNvPr id="144" name="Google Shape;905;g475845831e_0_50">
            <a:extLst>
              <a:ext uri="{FF2B5EF4-FFF2-40B4-BE49-F238E27FC236}">
                <a16:creationId xmlns:a16="http://schemas.microsoft.com/office/drawing/2014/main" id="{2003827F-D050-4F41-8DF4-FEE8034B71D0}"/>
              </a:ext>
            </a:extLst>
          </p:cNvPr>
          <p:cNvGrpSpPr/>
          <p:nvPr/>
        </p:nvGrpSpPr>
        <p:grpSpPr>
          <a:xfrm>
            <a:off x="4839175" y="4133335"/>
            <a:ext cx="767700" cy="237900"/>
            <a:chOff x="0" y="-1"/>
            <a:chExt cx="767700" cy="237900"/>
          </a:xfrm>
        </p:grpSpPr>
        <p:sp>
          <p:nvSpPr>
            <p:cNvPr id="148" name="Google Shape;906;g475845831e_0_50">
              <a:extLst>
                <a:ext uri="{FF2B5EF4-FFF2-40B4-BE49-F238E27FC236}">
                  <a16:creationId xmlns:a16="http://schemas.microsoft.com/office/drawing/2014/main" id="{ECC71FC2-7D78-7849-A959-C61D592E26A1}"/>
                </a:ext>
              </a:extLst>
            </p:cNvPr>
            <p:cNvSpPr/>
            <p:nvPr/>
          </p:nvSpPr>
          <p:spPr>
            <a:xfrm>
              <a:off x="0" y="42583"/>
              <a:ext cx="767700" cy="152700"/>
            </a:xfrm>
            <a:prstGeom prst="rect">
              <a:avLst/>
            </a:prstGeom>
            <a:solidFill>
              <a:srgbClr val="FFFFFF"/>
            </a:solid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Arial"/>
                <a:ea typeface="Arial"/>
                <a:cs typeface="Arial"/>
                <a:sym typeface="Arial"/>
              </a:endParaRPr>
            </a:p>
          </p:txBody>
        </p:sp>
        <p:sp>
          <p:nvSpPr>
            <p:cNvPr id="152" name="Google Shape;907;g475845831e_0_50">
              <a:extLst>
                <a:ext uri="{FF2B5EF4-FFF2-40B4-BE49-F238E27FC236}">
                  <a16:creationId xmlns:a16="http://schemas.microsoft.com/office/drawing/2014/main" id="{1D5950CF-ED20-7A49-B398-7FD35B1177E1}"/>
                </a:ext>
              </a:extLst>
            </p:cNvPr>
            <p:cNvSpPr/>
            <p:nvPr/>
          </p:nvSpPr>
          <p:spPr>
            <a:xfrm>
              <a:off x="0" y="-1"/>
              <a:ext cx="7677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&lt;100, V&gt;</a:t>
              </a:r>
              <a:endParaRPr dirty="0"/>
            </a:p>
          </p:txBody>
        </p:sp>
      </p:grpSp>
      <p:grpSp>
        <p:nvGrpSpPr>
          <p:cNvPr id="153" name="Google Shape;908;g475845831e_0_50">
            <a:extLst>
              <a:ext uri="{FF2B5EF4-FFF2-40B4-BE49-F238E27FC236}">
                <a16:creationId xmlns:a16="http://schemas.microsoft.com/office/drawing/2014/main" id="{410866B5-77BF-0544-AE67-84C211553711}"/>
              </a:ext>
            </a:extLst>
          </p:cNvPr>
          <p:cNvGrpSpPr/>
          <p:nvPr/>
        </p:nvGrpSpPr>
        <p:grpSpPr>
          <a:xfrm>
            <a:off x="4847195" y="4457677"/>
            <a:ext cx="775200" cy="237900"/>
            <a:chOff x="0" y="-1"/>
            <a:chExt cx="775200" cy="237900"/>
          </a:xfrm>
        </p:grpSpPr>
        <p:sp>
          <p:nvSpPr>
            <p:cNvPr id="154" name="Google Shape;909;g475845831e_0_50">
              <a:extLst>
                <a:ext uri="{FF2B5EF4-FFF2-40B4-BE49-F238E27FC236}">
                  <a16:creationId xmlns:a16="http://schemas.microsoft.com/office/drawing/2014/main" id="{B75D4A57-B700-7540-827A-DAEB50059484}"/>
                </a:ext>
              </a:extLst>
            </p:cNvPr>
            <p:cNvSpPr/>
            <p:nvPr/>
          </p:nvSpPr>
          <p:spPr>
            <a:xfrm>
              <a:off x="0" y="58319"/>
              <a:ext cx="775200" cy="1212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55" name="Google Shape;910;g475845831e_0_50">
              <a:extLst>
                <a:ext uri="{FF2B5EF4-FFF2-40B4-BE49-F238E27FC236}">
                  <a16:creationId xmlns:a16="http://schemas.microsoft.com/office/drawing/2014/main" id="{28743656-43B7-E748-B0F7-EB65AA5CF3F0}"/>
                </a:ext>
              </a:extLst>
            </p:cNvPr>
            <p:cNvSpPr/>
            <p:nvPr/>
          </p:nvSpPr>
          <p:spPr>
            <a:xfrm>
              <a:off x="0" y="-1"/>
              <a:ext cx="7752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&lt;500, V&gt;</a:t>
              </a:r>
              <a:endParaRPr dirty="0"/>
            </a:p>
          </p:txBody>
        </p:sp>
      </p:grpSp>
      <p:sp>
        <p:nvSpPr>
          <p:cNvPr id="156" name="Google Shape;911;g475845831e_0_50">
            <a:extLst>
              <a:ext uri="{FF2B5EF4-FFF2-40B4-BE49-F238E27FC236}">
                <a16:creationId xmlns:a16="http://schemas.microsoft.com/office/drawing/2014/main" id="{82AB56EE-0877-8143-BDC6-30A50BE190C8}"/>
              </a:ext>
            </a:extLst>
          </p:cNvPr>
          <p:cNvSpPr/>
          <p:nvPr/>
        </p:nvSpPr>
        <p:spPr>
          <a:xfrm>
            <a:off x="5056699" y="4185703"/>
            <a:ext cx="521100" cy="258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dirty="0">
                <a:solidFill>
                  <a:srgbClr val="000000"/>
                </a:solidFill>
                <a:latin typeface="Calibri"/>
                <a:ea typeface="Calibri"/>
                <a:cs typeface="Calibri"/>
                <a:sym typeface="Calibri"/>
              </a:rPr>
              <a:t>....</a:t>
            </a:r>
            <a:endParaRPr dirty="0"/>
          </a:p>
        </p:txBody>
      </p:sp>
      <p:sp>
        <p:nvSpPr>
          <p:cNvPr id="157" name="Google Shape;927;g475845831e_0_50">
            <a:extLst>
              <a:ext uri="{FF2B5EF4-FFF2-40B4-BE49-F238E27FC236}">
                <a16:creationId xmlns:a16="http://schemas.microsoft.com/office/drawing/2014/main" id="{6067E655-984E-D049-A2F5-B5840EA5A4D1}"/>
              </a:ext>
            </a:extLst>
          </p:cNvPr>
          <p:cNvSpPr/>
          <p:nvPr/>
        </p:nvSpPr>
        <p:spPr>
          <a:xfrm>
            <a:off x="5061952" y="3955346"/>
            <a:ext cx="338400" cy="2277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a:t>
            </a:r>
            <a:endParaRPr/>
          </a:p>
        </p:txBody>
      </p:sp>
      <p:grpSp>
        <p:nvGrpSpPr>
          <p:cNvPr id="158" name="Google Shape;955;g475845831e_0_50">
            <a:extLst>
              <a:ext uri="{FF2B5EF4-FFF2-40B4-BE49-F238E27FC236}">
                <a16:creationId xmlns:a16="http://schemas.microsoft.com/office/drawing/2014/main" id="{25094479-2C80-BC43-945B-F5E4AC045A3D}"/>
              </a:ext>
            </a:extLst>
          </p:cNvPr>
          <p:cNvGrpSpPr/>
          <p:nvPr/>
        </p:nvGrpSpPr>
        <p:grpSpPr>
          <a:xfrm>
            <a:off x="4825412" y="3901209"/>
            <a:ext cx="782400" cy="237900"/>
            <a:chOff x="0" y="0"/>
            <a:chExt cx="782400" cy="237900"/>
          </a:xfrm>
        </p:grpSpPr>
        <p:sp>
          <p:nvSpPr>
            <p:cNvPr id="159" name="Google Shape;956;g475845831e_0_50">
              <a:extLst>
                <a:ext uri="{FF2B5EF4-FFF2-40B4-BE49-F238E27FC236}">
                  <a16:creationId xmlns:a16="http://schemas.microsoft.com/office/drawing/2014/main" id="{B993E366-0845-9B4E-9BDD-FF8AF52C3816}"/>
                </a:ext>
              </a:extLst>
            </p:cNvPr>
            <p:cNvSpPr/>
            <p:nvPr/>
          </p:nvSpPr>
          <p:spPr>
            <a:xfrm>
              <a:off x="0" y="54115"/>
              <a:ext cx="782400" cy="1296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60" name="Google Shape;957;g475845831e_0_50">
              <a:extLst>
                <a:ext uri="{FF2B5EF4-FFF2-40B4-BE49-F238E27FC236}">
                  <a16:creationId xmlns:a16="http://schemas.microsoft.com/office/drawing/2014/main" id="{601306CB-19FE-3343-B1F6-6B5F04838841}"/>
                </a:ext>
              </a:extLst>
            </p:cNvPr>
            <p:cNvSpPr/>
            <p:nvPr/>
          </p:nvSpPr>
          <p:spPr>
            <a:xfrm>
              <a:off x="0" y="0"/>
              <a:ext cx="7824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&lt;51,V&gt;</a:t>
              </a:r>
              <a:endParaRPr dirty="0"/>
            </a:p>
          </p:txBody>
        </p:sp>
      </p:grpSp>
      <p:grpSp>
        <p:nvGrpSpPr>
          <p:cNvPr id="161" name="Google Shape;958;g475845831e_0_50">
            <a:extLst>
              <a:ext uri="{FF2B5EF4-FFF2-40B4-BE49-F238E27FC236}">
                <a16:creationId xmlns:a16="http://schemas.microsoft.com/office/drawing/2014/main" id="{BFE47900-2DB5-8C4C-BE49-EF6F17DA2C55}"/>
              </a:ext>
            </a:extLst>
          </p:cNvPr>
          <p:cNvGrpSpPr/>
          <p:nvPr/>
        </p:nvGrpSpPr>
        <p:grpSpPr>
          <a:xfrm>
            <a:off x="4844479" y="4676786"/>
            <a:ext cx="775200" cy="237900"/>
            <a:chOff x="0" y="-1"/>
            <a:chExt cx="775200" cy="237900"/>
          </a:xfrm>
        </p:grpSpPr>
        <p:sp>
          <p:nvSpPr>
            <p:cNvPr id="162" name="Google Shape;959;g475845831e_0_50">
              <a:extLst>
                <a:ext uri="{FF2B5EF4-FFF2-40B4-BE49-F238E27FC236}">
                  <a16:creationId xmlns:a16="http://schemas.microsoft.com/office/drawing/2014/main" id="{B0CAB399-2208-C44D-9681-2F0A02DDF3BC}"/>
                </a:ext>
              </a:extLst>
            </p:cNvPr>
            <p:cNvSpPr/>
            <p:nvPr/>
          </p:nvSpPr>
          <p:spPr>
            <a:xfrm>
              <a:off x="0" y="62523"/>
              <a:ext cx="775200" cy="112800"/>
            </a:xfrm>
            <a:prstGeom prst="rect">
              <a:avLst/>
            </a:prstGeom>
            <a:noFill/>
            <a:ln w="12700"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63" name="Google Shape;960;g475845831e_0_50">
              <a:extLst>
                <a:ext uri="{FF2B5EF4-FFF2-40B4-BE49-F238E27FC236}">
                  <a16:creationId xmlns:a16="http://schemas.microsoft.com/office/drawing/2014/main" id="{1D956268-6A3C-A249-8490-561ED300A0CF}"/>
                </a:ext>
              </a:extLst>
            </p:cNvPr>
            <p:cNvSpPr/>
            <p:nvPr/>
          </p:nvSpPr>
          <p:spPr>
            <a:xfrm>
              <a:off x="0" y="-1"/>
              <a:ext cx="775200" cy="237900"/>
            </a:xfrm>
            <a:prstGeom prst="rect">
              <a:avLst/>
            </a:prstGeom>
            <a:no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100"/>
                <a:buFont typeface="Calibri"/>
                <a:buNone/>
              </a:pPr>
              <a:r>
                <a:rPr lang="en-US" sz="1100" b="0" i="0" u="none" strike="noStrike" cap="none" dirty="0">
                  <a:solidFill>
                    <a:srgbClr val="000000"/>
                  </a:solidFill>
                  <a:latin typeface="Calibri"/>
                  <a:ea typeface="Calibri"/>
                  <a:cs typeface="Calibri"/>
                  <a:sym typeface="Calibri"/>
                </a:rPr>
                <a:t>&lt;600,V&gt;</a:t>
              </a:r>
              <a:endParaRPr dirty="0"/>
            </a:p>
          </p:txBody>
        </p:sp>
      </p:grpSp>
      <p:sp>
        <p:nvSpPr>
          <p:cNvPr id="164" name="Google Shape;911;g475845831e_0_50">
            <a:extLst>
              <a:ext uri="{FF2B5EF4-FFF2-40B4-BE49-F238E27FC236}">
                <a16:creationId xmlns:a16="http://schemas.microsoft.com/office/drawing/2014/main" id="{14774233-27A3-AA44-B8A9-BF46E5F283B5}"/>
              </a:ext>
            </a:extLst>
          </p:cNvPr>
          <p:cNvSpPr/>
          <p:nvPr/>
        </p:nvSpPr>
        <p:spPr>
          <a:xfrm>
            <a:off x="5062804" y="4502603"/>
            <a:ext cx="521100" cy="2589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dirty="0">
                <a:solidFill>
                  <a:srgbClr val="000000"/>
                </a:solidFill>
                <a:latin typeface="Calibri"/>
                <a:ea typeface="Calibri"/>
                <a:cs typeface="Calibri"/>
                <a:sym typeface="Calibri"/>
              </a:rPr>
              <a:t>....</a:t>
            </a:r>
            <a:endParaRPr dirty="0"/>
          </a:p>
        </p:txBody>
      </p:sp>
      <p:sp>
        <p:nvSpPr>
          <p:cNvPr id="165" name="TextBox 164">
            <a:extLst>
              <a:ext uri="{FF2B5EF4-FFF2-40B4-BE49-F238E27FC236}">
                <a16:creationId xmlns:a16="http://schemas.microsoft.com/office/drawing/2014/main" id="{7E940ADE-B097-F141-9DF9-4B1058190720}"/>
              </a:ext>
            </a:extLst>
          </p:cNvPr>
          <p:cNvSpPr txBox="1"/>
          <p:nvPr/>
        </p:nvSpPr>
        <p:spPr>
          <a:xfrm>
            <a:off x="5849428" y="4104743"/>
            <a:ext cx="3007090" cy="523220"/>
          </a:xfrm>
          <a:prstGeom prst="rect">
            <a:avLst/>
          </a:prstGeom>
          <a:noFill/>
        </p:spPr>
        <p:txBody>
          <a:bodyPr wrap="square" rtlCol="0">
            <a:spAutoFit/>
          </a:bodyPr>
          <a:lstStyle/>
          <a:p>
            <a:pPr marL="457200" indent="-317500">
              <a:buSzPts val="1400"/>
              <a:buFont typeface="Arial"/>
              <a:buChar char="●"/>
            </a:pPr>
            <a:r>
              <a:rPr lang="en-US" dirty="0" err="1"/>
              <a:t>SampPull</a:t>
            </a:r>
            <a:r>
              <a:rPr lang="en-US" dirty="0"/>
              <a:t> does not affect the linearizability of Fulva</a:t>
            </a:r>
          </a:p>
        </p:txBody>
      </p:sp>
    </p:spTree>
    <p:extLst>
      <p:ext uri="{BB962C8B-B14F-4D97-AF65-F5344CB8AC3E}">
        <p14:creationId xmlns:p14="http://schemas.microsoft.com/office/powerpoint/2010/main" val="3117294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83"/>
                                        </p:tgtEl>
                                        <p:attrNameLst>
                                          <p:attrName>style.visibility</p:attrName>
                                        </p:attrNameLst>
                                      </p:cBhvr>
                                      <p:to>
                                        <p:strVal val="visible"/>
                                      </p:to>
                                    </p:set>
                                    <p:animEffect transition="in" filter="fade">
                                      <p:cBhvr>
                                        <p:cTn id="7" dur="500"/>
                                        <p:tgtEl>
                                          <p:spTgt spid="138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86"/>
                                        </p:tgtEl>
                                        <p:attrNameLst>
                                          <p:attrName>style.visibility</p:attrName>
                                        </p:attrNameLst>
                                      </p:cBhvr>
                                      <p:to>
                                        <p:strVal val="visible"/>
                                      </p:to>
                                    </p:set>
                                    <p:animEffect transition="in" filter="fade">
                                      <p:cBhvr>
                                        <p:cTn id="10" dur="500"/>
                                        <p:tgtEl>
                                          <p:spTgt spid="138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84"/>
                                        </p:tgtEl>
                                        <p:attrNameLst>
                                          <p:attrName>style.visibility</p:attrName>
                                        </p:attrNameLst>
                                      </p:cBhvr>
                                      <p:to>
                                        <p:strVal val="visible"/>
                                      </p:to>
                                    </p:set>
                                    <p:animEffect transition="in" filter="fade">
                                      <p:cBhvr>
                                        <p:cTn id="13" dur="500"/>
                                        <p:tgtEl>
                                          <p:spTgt spid="138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85"/>
                                        </p:tgtEl>
                                        <p:attrNameLst>
                                          <p:attrName>style.visibility</p:attrName>
                                        </p:attrNameLst>
                                      </p:cBhvr>
                                      <p:to>
                                        <p:strVal val="visible"/>
                                      </p:to>
                                    </p:set>
                                    <p:animEffect transition="in" filter="fade">
                                      <p:cBhvr>
                                        <p:cTn id="16" dur="500"/>
                                        <p:tgtEl>
                                          <p:spTgt spid="1385"/>
                                        </p:tgtEl>
                                      </p:cBhvr>
                                    </p:animEffect>
                                  </p:childTnLst>
                                </p:cTn>
                              </p:par>
                              <p:par>
                                <p:cTn id="17" presetID="10" presetClass="entr" presetSubtype="0" fill="hold" nodeType="withEffect">
                                  <p:stCondLst>
                                    <p:cond delay="0"/>
                                  </p:stCondLst>
                                  <p:childTnLst>
                                    <p:set>
                                      <p:cBhvr>
                                        <p:cTn id="18" dur="1" fill="hold">
                                          <p:stCondLst>
                                            <p:cond delay="0"/>
                                          </p:stCondLst>
                                        </p:cTn>
                                        <p:tgtEl>
                                          <p:spTgt spid="1379"/>
                                        </p:tgtEl>
                                        <p:attrNameLst>
                                          <p:attrName>style.visibility</p:attrName>
                                        </p:attrNameLst>
                                      </p:cBhvr>
                                      <p:to>
                                        <p:strVal val="visible"/>
                                      </p:to>
                                    </p:set>
                                    <p:animEffect transition="in" filter="fade">
                                      <p:cBhvr>
                                        <p:cTn id="19" dur="500"/>
                                        <p:tgtEl>
                                          <p:spTgt spid="1379"/>
                                        </p:tgtEl>
                                      </p:cBhvr>
                                    </p:animEffect>
                                  </p:childTnLst>
                                </p:cTn>
                              </p:par>
                              <p:par>
                                <p:cTn id="20" presetID="10" presetClass="entr" presetSubtype="0" fill="hold" nodeType="withEffect">
                                  <p:stCondLst>
                                    <p:cond delay="0"/>
                                  </p:stCondLst>
                                  <p:childTnLst>
                                    <p:set>
                                      <p:cBhvr>
                                        <p:cTn id="21" dur="1" fill="hold">
                                          <p:stCondLst>
                                            <p:cond delay="0"/>
                                          </p:stCondLst>
                                        </p:cTn>
                                        <p:tgtEl>
                                          <p:spTgt spid="1380"/>
                                        </p:tgtEl>
                                        <p:attrNameLst>
                                          <p:attrName>style.visibility</p:attrName>
                                        </p:attrNameLst>
                                      </p:cBhvr>
                                      <p:to>
                                        <p:strVal val="visible"/>
                                      </p:to>
                                    </p:set>
                                    <p:animEffect transition="in" filter="fade">
                                      <p:cBhvr>
                                        <p:cTn id="22" dur="500"/>
                                        <p:tgtEl>
                                          <p:spTgt spid="1380"/>
                                        </p:tgtEl>
                                      </p:cBhvr>
                                    </p:animEffect>
                                  </p:childTnLst>
                                </p:cTn>
                              </p:par>
                              <p:par>
                                <p:cTn id="23" presetID="10" presetClass="entr" presetSubtype="0" fill="hold" nodeType="withEffect">
                                  <p:stCondLst>
                                    <p:cond delay="0"/>
                                  </p:stCondLst>
                                  <p:childTnLst>
                                    <p:set>
                                      <p:cBhvr>
                                        <p:cTn id="24" dur="1" fill="hold">
                                          <p:stCondLst>
                                            <p:cond delay="0"/>
                                          </p:stCondLst>
                                        </p:cTn>
                                        <p:tgtEl>
                                          <p:spTgt spid="1381"/>
                                        </p:tgtEl>
                                        <p:attrNameLst>
                                          <p:attrName>style.visibility</p:attrName>
                                        </p:attrNameLst>
                                      </p:cBhvr>
                                      <p:to>
                                        <p:strVal val="visible"/>
                                      </p:to>
                                    </p:set>
                                    <p:animEffect transition="in" filter="fade">
                                      <p:cBhvr>
                                        <p:cTn id="25" dur="500"/>
                                        <p:tgtEl>
                                          <p:spTgt spid="1381"/>
                                        </p:tgtEl>
                                      </p:cBhvr>
                                    </p:animEffect>
                                  </p:childTnLst>
                                </p:cTn>
                              </p:par>
                              <p:par>
                                <p:cTn id="26" presetID="10" presetClass="entr" presetSubtype="0" fill="hold" nodeType="withEffect">
                                  <p:stCondLst>
                                    <p:cond delay="0"/>
                                  </p:stCondLst>
                                  <p:childTnLst>
                                    <p:set>
                                      <p:cBhvr>
                                        <p:cTn id="27" dur="1" fill="hold">
                                          <p:stCondLst>
                                            <p:cond delay="0"/>
                                          </p:stCondLst>
                                        </p:cTn>
                                        <p:tgtEl>
                                          <p:spTgt spid="1382"/>
                                        </p:tgtEl>
                                        <p:attrNameLst>
                                          <p:attrName>style.visibility</p:attrName>
                                        </p:attrNameLst>
                                      </p:cBhvr>
                                      <p:to>
                                        <p:strVal val="visible"/>
                                      </p:to>
                                    </p:set>
                                    <p:animEffect transition="in" filter="fade">
                                      <p:cBhvr>
                                        <p:cTn id="28" dur="500"/>
                                        <p:tgtEl>
                                          <p:spTgt spid="1382"/>
                                        </p:tgtEl>
                                      </p:cBhvr>
                                    </p:animEffect>
                                  </p:childTnLst>
                                </p:cTn>
                              </p:par>
                            </p:childTnLst>
                          </p:cTn>
                        </p:par>
                        <p:par>
                          <p:cTn id="29" fill="hold">
                            <p:stCondLst>
                              <p:cond delay="500"/>
                            </p:stCondLst>
                            <p:childTnLst>
                              <p:par>
                                <p:cTn id="30" presetID="32" presetClass="emph" presetSubtype="0" fill="hold" nodeType="afterEffect">
                                  <p:stCondLst>
                                    <p:cond delay="0"/>
                                  </p:stCondLst>
                                  <p:childTnLst>
                                    <p:animRot by="120000">
                                      <p:cBhvr>
                                        <p:cTn id="31" dur="100" fill="hold">
                                          <p:stCondLst>
                                            <p:cond delay="0"/>
                                          </p:stCondLst>
                                        </p:cTn>
                                        <p:tgtEl>
                                          <p:spTgt spid="1376"/>
                                        </p:tgtEl>
                                        <p:attrNameLst>
                                          <p:attrName>r</p:attrName>
                                        </p:attrNameLst>
                                      </p:cBhvr>
                                    </p:animRot>
                                    <p:animRot by="-240000">
                                      <p:cBhvr>
                                        <p:cTn id="32" dur="200" fill="hold">
                                          <p:stCondLst>
                                            <p:cond delay="200"/>
                                          </p:stCondLst>
                                        </p:cTn>
                                        <p:tgtEl>
                                          <p:spTgt spid="1376"/>
                                        </p:tgtEl>
                                        <p:attrNameLst>
                                          <p:attrName>r</p:attrName>
                                        </p:attrNameLst>
                                      </p:cBhvr>
                                    </p:animRot>
                                    <p:animRot by="240000">
                                      <p:cBhvr>
                                        <p:cTn id="33" dur="200" fill="hold">
                                          <p:stCondLst>
                                            <p:cond delay="400"/>
                                          </p:stCondLst>
                                        </p:cTn>
                                        <p:tgtEl>
                                          <p:spTgt spid="1376"/>
                                        </p:tgtEl>
                                        <p:attrNameLst>
                                          <p:attrName>r</p:attrName>
                                        </p:attrNameLst>
                                      </p:cBhvr>
                                    </p:animRot>
                                    <p:animRot by="-240000">
                                      <p:cBhvr>
                                        <p:cTn id="34" dur="200" fill="hold">
                                          <p:stCondLst>
                                            <p:cond delay="600"/>
                                          </p:stCondLst>
                                        </p:cTn>
                                        <p:tgtEl>
                                          <p:spTgt spid="1376"/>
                                        </p:tgtEl>
                                        <p:attrNameLst>
                                          <p:attrName>r</p:attrName>
                                        </p:attrNameLst>
                                      </p:cBhvr>
                                    </p:animRot>
                                    <p:animRot by="120000">
                                      <p:cBhvr>
                                        <p:cTn id="35" dur="200" fill="hold">
                                          <p:stCondLst>
                                            <p:cond delay="800"/>
                                          </p:stCondLst>
                                        </p:cTn>
                                        <p:tgtEl>
                                          <p:spTgt spid="1376"/>
                                        </p:tgtEl>
                                        <p:attrNameLst>
                                          <p:attrName>r</p:attrName>
                                        </p:attrNameLst>
                                      </p:cBhvr>
                                    </p:animRot>
                                  </p:childTnLst>
                                </p:cTn>
                              </p:par>
                            </p:childTnLst>
                          </p:cTn>
                        </p:par>
                      </p:childTnLst>
                    </p:cTn>
                  </p:par>
                  <p:par>
                    <p:cTn id="36" fill="hold">
                      <p:stCondLst>
                        <p:cond delay="indefinite"/>
                      </p:stCondLst>
                      <p:childTnLst>
                        <p:par>
                          <p:cTn id="37" fill="hold">
                            <p:stCondLst>
                              <p:cond delay="0"/>
                            </p:stCondLst>
                            <p:childTnLst>
                              <p:par>
                                <p:cTn id="38" presetID="32" presetClass="emph" presetSubtype="0" fill="hold" nodeType="clickEffect">
                                  <p:stCondLst>
                                    <p:cond delay="0"/>
                                  </p:stCondLst>
                                  <p:childTnLst>
                                    <p:animRot by="120000">
                                      <p:cBhvr>
                                        <p:cTn id="39" dur="100" fill="hold">
                                          <p:stCondLst>
                                            <p:cond delay="0"/>
                                          </p:stCondLst>
                                        </p:cTn>
                                        <p:tgtEl>
                                          <p:spTgt spid="1376"/>
                                        </p:tgtEl>
                                        <p:attrNameLst>
                                          <p:attrName>r</p:attrName>
                                        </p:attrNameLst>
                                      </p:cBhvr>
                                    </p:animRot>
                                    <p:animRot by="-240000">
                                      <p:cBhvr>
                                        <p:cTn id="40" dur="200" fill="hold">
                                          <p:stCondLst>
                                            <p:cond delay="200"/>
                                          </p:stCondLst>
                                        </p:cTn>
                                        <p:tgtEl>
                                          <p:spTgt spid="1376"/>
                                        </p:tgtEl>
                                        <p:attrNameLst>
                                          <p:attrName>r</p:attrName>
                                        </p:attrNameLst>
                                      </p:cBhvr>
                                    </p:animRot>
                                    <p:animRot by="240000">
                                      <p:cBhvr>
                                        <p:cTn id="41" dur="200" fill="hold">
                                          <p:stCondLst>
                                            <p:cond delay="400"/>
                                          </p:stCondLst>
                                        </p:cTn>
                                        <p:tgtEl>
                                          <p:spTgt spid="1376"/>
                                        </p:tgtEl>
                                        <p:attrNameLst>
                                          <p:attrName>r</p:attrName>
                                        </p:attrNameLst>
                                      </p:cBhvr>
                                    </p:animRot>
                                    <p:animRot by="-240000">
                                      <p:cBhvr>
                                        <p:cTn id="42" dur="200" fill="hold">
                                          <p:stCondLst>
                                            <p:cond delay="600"/>
                                          </p:stCondLst>
                                        </p:cTn>
                                        <p:tgtEl>
                                          <p:spTgt spid="1376"/>
                                        </p:tgtEl>
                                        <p:attrNameLst>
                                          <p:attrName>r</p:attrName>
                                        </p:attrNameLst>
                                      </p:cBhvr>
                                    </p:animRot>
                                    <p:animRot by="120000">
                                      <p:cBhvr>
                                        <p:cTn id="43" dur="200" fill="hold">
                                          <p:stCondLst>
                                            <p:cond delay="800"/>
                                          </p:stCondLst>
                                        </p:cTn>
                                        <p:tgtEl>
                                          <p:spTgt spid="1376"/>
                                        </p:tgtEl>
                                        <p:attrNameLst>
                                          <p:attrName>r</p:attrName>
                                        </p:attrNameLst>
                                      </p:cBhvr>
                                    </p:animRot>
                                  </p:childTnLst>
                                </p:cTn>
                              </p:par>
                              <p:par>
                                <p:cTn id="44" presetID="10" presetClass="entr" presetSubtype="0" fill="hold" nodeType="withEffect">
                                  <p:stCondLst>
                                    <p:cond delay="0"/>
                                  </p:stCondLst>
                                  <p:childTnLst>
                                    <p:set>
                                      <p:cBhvr>
                                        <p:cTn id="45" dur="1" fill="hold">
                                          <p:stCondLst>
                                            <p:cond delay="0"/>
                                          </p:stCondLst>
                                        </p:cTn>
                                        <p:tgtEl>
                                          <p:spTgt spid="145"/>
                                        </p:tgtEl>
                                        <p:attrNameLst>
                                          <p:attrName>style.visibility</p:attrName>
                                        </p:attrNameLst>
                                      </p:cBhvr>
                                      <p:to>
                                        <p:strVal val="visible"/>
                                      </p:to>
                                    </p:set>
                                    <p:animEffect transition="in" filter="fade">
                                      <p:cBhvr>
                                        <p:cTn id="46" dur="500"/>
                                        <p:tgtEl>
                                          <p:spTgt spid="145"/>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1373"/>
                                        </p:tgtEl>
                                        <p:attrNameLst>
                                          <p:attrName>style.visibility</p:attrName>
                                        </p:attrNameLst>
                                      </p:cBhvr>
                                      <p:to>
                                        <p:strVal val="visible"/>
                                      </p:to>
                                    </p:set>
                                    <p:animEffect transition="in" filter="fade">
                                      <p:cBhvr>
                                        <p:cTn id="50" dur="500"/>
                                        <p:tgtEl>
                                          <p:spTgt spid="1373"/>
                                        </p:tgtEl>
                                      </p:cBhvr>
                                    </p:animEffect>
                                  </p:childTnLst>
                                </p:cTn>
                              </p:par>
                              <p:par>
                                <p:cTn id="51" presetID="10" presetClass="entr" presetSubtype="0" fill="hold" nodeType="withEffect">
                                  <p:stCondLst>
                                    <p:cond delay="0"/>
                                  </p:stCondLst>
                                  <p:childTnLst>
                                    <p:set>
                                      <p:cBhvr>
                                        <p:cTn id="52" dur="1" fill="hold">
                                          <p:stCondLst>
                                            <p:cond delay="0"/>
                                          </p:stCondLst>
                                        </p:cTn>
                                        <p:tgtEl>
                                          <p:spTgt spid="1368"/>
                                        </p:tgtEl>
                                        <p:attrNameLst>
                                          <p:attrName>style.visibility</p:attrName>
                                        </p:attrNameLst>
                                      </p:cBhvr>
                                      <p:to>
                                        <p:strVal val="visible"/>
                                      </p:to>
                                    </p:set>
                                    <p:animEffect transition="in" filter="fade">
                                      <p:cBhvr>
                                        <p:cTn id="53" dur="500"/>
                                        <p:tgtEl>
                                          <p:spTgt spid="136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369"/>
                                        </p:tgtEl>
                                        <p:attrNameLst>
                                          <p:attrName>style.visibility</p:attrName>
                                        </p:attrNameLst>
                                      </p:cBhvr>
                                      <p:to>
                                        <p:strVal val="visible"/>
                                      </p:to>
                                    </p:set>
                                    <p:animEffect transition="in" filter="fade">
                                      <p:cBhvr>
                                        <p:cTn id="56" dur="500"/>
                                        <p:tgtEl>
                                          <p:spTgt spid="1369"/>
                                        </p:tgtEl>
                                      </p:cBhvr>
                                    </p:animEffect>
                                  </p:childTnLst>
                                </p:cTn>
                              </p:par>
                              <p:par>
                                <p:cTn id="57" presetID="10" presetClass="entr" presetSubtype="0" fill="hold" nodeType="withEffect">
                                  <p:stCondLst>
                                    <p:cond delay="0"/>
                                  </p:stCondLst>
                                  <p:childTnLst>
                                    <p:set>
                                      <p:cBhvr>
                                        <p:cTn id="58" dur="1" fill="hold">
                                          <p:stCondLst>
                                            <p:cond delay="0"/>
                                          </p:stCondLst>
                                        </p:cTn>
                                        <p:tgtEl>
                                          <p:spTgt spid="1371"/>
                                        </p:tgtEl>
                                        <p:attrNameLst>
                                          <p:attrName>style.visibility</p:attrName>
                                        </p:attrNameLst>
                                      </p:cBhvr>
                                      <p:to>
                                        <p:strVal val="visible"/>
                                      </p:to>
                                    </p:set>
                                    <p:animEffect transition="in" filter="fade">
                                      <p:cBhvr>
                                        <p:cTn id="59" dur="500"/>
                                        <p:tgtEl>
                                          <p:spTgt spid="1371"/>
                                        </p:tgtEl>
                                      </p:cBhvr>
                                    </p:animEffect>
                                  </p:childTnLst>
                                </p:cTn>
                              </p:par>
                            </p:childTnLst>
                          </p:cTn>
                        </p:par>
                        <p:par>
                          <p:cTn id="60" fill="hold">
                            <p:stCondLst>
                              <p:cond delay="1500"/>
                            </p:stCondLst>
                            <p:childTnLst>
                              <p:par>
                                <p:cTn id="61" presetID="42" presetClass="path" presetSubtype="0" accel="50000" decel="50000" fill="hold" nodeType="afterEffect">
                                  <p:stCondLst>
                                    <p:cond delay="0"/>
                                  </p:stCondLst>
                                  <p:childTnLst>
                                    <p:animMotion origin="layout" path="M 2.77778E-7 3.7037E-7 L 0.47344 0.05957 " pathEditMode="relative" rAng="0" ptsTypes="AA">
                                      <p:cBhvr>
                                        <p:cTn id="62" dur="2000" fill="hold"/>
                                        <p:tgtEl>
                                          <p:spTgt spid="145"/>
                                        </p:tgtEl>
                                        <p:attrNameLst>
                                          <p:attrName>ppt_x</p:attrName>
                                          <p:attrName>ppt_y</p:attrName>
                                        </p:attrNameLst>
                                      </p:cBhvr>
                                      <p:rCtr x="23663" y="2963"/>
                                    </p:animMotion>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387"/>
                                        </p:tgtEl>
                                        <p:attrNameLst>
                                          <p:attrName>style.visibility</p:attrName>
                                        </p:attrNameLst>
                                      </p:cBhvr>
                                      <p:to>
                                        <p:strVal val="visible"/>
                                      </p:to>
                                    </p:set>
                                    <p:animEffect transition="in" filter="fade">
                                      <p:cBhvr>
                                        <p:cTn id="67" dur="500"/>
                                        <p:tgtEl>
                                          <p:spTgt spid="1387"/>
                                        </p:tgtEl>
                                      </p:cBhvr>
                                    </p:animEffect>
                                  </p:childTnLst>
                                </p:cTn>
                              </p:par>
                              <p:par>
                                <p:cTn id="68" presetID="10" presetClass="entr" presetSubtype="0" fill="hold" nodeType="withEffect">
                                  <p:stCondLst>
                                    <p:cond delay="0"/>
                                  </p:stCondLst>
                                  <p:childTnLst>
                                    <p:set>
                                      <p:cBhvr>
                                        <p:cTn id="69" dur="1" fill="hold">
                                          <p:stCondLst>
                                            <p:cond delay="0"/>
                                          </p:stCondLst>
                                        </p:cTn>
                                        <p:tgtEl>
                                          <p:spTgt spid="1389"/>
                                        </p:tgtEl>
                                        <p:attrNameLst>
                                          <p:attrName>style.visibility</p:attrName>
                                        </p:attrNameLst>
                                      </p:cBhvr>
                                      <p:to>
                                        <p:strVal val="visible"/>
                                      </p:to>
                                    </p:set>
                                    <p:animEffect transition="in" filter="fade">
                                      <p:cBhvr>
                                        <p:cTn id="70" dur="500"/>
                                        <p:tgtEl>
                                          <p:spTgt spid="1389"/>
                                        </p:tgtEl>
                                      </p:cBhvr>
                                    </p:animEffect>
                                  </p:childTnLst>
                                </p:cTn>
                              </p:par>
                            </p:childTnLst>
                          </p:cTn>
                        </p:par>
                        <p:par>
                          <p:cTn id="71" fill="hold">
                            <p:stCondLst>
                              <p:cond delay="500"/>
                            </p:stCondLst>
                            <p:childTnLst>
                              <p:par>
                                <p:cTn id="72" presetID="10" presetClass="exit" presetSubtype="0" fill="hold" nodeType="afterEffect">
                                  <p:stCondLst>
                                    <p:cond delay="0"/>
                                  </p:stCondLst>
                                  <p:childTnLst>
                                    <p:animEffect transition="out" filter="fade">
                                      <p:cBhvr>
                                        <p:cTn id="73" dur="500"/>
                                        <p:tgtEl>
                                          <p:spTgt spid="1325"/>
                                        </p:tgtEl>
                                      </p:cBhvr>
                                    </p:animEffect>
                                    <p:set>
                                      <p:cBhvr>
                                        <p:cTn id="74" dur="1" fill="hold">
                                          <p:stCondLst>
                                            <p:cond delay="499"/>
                                          </p:stCondLst>
                                        </p:cTn>
                                        <p:tgtEl>
                                          <p:spTgt spid="1325"/>
                                        </p:tgtEl>
                                        <p:attrNameLst>
                                          <p:attrName>style.visibility</p:attrName>
                                        </p:attrNameLst>
                                      </p:cBhvr>
                                      <p:to>
                                        <p:strVal val="hidden"/>
                                      </p:to>
                                    </p:set>
                                  </p:childTnLst>
                                </p:cTn>
                              </p:par>
                              <p:par>
                                <p:cTn id="75" presetID="10" presetClass="entr" presetSubtype="0" fill="hold" nodeType="withEffect">
                                  <p:stCondLst>
                                    <p:cond delay="0"/>
                                  </p:stCondLst>
                                  <p:childTnLst>
                                    <p:set>
                                      <p:cBhvr>
                                        <p:cTn id="76" dur="1" fill="hold">
                                          <p:stCondLst>
                                            <p:cond delay="0"/>
                                          </p:stCondLst>
                                        </p:cTn>
                                        <p:tgtEl>
                                          <p:spTgt spid="149"/>
                                        </p:tgtEl>
                                        <p:attrNameLst>
                                          <p:attrName>style.visibility</p:attrName>
                                        </p:attrNameLst>
                                      </p:cBhvr>
                                      <p:to>
                                        <p:strVal val="visible"/>
                                      </p:to>
                                    </p:set>
                                    <p:animEffect transition="in" filter="fade">
                                      <p:cBhvr>
                                        <p:cTn id="77" dur="500"/>
                                        <p:tgtEl>
                                          <p:spTgt spid="14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fade">
                                      <p:cBhvr>
                                        <p:cTn id="82" dur="500"/>
                                        <p:tgtEl>
                                          <p:spTgt spid="1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65"/>
                                        </p:tgtEl>
                                        <p:attrNameLst>
                                          <p:attrName>style.visibility</p:attrName>
                                        </p:attrNameLst>
                                      </p:cBhvr>
                                      <p:to>
                                        <p:strVal val="visible"/>
                                      </p:to>
                                    </p:set>
                                    <p:animEffect transition="in" filter="fade">
                                      <p:cBhvr>
                                        <p:cTn id="87" dur="5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9" grpId="0"/>
      <p:bldP spid="1383" grpId="0"/>
      <p:bldP spid="1384" grpId="0"/>
      <p:bldP spid="1385" grpId="0"/>
      <p:bldP spid="1386" grpId="0"/>
      <p:bldP spid="14" grpId="0"/>
      <p:bldP spid="16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09"/>
        <p:cNvGrpSpPr/>
        <p:nvPr/>
      </p:nvGrpSpPr>
      <p:grpSpPr>
        <a:xfrm>
          <a:off x="0" y="0"/>
          <a:ext cx="0" cy="0"/>
          <a:chOff x="0" y="0"/>
          <a:chExt cx="0" cy="0"/>
        </a:xfrm>
      </p:grpSpPr>
      <p:sp>
        <p:nvSpPr>
          <p:cNvPr id="1410" name="Google Shape;1410;g61028e7a18_0_12"/>
          <p:cNvSpPr txBox="1">
            <a:spLocks noGrp="1"/>
          </p:cNvSpPr>
          <p:nvPr>
            <p:ph type="title"/>
          </p:nvPr>
        </p:nvSpPr>
        <p:spPr>
          <a:xfrm>
            <a:off x="311699" y="445025"/>
            <a:ext cx="8520600" cy="572700"/>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688"/>
              <a:buFont typeface="Arial"/>
              <a:buNone/>
            </a:pPr>
            <a:r>
              <a:rPr lang="en-US" sz="2688"/>
              <a:t>Evaluation Setup (1)</a:t>
            </a:r>
            <a:endParaRPr/>
          </a:p>
        </p:txBody>
      </p:sp>
      <p:sp>
        <p:nvSpPr>
          <p:cNvPr id="1411" name="Google Shape;1411;g61028e7a18_0_12"/>
          <p:cNvSpPr txBox="1">
            <a:spLocks noGrp="1"/>
          </p:cNvSpPr>
          <p:nvPr>
            <p:ph type="body" idx="1"/>
          </p:nvPr>
        </p:nvSpPr>
        <p:spPr>
          <a:xfrm>
            <a:off x="311699" y="1152475"/>
            <a:ext cx="8520600" cy="3416400"/>
          </a:xfrm>
          <a:prstGeom prst="rect">
            <a:avLst/>
          </a:prstGeom>
          <a:noFill/>
          <a:ln>
            <a:noFill/>
          </a:ln>
        </p:spPr>
        <p:txBody>
          <a:bodyPr spcFirstLastPara="1" wrap="square" lIns="91400" tIns="91400" rIns="91400" bIns="91400" anchor="t" anchorCtr="0">
            <a:noAutofit/>
          </a:bodyPr>
          <a:lstStyle/>
          <a:p>
            <a:pPr marL="457200" lvl="0" indent="-342900" algn="l" rtl="0">
              <a:lnSpc>
                <a:spcPct val="115000"/>
              </a:lnSpc>
              <a:spcBef>
                <a:spcPts val="0"/>
              </a:spcBef>
              <a:spcAft>
                <a:spcPts val="0"/>
              </a:spcAft>
              <a:buClr>
                <a:srgbClr val="585858"/>
              </a:buClr>
              <a:buSzPts val="1800"/>
              <a:buFont typeface="Arial"/>
              <a:buChar char="●"/>
            </a:pPr>
            <a:r>
              <a:rPr lang="en-US" dirty="0"/>
              <a:t>A cluster of 12 computers</a:t>
            </a:r>
            <a:endParaRPr dirty="0"/>
          </a:p>
          <a:p>
            <a:pPr marL="914400" lvl="1" indent="-342900" algn="l" rtl="0">
              <a:lnSpc>
                <a:spcPct val="115000"/>
              </a:lnSpc>
              <a:spcBef>
                <a:spcPts val="0"/>
              </a:spcBef>
              <a:spcAft>
                <a:spcPts val="0"/>
              </a:spcAft>
              <a:buSzPts val="1800"/>
              <a:buChar char="○"/>
            </a:pPr>
            <a:r>
              <a:rPr lang="en-US" dirty="0"/>
              <a:t>Intel Xeon E5-2690 v3 server, with 60GB DRAM on each</a:t>
            </a:r>
            <a:endParaRPr dirty="0"/>
          </a:p>
          <a:p>
            <a:pPr marL="914400" lvl="1" indent="-342900" algn="l" rtl="0">
              <a:lnSpc>
                <a:spcPct val="115000"/>
              </a:lnSpc>
              <a:spcBef>
                <a:spcPts val="0"/>
              </a:spcBef>
              <a:spcAft>
                <a:spcPts val="0"/>
              </a:spcAft>
              <a:buSzPts val="1800"/>
              <a:buChar char="○"/>
            </a:pPr>
            <a:r>
              <a:rPr lang="en-US" dirty="0"/>
              <a:t>Connected with 40Gbps NIC</a:t>
            </a:r>
            <a:endParaRPr dirty="0"/>
          </a:p>
          <a:p>
            <a:pPr marL="914400" lvl="1" indent="-342900" algn="l" rtl="0">
              <a:lnSpc>
                <a:spcPct val="115000"/>
              </a:lnSpc>
              <a:spcBef>
                <a:spcPts val="0"/>
              </a:spcBef>
              <a:spcAft>
                <a:spcPts val="0"/>
              </a:spcAft>
              <a:buSzPts val="1800"/>
              <a:buChar char="○"/>
            </a:pPr>
            <a:r>
              <a:rPr lang="en-US" dirty="0"/>
              <a:t>All hosts used DPDK for kernel-bypass support</a:t>
            </a:r>
            <a:endParaRPr dirty="0"/>
          </a:p>
          <a:p>
            <a:pPr marL="0" lvl="0" indent="0" algn="l" rtl="0">
              <a:lnSpc>
                <a:spcPct val="115000"/>
              </a:lnSpc>
              <a:spcBef>
                <a:spcPts val="0"/>
              </a:spcBef>
              <a:spcAft>
                <a:spcPts val="0"/>
              </a:spcAft>
              <a:buNone/>
            </a:pPr>
            <a:endParaRPr dirty="0"/>
          </a:p>
          <a:p>
            <a:pPr marL="457200" lvl="0" indent="-342900" algn="l" rtl="0">
              <a:spcBef>
                <a:spcPts val="0"/>
              </a:spcBef>
              <a:spcAft>
                <a:spcPts val="0"/>
              </a:spcAft>
              <a:buSzPts val="1800"/>
              <a:buChar char="●"/>
            </a:pPr>
            <a:r>
              <a:rPr lang="en-US" dirty="0"/>
              <a:t>Implemented Fulva on </a:t>
            </a:r>
            <a:r>
              <a:rPr lang="en-US" dirty="0" err="1"/>
              <a:t>RAMCloud</a:t>
            </a:r>
            <a:r>
              <a:rPr lang="en-US" dirty="0"/>
              <a:t>, a popular in-memory key-value store</a:t>
            </a:r>
            <a:endParaRPr dirty="0"/>
          </a:p>
          <a:p>
            <a:pPr marL="0" lvl="0" indent="0" algn="l" rtl="0">
              <a:spcBef>
                <a:spcPts val="0"/>
              </a:spcBef>
              <a:spcAft>
                <a:spcPts val="0"/>
              </a:spcAft>
              <a:buNone/>
            </a:pPr>
            <a:endParaRPr dirty="0"/>
          </a:p>
          <a:p>
            <a:pPr marL="457200" lvl="0" indent="-342900" algn="l" rtl="0">
              <a:spcBef>
                <a:spcPts val="0"/>
              </a:spcBef>
              <a:spcAft>
                <a:spcPts val="0"/>
              </a:spcAft>
              <a:buSzPts val="1800"/>
              <a:buChar char="●"/>
            </a:pPr>
            <a:r>
              <a:rPr lang="en-US" dirty="0"/>
              <a:t>Compared Fulva with two live migration systems</a:t>
            </a:r>
            <a:endParaRPr dirty="0"/>
          </a:p>
          <a:p>
            <a:pPr marL="914400" lvl="1" indent="-342900" algn="l" rtl="0">
              <a:spcBef>
                <a:spcPts val="0"/>
              </a:spcBef>
              <a:spcAft>
                <a:spcPts val="0"/>
              </a:spcAft>
              <a:buSzPts val="1800"/>
              <a:buChar char="○"/>
            </a:pPr>
            <a:r>
              <a:rPr lang="en-US" dirty="0" err="1"/>
              <a:t>RAMCloud</a:t>
            </a:r>
            <a:r>
              <a:rPr lang="en-US" dirty="0"/>
              <a:t> Migration: </a:t>
            </a:r>
            <a:r>
              <a:rPr lang="en-US" dirty="0" err="1"/>
              <a:t>builtin</a:t>
            </a:r>
            <a:r>
              <a:rPr lang="en-US" dirty="0"/>
              <a:t> source-driven approach of </a:t>
            </a:r>
            <a:r>
              <a:rPr lang="en-US" dirty="0" err="1"/>
              <a:t>RAMCloud</a:t>
            </a:r>
            <a:endParaRPr dirty="0"/>
          </a:p>
          <a:p>
            <a:pPr marL="914400" lvl="1" indent="-342900" algn="l" rtl="0">
              <a:spcBef>
                <a:spcPts val="0"/>
              </a:spcBef>
              <a:spcAft>
                <a:spcPts val="0"/>
              </a:spcAft>
              <a:buSzPts val="1800"/>
              <a:buChar char="○"/>
            </a:pPr>
            <a:r>
              <a:rPr lang="en-US" dirty="0"/>
              <a:t>Rocksteady (SOSP’17): a state-of-the-art destination-driven live migration approach tailored for </a:t>
            </a:r>
            <a:r>
              <a:rPr lang="en-US" dirty="0" err="1"/>
              <a:t>RAMCloud</a:t>
            </a:r>
            <a:endParaRPr dirty="0"/>
          </a:p>
        </p:txBody>
      </p:sp>
      <p:sp>
        <p:nvSpPr>
          <p:cNvPr id="2" name="Slide Number Placeholder 1">
            <a:extLst>
              <a:ext uri="{FF2B5EF4-FFF2-40B4-BE49-F238E27FC236}">
                <a16:creationId xmlns:a16="http://schemas.microsoft.com/office/drawing/2014/main" id="{9AE56A4B-884A-C541-8F45-FE88C125230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extLst>
      <p:ext uri="{BB962C8B-B14F-4D97-AF65-F5344CB8AC3E}">
        <p14:creationId xmlns:p14="http://schemas.microsoft.com/office/powerpoint/2010/main" val="2602011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15"/>
        <p:cNvGrpSpPr/>
        <p:nvPr/>
      </p:nvGrpSpPr>
      <p:grpSpPr>
        <a:xfrm>
          <a:off x="0" y="0"/>
          <a:ext cx="0" cy="0"/>
          <a:chOff x="0" y="0"/>
          <a:chExt cx="0" cy="0"/>
        </a:xfrm>
      </p:grpSpPr>
      <p:sp>
        <p:nvSpPr>
          <p:cNvPr id="1416" name="Google Shape;1416;g61028e7a18_0_19"/>
          <p:cNvSpPr txBox="1">
            <a:spLocks noGrp="1"/>
          </p:cNvSpPr>
          <p:nvPr>
            <p:ph type="title"/>
          </p:nvPr>
        </p:nvSpPr>
        <p:spPr>
          <a:xfrm>
            <a:off x="332152" y="290850"/>
            <a:ext cx="8520600" cy="572700"/>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000000"/>
              </a:buClr>
              <a:buSzPts val="2688"/>
              <a:buFont typeface="Arial"/>
              <a:buNone/>
            </a:pPr>
            <a:r>
              <a:rPr lang="en-US" sz="2688" dirty="0"/>
              <a:t>Evaluation Setup (2)</a:t>
            </a:r>
            <a:endParaRPr dirty="0"/>
          </a:p>
        </p:txBody>
      </p:sp>
      <p:sp>
        <p:nvSpPr>
          <p:cNvPr id="1417" name="Google Shape;1417;g61028e7a18_0_19"/>
          <p:cNvSpPr txBox="1">
            <a:spLocks noGrp="1"/>
          </p:cNvSpPr>
          <p:nvPr>
            <p:ph type="body" idx="1"/>
          </p:nvPr>
        </p:nvSpPr>
        <p:spPr>
          <a:xfrm>
            <a:off x="163745" y="863550"/>
            <a:ext cx="8520600" cy="3416400"/>
          </a:xfrm>
          <a:prstGeom prst="rect">
            <a:avLst/>
          </a:prstGeom>
          <a:noFill/>
          <a:ln>
            <a:noFill/>
          </a:ln>
        </p:spPr>
        <p:txBody>
          <a:bodyPr spcFirstLastPara="1" wrap="square" lIns="91400" tIns="91400" rIns="91400" bIns="91400" anchor="t" anchorCtr="0">
            <a:noAutofit/>
          </a:bodyPr>
          <a:lstStyle/>
          <a:p>
            <a:pPr marL="457200" marR="0" lvl="0" indent="-342900" algn="l" rtl="0">
              <a:lnSpc>
                <a:spcPct val="115000"/>
              </a:lnSpc>
              <a:spcBef>
                <a:spcPts val="0"/>
              </a:spcBef>
              <a:spcAft>
                <a:spcPts val="0"/>
              </a:spcAft>
              <a:buClr>
                <a:srgbClr val="585858"/>
              </a:buClr>
              <a:buSzPts val="1800"/>
              <a:buFont typeface="Arial"/>
              <a:buChar char="●"/>
            </a:pPr>
            <a:r>
              <a:rPr lang="en-US" sz="1600" dirty="0"/>
              <a:t>Workload: YCSB and TPC-C</a:t>
            </a:r>
          </a:p>
          <a:p>
            <a:pPr lvl="1">
              <a:buFont typeface="Arial"/>
              <a:buChar char="●"/>
            </a:pPr>
            <a:r>
              <a:rPr lang="en-US" sz="1600" dirty="0"/>
              <a:t>YCSB-A (50% read and 50% write) and YCSB-B (95% read and 5% write)</a:t>
            </a:r>
          </a:p>
          <a:p>
            <a:pPr lvl="1">
              <a:buFont typeface="Arial"/>
              <a:buChar char="●"/>
            </a:pPr>
            <a:r>
              <a:rPr lang="en-US" sz="1600" dirty="0"/>
              <a:t>High Skew (80% requests access 20% records) and Low Skew (66% requests access 25% records), same as Rocksteady’s setting</a:t>
            </a:r>
          </a:p>
          <a:p>
            <a:pPr marL="571500" lvl="1" indent="0">
              <a:buNone/>
            </a:pPr>
            <a:endParaRPr sz="1600" dirty="0"/>
          </a:p>
          <a:p>
            <a:pPr marL="457200" lvl="0" indent="-342900" algn="l" rtl="0">
              <a:spcBef>
                <a:spcPts val="0"/>
              </a:spcBef>
              <a:spcAft>
                <a:spcPts val="0"/>
              </a:spcAft>
              <a:buSzPts val="1800"/>
              <a:buChar char="●"/>
            </a:pPr>
            <a:r>
              <a:rPr lang="en-US" sz="1600" dirty="0"/>
              <a:t>Dataset: 300 million 100-byte record payloads (values) with 30-byte keys.</a:t>
            </a:r>
            <a:endParaRPr sz="1600" dirty="0"/>
          </a:p>
          <a:p>
            <a:pPr marL="914400" lvl="1" indent="-342900" algn="l" rtl="0">
              <a:spcBef>
                <a:spcPts val="0"/>
              </a:spcBef>
              <a:spcAft>
                <a:spcPts val="0"/>
              </a:spcAft>
              <a:buSzPts val="1800"/>
              <a:buChar char="○"/>
            </a:pPr>
            <a:r>
              <a:rPr lang="en-US" sz="1600" dirty="0"/>
              <a:t>Dataset size: 40GB on the source</a:t>
            </a:r>
          </a:p>
          <a:p>
            <a:pPr marL="914400" lvl="1" indent="-342900" algn="l" rtl="0">
              <a:spcBef>
                <a:spcPts val="0"/>
              </a:spcBef>
              <a:spcAft>
                <a:spcPts val="0"/>
              </a:spcAft>
              <a:buSzPts val="1800"/>
              <a:buChar char="○"/>
            </a:pPr>
            <a:r>
              <a:rPr lang="en-US" sz="1600" dirty="0"/>
              <a:t>All evaluated systems migrate 20GB of the dataset to Destination</a:t>
            </a:r>
          </a:p>
          <a:p>
            <a:pPr marL="571500" lvl="1" indent="0" algn="l" rtl="0">
              <a:spcBef>
                <a:spcPts val="0"/>
              </a:spcBef>
              <a:spcAft>
                <a:spcPts val="0"/>
              </a:spcAft>
              <a:buSzPts val="1800"/>
              <a:buNone/>
            </a:pPr>
            <a:endParaRPr lang="en-US" sz="1600" dirty="0"/>
          </a:p>
          <a:p>
            <a:pPr lvl="0"/>
            <a:r>
              <a:rPr lang="en-US" sz="1600" dirty="0"/>
              <a:t>Metrics</a:t>
            </a:r>
          </a:p>
          <a:p>
            <a:pPr lvl="1"/>
            <a:r>
              <a:rPr lang="en-US" sz="1600" dirty="0"/>
              <a:t>Throughput: the aggregated throughput of source and destination</a:t>
            </a:r>
          </a:p>
          <a:p>
            <a:pPr lvl="1"/>
            <a:r>
              <a:rPr lang="en-US" sz="1600" dirty="0"/>
              <a:t>Median latency: the median latency of all clients’ requests</a:t>
            </a:r>
          </a:p>
          <a:p>
            <a:pPr lvl="1"/>
            <a:r>
              <a:rPr lang="en-US" sz="1600" dirty="0"/>
              <a:t>Tail latency: the 99th percentile of the latency of all clients’ requests</a:t>
            </a:r>
          </a:p>
          <a:p>
            <a:pPr>
              <a:buChar char="○"/>
            </a:pPr>
            <a:endParaRPr sz="1600" dirty="0"/>
          </a:p>
        </p:txBody>
      </p:sp>
      <p:sp>
        <p:nvSpPr>
          <p:cNvPr id="2" name="Slide Number Placeholder 1">
            <a:extLst>
              <a:ext uri="{FF2B5EF4-FFF2-40B4-BE49-F238E27FC236}">
                <a16:creationId xmlns:a16="http://schemas.microsoft.com/office/drawing/2014/main" id="{CB80B90D-C390-5246-8E9D-A47E214587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extLst>
      <p:ext uri="{BB962C8B-B14F-4D97-AF65-F5344CB8AC3E}">
        <p14:creationId xmlns:p14="http://schemas.microsoft.com/office/powerpoint/2010/main" val="1075722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21"/>
        <p:cNvGrpSpPr/>
        <p:nvPr/>
      </p:nvGrpSpPr>
      <p:grpSpPr>
        <a:xfrm>
          <a:off x="0" y="0"/>
          <a:ext cx="0" cy="0"/>
          <a:chOff x="0" y="0"/>
          <a:chExt cx="0" cy="0"/>
        </a:xfrm>
      </p:grpSpPr>
      <p:sp>
        <p:nvSpPr>
          <p:cNvPr id="1422" name="Google Shape;1422;g61028e7a18_0_25"/>
          <p:cNvSpPr txBox="1">
            <a:spLocks noGrp="1"/>
          </p:cNvSpPr>
          <p:nvPr>
            <p:ph type="title"/>
          </p:nvPr>
        </p:nvSpPr>
        <p:spPr>
          <a:xfrm>
            <a:off x="311699" y="445025"/>
            <a:ext cx="8520600" cy="572700"/>
          </a:xfrm>
          <a:prstGeom prst="rect">
            <a:avLst/>
          </a:prstGeom>
        </p:spPr>
        <p:txBody>
          <a:bodyPr spcFirstLastPara="1" wrap="square" lIns="91400" tIns="91400" rIns="91400" bIns="91400" anchor="t" anchorCtr="0">
            <a:noAutofit/>
          </a:bodyPr>
          <a:lstStyle/>
          <a:p>
            <a:pPr marL="0" lvl="0" indent="0" algn="l" rtl="0">
              <a:spcBef>
                <a:spcPts val="0"/>
              </a:spcBef>
              <a:spcAft>
                <a:spcPts val="0"/>
              </a:spcAft>
              <a:buNone/>
            </a:pPr>
            <a:r>
              <a:rPr lang="en-US" dirty="0"/>
              <a:t>We conducted extensive evaluation</a:t>
            </a:r>
            <a:endParaRPr dirty="0"/>
          </a:p>
        </p:txBody>
      </p:sp>
      <p:sp>
        <p:nvSpPr>
          <p:cNvPr id="1423" name="Google Shape;1423;g61028e7a18_0_25"/>
          <p:cNvSpPr txBox="1">
            <a:spLocks noGrp="1"/>
          </p:cNvSpPr>
          <p:nvPr>
            <p:ph type="body" idx="1"/>
          </p:nvPr>
        </p:nvSpPr>
        <p:spPr>
          <a:xfrm>
            <a:off x="311699" y="1152475"/>
            <a:ext cx="8520600" cy="3416400"/>
          </a:xfrm>
          <a:prstGeom prst="rect">
            <a:avLst/>
          </a:prstGeom>
        </p:spPr>
        <p:txBody>
          <a:bodyPr spcFirstLastPara="1" wrap="square" lIns="91400" tIns="91400" rIns="91400" bIns="91400" anchor="t" anchorCtr="0">
            <a:noAutofit/>
          </a:bodyPr>
          <a:lstStyle/>
          <a:p>
            <a:pPr lvl="0">
              <a:buClr>
                <a:srgbClr val="000000"/>
              </a:buClr>
              <a:buAutoNum type="arabicPeriod"/>
            </a:pPr>
            <a:r>
              <a:rPr lang="en-US" dirty="0">
                <a:solidFill>
                  <a:srgbClr val="000000"/>
                </a:solidFill>
              </a:rPr>
              <a:t>What are Fulva’s performance compared to </a:t>
            </a:r>
            <a:r>
              <a:rPr lang="en-US" dirty="0" err="1">
                <a:solidFill>
                  <a:srgbClr val="000000"/>
                </a:solidFill>
              </a:rPr>
              <a:t>RAMCloud</a:t>
            </a:r>
            <a:r>
              <a:rPr lang="en-US" dirty="0">
                <a:solidFill>
                  <a:srgbClr val="000000"/>
                </a:solidFill>
              </a:rPr>
              <a:t>-Migration and </a:t>
            </a:r>
            <a:r>
              <a:rPr lang="en-US" dirty="0" err="1">
                <a:solidFill>
                  <a:srgbClr val="000000"/>
                </a:solidFill>
              </a:rPr>
              <a:t>RockSteady</a:t>
            </a:r>
            <a:r>
              <a:rPr lang="zh-TW" altLang="en-US" dirty="0">
                <a:solidFill>
                  <a:srgbClr val="000000"/>
                </a:solidFill>
              </a:rPr>
              <a:t> </a:t>
            </a:r>
            <a:r>
              <a:rPr lang="en-US" dirty="0">
                <a:solidFill>
                  <a:srgbClr val="000000"/>
                </a:solidFill>
              </a:rPr>
              <a:t>on YCSB</a:t>
            </a:r>
            <a:r>
              <a:rPr lang="zh-TW" altLang="en-US" dirty="0">
                <a:solidFill>
                  <a:srgbClr val="000000"/>
                </a:solidFill>
              </a:rPr>
              <a:t> </a:t>
            </a:r>
            <a:r>
              <a:rPr lang="en-US" altLang="zh-TW" dirty="0">
                <a:solidFill>
                  <a:srgbClr val="000000"/>
                </a:solidFill>
              </a:rPr>
              <a:t>(High</a:t>
            </a:r>
            <a:r>
              <a:rPr lang="zh-TW" altLang="en-US" dirty="0">
                <a:solidFill>
                  <a:srgbClr val="000000"/>
                </a:solidFill>
              </a:rPr>
              <a:t> </a:t>
            </a:r>
            <a:r>
              <a:rPr lang="en-US" altLang="zh-TW" dirty="0">
                <a:solidFill>
                  <a:srgbClr val="000000"/>
                </a:solidFill>
              </a:rPr>
              <a:t>Skew)</a:t>
            </a:r>
            <a:r>
              <a:rPr lang="en-US" dirty="0">
                <a:solidFill>
                  <a:srgbClr val="000000"/>
                </a:solidFill>
              </a:rPr>
              <a:t> ?</a:t>
            </a:r>
            <a:endParaRPr dirty="0">
              <a:solidFill>
                <a:srgbClr val="000000"/>
              </a:solidFill>
            </a:endParaRPr>
          </a:p>
          <a:p>
            <a:pPr marL="457200" lvl="0" indent="-342900" algn="l" rtl="0">
              <a:spcBef>
                <a:spcPts val="0"/>
              </a:spcBef>
              <a:spcAft>
                <a:spcPts val="0"/>
              </a:spcAft>
              <a:buClr>
                <a:srgbClr val="999999"/>
              </a:buClr>
              <a:buSzPts val="1800"/>
              <a:buAutoNum type="arabicPeriod"/>
            </a:pPr>
            <a:r>
              <a:rPr lang="en-US" dirty="0">
                <a:solidFill>
                  <a:schemeClr val="tx1"/>
                </a:solidFill>
              </a:rPr>
              <a:t>What is the effectiveness of Fulva’s components?</a:t>
            </a:r>
          </a:p>
          <a:p>
            <a:pPr>
              <a:buClr>
                <a:srgbClr val="999999"/>
              </a:buClr>
              <a:buFont typeface="Arial"/>
              <a:buAutoNum type="arabicPeriod"/>
            </a:pPr>
            <a:r>
              <a:rPr lang="en-US" dirty="0">
                <a:solidFill>
                  <a:schemeClr val="bg2"/>
                </a:solidFill>
              </a:rPr>
              <a:t>What are Fulva’s performance compared to </a:t>
            </a:r>
            <a:r>
              <a:rPr lang="en-US" dirty="0" err="1">
                <a:solidFill>
                  <a:schemeClr val="bg2"/>
                </a:solidFill>
              </a:rPr>
              <a:t>RAMCloud</a:t>
            </a:r>
            <a:r>
              <a:rPr lang="en-US" dirty="0">
                <a:solidFill>
                  <a:schemeClr val="bg2"/>
                </a:solidFill>
              </a:rPr>
              <a:t>-Migration and </a:t>
            </a:r>
            <a:r>
              <a:rPr lang="en-US" dirty="0" err="1">
                <a:solidFill>
                  <a:schemeClr val="bg2"/>
                </a:solidFill>
              </a:rPr>
              <a:t>RockSteady</a:t>
            </a:r>
            <a:r>
              <a:rPr lang="zh-TW" altLang="en-US" dirty="0">
                <a:solidFill>
                  <a:schemeClr val="bg2"/>
                </a:solidFill>
              </a:rPr>
              <a:t> </a:t>
            </a:r>
            <a:r>
              <a:rPr lang="en-US" dirty="0">
                <a:solidFill>
                  <a:schemeClr val="bg2"/>
                </a:solidFill>
              </a:rPr>
              <a:t>on YCSB</a:t>
            </a:r>
            <a:r>
              <a:rPr lang="en-US" altLang="zh-TW" dirty="0">
                <a:solidFill>
                  <a:schemeClr val="bg2"/>
                </a:solidFill>
              </a:rPr>
              <a:t> (Low Skew)</a:t>
            </a:r>
            <a:r>
              <a:rPr lang="en-US" dirty="0">
                <a:solidFill>
                  <a:schemeClr val="bg2"/>
                </a:solidFill>
              </a:rPr>
              <a:t> ?</a:t>
            </a:r>
            <a:endParaRPr dirty="0">
              <a:solidFill>
                <a:schemeClr val="bg2"/>
              </a:solidFill>
            </a:endParaRPr>
          </a:p>
          <a:p>
            <a:pPr marL="457200" lvl="0" indent="-342900" algn="l" rtl="0">
              <a:spcBef>
                <a:spcPts val="0"/>
              </a:spcBef>
              <a:spcAft>
                <a:spcPts val="0"/>
              </a:spcAft>
              <a:buClr>
                <a:srgbClr val="999999"/>
              </a:buClr>
              <a:buSzPts val="1800"/>
              <a:buAutoNum type="arabicPeriod"/>
            </a:pPr>
            <a:r>
              <a:rPr lang="en-US" dirty="0">
                <a:solidFill>
                  <a:srgbClr val="999999"/>
                </a:solidFill>
              </a:rPr>
              <a:t>What is Fulva’s performance on TPC-C compared to </a:t>
            </a:r>
            <a:r>
              <a:rPr lang="en-US" dirty="0" err="1">
                <a:solidFill>
                  <a:srgbClr val="999999"/>
                </a:solidFill>
              </a:rPr>
              <a:t>RAMCloud</a:t>
            </a:r>
            <a:r>
              <a:rPr lang="en-US" dirty="0">
                <a:solidFill>
                  <a:srgbClr val="999999"/>
                </a:solidFill>
              </a:rPr>
              <a:t>-Migration?</a:t>
            </a:r>
            <a:endParaRPr dirty="0">
              <a:solidFill>
                <a:srgbClr val="999999"/>
              </a:solidFill>
            </a:endParaRPr>
          </a:p>
        </p:txBody>
      </p:sp>
      <p:sp>
        <p:nvSpPr>
          <p:cNvPr id="2" name="Slide Number Placeholder 1">
            <a:extLst>
              <a:ext uri="{FF2B5EF4-FFF2-40B4-BE49-F238E27FC236}">
                <a16:creationId xmlns:a16="http://schemas.microsoft.com/office/drawing/2014/main" id="{A75389E3-D342-1D4F-A517-C9DE9005D2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extLst>
      <p:ext uri="{BB962C8B-B14F-4D97-AF65-F5344CB8AC3E}">
        <p14:creationId xmlns:p14="http://schemas.microsoft.com/office/powerpoint/2010/main" val="1433712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27"/>
        <p:cNvGrpSpPr/>
        <p:nvPr/>
      </p:nvGrpSpPr>
      <p:grpSpPr>
        <a:xfrm>
          <a:off x="0" y="0"/>
          <a:ext cx="0" cy="0"/>
          <a:chOff x="0" y="0"/>
          <a:chExt cx="0" cy="0"/>
        </a:xfrm>
      </p:grpSpPr>
      <p:pic>
        <p:nvPicPr>
          <p:cNvPr id="4" name="Picture 3">
            <a:extLst>
              <a:ext uri="{FF2B5EF4-FFF2-40B4-BE49-F238E27FC236}">
                <a16:creationId xmlns:a16="http://schemas.microsoft.com/office/drawing/2014/main" id="{7FFFCB8D-31F4-B44D-B393-CDC9EC9CAB3F}"/>
              </a:ext>
            </a:extLst>
          </p:cNvPr>
          <p:cNvPicPr>
            <a:picLocks noChangeAspect="1"/>
          </p:cNvPicPr>
          <p:nvPr/>
        </p:nvPicPr>
        <p:blipFill>
          <a:blip r:embed="rId3"/>
          <a:stretch>
            <a:fillRect/>
          </a:stretch>
        </p:blipFill>
        <p:spPr>
          <a:xfrm>
            <a:off x="265464" y="851785"/>
            <a:ext cx="3954717" cy="1372586"/>
          </a:xfrm>
          <a:prstGeom prst="rect">
            <a:avLst/>
          </a:prstGeom>
        </p:spPr>
      </p:pic>
      <p:pic>
        <p:nvPicPr>
          <p:cNvPr id="16" name="Picture 15">
            <a:extLst>
              <a:ext uri="{FF2B5EF4-FFF2-40B4-BE49-F238E27FC236}">
                <a16:creationId xmlns:a16="http://schemas.microsoft.com/office/drawing/2014/main" id="{FA40F288-54C6-DE4A-BC41-053143FD4084}"/>
              </a:ext>
            </a:extLst>
          </p:cNvPr>
          <p:cNvPicPr>
            <a:picLocks noChangeAspect="1"/>
          </p:cNvPicPr>
          <p:nvPr/>
        </p:nvPicPr>
        <p:blipFill>
          <a:blip r:embed="rId4"/>
          <a:stretch>
            <a:fillRect/>
          </a:stretch>
        </p:blipFill>
        <p:spPr>
          <a:xfrm>
            <a:off x="265462" y="3493922"/>
            <a:ext cx="3954717" cy="1396547"/>
          </a:xfrm>
          <a:prstGeom prst="rect">
            <a:avLst/>
          </a:prstGeom>
        </p:spPr>
      </p:pic>
      <p:sp>
        <p:nvSpPr>
          <p:cNvPr id="1428" name="Google Shape;1428;g41c341d872_1_10"/>
          <p:cNvSpPr txBox="1">
            <a:spLocks noGrp="1"/>
          </p:cNvSpPr>
          <p:nvPr>
            <p:ph type="title"/>
          </p:nvPr>
        </p:nvSpPr>
        <p:spPr>
          <a:xfrm>
            <a:off x="110518" y="238742"/>
            <a:ext cx="9033482" cy="572700"/>
          </a:xfrm>
          <a:prstGeom prst="rect">
            <a:avLst/>
          </a:prstGeom>
        </p:spPr>
        <p:txBody>
          <a:bodyPr spcFirstLastPara="1" wrap="square" lIns="91400" tIns="91400" rIns="91400" bIns="91400" anchor="t" anchorCtr="0">
            <a:noAutofit/>
          </a:bodyPr>
          <a:lstStyle/>
          <a:p>
            <a:pPr marL="457200" lvl="0" indent="0" algn="l" rtl="0">
              <a:lnSpc>
                <a:spcPct val="115000"/>
              </a:lnSpc>
              <a:spcBef>
                <a:spcPts val="0"/>
              </a:spcBef>
              <a:spcAft>
                <a:spcPts val="0"/>
              </a:spcAft>
              <a:buNone/>
            </a:pPr>
            <a:r>
              <a:rPr lang="en-US" sz="2690" dirty="0">
                <a:solidFill>
                  <a:schemeClr val="tx1"/>
                </a:solidFill>
              </a:rPr>
              <a:t>The three systems’ performance on YCSB (High Skew)</a:t>
            </a:r>
            <a:endParaRPr sz="2690" dirty="0">
              <a:solidFill>
                <a:schemeClr val="tx1"/>
              </a:solidFill>
            </a:endParaRPr>
          </a:p>
        </p:txBody>
      </p:sp>
      <p:sp>
        <p:nvSpPr>
          <p:cNvPr id="18" name="Google Shape;1431;g41c341d872_1_10">
            <a:extLst>
              <a:ext uri="{FF2B5EF4-FFF2-40B4-BE49-F238E27FC236}">
                <a16:creationId xmlns:a16="http://schemas.microsoft.com/office/drawing/2014/main" id="{C61DCEA6-C42C-ED4C-B9EB-266B204CA878}"/>
              </a:ext>
            </a:extLst>
          </p:cNvPr>
          <p:cNvSpPr txBox="1"/>
          <p:nvPr/>
        </p:nvSpPr>
        <p:spPr>
          <a:xfrm>
            <a:off x="1275867" y="4743644"/>
            <a:ext cx="2350102" cy="25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dirty="0"/>
              <a:t>YCSB-B (95% read) and High Skew</a:t>
            </a:r>
            <a:endParaRPr sz="1000" dirty="0"/>
          </a:p>
        </p:txBody>
      </p:sp>
      <p:sp>
        <p:nvSpPr>
          <p:cNvPr id="19" name="Google Shape;1434;g41c341d872_1_10">
            <a:extLst>
              <a:ext uri="{FF2B5EF4-FFF2-40B4-BE49-F238E27FC236}">
                <a16:creationId xmlns:a16="http://schemas.microsoft.com/office/drawing/2014/main" id="{D361DB5D-30D7-7B43-B2A7-1CCB6249186A}"/>
              </a:ext>
            </a:extLst>
          </p:cNvPr>
          <p:cNvSpPr txBox="1"/>
          <p:nvPr/>
        </p:nvSpPr>
        <p:spPr>
          <a:xfrm>
            <a:off x="5792154" y="4767917"/>
            <a:ext cx="2497200" cy="25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dirty="0"/>
              <a:t>YCSB-A (50% read) and High Skew</a:t>
            </a:r>
            <a:endParaRPr sz="1000" dirty="0"/>
          </a:p>
        </p:txBody>
      </p:sp>
      <p:sp>
        <p:nvSpPr>
          <p:cNvPr id="7" name="Oval 6">
            <a:extLst>
              <a:ext uri="{FF2B5EF4-FFF2-40B4-BE49-F238E27FC236}">
                <a16:creationId xmlns:a16="http://schemas.microsoft.com/office/drawing/2014/main" id="{E184D914-465B-3944-99E3-6D7E25731DF1}"/>
              </a:ext>
            </a:extLst>
          </p:cNvPr>
          <p:cNvSpPr/>
          <p:nvPr/>
        </p:nvSpPr>
        <p:spPr>
          <a:xfrm>
            <a:off x="1095985" y="851784"/>
            <a:ext cx="841048" cy="11398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FC264E1-262A-4B44-B089-454578D8E15D}"/>
              </a:ext>
            </a:extLst>
          </p:cNvPr>
          <p:cNvCxnSpPr/>
          <p:nvPr/>
        </p:nvCxnSpPr>
        <p:spPr>
          <a:xfrm flipV="1">
            <a:off x="784591" y="4484248"/>
            <a:ext cx="864180" cy="40456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3D30613E-1427-B24E-99DB-005EEBF97E55}"/>
              </a:ext>
            </a:extLst>
          </p:cNvPr>
          <p:cNvPicPr>
            <a:picLocks noChangeAspect="1"/>
          </p:cNvPicPr>
          <p:nvPr/>
        </p:nvPicPr>
        <p:blipFill>
          <a:blip r:embed="rId5"/>
          <a:stretch>
            <a:fillRect/>
          </a:stretch>
        </p:blipFill>
        <p:spPr>
          <a:xfrm>
            <a:off x="265463" y="2150418"/>
            <a:ext cx="3954717" cy="1351547"/>
          </a:xfrm>
          <a:prstGeom prst="rect">
            <a:avLst/>
          </a:prstGeom>
        </p:spPr>
      </p:pic>
      <p:cxnSp>
        <p:nvCxnSpPr>
          <p:cNvPr id="35" name="Straight Connector 34">
            <a:extLst>
              <a:ext uri="{FF2B5EF4-FFF2-40B4-BE49-F238E27FC236}">
                <a16:creationId xmlns:a16="http://schemas.microsoft.com/office/drawing/2014/main" id="{715B123D-8B17-284D-8B45-9E58A833EAD7}"/>
              </a:ext>
            </a:extLst>
          </p:cNvPr>
          <p:cNvCxnSpPr>
            <a:cxnSpLocks/>
          </p:cNvCxnSpPr>
          <p:nvPr/>
        </p:nvCxnSpPr>
        <p:spPr>
          <a:xfrm>
            <a:off x="939120" y="3640096"/>
            <a:ext cx="190057" cy="0"/>
          </a:xfrm>
          <a:prstGeom prst="line">
            <a:avLst/>
          </a:prstGeom>
          <a:ln w="38100">
            <a:solidFill>
              <a:srgbClr val="1F77B5"/>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D8D81993-94CD-4340-929E-9549131BB488}"/>
              </a:ext>
            </a:extLst>
          </p:cNvPr>
          <p:cNvSpPr txBox="1"/>
          <p:nvPr/>
        </p:nvSpPr>
        <p:spPr>
          <a:xfrm>
            <a:off x="1095985" y="3524579"/>
            <a:ext cx="651140" cy="246221"/>
          </a:xfrm>
          <a:prstGeom prst="rect">
            <a:avLst/>
          </a:prstGeom>
          <a:noFill/>
        </p:spPr>
        <p:txBody>
          <a:bodyPr wrap="square" rtlCol="0">
            <a:spAutoFit/>
          </a:bodyPr>
          <a:lstStyle/>
          <a:p>
            <a:r>
              <a:rPr lang="en-US" sz="1000" b="1" dirty="0">
                <a:solidFill>
                  <a:srgbClr val="1F77B5"/>
                </a:solidFill>
              </a:rPr>
              <a:t>Fulva</a:t>
            </a:r>
          </a:p>
        </p:txBody>
      </p:sp>
      <p:cxnSp>
        <p:nvCxnSpPr>
          <p:cNvPr id="37" name="Straight Connector 36">
            <a:extLst>
              <a:ext uri="{FF2B5EF4-FFF2-40B4-BE49-F238E27FC236}">
                <a16:creationId xmlns:a16="http://schemas.microsoft.com/office/drawing/2014/main" id="{178211B6-353F-1F44-8099-44E26765C57F}"/>
              </a:ext>
            </a:extLst>
          </p:cNvPr>
          <p:cNvCxnSpPr>
            <a:cxnSpLocks/>
          </p:cNvCxnSpPr>
          <p:nvPr/>
        </p:nvCxnSpPr>
        <p:spPr>
          <a:xfrm>
            <a:off x="939096" y="3770800"/>
            <a:ext cx="261297" cy="0"/>
          </a:xfrm>
          <a:prstGeom prst="line">
            <a:avLst/>
          </a:prstGeom>
          <a:ln w="38100">
            <a:solidFill>
              <a:srgbClr val="29A12B"/>
            </a:solidFill>
            <a:prstDash val="dash"/>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BDE612C-A80D-744E-9B08-4049CE6EC49A}"/>
              </a:ext>
            </a:extLst>
          </p:cNvPr>
          <p:cNvSpPr txBox="1"/>
          <p:nvPr/>
        </p:nvSpPr>
        <p:spPr>
          <a:xfrm>
            <a:off x="1091670" y="3664236"/>
            <a:ext cx="1997990" cy="246221"/>
          </a:xfrm>
          <a:prstGeom prst="rect">
            <a:avLst/>
          </a:prstGeom>
          <a:noFill/>
        </p:spPr>
        <p:txBody>
          <a:bodyPr wrap="square" rtlCol="0">
            <a:spAutoFit/>
          </a:bodyPr>
          <a:lstStyle/>
          <a:p>
            <a:r>
              <a:rPr lang="en-US" sz="1000" b="1" dirty="0">
                <a:solidFill>
                  <a:srgbClr val="29A12B"/>
                </a:solidFill>
              </a:rPr>
              <a:t>Destination-driven approach</a:t>
            </a:r>
          </a:p>
        </p:txBody>
      </p:sp>
      <p:cxnSp>
        <p:nvCxnSpPr>
          <p:cNvPr id="39" name="Straight Connector 38">
            <a:extLst>
              <a:ext uri="{FF2B5EF4-FFF2-40B4-BE49-F238E27FC236}">
                <a16:creationId xmlns:a16="http://schemas.microsoft.com/office/drawing/2014/main" id="{2E253255-52E3-FF4C-90ED-68DEE61AE118}"/>
              </a:ext>
            </a:extLst>
          </p:cNvPr>
          <p:cNvCxnSpPr>
            <a:cxnSpLocks/>
          </p:cNvCxnSpPr>
          <p:nvPr/>
        </p:nvCxnSpPr>
        <p:spPr>
          <a:xfrm>
            <a:off x="939096" y="3910457"/>
            <a:ext cx="195868" cy="0"/>
          </a:xfrm>
          <a:prstGeom prst="line">
            <a:avLst/>
          </a:prstGeom>
          <a:ln w="38100">
            <a:solidFill>
              <a:srgbClr val="FF7F0B"/>
            </a:solidFill>
            <a:prstDash val="dash"/>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2A5CEF57-D32F-2F4D-AE27-EB2B3064ECA2}"/>
              </a:ext>
            </a:extLst>
          </p:cNvPr>
          <p:cNvSpPr txBox="1"/>
          <p:nvPr/>
        </p:nvSpPr>
        <p:spPr>
          <a:xfrm>
            <a:off x="1091670" y="3805639"/>
            <a:ext cx="1670704" cy="246221"/>
          </a:xfrm>
          <a:prstGeom prst="rect">
            <a:avLst/>
          </a:prstGeom>
          <a:noFill/>
        </p:spPr>
        <p:txBody>
          <a:bodyPr wrap="square" rtlCol="0">
            <a:spAutoFit/>
          </a:bodyPr>
          <a:lstStyle/>
          <a:p>
            <a:r>
              <a:rPr lang="en-US" sz="1000" b="1" dirty="0">
                <a:solidFill>
                  <a:srgbClr val="FF7F0B"/>
                </a:solidFill>
              </a:rPr>
              <a:t>Source-driven approach</a:t>
            </a:r>
          </a:p>
        </p:txBody>
      </p:sp>
      <p:pic>
        <p:nvPicPr>
          <p:cNvPr id="6" name="Picture 5">
            <a:extLst>
              <a:ext uri="{FF2B5EF4-FFF2-40B4-BE49-F238E27FC236}">
                <a16:creationId xmlns:a16="http://schemas.microsoft.com/office/drawing/2014/main" id="{9E4339C9-8DD4-CA40-8670-8DB064492A47}"/>
              </a:ext>
            </a:extLst>
          </p:cNvPr>
          <p:cNvPicPr>
            <a:picLocks noChangeAspect="1"/>
          </p:cNvPicPr>
          <p:nvPr/>
        </p:nvPicPr>
        <p:blipFill>
          <a:blip r:embed="rId6"/>
          <a:stretch>
            <a:fillRect/>
          </a:stretch>
        </p:blipFill>
        <p:spPr>
          <a:xfrm>
            <a:off x="4753747" y="862145"/>
            <a:ext cx="3954717" cy="1372586"/>
          </a:xfrm>
          <a:prstGeom prst="rect">
            <a:avLst/>
          </a:prstGeom>
        </p:spPr>
      </p:pic>
      <p:sp>
        <p:nvSpPr>
          <p:cNvPr id="15" name="Oval 14">
            <a:extLst>
              <a:ext uri="{FF2B5EF4-FFF2-40B4-BE49-F238E27FC236}">
                <a16:creationId xmlns:a16="http://schemas.microsoft.com/office/drawing/2014/main" id="{9CD4378D-9F82-1747-9E20-6207C07BA91E}"/>
              </a:ext>
            </a:extLst>
          </p:cNvPr>
          <p:cNvSpPr/>
          <p:nvPr/>
        </p:nvSpPr>
        <p:spPr>
          <a:xfrm>
            <a:off x="5652548" y="843978"/>
            <a:ext cx="841048" cy="11398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3F213107-1994-3A46-A650-FD89F73D3A09}"/>
              </a:ext>
            </a:extLst>
          </p:cNvPr>
          <p:cNvPicPr>
            <a:picLocks noChangeAspect="1"/>
          </p:cNvPicPr>
          <p:nvPr/>
        </p:nvPicPr>
        <p:blipFill>
          <a:blip r:embed="rId7"/>
          <a:stretch>
            <a:fillRect/>
          </a:stretch>
        </p:blipFill>
        <p:spPr>
          <a:xfrm>
            <a:off x="4753747" y="2156663"/>
            <a:ext cx="4054641" cy="1351547"/>
          </a:xfrm>
          <a:prstGeom prst="rect">
            <a:avLst/>
          </a:prstGeom>
        </p:spPr>
      </p:pic>
      <p:pic>
        <p:nvPicPr>
          <p:cNvPr id="11" name="Picture 10">
            <a:extLst>
              <a:ext uri="{FF2B5EF4-FFF2-40B4-BE49-F238E27FC236}">
                <a16:creationId xmlns:a16="http://schemas.microsoft.com/office/drawing/2014/main" id="{5979D633-86AD-614C-AFB5-ECE295A0D35A}"/>
              </a:ext>
            </a:extLst>
          </p:cNvPr>
          <p:cNvPicPr>
            <a:picLocks noChangeAspect="1"/>
          </p:cNvPicPr>
          <p:nvPr/>
        </p:nvPicPr>
        <p:blipFill>
          <a:blip r:embed="rId8"/>
          <a:stretch>
            <a:fillRect/>
          </a:stretch>
        </p:blipFill>
        <p:spPr>
          <a:xfrm>
            <a:off x="4718928" y="3430142"/>
            <a:ext cx="4117758" cy="1372586"/>
          </a:xfrm>
          <a:prstGeom prst="rect">
            <a:avLst/>
          </a:prstGeom>
        </p:spPr>
      </p:pic>
      <p:sp>
        <p:nvSpPr>
          <p:cNvPr id="3" name="Oval 2">
            <a:extLst>
              <a:ext uri="{FF2B5EF4-FFF2-40B4-BE49-F238E27FC236}">
                <a16:creationId xmlns:a16="http://schemas.microsoft.com/office/drawing/2014/main" id="{BAF6DCE7-8EE2-EE4A-BA5E-C0041087A6E4}"/>
              </a:ext>
            </a:extLst>
          </p:cNvPr>
          <p:cNvSpPr/>
          <p:nvPr/>
        </p:nvSpPr>
        <p:spPr>
          <a:xfrm>
            <a:off x="0" y="3430142"/>
            <a:ext cx="4523758" cy="169906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Slide Number Placeholder 1">
            <a:extLst>
              <a:ext uri="{FF2B5EF4-FFF2-40B4-BE49-F238E27FC236}">
                <a16:creationId xmlns:a16="http://schemas.microsoft.com/office/drawing/2014/main" id="{8E6F1BD7-2AED-9E4F-8712-907520C3546F}"/>
              </a:ext>
            </a:extLst>
          </p:cNvPr>
          <p:cNvSpPr>
            <a:spLocks noGrp="1"/>
          </p:cNvSpPr>
          <p:nvPr>
            <p:ph type="sldNum" idx="12"/>
          </p:nvPr>
        </p:nvSpPr>
        <p:spPr>
          <a:xfrm>
            <a:off x="8684345" y="4700819"/>
            <a:ext cx="336814" cy="318396"/>
          </a:xfrm>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3838914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xit" presetSubtype="0" fill="hold" grpId="1" nodeType="withEffect">
                                  <p:stCondLst>
                                    <p:cond delay="2000"/>
                                  </p:stCondLst>
                                  <p:childTnLst>
                                    <p:animEffect transition="out" filter="fade">
                                      <p:cBhvr>
                                        <p:cTn id="12" dur="500"/>
                                        <p:tgtEl>
                                          <p:spTgt spid="3"/>
                                        </p:tgtEl>
                                      </p:cBhvr>
                                    </p:animEffect>
                                    <p:set>
                                      <p:cBhvr>
                                        <p:cTn id="13" dur="1" fill="hold">
                                          <p:stCondLst>
                                            <p:cond delay="499"/>
                                          </p:stCondLst>
                                        </p:cTn>
                                        <p:tgtEl>
                                          <p:spTgt spid="3"/>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par>
                          <p:cTn id="19"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3" grpId="0" animBg="1"/>
      <p:bldP spid="3"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69"/>
        <p:cNvGrpSpPr/>
        <p:nvPr/>
      </p:nvGrpSpPr>
      <p:grpSpPr>
        <a:xfrm>
          <a:off x="0" y="0"/>
          <a:ext cx="0" cy="0"/>
          <a:chOff x="0" y="0"/>
          <a:chExt cx="0" cy="0"/>
        </a:xfrm>
      </p:grpSpPr>
      <p:pic>
        <p:nvPicPr>
          <p:cNvPr id="24" name="Picture 23">
            <a:extLst>
              <a:ext uri="{FF2B5EF4-FFF2-40B4-BE49-F238E27FC236}">
                <a16:creationId xmlns:a16="http://schemas.microsoft.com/office/drawing/2014/main" id="{68322C48-0516-FB42-BE42-37750060C028}"/>
              </a:ext>
            </a:extLst>
          </p:cNvPr>
          <p:cNvPicPr>
            <a:picLocks noChangeAspect="1"/>
          </p:cNvPicPr>
          <p:nvPr/>
        </p:nvPicPr>
        <p:blipFill>
          <a:blip r:embed="rId3"/>
          <a:stretch>
            <a:fillRect/>
          </a:stretch>
        </p:blipFill>
        <p:spPr>
          <a:xfrm>
            <a:off x="4512910" y="3047683"/>
            <a:ext cx="4295274" cy="1934724"/>
          </a:xfrm>
          <a:prstGeom prst="rect">
            <a:avLst/>
          </a:prstGeom>
        </p:spPr>
      </p:pic>
      <p:pic>
        <p:nvPicPr>
          <p:cNvPr id="13" name="Picture 12">
            <a:extLst>
              <a:ext uri="{FF2B5EF4-FFF2-40B4-BE49-F238E27FC236}">
                <a16:creationId xmlns:a16="http://schemas.microsoft.com/office/drawing/2014/main" id="{DD62112F-EF6B-2745-8846-DD3A215B1681}"/>
              </a:ext>
            </a:extLst>
          </p:cNvPr>
          <p:cNvPicPr>
            <a:picLocks noChangeAspect="1"/>
          </p:cNvPicPr>
          <p:nvPr/>
        </p:nvPicPr>
        <p:blipFill>
          <a:blip r:embed="rId4"/>
          <a:stretch>
            <a:fillRect/>
          </a:stretch>
        </p:blipFill>
        <p:spPr>
          <a:xfrm>
            <a:off x="4512910" y="946862"/>
            <a:ext cx="4295274" cy="1916054"/>
          </a:xfrm>
          <a:prstGeom prst="rect">
            <a:avLst/>
          </a:prstGeom>
        </p:spPr>
      </p:pic>
      <p:sp>
        <p:nvSpPr>
          <p:cNvPr id="1470" name="Google Shape;1470;g6254bb81a6_0_22"/>
          <p:cNvSpPr txBox="1">
            <a:spLocks noGrp="1"/>
          </p:cNvSpPr>
          <p:nvPr>
            <p:ph type="title"/>
          </p:nvPr>
        </p:nvSpPr>
        <p:spPr>
          <a:xfrm>
            <a:off x="0" y="313075"/>
            <a:ext cx="8520600" cy="572700"/>
          </a:xfrm>
          <a:prstGeom prst="rect">
            <a:avLst/>
          </a:prstGeom>
        </p:spPr>
        <p:txBody>
          <a:bodyPr spcFirstLastPara="1" wrap="square" lIns="91400" tIns="91400" rIns="91400" bIns="91400" anchor="t" anchorCtr="0">
            <a:noAutofit/>
          </a:bodyPr>
          <a:lstStyle/>
          <a:p>
            <a:pPr marL="457200" lvl="0" indent="0" algn="l" rtl="0">
              <a:lnSpc>
                <a:spcPct val="115000"/>
              </a:lnSpc>
              <a:spcBef>
                <a:spcPts val="0"/>
              </a:spcBef>
              <a:spcAft>
                <a:spcPts val="0"/>
              </a:spcAft>
              <a:buNone/>
            </a:pPr>
            <a:r>
              <a:rPr lang="en-US" sz="2690">
                <a:solidFill>
                  <a:schemeClr val="tx1"/>
                </a:solidFill>
              </a:rPr>
              <a:t>Fulva’s Extra Bandwidth on YCSB-B</a:t>
            </a:r>
            <a:endParaRPr sz="2690">
              <a:solidFill>
                <a:schemeClr val="tx1"/>
              </a:solidFill>
            </a:endParaRPr>
          </a:p>
        </p:txBody>
      </p:sp>
      <p:sp>
        <p:nvSpPr>
          <p:cNvPr id="1474" name="Google Shape;1474;g6254bb81a6_0_22"/>
          <p:cNvSpPr txBox="1"/>
          <p:nvPr/>
        </p:nvSpPr>
        <p:spPr>
          <a:xfrm>
            <a:off x="6480681" y="2712827"/>
            <a:ext cx="1063200" cy="40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t>High Skew</a:t>
            </a:r>
            <a:endParaRPr sz="1200" dirty="0"/>
          </a:p>
        </p:txBody>
      </p:sp>
      <p:sp>
        <p:nvSpPr>
          <p:cNvPr id="1475" name="Google Shape;1475;g6254bb81a6_0_22"/>
          <p:cNvSpPr txBox="1"/>
          <p:nvPr/>
        </p:nvSpPr>
        <p:spPr>
          <a:xfrm>
            <a:off x="1970626" y="5225048"/>
            <a:ext cx="1063200" cy="40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High Skew</a:t>
            </a:r>
            <a:endParaRPr/>
          </a:p>
        </p:txBody>
      </p:sp>
      <p:sp>
        <p:nvSpPr>
          <p:cNvPr id="2" name="Slide Number Placeholder 1">
            <a:extLst>
              <a:ext uri="{FF2B5EF4-FFF2-40B4-BE49-F238E27FC236}">
                <a16:creationId xmlns:a16="http://schemas.microsoft.com/office/drawing/2014/main" id="{68795FD7-B0EE-BA4A-B252-A62A0CC89BE4}"/>
              </a:ext>
            </a:extLst>
          </p:cNvPr>
          <p:cNvSpPr>
            <a:spLocks noGrp="1"/>
          </p:cNvSpPr>
          <p:nvPr>
            <p:ph type="sldNum" idx="12"/>
          </p:nvPr>
        </p:nvSpPr>
        <p:spPr>
          <a:xfrm>
            <a:off x="8735858" y="4782771"/>
            <a:ext cx="336814" cy="318396"/>
          </a:xfrm>
        </p:spPr>
        <p:txBody>
          <a:bodyPr/>
          <a:lstStyle/>
          <a:p>
            <a:pPr marL="0" lvl="0" indent="0" algn="r" rtl="0">
              <a:spcBef>
                <a:spcPts val="0"/>
              </a:spcBef>
              <a:spcAft>
                <a:spcPts val="0"/>
              </a:spcAft>
              <a:buNone/>
            </a:pPr>
            <a:fld id="{00000000-1234-1234-1234-123412341234}" type="slidenum">
              <a:rPr lang="en-US" smtClean="0"/>
              <a:t>21</a:t>
            </a:fld>
            <a:endParaRPr lang="en-US"/>
          </a:p>
        </p:txBody>
      </p:sp>
      <p:cxnSp>
        <p:nvCxnSpPr>
          <p:cNvPr id="4" name="Straight Arrow Connector 3">
            <a:extLst>
              <a:ext uri="{FF2B5EF4-FFF2-40B4-BE49-F238E27FC236}">
                <a16:creationId xmlns:a16="http://schemas.microsoft.com/office/drawing/2014/main" id="{CF07BA08-351F-294B-BAB7-F465036FDAE6}"/>
              </a:ext>
            </a:extLst>
          </p:cNvPr>
          <p:cNvCxnSpPr>
            <a:cxnSpLocks/>
          </p:cNvCxnSpPr>
          <p:nvPr/>
        </p:nvCxnSpPr>
        <p:spPr>
          <a:xfrm flipH="1">
            <a:off x="6118610" y="1678482"/>
            <a:ext cx="281855" cy="38422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9D3378D-0947-1E40-A339-1A8B8135C34A}"/>
              </a:ext>
            </a:extLst>
          </p:cNvPr>
          <p:cNvCxnSpPr>
            <a:cxnSpLocks/>
          </p:cNvCxnSpPr>
          <p:nvPr/>
        </p:nvCxnSpPr>
        <p:spPr>
          <a:xfrm flipV="1">
            <a:off x="5816417" y="2168566"/>
            <a:ext cx="257748" cy="33603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19DD583-5D91-274B-A469-C020863D06A5}"/>
              </a:ext>
            </a:extLst>
          </p:cNvPr>
          <p:cNvCxnSpPr>
            <a:cxnSpLocks/>
          </p:cNvCxnSpPr>
          <p:nvPr/>
        </p:nvCxnSpPr>
        <p:spPr>
          <a:xfrm flipH="1">
            <a:off x="6268639" y="3470407"/>
            <a:ext cx="267378" cy="33879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F00CE4F-EE37-D74D-8020-CC818536DE7E}"/>
              </a:ext>
            </a:extLst>
          </p:cNvPr>
          <p:cNvCxnSpPr>
            <a:cxnSpLocks/>
          </p:cNvCxnSpPr>
          <p:nvPr/>
        </p:nvCxnSpPr>
        <p:spPr>
          <a:xfrm flipV="1">
            <a:off x="5871308" y="3986505"/>
            <a:ext cx="281034" cy="3398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7FEA3F8-1D75-6748-9210-6309D1C7F374}"/>
              </a:ext>
            </a:extLst>
          </p:cNvPr>
          <p:cNvSpPr/>
          <p:nvPr/>
        </p:nvSpPr>
        <p:spPr>
          <a:xfrm>
            <a:off x="7222426" y="2168566"/>
            <a:ext cx="598988" cy="61569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06BA7BA-82D7-6B48-BC56-509D4FFF88BF}"/>
              </a:ext>
            </a:extLst>
          </p:cNvPr>
          <p:cNvSpPr/>
          <p:nvPr/>
        </p:nvSpPr>
        <p:spPr>
          <a:xfrm>
            <a:off x="7271873" y="4283879"/>
            <a:ext cx="555390" cy="54966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Google Shape;1474;g6254bb81a6_0_22">
            <a:extLst>
              <a:ext uri="{FF2B5EF4-FFF2-40B4-BE49-F238E27FC236}">
                <a16:creationId xmlns:a16="http://schemas.microsoft.com/office/drawing/2014/main" id="{6F7F0DCC-4193-614C-B4E3-D5DB6BAAD411}"/>
              </a:ext>
            </a:extLst>
          </p:cNvPr>
          <p:cNvSpPr txBox="1"/>
          <p:nvPr/>
        </p:nvSpPr>
        <p:spPr>
          <a:xfrm>
            <a:off x="6472364" y="4817752"/>
            <a:ext cx="1063200" cy="40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t>Low Skew</a:t>
            </a:r>
            <a:endParaRPr sz="1200" dirty="0"/>
          </a:p>
        </p:txBody>
      </p:sp>
      <p:graphicFrame>
        <p:nvGraphicFramePr>
          <p:cNvPr id="22" name="Google Shape;1459;g6254bb81a6_0_4">
            <a:extLst>
              <a:ext uri="{FF2B5EF4-FFF2-40B4-BE49-F238E27FC236}">
                <a16:creationId xmlns:a16="http://schemas.microsoft.com/office/drawing/2014/main" id="{0FAE1DE8-C5E1-624F-8AFC-E71CEBE3D591}"/>
              </a:ext>
            </a:extLst>
          </p:cNvPr>
          <p:cNvGraphicFramePr/>
          <p:nvPr>
            <p:extLst>
              <p:ext uri="{D42A27DB-BD31-4B8C-83A1-F6EECF244321}">
                <p14:modId xmlns:p14="http://schemas.microsoft.com/office/powerpoint/2010/main" val="2215682151"/>
              </p:ext>
            </p:extLst>
          </p:nvPr>
        </p:nvGraphicFramePr>
        <p:xfrm>
          <a:off x="135193" y="972723"/>
          <a:ext cx="4240877" cy="2727810"/>
        </p:xfrm>
        <a:graphic>
          <a:graphicData uri="http://schemas.openxmlformats.org/drawingml/2006/table">
            <a:tbl>
              <a:tblPr>
                <a:noFill/>
                <a:tableStyleId>{792F84B4-0B30-445A-B3BC-8A7FA9196EF1}</a:tableStyleId>
              </a:tblPr>
              <a:tblGrid>
                <a:gridCol w="1590310">
                  <a:extLst>
                    <a:ext uri="{9D8B030D-6E8A-4147-A177-3AD203B41FA5}">
                      <a16:colId xmlns:a16="http://schemas.microsoft.com/office/drawing/2014/main" val="20000"/>
                    </a:ext>
                  </a:extLst>
                </a:gridCol>
                <a:gridCol w="1461200">
                  <a:extLst>
                    <a:ext uri="{9D8B030D-6E8A-4147-A177-3AD203B41FA5}">
                      <a16:colId xmlns:a16="http://schemas.microsoft.com/office/drawing/2014/main" val="20001"/>
                    </a:ext>
                  </a:extLst>
                </a:gridCol>
                <a:gridCol w="1189367">
                  <a:extLst>
                    <a:ext uri="{9D8B030D-6E8A-4147-A177-3AD203B41FA5}">
                      <a16:colId xmlns:a16="http://schemas.microsoft.com/office/drawing/2014/main" val="20002"/>
                    </a:ext>
                  </a:extLst>
                </a:gridCol>
              </a:tblGrid>
              <a:tr h="337765">
                <a:tc>
                  <a:txBody>
                    <a:bodyPr/>
                    <a:lstStyle/>
                    <a:p>
                      <a:pPr marL="0" lvl="0" indent="0" algn="l" rtl="0">
                        <a:spcBef>
                          <a:spcPts val="0"/>
                        </a:spcBef>
                        <a:spcAft>
                          <a:spcPts val="0"/>
                        </a:spcAft>
                        <a:buNone/>
                      </a:pPr>
                      <a:endParaRPr dirty="0"/>
                    </a:p>
                  </a:txBody>
                  <a:tcPr marL="91425" marR="91425" marT="91425" marB="91425"/>
                </a:tc>
                <a:tc gridSpan="2">
                  <a:txBody>
                    <a:bodyPr/>
                    <a:lstStyle/>
                    <a:p>
                      <a:pPr marL="0" lvl="0" indent="0" algn="ctr" rtl="0">
                        <a:spcBef>
                          <a:spcPts val="0"/>
                        </a:spcBef>
                        <a:spcAft>
                          <a:spcPts val="0"/>
                        </a:spcAft>
                        <a:buNone/>
                      </a:pPr>
                      <a:r>
                        <a:rPr lang="en-US" sz="1200" dirty="0"/>
                        <a:t>Total extra bandwidth usage (GB)</a:t>
                      </a:r>
                      <a:endParaRPr sz="1200" dirty="0"/>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574529">
                <a:tc>
                  <a:txBody>
                    <a:bodyPr/>
                    <a:lstStyle/>
                    <a:p>
                      <a:pPr marL="0" lvl="0" indent="0" algn="l" rtl="0">
                        <a:spcBef>
                          <a:spcPts val="0"/>
                        </a:spcBef>
                        <a:spcAft>
                          <a:spcPts val="0"/>
                        </a:spcAft>
                        <a:buNone/>
                      </a:pPr>
                      <a:endParaRPr dirty="0"/>
                    </a:p>
                  </a:txBody>
                  <a:tcPr marL="91425" marR="91425" marT="91425" marB="91425"/>
                </a:tc>
                <a:tc>
                  <a:txBody>
                    <a:bodyPr/>
                    <a:lstStyle/>
                    <a:p>
                      <a:pPr marL="0" lvl="0" indent="0" algn="ctr" rtl="0">
                        <a:spcBef>
                          <a:spcPts val="0"/>
                        </a:spcBef>
                        <a:spcAft>
                          <a:spcPts val="0"/>
                        </a:spcAft>
                        <a:buNone/>
                      </a:pPr>
                      <a:r>
                        <a:rPr lang="en-US" sz="1100" dirty="0"/>
                        <a:t>Between source/destination and clients</a:t>
                      </a:r>
                      <a:endParaRPr sz="1100" dirty="0"/>
                    </a:p>
                  </a:txBody>
                  <a:tcPr marL="91425" marR="91425" marT="91425" marB="91425"/>
                </a:tc>
                <a:tc>
                  <a:txBody>
                    <a:bodyPr/>
                    <a:lstStyle/>
                    <a:p>
                      <a:pPr marL="0" lvl="0" indent="0" algn="ctr" rtl="0">
                        <a:spcBef>
                          <a:spcPts val="0"/>
                        </a:spcBef>
                        <a:spcAft>
                          <a:spcPts val="0"/>
                        </a:spcAft>
                        <a:buNone/>
                      </a:pPr>
                      <a:r>
                        <a:rPr lang="en-US" sz="1100" dirty="0"/>
                        <a:t>Between source and destination</a:t>
                      </a:r>
                      <a:endParaRPr sz="1100" dirty="0"/>
                    </a:p>
                  </a:txBody>
                  <a:tcPr marL="91425" marR="91425" marT="91425" marB="91425"/>
                </a:tc>
                <a:extLst>
                  <a:ext uri="{0D108BD9-81ED-4DB2-BD59-A6C34878D82A}">
                    <a16:rowId xmlns:a16="http://schemas.microsoft.com/office/drawing/2014/main" val="10001"/>
                  </a:ext>
                </a:extLst>
              </a:tr>
              <a:tr h="306404">
                <a:tc>
                  <a:txBody>
                    <a:bodyPr/>
                    <a:lstStyle/>
                    <a:p>
                      <a:pPr marL="0" lvl="0" indent="0" algn="l" rtl="0">
                        <a:spcBef>
                          <a:spcPts val="0"/>
                        </a:spcBef>
                        <a:spcAft>
                          <a:spcPts val="0"/>
                        </a:spcAft>
                        <a:buNone/>
                      </a:pPr>
                      <a:r>
                        <a:rPr lang="en-US" sz="1200" dirty="0"/>
                        <a:t>Fulva</a:t>
                      </a:r>
                      <a:endParaRPr sz="1200" dirty="0"/>
                    </a:p>
                  </a:txBody>
                  <a:tcPr marL="91425" marR="91425" marT="91425" marB="91425"/>
                </a:tc>
                <a:tc>
                  <a:txBody>
                    <a:bodyPr/>
                    <a:lstStyle/>
                    <a:p>
                      <a:pPr marL="0" lvl="0" indent="0" algn="ctr" rtl="0">
                        <a:spcBef>
                          <a:spcPts val="0"/>
                        </a:spcBef>
                        <a:spcAft>
                          <a:spcPts val="0"/>
                        </a:spcAft>
                        <a:buNone/>
                      </a:pPr>
                      <a:r>
                        <a:rPr lang="en-US" sz="1200" dirty="0"/>
                        <a:t>0.91</a:t>
                      </a:r>
                      <a:endParaRPr sz="1200" dirty="0"/>
                    </a:p>
                  </a:txBody>
                  <a:tcPr marL="91425" marR="91425" marT="91425" marB="91425"/>
                </a:tc>
                <a:tc>
                  <a:txBody>
                    <a:bodyPr/>
                    <a:lstStyle/>
                    <a:p>
                      <a:pPr marL="0" lvl="0" indent="0" algn="ctr" rtl="0">
                        <a:spcBef>
                          <a:spcPts val="0"/>
                        </a:spcBef>
                        <a:spcAft>
                          <a:spcPts val="0"/>
                        </a:spcAft>
                        <a:buNone/>
                      </a:pPr>
                      <a:r>
                        <a:rPr lang="en-US" sz="1200" dirty="0"/>
                        <a:t>0.63</a:t>
                      </a:r>
                      <a:endParaRPr sz="1200" dirty="0"/>
                    </a:p>
                  </a:txBody>
                  <a:tcPr marL="91425" marR="91425" marT="91425" marB="91425"/>
                </a:tc>
                <a:extLst>
                  <a:ext uri="{0D108BD9-81ED-4DB2-BD59-A6C34878D82A}">
                    <a16:rowId xmlns:a16="http://schemas.microsoft.com/office/drawing/2014/main" val="10002"/>
                  </a:ext>
                </a:extLst>
              </a:tr>
              <a:tr h="459618">
                <a:tc>
                  <a:txBody>
                    <a:bodyPr/>
                    <a:lstStyle/>
                    <a:p>
                      <a:pPr marL="0" lvl="0" indent="0" algn="l" rtl="0">
                        <a:spcBef>
                          <a:spcPts val="0"/>
                        </a:spcBef>
                        <a:spcAft>
                          <a:spcPts val="0"/>
                        </a:spcAft>
                        <a:buNone/>
                      </a:pPr>
                      <a:r>
                        <a:rPr lang="en-US" sz="1200" dirty="0" err="1"/>
                        <a:t>RockSteady</a:t>
                      </a:r>
                      <a:r>
                        <a:rPr lang="en-US" sz="1200" dirty="0"/>
                        <a:t> </a:t>
                      </a:r>
                    </a:p>
                    <a:p>
                      <a:pPr marL="0" lvl="0" indent="0" algn="l" rtl="0">
                        <a:spcBef>
                          <a:spcPts val="0"/>
                        </a:spcBef>
                        <a:spcAft>
                          <a:spcPts val="0"/>
                        </a:spcAft>
                        <a:buNone/>
                      </a:pPr>
                      <a:r>
                        <a:rPr lang="en-US" sz="1200" dirty="0"/>
                        <a:t>(destination-driven)</a:t>
                      </a:r>
                    </a:p>
                  </a:txBody>
                  <a:tcPr marL="91425" marR="91425" marT="91425" marB="91425"/>
                </a:tc>
                <a:tc>
                  <a:txBody>
                    <a:bodyPr/>
                    <a:lstStyle/>
                    <a:p>
                      <a:pPr marL="0" lvl="0" indent="0" algn="ctr" rtl="0">
                        <a:spcBef>
                          <a:spcPts val="0"/>
                        </a:spcBef>
                        <a:spcAft>
                          <a:spcPts val="0"/>
                        </a:spcAft>
                        <a:buNone/>
                      </a:pPr>
                      <a:r>
                        <a:rPr lang="en-US" sz="1200" dirty="0"/>
                        <a:t>0</a:t>
                      </a:r>
                    </a:p>
                  </a:txBody>
                  <a:tcPr marL="91425" marR="91425" marT="91425" marB="91425"/>
                </a:tc>
                <a:tc>
                  <a:txBody>
                    <a:bodyPr/>
                    <a:lstStyle/>
                    <a:p>
                      <a:pPr marL="0" lvl="0" indent="0" algn="ctr" rtl="0">
                        <a:spcBef>
                          <a:spcPts val="0"/>
                        </a:spcBef>
                        <a:spcAft>
                          <a:spcPts val="0"/>
                        </a:spcAft>
                        <a:buNone/>
                      </a:pPr>
                      <a:r>
                        <a:rPr lang="en-US" sz="1200" dirty="0">
                          <a:solidFill>
                            <a:schemeClr val="tx1"/>
                          </a:solidFill>
                        </a:rPr>
                        <a:t>0.72</a:t>
                      </a:r>
                      <a:endParaRPr sz="1200" dirty="0">
                        <a:solidFill>
                          <a:schemeClr val="tx1"/>
                        </a:solidFill>
                      </a:endParaRPr>
                    </a:p>
                  </a:txBody>
                  <a:tcPr marL="91425" marR="91425" marT="91425" marB="91425"/>
                </a:tc>
                <a:extLst>
                  <a:ext uri="{0D108BD9-81ED-4DB2-BD59-A6C34878D82A}">
                    <a16:rowId xmlns:a16="http://schemas.microsoft.com/office/drawing/2014/main" val="1730990949"/>
                  </a:ext>
                </a:extLst>
              </a:tr>
              <a:tr h="612833">
                <a:tc>
                  <a:txBody>
                    <a:bodyPr/>
                    <a:lstStyle/>
                    <a:p>
                      <a:pPr marL="0" lvl="0" indent="0" algn="l" rtl="0">
                        <a:spcBef>
                          <a:spcPts val="0"/>
                        </a:spcBef>
                        <a:spcAft>
                          <a:spcPts val="0"/>
                        </a:spcAft>
                        <a:buNone/>
                      </a:pPr>
                      <a:r>
                        <a:rPr lang="en-US" sz="1200" dirty="0" err="1"/>
                        <a:t>RAMCloud</a:t>
                      </a:r>
                      <a:r>
                        <a:rPr lang="en-US" sz="1200" dirty="0"/>
                        <a:t>-Migration </a:t>
                      </a:r>
                    </a:p>
                    <a:p>
                      <a:pPr marL="0" lvl="0" indent="0" algn="l" rtl="0">
                        <a:spcBef>
                          <a:spcPts val="0"/>
                        </a:spcBef>
                        <a:spcAft>
                          <a:spcPts val="0"/>
                        </a:spcAft>
                        <a:buNone/>
                      </a:pPr>
                      <a:r>
                        <a:rPr lang="en-US" sz="1200" dirty="0"/>
                        <a:t>(source-driven)</a:t>
                      </a:r>
                    </a:p>
                  </a:txBody>
                  <a:tcPr marL="91425" marR="91425" marT="91425" marB="91425"/>
                </a:tc>
                <a:tc>
                  <a:txBody>
                    <a:bodyPr/>
                    <a:lstStyle/>
                    <a:p>
                      <a:pPr marL="0" lvl="0" indent="0" algn="ctr" rtl="0">
                        <a:spcBef>
                          <a:spcPts val="0"/>
                        </a:spcBef>
                        <a:spcAft>
                          <a:spcPts val="0"/>
                        </a:spcAft>
                        <a:buNone/>
                      </a:pPr>
                      <a:r>
                        <a:rPr lang="en-US" sz="1200" dirty="0"/>
                        <a:t>0</a:t>
                      </a:r>
                    </a:p>
                  </a:txBody>
                  <a:tcPr marL="91425" marR="91425" marT="91425" marB="91425"/>
                </a:tc>
                <a:tc>
                  <a:txBody>
                    <a:bodyPr/>
                    <a:lstStyle/>
                    <a:p>
                      <a:pPr marL="0" lvl="0" indent="0" algn="ctr" rtl="0">
                        <a:spcBef>
                          <a:spcPts val="0"/>
                        </a:spcBef>
                        <a:spcAft>
                          <a:spcPts val="0"/>
                        </a:spcAft>
                        <a:buNone/>
                      </a:pPr>
                      <a:r>
                        <a:rPr lang="en-HK" sz="1200" dirty="0">
                          <a:solidFill>
                            <a:schemeClr val="tx1"/>
                          </a:solidFill>
                        </a:rPr>
                        <a:t>0.35</a:t>
                      </a:r>
                      <a:endParaRPr sz="1200" dirty="0">
                        <a:solidFill>
                          <a:schemeClr val="tx1"/>
                        </a:solidFill>
                      </a:endParaRPr>
                    </a:p>
                  </a:txBody>
                  <a:tcPr marL="91425" marR="91425" marT="91425" marB="91425"/>
                </a:tc>
                <a:extLst>
                  <a:ext uri="{0D108BD9-81ED-4DB2-BD59-A6C34878D82A}">
                    <a16:rowId xmlns:a16="http://schemas.microsoft.com/office/drawing/2014/main" val="2700395436"/>
                  </a:ext>
                </a:extLst>
              </a:tr>
            </a:tbl>
          </a:graphicData>
        </a:graphic>
      </p:graphicFrame>
      <p:sp>
        <p:nvSpPr>
          <p:cNvPr id="10" name="TextBox 9">
            <a:extLst>
              <a:ext uri="{FF2B5EF4-FFF2-40B4-BE49-F238E27FC236}">
                <a16:creationId xmlns:a16="http://schemas.microsoft.com/office/drawing/2014/main" id="{F52ACDBC-34C5-ED4A-9B43-242A56755414}"/>
              </a:ext>
            </a:extLst>
          </p:cNvPr>
          <p:cNvSpPr txBox="1"/>
          <p:nvPr/>
        </p:nvSpPr>
        <p:spPr>
          <a:xfrm>
            <a:off x="94748" y="4229888"/>
            <a:ext cx="4404163" cy="523220"/>
          </a:xfrm>
          <a:prstGeom prst="rect">
            <a:avLst/>
          </a:prstGeom>
          <a:noFill/>
        </p:spPr>
        <p:txBody>
          <a:bodyPr wrap="square" rtlCol="0">
            <a:spAutoFit/>
          </a:bodyPr>
          <a:lstStyle/>
          <a:p>
            <a:r>
              <a:rPr lang="en-US" dirty="0"/>
              <a:t>Thanks to MCR and </a:t>
            </a:r>
            <a:r>
              <a:rPr lang="en-US" dirty="0" err="1"/>
              <a:t>SampPull</a:t>
            </a:r>
            <a:r>
              <a:rPr lang="en-US" dirty="0"/>
              <a:t>, Fulva’s extra bandwidth per request is comparable to Rocksteady’s </a:t>
            </a:r>
          </a:p>
        </p:txBody>
      </p:sp>
      <p:sp>
        <p:nvSpPr>
          <p:cNvPr id="36" name="TextBox 35">
            <a:extLst>
              <a:ext uri="{FF2B5EF4-FFF2-40B4-BE49-F238E27FC236}">
                <a16:creationId xmlns:a16="http://schemas.microsoft.com/office/drawing/2014/main" id="{C51E223E-11A9-114A-A24D-6476A4525DEA}"/>
              </a:ext>
            </a:extLst>
          </p:cNvPr>
          <p:cNvSpPr txBox="1"/>
          <p:nvPr/>
        </p:nvSpPr>
        <p:spPr>
          <a:xfrm>
            <a:off x="94749" y="3737723"/>
            <a:ext cx="4281321" cy="430887"/>
          </a:xfrm>
          <a:prstGeom prst="rect">
            <a:avLst/>
          </a:prstGeom>
          <a:noFill/>
        </p:spPr>
        <p:txBody>
          <a:bodyPr wrap="square" rtlCol="0">
            <a:spAutoFit/>
          </a:bodyPr>
          <a:lstStyle/>
          <a:p>
            <a:r>
              <a:rPr lang="en-US" sz="1100" dirty="0"/>
              <a:t>* Extra bandwidth usage: the bandwidth usage for functions other than migrating the 20GB, such as double read from clients. </a:t>
            </a:r>
          </a:p>
        </p:txBody>
      </p:sp>
      <p:sp>
        <p:nvSpPr>
          <p:cNvPr id="3" name="Rectangle 2">
            <a:extLst>
              <a:ext uri="{FF2B5EF4-FFF2-40B4-BE49-F238E27FC236}">
                <a16:creationId xmlns:a16="http://schemas.microsoft.com/office/drawing/2014/main" id="{694E40A2-EA90-CC41-80A0-BA71F96C4CF1}"/>
              </a:ext>
            </a:extLst>
          </p:cNvPr>
          <p:cNvSpPr/>
          <p:nvPr/>
        </p:nvSpPr>
        <p:spPr>
          <a:xfrm>
            <a:off x="2296829" y="2080520"/>
            <a:ext cx="312821" cy="2878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981F9613-67B1-B148-9AF1-E4AF2FA3EB9E}"/>
              </a:ext>
            </a:extLst>
          </p:cNvPr>
          <p:cNvSpPr/>
          <p:nvPr/>
        </p:nvSpPr>
        <p:spPr>
          <a:xfrm>
            <a:off x="3471913" y="2084857"/>
            <a:ext cx="567343" cy="2835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5991F884-739A-0A4A-8316-2252A140C5FC}"/>
              </a:ext>
            </a:extLst>
          </p:cNvPr>
          <p:cNvSpPr/>
          <p:nvPr/>
        </p:nvSpPr>
        <p:spPr>
          <a:xfrm>
            <a:off x="2169567" y="2447108"/>
            <a:ext cx="567343" cy="2835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6E8AC3A-67D0-9444-AA74-C709A32A9F70}"/>
              </a:ext>
            </a:extLst>
          </p:cNvPr>
          <p:cNvSpPr/>
          <p:nvPr/>
        </p:nvSpPr>
        <p:spPr>
          <a:xfrm>
            <a:off x="3471913" y="2447108"/>
            <a:ext cx="567343" cy="2835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C837F05-BADC-BC44-92C4-1E36A28C0957}"/>
              </a:ext>
            </a:extLst>
          </p:cNvPr>
          <p:cNvSpPr/>
          <p:nvPr/>
        </p:nvSpPr>
        <p:spPr>
          <a:xfrm>
            <a:off x="2169566" y="3047752"/>
            <a:ext cx="567343" cy="2835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8100390-5F80-BB41-8FC2-C10C454B0973}"/>
              </a:ext>
            </a:extLst>
          </p:cNvPr>
          <p:cNvSpPr/>
          <p:nvPr/>
        </p:nvSpPr>
        <p:spPr>
          <a:xfrm>
            <a:off x="3468494" y="3047368"/>
            <a:ext cx="567343" cy="2835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91843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9"/>
                                        </p:tgtEl>
                                      </p:cBhvr>
                                    </p:animEffect>
                                    <p:set>
                                      <p:cBhvr>
                                        <p:cTn id="10" dur="1" fill="hold">
                                          <p:stCondLst>
                                            <p:cond delay="499"/>
                                          </p:stCondLst>
                                        </p:cTn>
                                        <p:tgtEl>
                                          <p:spTgt spid="19"/>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20"/>
                                        </p:tgtEl>
                                      </p:cBhvr>
                                    </p:animEffect>
                                    <p:set>
                                      <p:cBhvr>
                                        <p:cTn id="13" dur="1" fill="hold">
                                          <p:stCondLst>
                                            <p:cond delay="499"/>
                                          </p:stCondLst>
                                        </p:cTn>
                                        <p:tgtEl>
                                          <p:spTgt spid="20"/>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23"/>
                                        </p:tgtEl>
                                      </p:cBhvr>
                                    </p:animEffect>
                                    <p:set>
                                      <p:cBhvr>
                                        <p:cTn id="16" dur="1" fill="hold">
                                          <p:stCondLst>
                                            <p:cond delay="499"/>
                                          </p:stCondLst>
                                        </p:cTn>
                                        <p:tgtEl>
                                          <p:spTgt spid="23"/>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25"/>
                                        </p:tgtEl>
                                      </p:cBhvr>
                                    </p:animEffect>
                                    <p:set>
                                      <p:cBhvr>
                                        <p:cTn id="19" dur="1" fill="hold">
                                          <p:stCondLst>
                                            <p:cond delay="499"/>
                                          </p:stCondLst>
                                        </p:cTn>
                                        <p:tgtEl>
                                          <p:spTgt spid="25"/>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26"/>
                                        </p:tgtEl>
                                      </p:cBhvr>
                                    </p:animEffect>
                                    <p:set>
                                      <p:cBhvr>
                                        <p:cTn id="22" dur="1" fill="hold">
                                          <p:stCondLst>
                                            <p:cond delay="499"/>
                                          </p:stCondLst>
                                        </p:cTn>
                                        <p:tgtEl>
                                          <p:spTgt spid="2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74"/>
                                        </p:tgtEl>
                                        <p:attrNameLst>
                                          <p:attrName>style.visibility</p:attrName>
                                        </p:attrNameLst>
                                      </p:cBhvr>
                                      <p:to>
                                        <p:strVal val="visible"/>
                                      </p:to>
                                    </p:set>
                                    <p:animEffect transition="in" filter="fade">
                                      <p:cBhvr>
                                        <p:cTn id="27" dur="500"/>
                                        <p:tgtEl>
                                          <p:spTgt spid="1474"/>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10" presetClass="entr" presetSubtype="0" fill="hold" nodeType="with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500"/>
                                        <p:tgtEl>
                                          <p:spTgt spid="4"/>
                                        </p:tgtEl>
                                      </p:cBhvr>
                                    </p:animEffect>
                                  </p:childTnLst>
                                </p:cTn>
                              </p:par>
                              <p:par>
                                <p:cTn id="45" presetID="10"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fade">
                                      <p:cBhvr>
                                        <p:cTn id="5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 grpId="0"/>
      <p:bldP spid="6" grpId="0" animBg="1"/>
      <p:bldP spid="18" grpId="0" animBg="1"/>
      <p:bldP spid="21" grpId="0"/>
      <p:bldP spid="3" grpId="0" animBg="1"/>
      <p:bldP spid="19" grpId="0" animBg="1"/>
      <p:bldP spid="20" grpId="0" animBg="1"/>
      <p:bldP spid="23" grpId="0" animBg="1"/>
      <p:bldP spid="25" grpId="0" animBg="1"/>
      <p:bldP spid="2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83B91-BFE1-EB42-8664-B1AFA72AB268}"/>
              </a:ext>
            </a:extLst>
          </p:cNvPr>
          <p:cNvSpPr>
            <a:spLocks noGrp="1"/>
          </p:cNvSpPr>
          <p:nvPr>
            <p:ph type="title"/>
          </p:nvPr>
        </p:nvSpPr>
        <p:spPr/>
        <p:txBody>
          <a:bodyPr>
            <a:normAutofit fontScale="90000"/>
          </a:bodyPr>
          <a:lstStyle/>
          <a:p>
            <a:r>
              <a:rPr lang="en-US" dirty="0"/>
              <a:t>Effectiveness of Fulva’s component </a:t>
            </a:r>
          </a:p>
        </p:txBody>
      </p:sp>
      <p:sp>
        <p:nvSpPr>
          <p:cNvPr id="3" name="Text Placeholder 2">
            <a:extLst>
              <a:ext uri="{FF2B5EF4-FFF2-40B4-BE49-F238E27FC236}">
                <a16:creationId xmlns:a16="http://schemas.microsoft.com/office/drawing/2014/main" id="{242BEE07-5121-E04F-AE8B-842E16818365}"/>
              </a:ext>
            </a:extLst>
          </p:cNvPr>
          <p:cNvSpPr>
            <a:spLocks noGrp="1"/>
          </p:cNvSpPr>
          <p:nvPr>
            <p:ph type="body" idx="1"/>
          </p:nvPr>
        </p:nvSpPr>
        <p:spPr/>
        <p:txBody>
          <a:bodyPr/>
          <a:lstStyle/>
          <a:p>
            <a:pPr marL="114300" indent="0">
              <a:buNone/>
            </a:pPr>
            <a:endParaRPr lang="en-US" dirty="0"/>
          </a:p>
          <a:p>
            <a:pPr marL="114300" indent="0">
              <a:buNone/>
            </a:pPr>
            <a:endParaRPr lang="en-US" dirty="0"/>
          </a:p>
        </p:txBody>
      </p:sp>
      <p:sp>
        <p:nvSpPr>
          <p:cNvPr id="4" name="Slide Number Placeholder 3">
            <a:extLst>
              <a:ext uri="{FF2B5EF4-FFF2-40B4-BE49-F238E27FC236}">
                <a16:creationId xmlns:a16="http://schemas.microsoft.com/office/drawing/2014/main" id="{665882CE-043E-7A47-B20E-E7D5FC2B5BB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
        <p:nvSpPr>
          <p:cNvPr id="15" name="Google Shape;1417;g61028e7a18_0_19">
            <a:extLst>
              <a:ext uri="{FF2B5EF4-FFF2-40B4-BE49-F238E27FC236}">
                <a16:creationId xmlns:a16="http://schemas.microsoft.com/office/drawing/2014/main" id="{32D774A2-8623-2E49-B946-3061B7E85695}"/>
              </a:ext>
            </a:extLst>
          </p:cNvPr>
          <p:cNvSpPr txBox="1">
            <a:spLocks/>
          </p:cNvSpPr>
          <p:nvPr/>
        </p:nvSpPr>
        <p:spPr>
          <a:xfrm>
            <a:off x="500559" y="3374135"/>
            <a:ext cx="8520600" cy="1580153"/>
          </a:xfrm>
          <a:prstGeom prst="rect">
            <a:avLst/>
          </a:prstGeom>
          <a:noFill/>
          <a:ln>
            <a:noFill/>
          </a:ln>
        </p:spPr>
        <p:txBody>
          <a:bodyPr spcFirstLastPara="1" wrap="square" lIns="91400" tIns="91400" rIns="91400" bIns="91400"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1pPr>
            <a:lvl2pPr marL="914400" marR="0" lvl="1"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2pPr>
            <a:lvl3pPr marL="1371600" marR="0" lvl="2"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3pPr>
            <a:lvl4pPr marL="1828800" marR="0" lvl="3"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4pPr>
            <a:lvl5pPr marL="2286000" marR="0" lvl="4"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5pPr>
            <a:lvl6pPr marL="2743200" marR="0" lvl="5"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6pPr>
            <a:lvl7pPr marL="3200400" marR="0" lvl="6"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7pPr>
            <a:lvl8pPr marL="3657600" marR="0" lvl="7"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8pPr>
            <a:lvl9pPr marL="4114800" marR="0" lvl="8"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9pPr>
          </a:lstStyle>
          <a:p>
            <a:r>
              <a:rPr lang="en-US" sz="1600" dirty="0"/>
              <a:t>The lookup time of MCR (Migration Completion Ranges) and SPH (Sample Pulled Hashes) table on each client program is less than 0.18 µs</a:t>
            </a:r>
          </a:p>
          <a:p>
            <a:r>
              <a:rPr lang="en-US" sz="1600" dirty="0"/>
              <a:t>MCR and SPH’s memory footprint per client is effectively controlled:</a:t>
            </a:r>
          </a:p>
          <a:p>
            <a:pPr lvl="1"/>
            <a:r>
              <a:rPr lang="en-US" sz="1600" dirty="0"/>
              <a:t>In the earlier phase of a migration, the SPH table is small</a:t>
            </a:r>
          </a:p>
          <a:p>
            <a:pPr lvl="1"/>
            <a:r>
              <a:rPr lang="en-US" sz="1600" dirty="0"/>
              <a:t>In the later phase of the migration, the MCR covers most keys, and the SPH table is trimmed</a:t>
            </a:r>
          </a:p>
        </p:txBody>
      </p:sp>
      <p:pic>
        <p:nvPicPr>
          <p:cNvPr id="16" name="Picture 15">
            <a:extLst>
              <a:ext uri="{FF2B5EF4-FFF2-40B4-BE49-F238E27FC236}">
                <a16:creationId xmlns:a16="http://schemas.microsoft.com/office/drawing/2014/main" id="{8809C2DD-A75B-CA49-BAC5-891A4431BB04}"/>
              </a:ext>
            </a:extLst>
          </p:cNvPr>
          <p:cNvPicPr>
            <a:picLocks noChangeAspect="1"/>
          </p:cNvPicPr>
          <p:nvPr/>
        </p:nvPicPr>
        <p:blipFill>
          <a:blip r:embed="rId3"/>
          <a:stretch>
            <a:fillRect/>
          </a:stretch>
        </p:blipFill>
        <p:spPr>
          <a:xfrm>
            <a:off x="319790" y="1177200"/>
            <a:ext cx="3909059" cy="1914991"/>
          </a:xfrm>
          <a:prstGeom prst="rect">
            <a:avLst/>
          </a:prstGeom>
        </p:spPr>
      </p:pic>
      <p:pic>
        <p:nvPicPr>
          <p:cNvPr id="6" name="Picture 5">
            <a:extLst>
              <a:ext uri="{FF2B5EF4-FFF2-40B4-BE49-F238E27FC236}">
                <a16:creationId xmlns:a16="http://schemas.microsoft.com/office/drawing/2014/main" id="{1229F51D-3600-2E4E-9400-8A558EB7C260}"/>
              </a:ext>
            </a:extLst>
          </p:cNvPr>
          <p:cNvPicPr>
            <a:picLocks noChangeAspect="1"/>
          </p:cNvPicPr>
          <p:nvPr/>
        </p:nvPicPr>
        <p:blipFill>
          <a:blip r:embed="rId4"/>
          <a:stretch>
            <a:fillRect/>
          </a:stretch>
        </p:blipFill>
        <p:spPr>
          <a:xfrm>
            <a:off x="4696123" y="948860"/>
            <a:ext cx="3909060" cy="2171700"/>
          </a:xfrm>
          <a:prstGeom prst="rect">
            <a:avLst/>
          </a:prstGeom>
        </p:spPr>
      </p:pic>
      <p:sp>
        <p:nvSpPr>
          <p:cNvPr id="7" name="TextBox 6">
            <a:extLst>
              <a:ext uri="{FF2B5EF4-FFF2-40B4-BE49-F238E27FC236}">
                <a16:creationId xmlns:a16="http://schemas.microsoft.com/office/drawing/2014/main" id="{A8D62057-107A-C549-BCE4-91308B88990F}"/>
              </a:ext>
            </a:extLst>
          </p:cNvPr>
          <p:cNvSpPr txBox="1"/>
          <p:nvPr/>
        </p:nvSpPr>
        <p:spPr>
          <a:xfrm>
            <a:off x="763010" y="3018017"/>
            <a:ext cx="3595856" cy="261610"/>
          </a:xfrm>
          <a:prstGeom prst="rect">
            <a:avLst/>
          </a:prstGeom>
          <a:noFill/>
        </p:spPr>
        <p:txBody>
          <a:bodyPr wrap="none" rtlCol="0">
            <a:spAutoFit/>
          </a:bodyPr>
          <a:lstStyle/>
          <a:p>
            <a:r>
              <a:rPr lang="en-US" sz="1100" dirty="0"/>
              <a:t>Effectiveness of Fulva’s MCR and </a:t>
            </a:r>
            <a:r>
              <a:rPr lang="en-US" sz="1100" dirty="0" err="1"/>
              <a:t>SampPull</a:t>
            </a:r>
            <a:r>
              <a:rPr lang="en-US" sz="1100" dirty="0"/>
              <a:t> technique</a:t>
            </a:r>
          </a:p>
        </p:txBody>
      </p:sp>
      <p:sp>
        <p:nvSpPr>
          <p:cNvPr id="11" name="TextBox 10">
            <a:extLst>
              <a:ext uri="{FF2B5EF4-FFF2-40B4-BE49-F238E27FC236}">
                <a16:creationId xmlns:a16="http://schemas.microsoft.com/office/drawing/2014/main" id="{A01E297D-F31B-3C46-B83D-FD42EC14ED82}"/>
              </a:ext>
            </a:extLst>
          </p:cNvPr>
          <p:cNvSpPr txBox="1"/>
          <p:nvPr/>
        </p:nvSpPr>
        <p:spPr>
          <a:xfrm>
            <a:off x="5668019" y="3022219"/>
            <a:ext cx="2337499" cy="261610"/>
          </a:xfrm>
          <a:prstGeom prst="rect">
            <a:avLst/>
          </a:prstGeom>
          <a:noFill/>
        </p:spPr>
        <p:txBody>
          <a:bodyPr wrap="none" rtlCol="0">
            <a:spAutoFit/>
          </a:bodyPr>
          <a:lstStyle/>
          <a:p>
            <a:r>
              <a:rPr lang="en-US" sz="1100" dirty="0"/>
              <a:t>Fulva’s per client memory footprint</a:t>
            </a:r>
          </a:p>
        </p:txBody>
      </p:sp>
    </p:spTree>
    <p:extLst>
      <p:ext uri="{BB962C8B-B14F-4D97-AF65-F5344CB8AC3E}">
        <p14:creationId xmlns:p14="http://schemas.microsoft.com/office/powerpoint/2010/main" val="1951784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A9177-FBFC-4F5D-BE07-565EF1686278}"/>
              </a:ext>
            </a:extLst>
          </p:cNvPr>
          <p:cNvSpPr>
            <a:spLocks noGrp="1"/>
          </p:cNvSpPr>
          <p:nvPr>
            <p:ph type="title"/>
          </p:nvPr>
        </p:nvSpPr>
        <p:spPr/>
        <p:txBody>
          <a:bodyPr>
            <a:normAutofit fontScale="90000"/>
          </a:bodyPr>
          <a:lstStyle/>
          <a:p>
            <a:r>
              <a:rPr lang="en-US" dirty="0"/>
              <a:t>Conclusion and Future work</a:t>
            </a:r>
          </a:p>
        </p:txBody>
      </p:sp>
      <p:sp>
        <p:nvSpPr>
          <p:cNvPr id="3" name="Text Placeholder 2">
            <a:extLst>
              <a:ext uri="{FF2B5EF4-FFF2-40B4-BE49-F238E27FC236}">
                <a16:creationId xmlns:a16="http://schemas.microsoft.com/office/drawing/2014/main" id="{69479F53-9E75-4A4B-9F5F-2DCF6C766236}"/>
              </a:ext>
            </a:extLst>
          </p:cNvPr>
          <p:cNvSpPr>
            <a:spLocks noGrp="1"/>
          </p:cNvSpPr>
          <p:nvPr>
            <p:ph type="body" idx="1"/>
          </p:nvPr>
        </p:nvSpPr>
        <p:spPr/>
        <p:txBody>
          <a:bodyPr>
            <a:normAutofit fontScale="77500" lnSpcReduction="20000"/>
          </a:bodyPr>
          <a:lstStyle/>
          <a:p>
            <a:r>
              <a:rPr lang="en-US" dirty="0"/>
              <a:t>Fulva: a source and destination hybrid-driven, near-optimal live migration technique</a:t>
            </a:r>
          </a:p>
          <a:p>
            <a:pPr marL="114300" indent="0">
              <a:buNone/>
            </a:pPr>
            <a:endParaRPr lang="en-US" dirty="0"/>
          </a:p>
          <a:p>
            <a:pPr>
              <a:lnSpc>
                <a:spcPct val="114999"/>
              </a:lnSpc>
            </a:pPr>
            <a:r>
              <a:rPr lang="en-US" dirty="0"/>
              <a:t>Which KV stores are suitable for Fulva?</a:t>
            </a:r>
          </a:p>
          <a:p>
            <a:pPr lvl="1">
              <a:lnSpc>
                <a:spcPct val="114999"/>
              </a:lnSpc>
            </a:pPr>
            <a:r>
              <a:rPr lang="en-US" dirty="0"/>
              <a:t>Bot</a:t>
            </a:r>
            <a:r>
              <a:rPr lang="en-US" altLang="zh-TW" dirty="0"/>
              <a:t>h</a:t>
            </a:r>
            <a:r>
              <a:rPr lang="zh-TW" altLang="en-US" dirty="0"/>
              <a:t> </a:t>
            </a:r>
            <a:r>
              <a:rPr lang="en-US" altLang="zh-TW" dirty="0"/>
              <a:t>clients</a:t>
            </a:r>
            <a:r>
              <a:rPr lang="zh-TW" altLang="en-US" dirty="0"/>
              <a:t> </a:t>
            </a:r>
            <a:r>
              <a:rPr lang="en-US" altLang="zh-TW" dirty="0"/>
              <a:t>and</a:t>
            </a:r>
            <a:r>
              <a:rPr lang="en-US" dirty="0"/>
              <a:t> servers </a:t>
            </a:r>
            <a:r>
              <a:rPr lang="en-US" altLang="zh-TW" dirty="0"/>
              <a:t>run</a:t>
            </a:r>
            <a:r>
              <a:rPr lang="en-US" dirty="0"/>
              <a:t> in </a:t>
            </a:r>
            <a:r>
              <a:rPr lang="en-US" altLang="zh-TW" dirty="0"/>
              <a:t>the</a:t>
            </a:r>
            <a:r>
              <a:rPr lang="zh-TW" altLang="en-US" dirty="0"/>
              <a:t> </a:t>
            </a:r>
            <a:r>
              <a:rPr lang="en-US" altLang="zh-TW" dirty="0"/>
              <a:t>same</a:t>
            </a:r>
            <a:r>
              <a:rPr lang="zh-TW" altLang="en-US" dirty="0"/>
              <a:t> </a:t>
            </a:r>
            <a:r>
              <a:rPr lang="en-US" dirty="0"/>
              <a:t>datacenter, and their performance is sensitive to workloads’ skewness</a:t>
            </a:r>
          </a:p>
          <a:p>
            <a:pPr lvl="1">
              <a:lnSpc>
                <a:spcPct val="114999"/>
              </a:lnSpc>
            </a:pPr>
            <a:r>
              <a:rPr lang="en-US" altLang="zh-TW" dirty="0"/>
              <a:t>The</a:t>
            </a:r>
            <a:r>
              <a:rPr lang="zh-TW" altLang="en-US" dirty="0"/>
              <a:t> </a:t>
            </a:r>
            <a:r>
              <a:rPr lang="en-US" altLang="zh-TW" dirty="0"/>
              <a:t>KV</a:t>
            </a:r>
            <a:r>
              <a:rPr lang="zh-TW" altLang="en-US" dirty="0"/>
              <a:t> </a:t>
            </a:r>
            <a:r>
              <a:rPr lang="en-US" altLang="zh-TW" dirty="0"/>
              <a:t>store</a:t>
            </a:r>
            <a:r>
              <a:rPr lang="zh-TW" altLang="en-US" dirty="0"/>
              <a:t> </a:t>
            </a:r>
            <a:r>
              <a:rPr lang="en-US" altLang="zh-TW" dirty="0"/>
              <a:t>needs</a:t>
            </a:r>
            <a:r>
              <a:rPr lang="zh-TW" altLang="en-US" dirty="0"/>
              <a:t> </a:t>
            </a:r>
            <a:r>
              <a:rPr lang="en-US" altLang="zh-TW" dirty="0"/>
              <a:t>to</a:t>
            </a:r>
            <a:r>
              <a:rPr lang="zh-TW" altLang="en-US" dirty="0"/>
              <a:t> </a:t>
            </a:r>
            <a:r>
              <a:rPr lang="en-US" altLang="zh-TW" dirty="0"/>
              <a:t>ensure</a:t>
            </a:r>
            <a:r>
              <a:rPr lang="zh-TW" altLang="en-US" dirty="0"/>
              <a:t> </a:t>
            </a:r>
            <a:r>
              <a:rPr lang="en-US" altLang="zh-TW" dirty="0"/>
              <a:t>linearizability</a:t>
            </a:r>
            <a:r>
              <a:rPr lang="zh-TW" altLang="en-US" dirty="0"/>
              <a:t> </a:t>
            </a:r>
            <a:r>
              <a:rPr lang="en-US" altLang="zh-TW" dirty="0"/>
              <a:t>(read</a:t>
            </a:r>
            <a:r>
              <a:rPr lang="zh-TW" altLang="en-US" dirty="0"/>
              <a:t> </a:t>
            </a:r>
            <a:r>
              <a:rPr lang="en-US" dirty="0"/>
              <a:t>latest write</a:t>
            </a:r>
            <a:r>
              <a:rPr lang="en-US" altLang="zh-TW" dirty="0"/>
              <a:t>)</a:t>
            </a:r>
          </a:p>
          <a:p>
            <a:pPr lvl="1">
              <a:lnSpc>
                <a:spcPct val="114999"/>
              </a:lnSpc>
            </a:pPr>
            <a:r>
              <a:rPr lang="en-US" dirty="0"/>
              <a:t>These two requirements are common to all existing live migration approaches for KV stores </a:t>
            </a:r>
          </a:p>
          <a:p>
            <a:pPr lvl="2">
              <a:lnSpc>
                <a:spcPct val="114999"/>
              </a:lnSpc>
            </a:pPr>
            <a:r>
              <a:rPr lang="en-US" dirty="0"/>
              <a:t>e.g., Rocksteady (SOSP’17), </a:t>
            </a:r>
            <a:r>
              <a:rPr lang="en-US" dirty="0" err="1"/>
              <a:t>Drtmb</a:t>
            </a:r>
            <a:r>
              <a:rPr lang="en-US" dirty="0"/>
              <a:t> (ATC’17) etc.</a:t>
            </a:r>
          </a:p>
          <a:p>
            <a:pPr lvl="1">
              <a:lnSpc>
                <a:spcPct val="114999"/>
              </a:lnSpc>
            </a:pPr>
            <a:r>
              <a:rPr lang="en-US" dirty="0"/>
              <a:t>e.g., </a:t>
            </a:r>
            <a:r>
              <a:rPr lang="en-US" dirty="0" err="1"/>
              <a:t>RAMCloud</a:t>
            </a:r>
            <a:r>
              <a:rPr lang="en-US" dirty="0"/>
              <a:t> (SOSP’11), Redis, Mica (NSDI’14) etc.</a:t>
            </a:r>
          </a:p>
          <a:p>
            <a:pPr lvl="1">
              <a:lnSpc>
                <a:spcPct val="114999"/>
              </a:lnSpc>
            </a:pPr>
            <a:endParaRPr lang="en-US" dirty="0"/>
          </a:p>
          <a:p>
            <a:pPr>
              <a:lnSpc>
                <a:spcPct val="114999"/>
              </a:lnSpc>
            </a:pPr>
            <a:r>
              <a:rPr lang="en-US" dirty="0"/>
              <a:t>Recent development on Fulva:</a:t>
            </a:r>
          </a:p>
          <a:p>
            <a:pPr lvl="1">
              <a:lnSpc>
                <a:spcPct val="114999"/>
              </a:lnSpc>
            </a:pPr>
            <a:r>
              <a:rPr lang="en-US" dirty="0"/>
              <a:t>Integrating Fulva to more KV stores (e.g., Redis)</a:t>
            </a:r>
          </a:p>
          <a:p>
            <a:pPr marL="571500" lvl="1" indent="0">
              <a:lnSpc>
                <a:spcPct val="114999"/>
              </a:lnSpc>
              <a:buNone/>
            </a:pPr>
            <a:endParaRPr lang="en-US" dirty="0"/>
          </a:p>
          <a:p>
            <a:pPr>
              <a:lnSpc>
                <a:spcPct val="114999"/>
              </a:lnSpc>
            </a:pPr>
            <a:r>
              <a:rPr lang="en-US" dirty="0"/>
              <a:t>Fulva’s code is open source on </a:t>
            </a:r>
            <a:r>
              <a:rPr lang="en-HK" dirty="0">
                <a:hlinkClick r:id="rId3"/>
              </a:rPr>
              <a:t>http://github.com/hku-systems/fulva</a:t>
            </a:r>
            <a:endParaRPr lang="en-US" dirty="0"/>
          </a:p>
        </p:txBody>
      </p:sp>
      <p:sp>
        <p:nvSpPr>
          <p:cNvPr id="4" name="Slide Number Placeholder 3">
            <a:extLst>
              <a:ext uri="{FF2B5EF4-FFF2-40B4-BE49-F238E27FC236}">
                <a16:creationId xmlns:a16="http://schemas.microsoft.com/office/drawing/2014/main" id="{8AC59989-4F00-49CA-B221-481499A5D8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23</a:t>
            </a:fld>
            <a:endParaRPr lang="en-US"/>
          </a:p>
        </p:txBody>
      </p:sp>
    </p:spTree>
    <p:extLst>
      <p:ext uri="{BB962C8B-B14F-4D97-AF65-F5344CB8AC3E}">
        <p14:creationId xmlns:p14="http://schemas.microsoft.com/office/powerpoint/2010/main" val="3653769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80"/>
        <p:cNvGrpSpPr/>
        <p:nvPr/>
      </p:nvGrpSpPr>
      <p:grpSpPr>
        <a:xfrm>
          <a:off x="0" y="0"/>
          <a:ext cx="0" cy="0"/>
          <a:chOff x="0" y="0"/>
          <a:chExt cx="0" cy="0"/>
        </a:xfrm>
      </p:grpSpPr>
      <p:sp>
        <p:nvSpPr>
          <p:cNvPr id="1481" name="Google Shape;1481;g625fbb7380_0_22"/>
          <p:cNvSpPr txBox="1">
            <a:spLocks noGrp="1"/>
          </p:cNvSpPr>
          <p:nvPr>
            <p:ph type="title"/>
          </p:nvPr>
        </p:nvSpPr>
        <p:spPr>
          <a:xfrm>
            <a:off x="311699" y="2150849"/>
            <a:ext cx="8520600" cy="841800"/>
          </a:xfrm>
          <a:prstGeom prst="rect">
            <a:avLst/>
          </a:prstGeom>
        </p:spPr>
        <p:txBody>
          <a:bodyPr spcFirstLastPara="1" wrap="square" lIns="91400" tIns="91400" rIns="91400" bIns="91400" anchor="ctr" anchorCtr="0">
            <a:noAutofit/>
          </a:bodyPr>
          <a:lstStyle/>
          <a:p>
            <a:pPr marL="0" lvl="0" indent="0" algn="ctr" rtl="0">
              <a:spcBef>
                <a:spcPts val="0"/>
              </a:spcBef>
              <a:spcAft>
                <a:spcPts val="0"/>
              </a:spcAft>
              <a:buNone/>
            </a:pPr>
            <a:r>
              <a:rPr lang="en-US"/>
              <a:t>Thank you!</a:t>
            </a:r>
            <a:endParaRPr/>
          </a:p>
        </p:txBody>
      </p:sp>
      <p:sp>
        <p:nvSpPr>
          <p:cNvPr id="2" name="Slide Number Placeholder 1">
            <a:extLst>
              <a:ext uri="{FF2B5EF4-FFF2-40B4-BE49-F238E27FC236}">
                <a16:creationId xmlns:a16="http://schemas.microsoft.com/office/drawing/2014/main" id="{83A4892E-E575-9A46-92BE-CADA1D453C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extLst>
      <p:ext uri="{BB962C8B-B14F-4D97-AF65-F5344CB8AC3E}">
        <p14:creationId xmlns:p14="http://schemas.microsoft.com/office/powerpoint/2010/main" val="157176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27"/>
        <p:cNvGrpSpPr/>
        <p:nvPr/>
      </p:nvGrpSpPr>
      <p:grpSpPr>
        <a:xfrm>
          <a:off x="0" y="0"/>
          <a:ext cx="0" cy="0"/>
          <a:chOff x="0" y="0"/>
          <a:chExt cx="0" cy="0"/>
        </a:xfrm>
      </p:grpSpPr>
      <p:sp>
        <p:nvSpPr>
          <p:cNvPr id="1428" name="Google Shape;1428;g41c341d872_1_10"/>
          <p:cNvSpPr txBox="1">
            <a:spLocks noGrp="1"/>
          </p:cNvSpPr>
          <p:nvPr>
            <p:ph type="title"/>
          </p:nvPr>
        </p:nvSpPr>
        <p:spPr>
          <a:xfrm>
            <a:off x="110518" y="238742"/>
            <a:ext cx="9033482" cy="572700"/>
          </a:xfrm>
          <a:prstGeom prst="rect">
            <a:avLst/>
          </a:prstGeom>
        </p:spPr>
        <p:txBody>
          <a:bodyPr spcFirstLastPara="1" wrap="square" lIns="91400" tIns="91400" rIns="91400" bIns="91400" anchor="t" anchorCtr="0">
            <a:noAutofit/>
          </a:bodyPr>
          <a:lstStyle/>
          <a:p>
            <a:pPr marL="457200" lvl="0" indent="0" algn="l" rtl="0">
              <a:lnSpc>
                <a:spcPct val="115000"/>
              </a:lnSpc>
              <a:spcBef>
                <a:spcPts val="0"/>
              </a:spcBef>
              <a:spcAft>
                <a:spcPts val="0"/>
              </a:spcAft>
              <a:buNone/>
            </a:pPr>
            <a:r>
              <a:rPr lang="en-US" sz="2690" dirty="0">
                <a:solidFill>
                  <a:schemeClr val="tx1"/>
                </a:solidFill>
              </a:rPr>
              <a:t>The three systems’ performance on YCSB (Low Skew)</a:t>
            </a:r>
            <a:endParaRPr sz="2690" dirty="0">
              <a:solidFill>
                <a:schemeClr val="tx1"/>
              </a:solidFill>
            </a:endParaRPr>
          </a:p>
        </p:txBody>
      </p:sp>
      <p:sp>
        <p:nvSpPr>
          <p:cNvPr id="2" name="Slide Number Placeholder 1">
            <a:extLst>
              <a:ext uri="{FF2B5EF4-FFF2-40B4-BE49-F238E27FC236}">
                <a16:creationId xmlns:a16="http://schemas.microsoft.com/office/drawing/2014/main" id="{7241463E-5C6A-4546-831D-2E6B20304D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21" name="Google Shape;1432;g41c341d872_1_10">
            <a:extLst>
              <a:ext uri="{FF2B5EF4-FFF2-40B4-BE49-F238E27FC236}">
                <a16:creationId xmlns:a16="http://schemas.microsoft.com/office/drawing/2014/main" id="{709B9DE9-4EF3-6F4F-A78C-86A7A61A965E}"/>
              </a:ext>
            </a:extLst>
          </p:cNvPr>
          <p:cNvSpPr txBox="1"/>
          <p:nvPr/>
        </p:nvSpPr>
        <p:spPr>
          <a:xfrm>
            <a:off x="1256454" y="4403975"/>
            <a:ext cx="2541300" cy="28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dirty="0"/>
              <a:t>YCSB-B (95% read) and Low Skew</a:t>
            </a:r>
            <a:endParaRPr sz="1000" dirty="0"/>
          </a:p>
        </p:txBody>
      </p:sp>
      <p:sp>
        <p:nvSpPr>
          <p:cNvPr id="22" name="Google Shape;1435;g41c341d872_1_10">
            <a:extLst>
              <a:ext uri="{FF2B5EF4-FFF2-40B4-BE49-F238E27FC236}">
                <a16:creationId xmlns:a16="http://schemas.microsoft.com/office/drawing/2014/main" id="{DC9B731D-BE75-9F45-A179-BEFC1245B1E0}"/>
              </a:ext>
            </a:extLst>
          </p:cNvPr>
          <p:cNvSpPr txBox="1"/>
          <p:nvPr/>
        </p:nvSpPr>
        <p:spPr>
          <a:xfrm>
            <a:off x="5583884" y="4445219"/>
            <a:ext cx="2710800" cy="25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dirty="0"/>
              <a:t>YCSB-A (50% read) and Low Skew</a:t>
            </a:r>
            <a:endParaRPr sz="1000" dirty="0"/>
          </a:p>
        </p:txBody>
      </p:sp>
      <p:pic>
        <p:nvPicPr>
          <p:cNvPr id="11" name="Picture 10">
            <a:extLst>
              <a:ext uri="{FF2B5EF4-FFF2-40B4-BE49-F238E27FC236}">
                <a16:creationId xmlns:a16="http://schemas.microsoft.com/office/drawing/2014/main" id="{AEF441A3-9481-994A-B4BA-9E3FEA77DA83}"/>
              </a:ext>
            </a:extLst>
          </p:cNvPr>
          <p:cNvPicPr>
            <a:picLocks noChangeAspect="1"/>
          </p:cNvPicPr>
          <p:nvPr/>
        </p:nvPicPr>
        <p:blipFill>
          <a:blip r:embed="rId3"/>
          <a:stretch>
            <a:fillRect/>
          </a:stretch>
        </p:blipFill>
        <p:spPr>
          <a:xfrm>
            <a:off x="457200" y="1496499"/>
            <a:ext cx="4114800" cy="1371600"/>
          </a:xfrm>
          <a:prstGeom prst="rect">
            <a:avLst/>
          </a:prstGeom>
        </p:spPr>
      </p:pic>
      <p:pic>
        <p:nvPicPr>
          <p:cNvPr id="15" name="Picture 14">
            <a:extLst>
              <a:ext uri="{FF2B5EF4-FFF2-40B4-BE49-F238E27FC236}">
                <a16:creationId xmlns:a16="http://schemas.microsoft.com/office/drawing/2014/main" id="{97130931-FA18-4046-8AAC-D7E7E5BE77EF}"/>
              </a:ext>
            </a:extLst>
          </p:cNvPr>
          <p:cNvPicPr>
            <a:picLocks noChangeAspect="1"/>
          </p:cNvPicPr>
          <p:nvPr/>
        </p:nvPicPr>
        <p:blipFill>
          <a:blip r:embed="rId4"/>
          <a:stretch>
            <a:fillRect/>
          </a:stretch>
        </p:blipFill>
        <p:spPr>
          <a:xfrm>
            <a:off x="457200" y="3012006"/>
            <a:ext cx="4114800" cy="1371600"/>
          </a:xfrm>
          <a:prstGeom prst="rect">
            <a:avLst/>
          </a:prstGeom>
        </p:spPr>
      </p:pic>
      <p:pic>
        <p:nvPicPr>
          <p:cNvPr id="17" name="Picture 16">
            <a:extLst>
              <a:ext uri="{FF2B5EF4-FFF2-40B4-BE49-F238E27FC236}">
                <a16:creationId xmlns:a16="http://schemas.microsoft.com/office/drawing/2014/main" id="{59D2876C-A77B-6F48-8D54-BA96EC0CBA42}"/>
              </a:ext>
            </a:extLst>
          </p:cNvPr>
          <p:cNvPicPr>
            <a:picLocks noChangeAspect="1"/>
          </p:cNvPicPr>
          <p:nvPr/>
        </p:nvPicPr>
        <p:blipFill>
          <a:blip r:embed="rId5"/>
          <a:stretch>
            <a:fillRect/>
          </a:stretch>
        </p:blipFill>
        <p:spPr>
          <a:xfrm>
            <a:off x="4707104" y="1501729"/>
            <a:ext cx="4114800" cy="1371600"/>
          </a:xfrm>
          <a:prstGeom prst="rect">
            <a:avLst/>
          </a:prstGeom>
        </p:spPr>
      </p:pic>
      <p:pic>
        <p:nvPicPr>
          <p:cNvPr id="23" name="Picture 22">
            <a:extLst>
              <a:ext uri="{FF2B5EF4-FFF2-40B4-BE49-F238E27FC236}">
                <a16:creationId xmlns:a16="http://schemas.microsoft.com/office/drawing/2014/main" id="{47386B10-3EDE-B84C-AE02-53C7421EF72A}"/>
              </a:ext>
            </a:extLst>
          </p:cNvPr>
          <p:cNvPicPr>
            <a:picLocks noChangeAspect="1"/>
          </p:cNvPicPr>
          <p:nvPr/>
        </p:nvPicPr>
        <p:blipFill>
          <a:blip r:embed="rId6"/>
          <a:stretch>
            <a:fillRect/>
          </a:stretch>
        </p:blipFill>
        <p:spPr>
          <a:xfrm>
            <a:off x="4707104" y="3012006"/>
            <a:ext cx="4114800" cy="1371600"/>
          </a:xfrm>
          <a:prstGeom prst="rect">
            <a:avLst/>
          </a:prstGeom>
        </p:spPr>
      </p:pic>
      <p:cxnSp>
        <p:nvCxnSpPr>
          <p:cNvPr id="25" name="Straight Connector 24">
            <a:extLst>
              <a:ext uri="{FF2B5EF4-FFF2-40B4-BE49-F238E27FC236}">
                <a16:creationId xmlns:a16="http://schemas.microsoft.com/office/drawing/2014/main" id="{22FF15DF-E47C-F645-AA5A-3C14A1A1BF93}"/>
              </a:ext>
            </a:extLst>
          </p:cNvPr>
          <p:cNvCxnSpPr>
            <a:cxnSpLocks/>
          </p:cNvCxnSpPr>
          <p:nvPr/>
        </p:nvCxnSpPr>
        <p:spPr>
          <a:xfrm>
            <a:off x="692630" y="1010009"/>
            <a:ext cx="391735" cy="0"/>
          </a:xfrm>
          <a:prstGeom prst="line">
            <a:avLst/>
          </a:prstGeom>
          <a:ln w="38100">
            <a:solidFill>
              <a:srgbClr val="1F77B5"/>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FBFA1AC-2375-7142-971F-D8526EE45901}"/>
              </a:ext>
            </a:extLst>
          </p:cNvPr>
          <p:cNvSpPr txBox="1"/>
          <p:nvPr/>
        </p:nvSpPr>
        <p:spPr>
          <a:xfrm>
            <a:off x="1167724" y="868287"/>
            <a:ext cx="651140" cy="307777"/>
          </a:xfrm>
          <a:prstGeom prst="rect">
            <a:avLst/>
          </a:prstGeom>
          <a:noFill/>
        </p:spPr>
        <p:txBody>
          <a:bodyPr wrap="square" rtlCol="0">
            <a:spAutoFit/>
          </a:bodyPr>
          <a:lstStyle/>
          <a:p>
            <a:r>
              <a:rPr lang="en-US" b="1" dirty="0">
                <a:solidFill>
                  <a:srgbClr val="1F77B5"/>
                </a:solidFill>
              </a:rPr>
              <a:t>Fulva</a:t>
            </a:r>
          </a:p>
        </p:txBody>
      </p:sp>
      <p:cxnSp>
        <p:nvCxnSpPr>
          <p:cNvPr id="27" name="Straight Connector 26">
            <a:extLst>
              <a:ext uri="{FF2B5EF4-FFF2-40B4-BE49-F238E27FC236}">
                <a16:creationId xmlns:a16="http://schemas.microsoft.com/office/drawing/2014/main" id="{664ACA5B-9D9C-614A-B028-B18343DAC203}"/>
              </a:ext>
            </a:extLst>
          </p:cNvPr>
          <p:cNvCxnSpPr>
            <a:cxnSpLocks/>
          </p:cNvCxnSpPr>
          <p:nvPr/>
        </p:nvCxnSpPr>
        <p:spPr>
          <a:xfrm>
            <a:off x="2333395" y="1018699"/>
            <a:ext cx="391735" cy="0"/>
          </a:xfrm>
          <a:prstGeom prst="line">
            <a:avLst/>
          </a:prstGeom>
          <a:ln w="38100">
            <a:solidFill>
              <a:srgbClr val="29A12B"/>
            </a:solidFill>
            <a:prstDash val="dash"/>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E1B74BF-33E7-5C44-B4F1-80B2AEA0951A}"/>
              </a:ext>
            </a:extLst>
          </p:cNvPr>
          <p:cNvSpPr txBox="1"/>
          <p:nvPr/>
        </p:nvSpPr>
        <p:spPr>
          <a:xfrm>
            <a:off x="2800700" y="845062"/>
            <a:ext cx="2608406" cy="523220"/>
          </a:xfrm>
          <a:prstGeom prst="rect">
            <a:avLst/>
          </a:prstGeom>
          <a:noFill/>
        </p:spPr>
        <p:txBody>
          <a:bodyPr wrap="square" rtlCol="0">
            <a:spAutoFit/>
          </a:bodyPr>
          <a:lstStyle/>
          <a:p>
            <a:r>
              <a:rPr lang="en-US" b="1" dirty="0">
                <a:solidFill>
                  <a:srgbClr val="29A12B"/>
                </a:solidFill>
              </a:rPr>
              <a:t>Destination-driven approach</a:t>
            </a:r>
          </a:p>
          <a:p>
            <a:endParaRPr lang="en-US" dirty="0"/>
          </a:p>
        </p:txBody>
      </p:sp>
      <p:cxnSp>
        <p:nvCxnSpPr>
          <p:cNvPr id="29" name="Straight Connector 28">
            <a:extLst>
              <a:ext uri="{FF2B5EF4-FFF2-40B4-BE49-F238E27FC236}">
                <a16:creationId xmlns:a16="http://schemas.microsoft.com/office/drawing/2014/main" id="{726DCAD3-4CD3-A845-9D65-9FABC508954D}"/>
              </a:ext>
            </a:extLst>
          </p:cNvPr>
          <p:cNvCxnSpPr>
            <a:cxnSpLocks/>
          </p:cNvCxnSpPr>
          <p:nvPr/>
        </p:nvCxnSpPr>
        <p:spPr>
          <a:xfrm>
            <a:off x="5745229" y="1027447"/>
            <a:ext cx="391735" cy="0"/>
          </a:xfrm>
          <a:prstGeom prst="line">
            <a:avLst/>
          </a:prstGeom>
          <a:ln w="38100">
            <a:solidFill>
              <a:srgbClr val="FF7F0B"/>
            </a:solidFill>
            <a:prstDash val="dash"/>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3FC3F18-AFD9-0445-A38D-F557AB8734C1}"/>
              </a:ext>
            </a:extLst>
          </p:cNvPr>
          <p:cNvSpPr txBox="1"/>
          <p:nvPr/>
        </p:nvSpPr>
        <p:spPr>
          <a:xfrm>
            <a:off x="6208448" y="868287"/>
            <a:ext cx="2242922" cy="523220"/>
          </a:xfrm>
          <a:prstGeom prst="rect">
            <a:avLst/>
          </a:prstGeom>
          <a:noFill/>
        </p:spPr>
        <p:txBody>
          <a:bodyPr wrap="square" rtlCol="0">
            <a:spAutoFit/>
          </a:bodyPr>
          <a:lstStyle/>
          <a:p>
            <a:r>
              <a:rPr lang="en-US" b="1" dirty="0">
                <a:solidFill>
                  <a:srgbClr val="FF7F0B"/>
                </a:solidFill>
              </a:rPr>
              <a:t>Source-driven approach</a:t>
            </a:r>
          </a:p>
          <a:p>
            <a:endParaRPr lang="en-US" dirty="0"/>
          </a:p>
        </p:txBody>
      </p:sp>
    </p:spTree>
    <p:extLst>
      <p:ext uri="{BB962C8B-B14F-4D97-AF65-F5344CB8AC3E}">
        <p14:creationId xmlns:p14="http://schemas.microsoft.com/office/powerpoint/2010/main" val="32892063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5E810-4BF9-4345-B285-ABE3AE720FEA}"/>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1CACFCE6-A7D0-6940-9E8F-D8E61A4696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DC93F4B-931C-0243-BD2F-781F13C129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extLst>
      <p:ext uri="{BB962C8B-B14F-4D97-AF65-F5344CB8AC3E}">
        <p14:creationId xmlns:p14="http://schemas.microsoft.com/office/powerpoint/2010/main" val="426935070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11628</TotalTime>
  <Words>6217</Words>
  <Application>Microsoft Macintosh PowerPoint</Application>
  <PresentationFormat>On-screen Show (16:9)</PresentationFormat>
  <Paragraphs>713</Paragraphs>
  <Slides>26</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Simple Light</vt:lpstr>
      <vt:lpstr>Fulva: Efficient Live Migration for In-memory Key-Value Stores with Zero Downtime</vt:lpstr>
      <vt:lpstr>Background: Distributed In-memory Key-value Stores</vt:lpstr>
      <vt:lpstr>Background: Skewed Workload</vt:lpstr>
      <vt:lpstr>Background: Live migration – a powerful technique to re-balance load across computers</vt:lpstr>
      <vt:lpstr>Existing live migration approaches and Fulva</vt:lpstr>
      <vt:lpstr>Outline</vt:lpstr>
      <vt:lpstr>The workflow and limitations of source-driven approach</vt:lpstr>
      <vt:lpstr>The workflow and limitations of source-driven approach (Focus on Orange line)</vt:lpstr>
      <vt:lpstr>The workflow and limitation of destination-driven approach</vt:lpstr>
      <vt:lpstr>The workflow and limitations of destination-driven approach (Focus on Green line)</vt:lpstr>
      <vt:lpstr>Fulva: Efficient Live Migration for In-memory Key-Value Stores with Zero Downtime</vt:lpstr>
      <vt:lpstr>Fulva’s architecture</vt:lpstr>
      <vt:lpstr>How does Fulva track the migrated KV tuples</vt:lpstr>
      <vt:lpstr>PowerPoint Presentation</vt:lpstr>
      <vt:lpstr>However, MCR may not be effective in reducing extra bandwidth usage for high skew workload</vt:lpstr>
      <vt:lpstr>Sample Puller’s workflow</vt:lpstr>
      <vt:lpstr>Evaluation Setup (1)</vt:lpstr>
      <vt:lpstr>Evaluation Setup (2)</vt:lpstr>
      <vt:lpstr>We conducted extensive evaluation</vt:lpstr>
      <vt:lpstr>The three systems’ performance on YCSB (High Skew)</vt:lpstr>
      <vt:lpstr>Fulva’s Extra Bandwidth on YCSB-B</vt:lpstr>
      <vt:lpstr>Effectiveness of Fulva’s component </vt:lpstr>
      <vt:lpstr>Conclusion and Future work</vt:lpstr>
      <vt:lpstr>Thank you!</vt:lpstr>
      <vt:lpstr>The three systems’ performance on YCSB (Low Skew)</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Fulva: Efficient Live Migration for In-memory Key-Value Stores with Zero Downtime</dc:title>
  <cp:lastModifiedBy>u3518490</cp:lastModifiedBy>
  <cp:revision>79</cp:revision>
  <dcterms:modified xsi:type="dcterms:W3CDTF">2019-10-22T04:14:42Z</dcterms:modified>
</cp:coreProperties>
</file>